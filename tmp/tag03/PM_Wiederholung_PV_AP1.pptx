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media/image12.jpg" ContentType="image/jpeg"/>
  <Override PartName="/ppt/media/image13.jpg" ContentType="image/jpeg"/>
  <Override PartName="/ppt/media/image14.jpg" ContentType="image/jpeg"/>
  <Override PartName="/ppt/media/image15.jpg" ContentType="image/jpeg"/>
  <Override PartName="/ppt/media/image16.jpg" ContentType="image/jpeg"/>
  <Override PartName="/ppt/media/image17.jpg" ContentType="image/jpeg"/>
  <Override PartName="/ppt/media/image24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2"/>
  </p:notesMasterIdLst>
  <p:sldIdLst>
    <p:sldId id="256" r:id="rId2"/>
    <p:sldId id="259" r:id="rId3"/>
    <p:sldId id="260" r:id="rId4"/>
    <p:sldId id="269" r:id="rId5"/>
    <p:sldId id="371" r:id="rId6"/>
    <p:sldId id="270" r:id="rId7"/>
    <p:sldId id="273" r:id="rId8"/>
    <p:sldId id="285" r:id="rId9"/>
    <p:sldId id="286" r:id="rId10"/>
    <p:sldId id="303" r:id="rId11"/>
    <p:sldId id="326" r:id="rId12"/>
    <p:sldId id="311" r:id="rId13"/>
    <p:sldId id="313" r:id="rId14"/>
    <p:sldId id="448" r:id="rId15"/>
    <p:sldId id="282" r:id="rId16"/>
    <p:sldId id="352" r:id="rId17"/>
    <p:sldId id="451" r:id="rId18"/>
    <p:sldId id="361" r:id="rId19"/>
    <p:sldId id="455" r:id="rId20"/>
    <p:sldId id="379" r:id="rId21"/>
    <p:sldId id="327" r:id="rId22"/>
    <p:sldId id="291" r:id="rId23"/>
    <p:sldId id="459" r:id="rId24"/>
    <p:sldId id="460" r:id="rId25"/>
    <p:sldId id="461" r:id="rId26"/>
    <p:sldId id="471" r:id="rId27"/>
    <p:sldId id="477" r:id="rId28"/>
    <p:sldId id="281" r:id="rId29"/>
    <p:sldId id="272" r:id="rId30"/>
    <p:sldId id="280" r:id="rId31"/>
    <p:sldId id="372" r:id="rId32"/>
    <p:sldId id="290" r:id="rId33"/>
    <p:sldId id="445" r:id="rId34"/>
    <p:sldId id="446" r:id="rId35"/>
    <p:sldId id="447" r:id="rId36"/>
    <p:sldId id="449" r:id="rId37"/>
    <p:sldId id="450" r:id="rId38"/>
    <p:sldId id="351" r:id="rId39"/>
    <p:sldId id="353" r:id="rId40"/>
    <p:sldId id="362" r:id="rId41"/>
    <p:sldId id="363" r:id="rId42"/>
    <p:sldId id="364" r:id="rId43"/>
    <p:sldId id="452" r:id="rId44"/>
    <p:sldId id="366" r:id="rId45"/>
    <p:sldId id="367" r:id="rId46"/>
    <p:sldId id="368" r:id="rId47"/>
    <p:sldId id="356" r:id="rId48"/>
    <p:sldId id="453" r:id="rId49"/>
    <p:sldId id="310" r:id="rId50"/>
    <p:sldId id="454" r:id="rId51"/>
    <p:sldId id="401" r:id="rId52"/>
    <p:sldId id="456" r:id="rId53"/>
    <p:sldId id="457" r:id="rId54"/>
    <p:sldId id="458" r:id="rId55"/>
    <p:sldId id="423" r:id="rId56"/>
    <p:sldId id="462" r:id="rId57"/>
    <p:sldId id="463" r:id="rId58"/>
    <p:sldId id="468" r:id="rId59"/>
    <p:sldId id="469" r:id="rId60"/>
    <p:sldId id="470" r:id="rId61"/>
    <p:sldId id="472" r:id="rId62"/>
    <p:sldId id="473" r:id="rId63"/>
    <p:sldId id="474" r:id="rId64"/>
    <p:sldId id="475" r:id="rId65"/>
    <p:sldId id="476" r:id="rId66"/>
    <p:sldId id="464" r:id="rId67"/>
    <p:sldId id="465" r:id="rId68"/>
    <p:sldId id="466" r:id="rId69"/>
    <p:sldId id="467" r:id="rId70"/>
    <p:sldId id="369" r:id="rId7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37" autoAdjust="0"/>
    <p:restoredTop sz="94660"/>
  </p:normalViewPr>
  <p:slideViewPr>
    <p:cSldViewPr>
      <p:cViewPr varScale="1">
        <p:scale>
          <a:sx n="155" d="100"/>
          <a:sy n="155" d="100"/>
        </p:scale>
        <p:origin x="348" y="92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CD271E-4196-4FF0-B827-E5E1835BCFCC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F3BCFD-CA8E-4E18-83BC-C6F22D20B7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0815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41147" y="492633"/>
            <a:ext cx="382905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70B1"/>
                </a:solidFill>
                <a:latin typeface="Source Sans Pro"/>
                <a:cs typeface="Source Sans Pr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0070B1"/>
                </a:solidFill>
                <a:latin typeface="Source Sans Pro"/>
                <a:cs typeface="Source Sans Pr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A4C8"/>
                </a:solidFill>
                <a:latin typeface="Source Sans Pro"/>
                <a:cs typeface="Source Sans Pro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A4C8"/>
                </a:solidFill>
                <a:latin typeface="Source Sans Pro"/>
                <a:cs typeface="Source Sans Pro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14.12.2023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A4C8"/>
                </a:solidFill>
                <a:latin typeface="Source Sans Pro"/>
                <a:cs typeface="Source Sans Pro"/>
              </a:defRPr>
            </a:lvl1pPr>
          </a:lstStyle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‹Nr.›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70B1"/>
                </a:solidFill>
                <a:latin typeface="Source Sans Pro"/>
                <a:cs typeface="Source Sans Pr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070B1"/>
                </a:solidFill>
                <a:latin typeface="Source Sans Pro"/>
                <a:cs typeface="Source Sans Pr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A4C8"/>
                </a:solidFill>
                <a:latin typeface="Source Sans Pro"/>
                <a:cs typeface="Source Sans Pro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A4C8"/>
                </a:solidFill>
                <a:latin typeface="Source Sans Pro"/>
                <a:cs typeface="Source Sans Pro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14.12.2023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A4C8"/>
                </a:solidFill>
                <a:latin typeface="Source Sans Pro"/>
                <a:cs typeface="Source Sans Pro"/>
              </a:defRPr>
            </a:lvl1pPr>
          </a:lstStyle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‹Nr.›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70B1"/>
                </a:solidFill>
                <a:latin typeface="Source Sans Pro"/>
                <a:cs typeface="Source Sans Pr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13715" y="1237868"/>
            <a:ext cx="4951730" cy="4385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70B1"/>
                </a:solidFill>
                <a:latin typeface="Source Sans Pro"/>
                <a:cs typeface="Source Sans Pr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A4C8"/>
                </a:solidFill>
                <a:latin typeface="Source Sans Pro"/>
                <a:cs typeface="Source Sans Pro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A4C8"/>
                </a:solidFill>
                <a:latin typeface="Source Sans Pro"/>
                <a:cs typeface="Source Sans Pro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14.12.2023</a:t>
            </a:r>
            <a:endParaRPr spc="-1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A4C8"/>
                </a:solidFill>
                <a:latin typeface="Source Sans Pro"/>
                <a:cs typeface="Source Sans Pro"/>
              </a:defRPr>
            </a:lvl1pPr>
          </a:lstStyle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‹Nr.›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711" y="6341363"/>
            <a:ext cx="1028700" cy="30022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70B1"/>
                </a:solidFill>
                <a:latin typeface="Source Sans Pro"/>
                <a:cs typeface="Source Sans Pr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A4C8"/>
                </a:solidFill>
                <a:latin typeface="Source Sans Pro"/>
                <a:cs typeface="Source Sans Pro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A4C8"/>
                </a:solidFill>
                <a:latin typeface="Source Sans Pro"/>
                <a:cs typeface="Source Sans Pro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14.12.2023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A4C8"/>
                </a:solidFill>
                <a:latin typeface="Source Sans Pro"/>
                <a:cs typeface="Source Sans Pro"/>
              </a:defRPr>
            </a:lvl1pPr>
          </a:lstStyle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‹Nr.›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A4C8"/>
                </a:solidFill>
                <a:latin typeface="Source Sans Pro"/>
                <a:cs typeface="Source Sans Pro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A4C8"/>
                </a:solidFill>
                <a:latin typeface="Source Sans Pro"/>
                <a:cs typeface="Source Sans Pro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14.12.2023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A4C8"/>
                </a:solidFill>
                <a:latin typeface="Source Sans Pro"/>
                <a:cs typeface="Source Sans Pro"/>
              </a:defRPr>
            </a:lvl1pPr>
          </a:lstStyle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‹Nr.›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/>
          <p:cNvGrpSpPr/>
          <p:nvPr userDrawn="1"/>
        </p:nvGrpSpPr>
        <p:grpSpPr>
          <a:xfrm>
            <a:off x="-31707" y="532132"/>
            <a:ext cx="12223707" cy="6381071"/>
            <a:chOff x="-31707" y="532132"/>
            <a:chExt cx="12223707" cy="6381071"/>
          </a:xfrm>
          <a:solidFill>
            <a:srgbClr val="D2E8F4"/>
          </a:solidFill>
        </p:grpSpPr>
        <p:sp>
          <p:nvSpPr>
            <p:cNvPr id="7" name="Freihandform 6"/>
            <p:cNvSpPr/>
            <p:nvPr userDrawn="1"/>
          </p:nvSpPr>
          <p:spPr>
            <a:xfrm>
              <a:off x="-31707" y="609600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8" name="Grafik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  <a:grpFill/>
          </p:spPr>
        </p:pic>
      </p:grp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14.12.2023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Projektmanagement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10" name="Textplatzhalt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1425828"/>
            <a:ext cx="10820400" cy="367957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7200" b="1" baseline="0">
                <a:solidFill>
                  <a:srgbClr val="0070C0"/>
                </a:solidFill>
              </a:defRPr>
            </a:lvl1pPr>
          </a:lstStyle>
          <a:p>
            <a:pPr lvl="0"/>
            <a:r>
              <a:rPr lang="de-DE" dirty="0"/>
              <a:t>VIELEN DANK</a:t>
            </a:r>
          </a:p>
          <a:p>
            <a:pPr lvl="0"/>
            <a:r>
              <a:rPr lang="de-DE" dirty="0"/>
              <a:t> FÜR IHRE AUFMERKSAMKEIT!</a:t>
            </a:r>
          </a:p>
        </p:txBody>
      </p:sp>
    </p:spTree>
    <p:extLst>
      <p:ext uri="{BB962C8B-B14F-4D97-AF65-F5344CB8AC3E}">
        <p14:creationId xmlns:p14="http://schemas.microsoft.com/office/powerpoint/2010/main" val="247254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2711" y="6341364"/>
            <a:ext cx="1028700" cy="30022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118860"/>
            <a:ext cx="12192000" cy="739140"/>
          </a:xfrm>
          <a:custGeom>
            <a:avLst/>
            <a:gdLst/>
            <a:ahLst/>
            <a:cxnLst/>
            <a:rect l="l" t="t" r="r" b="b"/>
            <a:pathLst>
              <a:path w="12192000" h="739140">
                <a:moveTo>
                  <a:pt x="3454273" y="0"/>
                </a:moveTo>
                <a:lnTo>
                  <a:pt x="0" y="0"/>
                </a:lnTo>
                <a:lnTo>
                  <a:pt x="0" y="739139"/>
                </a:lnTo>
                <a:lnTo>
                  <a:pt x="12192000" y="739140"/>
                </a:lnTo>
                <a:lnTo>
                  <a:pt x="12192000" y="351853"/>
                </a:lnTo>
                <a:lnTo>
                  <a:pt x="3825113" y="351853"/>
                </a:lnTo>
                <a:lnTo>
                  <a:pt x="3454273" y="0"/>
                </a:lnTo>
                <a:close/>
              </a:path>
              <a:path w="12192000" h="739140">
                <a:moveTo>
                  <a:pt x="12192000" y="0"/>
                </a:moveTo>
                <a:lnTo>
                  <a:pt x="4195953" y="0"/>
                </a:lnTo>
                <a:lnTo>
                  <a:pt x="3825113" y="351853"/>
                </a:lnTo>
                <a:lnTo>
                  <a:pt x="12192000" y="351853"/>
                </a:lnTo>
                <a:lnTo>
                  <a:pt x="12192000" y="0"/>
                </a:lnTo>
                <a:close/>
              </a:path>
            </a:pathLst>
          </a:custGeom>
          <a:solidFill>
            <a:srgbClr val="D2E8F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6083808"/>
            <a:ext cx="12191999" cy="40995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2711" y="6341364"/>
            <a:ext cx="1028700" cy="30022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0679" y="155194"/>
            <a:ext cx="11470640" cy="1031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70B1"/>
                </a:solidFill>
                <a:latin typeface="Source Sans Pro"/>
                <a:cs typeface="Source Sans Pr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0842" y="1875041"/>
            <a:ext cx="6094095" cy="18497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0070B1"/>
                </a:solidFill>
                <a:latin typeface="Source Sans Pro"/>
                <a:cs typeface="Source Sans Pr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481698" y="6407302"/>
            <a:ext cx="2090420" cy="217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A4C8"/>
                </a:solidFill>
                <a:latin typeface="Source Sans Pro"/>
                <a:cs typeface="Source Sans Pro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028313" y="6407302"/>
            <a:ext cx="795654" cy="260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A4C8"/>
                </a:solidFill>
                <a:latin typeface="Source Sans Pro"/>
                <a:cs typeface="Source Sans Pro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14.12.2023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17500" cy="217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A4C8"/>
                </a:solidFill>
                <a:latin typeface="Source Sans Pro"/>
                <a:cs typeface="Source Sans Pro"/>
              </a:defRPr>
            </a:lvl1pPr>
          </a:lstStyle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‹Nr.›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g"/><Relationship Id="rId7" Type="http://schemas.openxmlformats.org/officeDocument/2006/relationships/image" Target="../media/image17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6" y="0"/>
              <a:ext cx="12181967" cy="32059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2761488"/>
              <a:ext cx="12192000" cy="4097020"/>
            </a:xfrm>
            <a:custGeom>
              <a:avLst/>
              <a:gdLst/>
              <a:ahLst/>
              <a:cxnLst/>
              <a:rect l="l" t="t" r="r" b="b"/>
              <a:pathLst>
                <a:path w="12192000" h="4097020">
                  <a:moveTo>
                    <a:pt x="3454273" y="0"/>
                  </a:moveTo>
                  <a:lnTo>
                    <a:pt x="0" y="0"/>
                  </a:lnTo>
                  <a:lnTo>
                    <a:pt x="0" y="4096511"/>
                  </a:lnTo>
                  <a:lnTo>
                    <a:pt x="12192000" y="4096511"/>
                  </a:lnTo>
                  <a:lnTo>
                    <a:pt x="12192000" y="351789"/>
                  </a:lnTo>
                  <a:lnTo>
                    <a:pt x="3825113" y="351789"/>
                  </a:lnTo>
                  <a:lnTo>
                    <a:pt x="3454273" y="0"/>
                  </a:lnTo>
                  <a:close/>
                </a:path>
                <a:path w="12192000" h="4097020">
                  <a:moveTo>
                    <a:pt x="12192000" y="0"/>
                  </a:moveTo>
                  <a:lnTo>
                    <a:pt x="4195952" y="0"/>
                  </a:lnTo>
                  <a:lnTo>
                    <a:pt x="3825113" y="351789"/>
                  </a:lnTo>
                  <a:lnTo>
                    <a:pt x="12192000" y="35178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D2E8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717292"/>
              <a:ext cx="12191999" cy="40995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962657" y="4053078"/>
            <a:ext cx="8277859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Projekt</a:t>
            </a:r>
            <a:r>
              <a:rPr lang="de-DE" sz="4800" dirty="0" err="1"/>
              <a:t>management</a:t>
            </a:r>
            <a:endParaRPr sz="4800" dirty="0"/>
          </a:p>
        </p:txBody>
      </p:sp>
      <p:grpSp>
        <p:nvGrpSpPr>
          <p:cNvPr id="7" name="object 7"/>
          <p:cNvGrpSpPr/>
          <p:nvPr/>
        </p:nvGrpSpPr>
        <p:grpSpPr>
          <a:xfrm>
            <a:off x="352043" y="4811267"/>
            <a:ext cx="1039494" cy="1830705"/>
            <a:chOff x="352043" y="4811267"/>
            <a:chExt cx="1039494" cy="183070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2711" y="6341363"/>
              <a:ext cx="1028700" cy="30022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52043" y="4811267"/>
              <a:ext cx="822960" cy="767080"/>
            </a:xfrm>
            <a:custGeom>
              <a:avLst/>
              <a:gdLst/>
              <a:ahLst/>
              <a:cxnLst/>
              <a:rect l="l" t="t" r="r" b="b"/>
              <a:pathLst>
                <a:path w="822960" h="767079">
                  <a:moveTo>
                    <a:pt x="482955" y="0"/>
                  </a:moveTo>
                  <a:lnTo>
                    <a:pt x="69545" y="144652"/>
                  </a:lnTo>
                  <a:lnTo>
                    <a:pt x="34413" y="193452"/>
                  </a:lnTo>
                  <a:lnTo>
                    <a:pt x="28981" y="260349"/>
                  </a:lnTo>
                  <a:lnTo>
                    <a:pt x="29290" y="270001"/>
                  </a:lnTo>
                  <a:lnTo>
                    <a:pt x="29328" y="271192"/>
                  </a:lnTo>
                  <a:lnTo>
                    <a:pt x="30308" y="281939"/>
                  </a:lnTo>
                  <a:lnTo>
                    <a:pt x="31831" y="292496"/>
                  </a:lnTo>
                  <a:lnTo>
                    <a:pt x="33807" y="302767"/>
                  </a:lnTo>
                  <a:lnTo>
                    <a:pt x="14669" y="323357"/>
                  </a:lnTo>
                  <a:lnTo>
                    <a:pt x="4587" y="351091"/>
                  </a:lnTo>
                  <a:lnTo>
                    <a:pt x="663" y="382635"/>
                  </a:lnTo>
                  <a:lnTo>
                    <a:pt x="0" y="414654"/>
                  </a:lnTo>
                  <a:lnTo>
                    <a:pt x="1538" y="439235"/>
                  </a:lnTo>
                  <a:lnTo>
                    <a:pt x="6518" y="461946"/>
                  </a:lnTo>
                  <a:lnTo>
                    <a:pt x="15484" y="481966"/>
                  </a:lnTo>
                  <a:lnTo>
                    <a:pt x="28981" y="498474"/>
                  </a:lnTo>
                  <a:lnTo>
                    <a:pt x="26638" y="511498"/>
                  </a:lnTo>
                  <a:lnTo>
                    <a:pt x="26303" y="522604"/>
                  </a:lnTo>
                  <a:lnTo>
                    <a:pt x="26201" y="525986"/>
                  </a:lnTo>
                  <a:lnTo>
                    <a:pt x="26672" y="541926"/>
                  </a:lnTo>
                  <a:lnTo>
                    <a:pt x="27051" y="559307"/>
                  </a:lnTo>
                  <a:lnTo>
                    <a:pt x="37672" y="618696"/>
                  </a:lnTo>
                  <a:lnTo>
                    <a:pt x="77279" y="655700"/>
                  </a:lnTo>
                  <a:lnTo>
                    <a:pt x="345795" y="766571"/>
                  </a:lnTo>
                  <a:lnTo>
                    <a:pt x="497355" y="703833"/>
                  </a:lnTo>
                  <a:lnTo>
                    <a:pt x="347726" y="703833"/>
                  </a:lnTo>
                  <a:lnTo>
                    <a:pt x="78244" y="597788"/>
                  </a:lnTo>
                  <a:lnTo>
                    <a:pt x="78244" y="522604"/>
                  </a:lnTo>
                  <a:lnTo>
                    <a:pt x="227858" y="522604"/>
                  </a:lnTo>
                  <a:lnTo>
                    <a:pt x="52158" y="453135"/>
                  </a:lnTo>
                  <a:lnTo>
                    <a:pt x="52158" y="366394"/>
                  </a:lnTo>
                  <a:lnTo>
                    <a:pt x="251897" y="366394"/>
                  </a:lnTo>
                  <a:lnTo>
                    <a:pt x="81140" y="298957"/>
                  </a:lnTo>
                  <a:lnTo>
                    <a:pt x="81140" y="212089"/>
                  </a:lnTo>
                  <a:lnTo>
                    <a:pt x="610799" y="212089"/>
                  </a:lnTo>
                  <a:lnTo>
                    <a:pt x="735063" y="162051"/>
                  </a:lnTo>
                  <a:lnTo>
                    <a:pt x="772731" y="162051"/>
                  </a:lnTo>
                  <a:lnTo>
                    <a:pt x="772731" y="146557"/>
                  </a:lnTo>
                  <a:lnTo>
                    <a:pt x="822960" y="125348"/>
                  </a:lnTo>
                  <a:lnTo>
                    <a:pt x="482955" y="0"/>
                  </a:lnTo>
                  <a:close/>
                </a:path>
                <a:path w="822960" h="767079">
                  <a:moveTo>
                    <a:pt x="770801" y="457072"/>
                  </a:moveTo>
                  <a:lnTo>
                    <a:pt x="734098" y="457072"/>
                  </a:lnTo>
                  <a:lnTo>
                    <a:pt x="733164" y="541926"/>
                  </a:lnTo>
                  <a:lnTo>
                    <a:pt x="733132" y="544829"/>
                  </a:lnTo>
                  <a:lnTo>
                    <a:pt x="347726" y="703833"/>
                  </a:lnTo>
                  <a:lnTo>
                    <a:pt x="497355" y="703833"/>
                  </a:lnTo>
                  <a:lnTo>
                    <a:pt x="821029" y="569848"/>
                  </a:lnTo>
                  <a:lnTo>
                    <a:pt x="770801" y="551560"/>
                  </a:lnTo>
                  <a:lnTo>
                    <a:pt x="770801" y="457072"/>
                  </a:lnTo>
                  <a:close/>
                </a:path>
                <a:path w="822960" h="767079">
                  <a:moveTo>
                    <a:pt x="227858" y="522604"/>
                  </a:moveTo>
                  <a:lnTo>
                    <a:pt x="78244" y="522604"/>
                  </a:lnTo>
                  <a:lnTo>
                    <a:pt x="318757" y="621029"/>
                  </a:lnTo>
                  <a:lnTo>
                    <a:pt x="475113" y="559307"/>
                  </a:lnTo>
                  <a:lnTo>
                    <a:pt x="320687" y="559307"/>
                  </a:lnTo>
                  <a:lnTo>
                    <a:pt x="227858" y="522604"/>
                  </a:lnTo>
                  <a:close/>
                </a:path>
                <a:path w="822960" h="767079">
                  <a:moveTo>
                    <a:pt x="743750" y="318261"/>
                  </a:moveTo>
                  <a:lnTo>
                    <a:pt x="707047" y="318261"/>
                  </a:lnTo>
                  <a:lnTo>
                    <a:pt x="707047" y="400176"/>
                  </a:lnTo>
                  <a:lnTo>
                    <a:pt x="706081" y="400176"/>
                  </a:lnTo>
                  <a:lnTo>
                    <a:pt x="320687" y="559307"/>
                  </a:lnTo>
                  <a:lnTo>
                    <a:pt x="475113" y="559307"/>
                  </a:lnTo>
                  <a:lnTo>
                    <a:pt x="734098" y="457072"/>
                  </a:lnTo>
                  <a:lnTo>
                    <a:pt x="770801" y="457072"/>
                  </a:lnTo>
                  <a:lnTo>
                    <a:pt x="770801" y="445515"/>
                  </a:lnTo>
                  <a:lnTo>
                    <a:pt x="821029" y="424306"/>
                  </a:lnTo>
                  <a:lnTo>
                    <a:pt x="743750" y="395350"/>
                  </a:lnTo>
                  <a:lnTo>
                    <a:pt x="743750" y="318261"/>
                  </a:lnTo>
                  <a:close/>
                </a:path>
                <a:path w="822960" h="767079">
                  <a:moveTo>
                    <a:pt x="251897" y="366394"/>
                  </a:moveTo>
                  <a:lnTo>
                    <a:pt x="52158" y="366394"/>
                  </a:lnTo>
                  <a:lnTo>
                    <a:pt x="328409" y="476376"/>
                  </a:lnTo>
                  <a:lnTo>
                    <a:pt x="499328" y="405002"/>
                  </a:lnTo>
                  <a:lnTo>
                    <a:pt x="349656" y="405002"/>
                  </a:lnTo>
                  <a:lnTo>
                    <a:pt x="251897" y="366394"/>
                  </a:lnTo>
                  <a:close/>
                </a:path>
                <a:path w="822960" h="767079">
                  <a:moveTo>
                    <a:pt x="772731" y="162051"/>
                  </a:moveTo>
                  <a:lnTo>
                    <a:pt x="735063" y="162051"/>
                  </a:lnTo>
                  <a:lnTo>
                    <a:pt x="735063" y="244855"/>
                  </a:lnTo>
                  <a:lnTo>
                    <a:pt x="349656" y="405002"/>
                  </a:lnTo>
                  <a:lnTo>
                    <a:pt x="499328" y="405002"/>
                  </a:lnTo>
                  <a:lnTo>
                    <a:pt x="707047" y="318261"/>
                  </a:lnTo>
                  <a:lnTo>
                    <a:pt x="743750" y="318261"/>
                  </a:lnTo>
                  <a:lnTo>
                    <a:pt x="743750" y="302767"/>
                  </a:lnTo>
                  <a:lnTo>
                    <a:pt x="822960" y="270001"/>
                  </a:lnTo>
                  <a:lnTo>
                    <a:pt x="772731" y="251713"/>
                  </a:lnTo>
                  <a:lnTo>
                    <a:pt x="772731" y="162051"/>
                  </a:lnTo>
                  <a:close/>
                </a:path>
                <a:path w="822960" h="767079">
                  <a:moveTo>
                    <a:pt x="610799" y="212089"/>
                  </a:moveTo>
                  <a:lnTo>
                    <a:pt x="81140" y="212089"/>
                  </a:lnTo>
                  <a:lnTo>
                    <a:pt x="349656" y="317245"/>
                  </a:lnTo>
                  <a:lnTo>
                    <a:pt x="610799" y="212089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C13D8E9E-4DDD-B812-E4ED-C0ABC134C7B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lang="de-DE" spc="-1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FD35D31-93CF-D569-DA93-AC454C3D7B2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1</a:t>
            </a:fld>
            <a:endParaRPr lang="de-DE" spc="-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31876"/>
            <a:ext cx="12192000" cy="6326505"/>
            <a:chOff x="0" y="531876"/>
            <a:chExt cx="12192000" cy="6326505"/>
          </a:xfrm>
        </p:grpSpPr>
        <p:sp>
          <p:nvSpPr>
            <p:cNvPr id="3" name="object 3"/>
            <p:cNvSpPr/>
            <p:nvPr/>
          </p:nvSpPr>
          <p:spPr>
            <a:xfrm>
              <a:off x="0" y="580644"/>
              <a:ext cx="12192000" cy="6277610"/>
            </a:xfrm>
            <a:custGeom>
              <a:avLst/>
              <a:gdLst/>
              <a:ahLst/>
              <a:cxnLst/>
              <a:rect l="l" t="t" r="r" b="b"/>
              <a:pathLst>
                <a:path w="12192000" h="6277609">
                  <a:moveTo>
                    <a:pt x="3453257" y="0"/>
                  </a:moveTo>
                  <a:lnTo>
                    <a:pt x="0" y="0"/>
                  </a:lnTo>
                  <a:lnTo>
                    <a:pt x="0" y="6277356"/>
                  </a:lnTo>
                  <a:lnTo>
                    <a:pt x="12191153" y="6277356"/>
                  </a:lnTo>
                  <a:lnTo>
                    <a:pt x="12191257" y="6211492"/>
                  </a:lnTo>
                  <a:lnTo>
                    <a:pt x="12191324" y="6165239"/>
                  </a:lnTo>
                  <a:lnTo>
                    <a:pt x="12191449" y="6072020"/>
                  </a:lnTo>
                  <a:lnTo>
                    <a:pt x="12191561" y="5977877"/>
                  </a:lnTo>
                  <a:lnTo>
                    <a:pt x="12191659" y="5882841"/>
                  </a:lnTo>
                  <a:lnTo>
                    <a:pt x="12191744" y="5786945"/>
                  </a:lnTo>
                  <a:lnTo>
                    <a:pt x="12191849" y="5641562"/>
                  </a:lnTo>
                  <a:lnTo>
                    <a:pt x="12192000" y="5592706"/>
                  </a:lnTo>
                  <a:lnTo>
                    <a:pt x="12192000" y="4424624"/>
                  </a:lnTo>
                  <a:lnTo>
                    <a:pt x="12191872" y="4372313"/>
                  </a:lnTo>
                  <a:lnTo>
                    <a:pt x="12191772" y="4162178"/>
                  </a:lnTo>
                  <a:lnTo>
                    <a:pt x="12191653" y="3950810"/>
                  </a:lnTo>
                  <a:lnTo>
                    <a:pt x="12191554" y="3791631"/>
                  </a:lnTo>
                  <a:lnTo>
                    <a:pt x="12191449" y="3632015"/>
                  </a:lnTo>
                  <a:lnTo>
                    <a:pt x="12191339" y="3472069"/>
                  </a:lnTo>
                  <a:lnTo>
                    <a:pt x="12191225" y="3311905"/>
                  </a:lnTo>
                  <a:lnTo>
                    <a:pt x="12191123" y="351789"/>
                  </a:lnTo>
                  <a:lnTo>
                    <a:pt x="3824097" y="351789"/>
                  </a:lnTo>
                  <a:lnTo>
                    <a:pt x="3453257" y="0"/>
                  </a:lnTo>
                  <a:close/>
                </a:path>
                <a:path w="12192000" h="6277609">
                  <a:moveTo>
                    <a:pt x="12191111" y="0"/>
                  </a:moveTo>
                  <a:lnTo>
                    <a:pt x="4194937" y="0"/>
                  </a:lnTo>
                  <a:lnTo>
                    <a:pt x="3824097" y="351789"/>
                  </a:lnTo>
                  <a:lnTo>
                    <a:pt x="12191123" y="351789"/>
                  </a:lnTo>
                  <a:lnTo>
                    <a:pt x="12191111" y="0"/>
                  </a:lnTo>
                  <a:close/>
                </a:path>
              </a:pathLst>
            </a:custGeom>
            <a:solidFill>
              <a:srgbClr val="D2E8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31876"/>
              <a:ext cx="12191999" cy="4099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2711" y="6341364"/>
              <a:ext cx="1028700" cy="30022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066800" y="1722264"/>
            <a:ext cx="7772400" cy="1258037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lang="de-DE" sz="4400" b="1" spc="-10" dirty="0">
                <a:solidFill>
                  <a:srgbClr val="0070B1"/>
                </a:solidFill>
                <a:latin typeface="Source Sans Pro"/>
                <a:cs typeface="Source Sans Pro"/>
              </a:rPr>
              <a:t>Wiederholung – kurz gefasst</a:t>
            </a:r>
            <a:endParaRPr sz="4400" dirty="0">
              <a:latin typeface="Source Sans Pro"/>
              <a:cs typeface="Source Sans Pro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endParaRPr sz="2100" dirty="0">
              <a:latin typeface="Source Sans Pro"/>
              <a:cs typeface="Source Sans Pro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4CA06D69-D87E-4011-4980-A1A5E6FB7292}"/>
              </a:ext>
            </a:extLst>
          </p:cNvPr>
          <p:cNvSpPr txBox="1"/>
          <p:nvPr/>
        </p:nvSpPr>
        <p:spPr>
          <a:xfrm>
            <a:off x="1066800" y="3200400"/>
            <a:ext cx="8382000" cy="420628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880"/>
              </a:spcBef>
              <a:buFont typeface="Arial"/>
              <a:buChar char="•"/>
              <a:tabLst>
                <a:tab pos="299085" algn="l"/>
              </a:tabLst>
            </a:pPr>
            <a:r>
              <a:rPr lang="de-DE" sz="2000" spc="-10" dirty="0">
                <a:solidFill>
                  <a:srgbClr val="0070B1"/>
                </a:solidFill>
                <a:latin typeface="Source Sans Pro"/>
                <a:cs typeface="Source Sans Pro"/>
              </a:rPr>
              <a:t>Vorbereitung für die AP1</a:t>
            </a:r>
            <a:endParaRPr sz="2000" dirty="0">
              <a:latin typeface="Source Sans Pro"/>
              <a:cs typeface="Source Sans Pro"/>
            </a:endParaRP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A8C60E9-3F7C-8118-FAC3-2E4CB50E157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lang="de-DE" spc="-1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7BE1D7-479A-2226-8326-5F748B9E8DB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2</a:t>
            </a:fld>
            <a:endParaRPr lang="de-DE"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Source Sans Pro"/>
                <a:cs typeface="Source Sans Pro"/>
              </a:rPr>
              <a:t>Projekt</a:t>
            </a:r>
            <a:r>
              <a:rPr sz="4000" b="1" spc="-55" dirty="0">
                <a:latin typeface="Source Sans Pro"/>
                <a:cs typeface="Source Sans Pro"/>
              </a:rPr>
              <a:t> </a:t>
            </a:r>
            <a:r>
              <a:rPr sz="4000" b="1" dirty="0">
                <a:latin typeface="Source Sans Pro"/>
                <a:cs typeface="Source Sans Pro"/>
              </a:rPr>
              <a:t>-</a:t>
            </a:r>
            <a:r>
              <a:rPr sz="4000" b="1" spc="-70" dirty="0">
                <a:latin typeface="Source Sans Pro"/>
                <a:cs typeface="Source Sans Pro"/>
              </a:rPr>
              <a:t> </a:t>
            </a:r>
            <a:r>
              <a:rPr sz="4000" b="1" spc="-10" dirty="0">
                <a:latin typeface="Source Sans Pro"/>
                <a:cs typeface="Source Sans Pro"/>
              </a:rPr>
              <a:t>Definition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F0E089-BA5D-F3A5-64A0-80B1AF73C34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lang="de-DE" spc="-1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67EB73A-03F8-2D09-1839-BF30FFB6F95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3</a:t>
            </a:fld>
            <a:endParaRPr lang="de-DE" spc="-50" dirty="0"/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D27C2C41-F136-D49A-A5D1-2FF081003056}"/>
              </a:ext>
            </a:extLst>
          </p:cNvPr>
          <p:cNvSpPr txBox="1">
            <a:spLocks/>
          </p:cNvSpPr>
          <p:nvPr/>
        </p:nvSpPr>
        <p:spPr>
          <a:xfrm>
            <a:off x="457200" y="1264198"/>
            <a:ext cx="9144000" cy="44196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algn="l">
              <a:spcBef>
                <a:spcPts val="735"/>
              </a:spcBef>
              <a:tabLst>
                <a:tab pos="240665" algn="l"/>
              </a:tabLst>
            </a:pPr>
            <a:r>
              <a:rPr lang="de-DE" sz="1800" b="1" dirty="0"/>
              <a:t>DIN</a:t>
            </a:r>
            <a:r>
              <a:rPr lang="de-DE" sz="1800" b="1" spc="-30" dirty="0"/>
              <a:t> </a:t>
            </a:r>
            <a:r>
              <a:rPr lang="de-DE" sz="1800" b="1" spc="-10" dirty="0"/>
              <a:t>69901</a:t>
            </a:r>
            <a:r>
              <a:rPr lang="de-DE" sz="1800" b="1" spc="-50" dirty="0"/>
              <a:t> </a:t>
            </a:r>
            <a:r>
              <a:rPr lang="de-DE" sz="1800" b="1" dirty="0"/>
              <a:t>definiert</a:t>
            </a:r>
            <a:r>
              <a:rPr lang="de-DE" sz="1800" b="1" spc="-40" dirty="0"/>
              <a:t> </a:t>
            </a:r>
            <a:r>
              <a:rPr lang="de-DE" sz="1800" b="1" dirty="0"/>
              <a:t>ein</a:t>
            </a:r>
            <a:r>
              <a:rPr lang="de-DE" sz="1800" b="1" spc="-20" dirty="0"/>
              <a:t> </a:t>
            </a:r>
            <a:r>
              <a:rPr lang="de-DE" sz="1800" b="1" dirty="0"/>
              <a:t>Projekt</a:t>
            </a:r>
            <a:r>
              <a:rPr lang="de-DE" sz="1800" b="1" spc="-20" dirty="0"/>
              <a:t>:</a:t>
            </a:r>
          </a:p>
          <a:p>
            <a:pPr marL="355600" indent="-34290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spc="-20" dirty="0"/>
          </a:p>
          <a:p>
            <a:pPr marL="12700" algn="l">
              <a:spcBef>
                <a:spcPts val="735"/>
              </a:spcBef>
              <a:tabLst>
                <a:tab pos="240665" algn="l"/>
              </a:tabLst>
            </a:pPr>
            <a:r>
              <a:rPr lang="de-DE" sz="1800" spc="-20" dirty="0"/>
              <a:t>"Ein Vorhaben das im Wesentlichen </a:t>
            </a:r>
          </a:p>
          <a:p>
            <a:pPr marL="355600" indent="-34290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spc="-20" dirty="0"/>
              <a:t>durch </a:t>
            </a:r>
            <a:r>
              <a:rPr lang="de-DE" sz="1800" b="1" spc="-20" dirty="0"/>
              <a:t>Einmaligkeit</a:t>
            </a:r>
            <a:r>
              <a:rPr lang="de-DE" sz="1800" spc="-20" dirty="0"/>
              <a:t> der Bedingungen in Ihrer Gesamtheit gekennzeichnet ist</a:t>
            </a:r>
          </a:p>
          <a:p>
            <a:pPr marL="355600" indent="-34290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spc="-20" dirty="0"/>
              <a:t>wie z.B. </a:t>
            </a:r>
          </a:p>
          <a:p>
            <a:pPr marL="812800" lvl="1" indent="-34290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pc="-20" dirty="0">
                <a:solidFill>
                  <a:srgbClr val="0070C0"/>
                </a:solidFill>
              </a:rPr>
              <a:t>Zielvorgaben</a:t>
            </a:r>
          </a:p>
          <a:p>
            <a:pPr marL="812800" lvl="1" indent="-34290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pc="-20" dirty="0">
                <a:solidFill>
                  <a:srgbClr val="0070C0"/>
                </a:solidFill>
              </a:rPr>
              <a:t>zeitliche</a:t>
            </a:r>
          </a:p>
          <a:p>
            <a:pPr marL="812800" lvl="1" indent="-34290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pc="-20" dirty="0">
                <a:solidFill>
                  <a:srgbClr val="0070C0"/>
                </a:solidFill>
              </a:rPr>
              <a:t>finanzielle</a:t>
            </a:r>
          </a:p>
          <a:p>
            <a:pPr marL="812800" lvl="1" indent="-34290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pc="-20" dirty="0">
                <a:solidFill>
                  <a:srgbClr val="0070C0"/>
                </a:solidFill>
              </a:rPr>
              <a:t>personelle </a:t>
            </a:r>
          </a:p>
          <a:p>
            <a:pPr marL="812800" lvl="1" indent="-34290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pc="-20" dirty="0">
                <a:solidFill>
                  <a:srgbClr val="0070C0"/>
                </a:solidFill>
              </a:rPr>
              <a:t>oder andere Begrenzungen</a:t>
            </a:r>
          </a:p>
          <a:p>
            <a:pPr marL="355600" indent="-34290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spc="-20" dirty="0"/>
              <a:t>Abgrenzung gegenüber anderen Vorhaben </a:t>
            </a:r>
          </a:p>
          <a:p>
            <a:pPr marL="355600" indent="-34290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spc="-20" dirty="0"/>
              <a:t>projektspezifische Organisation."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latin typeface="Source Sans Pro"/>
                <a:cs typeface="Source Sans Pro"/>
              </a:rPr>
              <a:t>Projektmanagement</a:t>
            </a:r>
            <a:r>
              <a:rPr sz="4000" b="1" spc="-40" dirty="0">
                <a:latin typeface="Source Sans Pro"/>
                <a:cs typeface="Source Sans Pro"/>
              </a:rPr>
              <a:t> </a:t>
            </a:r>
            <a:r>
              <a:rPr sz="4000" b="1" dirty="0">
                <a:latin typeface="Source Sans Pro"/>
                <a:cs typeface="Source Sans Pro"/>
              </a:rPr>
              <a:t>-</a:t>
            </a:r>
            <a:r>
              <a:rPr sz="4000" b="1" spc="-100" dirty="0">
                <a:latin typeface="Source Sans Pro"/>
                <a:cs typeface="Source Sans Pro"/>
              </a:rPr>
              <a:t> </a:t>
            </a:r>
            <a:r>
              <a:rPr sz="4000" b="1" spc="-10" dirty="0">
                <a:latin typeface="Source Sans Pro"/>
                <a:cs typeface="Source Sans Pro"/>
              </a:rPr>
              <a:t>Umsetzung</a:t>
            </a:r>
            <a:endParaRPr sz="4000">
              <a:latin typeface="Source Sans Pro"/>
              <a:cs typeface="Source Sans Pr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560175"/>
              </p:ext>
            </p:extLst>
          </p:nvPr>
        </p:nvGraphicFramePr>
        <p:xfrm>
          <a:off x="355600" y="2069973"/>
          <a:ext cx="11496040" cy="3030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82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3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D2E8F4"/>
                          </a:solidFill>
                          <a:latin typeface="Source Sans Pro"/>
                          <a:cs typeface="Source Sans Pro"/>
                        </a:rPr>
                        <a:t>Phase</a:t>
                      </a:r>
                      <a:endParaRPr sz="1800">
                        <a:latin typeface="Source Sans Pro"/>
                        <a:cs typeface="Source Sans Pro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D2E8F4"/>
                      </a:solidFill>
                      <a:prstDash val="solid"/>
                    </a:lnL>
                    <a:lnR w="12700">
                      <a:solidFill>
                        <a:srgbClr val="D2E8F4"/>
                      </a:solidFill>
                      <a:prstDash val="solid"/>
                    </a:lnR>
                    <a:lnT w="12700">
                      <a:solidFill>
                        <a:srgbClr val="D2E8F4"/>
                      </a:solidFill>
                      <a:prstDash val="solid"/>
                    </a:lnT>
                    <a:lnB w="38100">
                      <a:solidFill>
                        <a:srgbClr val="D2E8F4"/>
                      </a:solidFill>
                      <a:prstDash val="solid"/>
                    </a:lnB>
                    <a:solidFill>
                      <a:srgbClr val="0070B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D2E8F4"/>
                          </a:solidFill>
                          <a:latin typeface="Source Sans Pro"/>
                          <a:cs typeface="Source Sans Pro"/>
                        </a:rPr>
                        <a:t>Projektmanagementaufgaben</a:t>
                      </a:r>
                      <a:endParaRPr sz="1800">
                        <a:latin typeface="Source Sans Pro"/>
                        <a:cs typeface="Source Sans Pro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D2E8F4"/>
                      </a:solidFill>
                      <a:prstDash val="solid"/>
                    </a:lnL>
                    <a:lnR w="12700">
                      <a:solidFill>
                        <a:srgbClr val="D2E8F4"/>
                      </a:solidFill>
                      <a:prstDash val="solid"/>
                    </a:lnR>
                    <a:lnT w="12700">
                      <a:solidFill>
                        <a:srgbClr val="D2E8F4"/>
                      </a:solidFill>
                      <a:prstDash val="solid"/>
                    </a:lnT>
                    <a:lnB w="38100">
                      <a:solidFill>
                        <a:srgbClr val="D2E8F4"/>
                      </a:solidFill>
                      <a:prstDash val="solid"/>
                    </a:lnB>
                    <a:solidFill>
                      <a:srgbClr val="0070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 err="1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Proj</a:t>
                      </a:r>
                      <a:r>
                        <a:rPr lang="de-DE" sz="1800" spc="-1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e</a:t>
                      </a:r>
                      <a:r>
                        <a:rPr sz="1800" spc="-10" dirty="0" err="1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ktinitialisierung</a:t>
                      </a:r>
                      <a:endParaRPr sz="1800" dirty="0">
                        <a:latin typeface="Source Sans Pro"/>
                        <a:cs typeface="Source Sans Pro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D2E8F4"/>
                      </a:solidFill>
                      <a:prstDash val="solid"/>
                    </a:lnL>
                    <a:lnR w="12700">
                      <a:solidFill>
                        <a:srgbClr val="D2E8F4"/>
                      </a:solidFill>
                      <a:prstDash val="solid"/>
                    </a:lnR>
                    <a:lnT w="38100">
                      <a:solidFill>
                        <a:srgbClr val="D2E8F4"/>
                      </a:solidFill>
                      <a:prstDash val="solid"/>
                    </a:lnT>
                    <a:lnB w="12700">
                      <a:solidFill>
                        <a:srgbClr val="D2E8F4"/>
                      </a:solidFill>
                      <a:prstDash val="solid"/>
                    </a:lnB>
                    <a:solidFill>
                      <a:srgbClr val="CAD4E3"/>
                    </a:solidFill>
                  </a:tcPr>
                </a:tc>
                <a:tc>
                  <a:txBody>
                    <a:bodyPr/>
                    <a:lstStyle/>
                    <a:p>
                      <a:pPr marL="377825" marR="2339340" indent="-287020">
                        <a:lnSpc>
                          <a:spcPct val="100000"/>
                        </a:lnSpc>
                        <a:spcBef>
                          <a:spcPts val="254"/>
                        </a:spcBef>
                        <a:buFont typeface="Arial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Projektentscheidung,</a:t>
                      </a:r>
                      <a:r>
                        <a:rPr sz="1800" spc="-9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 </a:t>
                      </a:r>
                      <a:r>
                        <a:rPr sz="180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Projektauftrag,</a:t>
                      </a:r>
                      <a:r>
                        <a:rPr sz="1800" spc="-85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 </a:t>
                      </a:r>
                      <a:r>
                        <a:rPr sz="1800" spc="-1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Projektzieldefinition, Verantwortungsverteilung</a:t>
                      </a:r>
                      <a:endParaRPr sz="1800" dirty="0">
                        <a:latin typeface="Source Sans Pro"/>
                        <a:cs typeface="Source Sans Pro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D2E8F4"/>
                      </a:solidFill>
                      <a:prstDash val="solid"/>
                    </a:lnL>
                    <a:lnR w="12700">
                      <a:solidFill>
                        <a:srgbClr val="D2E8F4"/>
                      </a:solidFill>
                      <a:prstDash val="solid"/>
                    </a:lnR>
                    <a:lnT w="38100">
                      <a:solidFill>
                        <a:srgbClr val="D2E8F4"/>
                      </a:solidFill>
                      <a:prstDash val="solid"/>
                    </a:lnT>
                    <a:lnB w="12700">
                      <a:solidFill>
                        <a:srgbClr val="D2E8F4"/>
                      </a:solidFill>
                      <a:prstDash val="solid"/>
                    </a:lnB>
                    <a:solidFill>
                      <a:srgbClr val="CAD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Projektplanung</a:t>
                      </a:r>
                      <a:endParaRPr sz="1800" dirty="0">
                        <a:latin typeface="Source Sans Pro"/>
                        <a:cs typeface="Source Sans Pro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D2E8F4"/>
                      </a:solidFill>
                      <a:prstDash val="solid"/>
                    </a:lnL>
                    <a:lnR w="12700">
                      <a:solidFill>
                        <a:srgbClr val="D2E8F4"/>
                      </a:solidFill>
                      <a:prstDash val="solid"/>
                    </a:lnR>
                    <a:lnT w="12700">
                      <a:solidFill>
                        <a:srgbClr val="D2E8F4"/>
                      </a:solidFill>
                      <a:prstDash val="solid"/>
                    </a:lnT>
                    <a:lnB w="12700">
                      <a:solidFill>
                        <a:srgbClr val="D2E8F4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377825" indent="-286385">
                        <a:lnSpc>
                          <a:spcPct val="100000"/>
                        </a:lnSpc>
                        <a:spcBef>
                          <a:spcPts val="254"/>
                        </a:spcBef>
                        <a:buFont typeface="Arial"/>
                        <a:buChar char="•"/>
                        <a:tabLst>
                          <a:tab pos="377825" algn="l"/>
                        </a:tabLst>
                      </a:pPr>
                      <a:r>
                        <a:rPr sz="1800" spc="-1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Termin-</a:t>
                      </a:r>
                      <a:r>
                        <a:rPr sz="180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,</a:t>
                      </a:r>
                      <a:r>
                        <a:rPr sz="1800" spc="15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 </a:t>
                      </a:r>
                      <a:r>
                        <a:rPr sz="1800" spc="-1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Kosten-</a:t>
                      </a:r>
                      <a:r>
                        <a:rPr sz="180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,</a:t>
                      </a:r>
                      <a:r>
                        <a:rPr sz="1800" spc="15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 </a:t>
                      </a:r>
                      <a:r>
                        <a:rPr sz="180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Aufgaben-</a:t>
                      </a:r>
                      <a:r>
                        <a:rPr sz="1800" spc="5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 </a:t>
                      </a:r>
                      <a:r>
                        <a:rPr sz="180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und</a:t>
                      </a:r>
                      <a:r>
                        <a:rPr sz="1800" spc="15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 </a:t>
                      </a:r>
                      <a:r>
                        <a:rPr sz="1800" spc="-1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Ressourcenplanung</a:t>
                      </a:r>
                      <a:endParaRPr sz="1800">
                        <a:latin typeface="Source Sans Pro"/>
                        <a:cs typeface="Source Sans Pro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D2E8F4"/>
                      </a:solidFill>
                      <a:prstDash val="solid"/>
                    </a:lnL>
                    <a:lnR w="12700">
                      <a:solidFill>
                        <a:srgbClr val="D2E8F4"/>
                      </a:solidFill>
                      <a:prstDash val="solid"/>
                    </a:lnR>
                    <a:lnT w="12700">
                      <a:solidFill>
                        <a:srgbClr val="D2E8F4"/>
                      </a:solidFill>
                      <a:prstDash val="solid"/>
                    </a:lnT>
                    <a:lnB w="12700">
                      <a:solidFill>
                        <a:srgbClr val="D2E8F4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Projektdurchführung</a:t>
                      </a:r>
                      <a:endParaRPr sz="1800">
                        <a:latin typeface="Source Sans Pro"/>
                        <a:cs typeface="Source Sans Pro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D2E8F4"/>
                      </a:solidFill>
                      <a:prstDash val="solid"/>
                    </a:lnL>
                    <a:lnR w="12700">
                      <a:solidFill>
                        <a:srgbClr val="D2E8F4"/>
                      </a:solidFill>
                      <a:prstDash val="solid"/>
                    </a:lnR>
                    <a:lnT w="12700">
                      <a:solidFill>
                        <a:srgbClr val="D2E8F4"/>
                      </a:solidFill>
                      <a:prstDash val="solid"/>
                    </a:lnT>
                    <a:lnB w="12700">
                      <a:solidFill>
                        <a:srgbClr val="D2E8F4"/>
                      </a:solidFill>
                      <a:prstDash val="solid"/>
                    </a:lnB>
                    <a:solidFill>
                      <a:srgbClr val="CAD4E3"/>
                    </a:solidFill>
                  </a:tcPr>
                </a:tc>
                <a:tc>
                  <a:txBody>
                    <a:bodyPr/>
                    <a:lstStyle/>
                    <a:p>
                      <a:pPr marL="377825" indent="-286385">
                        <a:lnSpc>
                          <a:spcPct val="100000"/>
                        </a:lnSpc>
                        <a:spcBef>
                          <a:spcPts val="254"/>
                        </a:spcBef>
                        <a:buFont typeface="Arial"/>
                        <a:buChar char="•"/>
                        <a:tabLst>
                          <a:tab pos="377825" algn="l"/>
                        </a:tabLst>
                      </a:pPr>
                      <a:r>
                        <a:rPr sz="1800" spc="-1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Projektsteuerung</a:t>
                      </a:r>
                      <a:r>
                        <a:rPr sz="1800" spc="-35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 </a:t>
                      </a:r>
                      <a:r>
                        <a:rPr sz="180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und</a:t>
                      </a:r>
                      <a:r>
                        <a:rPr sz="1800" spc="-3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 </a:t>
                      </a:r>
                      <a:r>
                        <a:rPr sz="180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–Controlling</a:t>
                      </a:r>
                      <a:r>
                        <a:rPr sz="1800" spc="-25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 </a:t>
                      </a:r>
                      <a:r>
                        <a:rPr sz="180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(Termineinhaltung,</a:t>
                      </a:r>
                      <a:r>
                        <a:rPr sz="1800" spc="-25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 </a:t>
                      </a:r>
                      <a:r>
                        <a:rPr sz="180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Kostenüberwachung,</a:t>
                      </a:r>
                      <a:r>
                        <a:rPr sz="1800" spc="-55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 </a:t>
                      </a:r>
                      <a:r>
                        <a:rPr sz="1800" spc="-1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Soll-</a:t>
                      </a:r>
                      <a:endParaRPr sz="1800">
                        <a:latin typeface="Source Sans Pro"/>
                        <a:cs typeface="Source Sans Pro"/>
                      </a:endParaRPr>
                    </a:p>
                    <a:p>
                      <a:pPr marL="377825">
                        <a:lnSpc>
                          <a:spcPct val="100000"/>
                        </a:lnSpc>
                      </a:pPr>
                      <a:r>
                        <a:rPr sz="1800" spc="-1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/Ist-</a:t>
                      </a:r>
                      <a:r>
                        <a:rPr sz="180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Vergleich</a:t>
                      </a:r>
                      <a:r>
                        <a:rPr sz="1800" spc="-3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 </a:t>
                      </a:r>
                      <a:r>
                        <a:rPr sz="180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an</a:t>
                      </a:r>
                      <a:r>
                        <a:rPr sz="1800" spc="-2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 </a:t>
                      </a:r>
                      <a:r>
                        <a:rPr sz="1800" spc="-1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Stichtagen)</a:t>
                      </a:r>
                      <a:endParaRPr sz="1800">
                        <a:latin typeface="Source Sans Pro"/>
                        <a:cs typeface="Source Sans Pro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D2E8F4"/>
                      </a:solidFill>
                      <a:prstDash val="solid"/>
                    </a:lnL>
                    <a:lnR w="12700">
                      <a:solidFill>
                        <a:srgbClr val="D2E8F4"/>
                      </a:solidFill>
                      <a:prstDash val="solid"/>
                    </a:lnR>
                    <a:lnT w="12700">
                      <a:solidFill>
                        <a:srgbClr val="D2E8F4"/>
                      </a:solidFill>
                      <a:prstDash val="solid"/>
                    </a:lnT>
                    <a:lnB w="12700">
                      <a:solidFill>
                        <a:srgbClr val="D2E8F4"/>
                      </a:solidFill>
                      <a:prstDash val="solid"/>
                    </a:lnB>
                    <a:solidFill>
                      <a:srgbClr val="CAD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Projektabschluss</a:t>
                      </a:r>
                      <a:endParaRPr sz="1800">
                        <a:latin typeface="Source Sans Pro"/>
                        <a:cs typeface="Source Sans Pro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D2E8F4"/>
                      </a:solidFill>
                      <a:prstDash val="solid"/>
                    </a:lnL>
                    <a:lnR w="12700">
                      <a:solidFill>
                        <a:srgbClr val="D2E8F4"/>
                      </a:solidFill>
                      <a:prstDash val="solid"/>
                    </a:lnR>
                    <a:lnT w="12700">
                      <a:solidFill>
                        <a:srgbClr val="D2E8F4"/>
                      </a:solidFill>
                      <a:prstDash val="solid"/>
                    </a:lnT>
                    <a:lnB w="12700">
                      <a:solidFill>
                        <a:srgbClr val="D2E8F4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377825" indent="-286385">
                        <a:lnSpc>
                          <a:spcPct val="100000"/>
                        </a:lnSpc>
                        <a:spcBef>
                          <a:spcPts val="254"/>
                        </a:spcBef>
                        <a:buFont typeface="Arial"/>
                        <a:buChar char="•"/>
                        <a:tabLst>
                          <a:tab pos="377825" algn="l"/>
                        </a:tabLst>
                      </a:pPr>
                      <a:r>
                        <a:rPr sz="1800" spc="-1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Nachkalkulation</a:t>
                      </a:r>
                      <a:endParaRPr sz="1800">
                        <a:latin typeface="Source Sans Pro"/>
                        <a:cs typeface="Source Sans Pro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Tatsächlicher</a:t>
                      </a:r>
                      <a:r>
                        <a:rPr sz="1800" spc="-15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 </a:t>
                      </a:r>
                      <a:r>
                        <a:rPr sz="1800" spc="-1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Soll-/Ist-Vergleich</a:t>
                      </a:r>
                      <a:endParaRPr sz="1800">
                        <a:latin typeface="Source Sans Pro"/>
                        <a:cs typeface="Source Sans Pro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D2E8F4"/>
                      </a:solidFill>
                      <a:prstDash val="solid"/>
                    </a:lnL>
                    <a:lnR w="12700">
                      <a:solidFill>
                        <a:srgbClr val="D2E8F4"/>
                      </a:solidFill>
                      <a:prstDash val="solid"/>
                    </a:lnR>
                    <a:lnT w="12700">
                      <a:solidFill>
                        <a:srgbClr val="D2E8F4"/>
                      </a:solidFill>
                      <a:prstDash val="solid"/>
                    </a:lnT>
                    <a:lnB w="12700">
                      <a:solidFill>
                        <a:srgbClr val="D2E8F4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Gesamtes</a:t>
                      </a:r>
                      <a:r>
                        <a:rPr sz="1800" spc="-3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 </a:t>
                      </a:r>
                      <a:r>
                        <a:rPr sz="1800" spc="-1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Projekt</a:t>
                      </a:r>
                      <a:endParaRPr sz="1800" dirty="0">
                        <a:latin typeface="Source Sans Pro"/>
                        <a:cs typeface="Source Sans Pro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D2E8F4"/>
                      </a:solidFill>
                      <a:prstDash val="solid"/>
                    </a:lnL>
                    <a:lnR w="12700">
                      <a:solidFill>
                        <a:srgbClr val="D2E8F4"/>
                      </a:solidFill>
                      <a:prstDash val="solid"/>
                    </a:lnR>
                    <a:lnT w="12700">
                      <a:solidFill>
                        <a:srgbClr val="D2E8F4"/>
                      </a:solidFill>
                      <a:prstDash val="solid"/>
                    </a:lnT>
                    <a:lnB w="12700">
                      <a:solidFill>
                        <a:srgbClr val="D2E8F4"/>
                      </a:solidFill>
                      <a:prstDash val="solid"/>
                    </a:lnB>
                    <a:solidFill>
                      <a:srgbClr val="CAD4E3"/>
                    </a:solidFill>
                  </a:tcPr>
                </a:tc>
                <a:tc>
                  <a:txBody>
                    <a:bodyPr/>
                    <a:lstStyle/>
                    <a:p>
                      <a:pPr marL="377825" indent="-286385">
                        <a:lnSpc>
                          <a:spcPct val="100000"/>
                        </a:lnSpc>
                        <a:spcBef>
                          <a:spcPts val="260"/>
                        </a:spcBef>
                        <a:buFont typeface="Arial"/>
                        <a:buChar char="•"/>
                        <a:tabLst>
                          <a:tab pos="377825" algn="l"/>
                        </a:tabLst>
                      </a:pPr>
                      <a:r>
                        <a:rPr sz="1800" spc="-1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Projektteam,</a:t>
                      </a:r>
                      <a:r>
                        <a:rPr sz="1800" spc="-2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 </a:t>
                      </a:r>
                      <a:r>
                        <a:rPr sz="180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Kommunikation,</a:t>
                      </a:r>
                      <a:r>
                        <a:rPr sz="1800" spc="-5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 </a:t>
                      </a:r>
                      <a:r>
                        <a:rPr sz="180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Personalmanagement,</a:t>
                      </a:r>
                      <a:r>
                        <a:rPr sz="1800" spc="-10" dirty="0">
                          <a:solidFill>
                            <a:srgbClr val="0070B1"/>
                          </a:solidFill>
                          <a:latin typeface="Source Sans Pro"/>
                          <a:cs typeface="Source Sans Pro"/>
                        </a:rPr>
                        <a:t> Meetings</a:t>
                      </a:r>
                      <a:endParaRPr sz="1800" dirty="0">
                        <a:latin typeface="Source Sans Pro"/>
                        <a:cs typeface="Source Sans Pro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D2E8F4"/>
                      </a:solidFill>
                      <a:prstDash val="solid"/>
                    </a:lnL>
                    <a:lnR w="12700">
                      <a:solidFill>
                        <a:srgbClr val="D2E8F4"/>
                      </a:solidFill>
                      <a:prstDash val="solid"/>
                    </a:lnR>
                    <a:lnT w="12700">
                      <a:solidFill>
                        <a:srgbClr val="D2E8F4"/>
                      </a:solidFill>
                      <a:prstDash val="solid"/>
                    </a:lnT>
                    <a:lnB w="12700">
                      <a:solidFill>
                        <a:srgbClr val="D2E8F4"/>
                      </a:solidFill>
                      <a:prstDash val="solid"/>
                    </a:lnB>
                    <a:solidFill>
                      <a:srgbClr val="CAD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2A0131-1332-2C27-AD56-B9C14AD7A29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lang="de-DE" spc="-10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B2DC48B-42CE-A6E3-AF88-49C41B61685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433070" cy="145898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4</a:t>
            </a:fld>
            <a:endParaRPr lang="de-DE"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7B7DE-1BE3-B8C2-BD5E-D9A538F94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BAD4D0B-BF44-2E26-3121-56AC4B2CEA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dirty="0">
                <a:latin typeface="Source Sans Pro"/>
                <a:cs typeface="Source Sans Pro"/>
              </a:rPr>
              <a:t>Projektphasen - Vorteile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20DC57-952A-6AD3-EF09-8A717A4CAAD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lang="de-DE" spc="-1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CBDB31B-F1E2-355C-20CC-EB5D35F5E3A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5</a:t>
            </a:fld>
            <a:endParaRPr lang="de-DE" spc="-50" dirty="0"/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E528223C-E450-39B9-8779-2877F1CC5251}"/>
              </a:ext>
            </a:extLst>
          </p:cNvPr>
          <p:cNvSpPr txBox="1">
            <a:spLocks/>
          </p:cNvSpPr>
          <p:nvPr/>
        </p:nvSpPr>
        <p:spPr>
          <a:xfrm>
            <a:off x="457200" y="1828800"/>
            <a:ext cx="9144000" cy="353640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dirty="0"/>
              <a:t>Komplexität und Intransparenz wird reduziert, da Teilung in überschaubare Einheiten</a:t>
            </a: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dirty="0"/>
              <a:t>Phasenplan wie eine „Projektlandkarte“, alle können sich rasch orientieren</a:t>
            </a: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dirty="0"/>
              <a:t>Projektphasen enden mit klar definierten Zwischenergebnissen</a:t>
            </a: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dirty="0"/>
              <a:t>Risiken werden vermindert, da das Beenden einer Phase mit der bewussten Entscheidung verbunden ist, die folgende Phase zu beginnen</a:t>
            </a:r>
            <a:endParaRPr lang="de-DE" sz="1800" spc="-20" dirty="0"/>
          </a:p>
        </p:txBody>
      </p:sp>
    </p:spTree>
    <p:extLst>
      <p:ext uri="{BB962C8B-B14F-4D97-AF65-F5344CB8AC3E}">
        <p14:creationId xmlns:p14="http://schemas.microsoft.com/office/powerpoint/2010/main" val="3821773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Source Sans Pro"/>
                <a:cs typeface="Source Sans Pro"/>
              </a:rPr>
              <a:t>4</a:t>
            </a:r>
            <a:r>
              <a:rPr sz="4000" b="1" spc="-114" dirty="0">
                <a:latin typeface="Source Sans Pro"/>
                <a:cs typeface="Source Sans Pro"/>
              </a:rPr>
              <a:t> </a:t>
            </a:r>
            <a:r>
              <a:rPr sz="4000" b="1" dirty="0">
                <a:latin typeface="Source Sans Pro"/>
                <a:cs typeface="Source Sans Pro"/>
              </a:rPr>
              <a:t>Phasen</a:t>
            </a:r>
            <a:r>
              <a:rPr sz="4000" b="1" spc="-85" dirty="0">
                <a:latin typeface="Source Sans Pro"/>
                <a:cs typeface="Source Sans Pro"/>
              </a:rPr>
              <a:t> </a:t>
            </a:r>
            <a:r>
              <a:rPr sz="4000" b="1" dirty="0">
                <a:latin typeface="Source Sans Pro"/>
                <a:cs typeface="Source Sans Pro"/>
              </a:rPr>
              <a:t>des</a:t>
            </a:r>
            <a:r>
              <a:rPr sz="4000" b="1" spc="-95" dirty="0">
                <a:latin typeface="Source Sans Pro"/>
                <a:cs typeface="Source Sans Pro"/>
              </a:rPr>
              <a:t> </a:t>
            </a:r>
            <a:r>
              <a:rPr sz="4000" b="1" spc="-10" dirty="0" err="1">
                <a:latin typeface="Source Sans Pro"/>
                <a:cs typeface="Source Sans Pro"/>
              </a:rPr>
              <a:t>Projektablaufs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92195" y="3255531"/>
            <a:ext cx="477520" cy="76200"/>
          </a:xfrm>
          <a:custGeom>
            <a:avLst/>
            <a:gdLst/>
            <a:ahLst/>
            <a:cxnLst/>
            <a:rect l="l" t="t" r="r" b="b"/>
            <a:pathLst>
              <a:path w="477520" h="76200">
                <a:moveTo>
                  <a:pt x="400812" y="0"/>
                </a:moveTo>
                <a:lnTo>
                  <a:pt x="400812" y="76200"/>
                </a:lnTo>
                <a:lnTo>
                  <a:pt x="464312" y="44450"/>
                </a:lnTo>
                <a:lnTo>
                  <a:pt x="413512" y="44450"/>
                </a:lnTo>
                <a:lnTo>
                  <a:pt x="413512" y="31750"/>
                </a:lnTo>
                <a:lnTo>
                  <a:pt x="464312" y="31750"/>
                </a:lnTo>
                <a:lnTo>
                  <a:pt x="400812" y="0"/>
                </a:lnTo>
                <a:close/>
              </a:path>
              <a:path w="477520" h="76200">
                <a:moveTo>
                  <a:pt x="400812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00812" y="44450"/>
                </a:lnTo>
                <a:lnTo>
                  <a:pt x="400812" y="31750"/>
                </a:lnTo>
                <a:close/>
              </a:path>
              <a:path w="477520" h="76200">
                <a:moveTo>
                  <a:pt x="464312" y="31750"/>
                </a:moveTo>
                <a:lnTo>
                  <a:pt x="413512" y="31750"/>
                </a:lnTo>
                <a:lnTo>
                  <a:pt x="413512" y="44450"/>
                </a:lnTo>
                <a:lnTo>
                  <a:pt x="464312" y="44450"/>
                </a:lnTo>
                <a:lnTo>
                  <a:pt x="477012" y="38100"/>
                </a:lnTo>
                <a:lnTo>
                  <a:pt x="464312" y="31750"/>
                </a:lnTo>
                <a:close/>
              </a:path>
            </a:pathLst>
          </a:custGeom>
          <a:solidFill>
            <a:srgbClr val="0070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2000" y="2984259"/>
            <a:ext cx="2330450" cy="617220"/>
          </a:xfrm>
          <a:prstGeom prst="rect">
            <a:avLst/>
          </a:prstGeom>
          <a:solidFill>
            <a:srgbClr val="0070B1"/>
          </a:solidFill>
          <a:ln w="12700">
            <a:solidFill>
              <a:srgbClr val="005182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1800" spc="-10" dirty="0">
                <a:solidFill>
                  <a:srgbClr val="D2E8F4"/>
                </a:solidFill>
                <a:latin typeface="Source Sans Pro"/>
                <a:cs typeface="Source Sans Pro"/>
              </a:rPr>
              <a:t>Projektinitialisierung/</a:t>
            </a:r>
            <a:endParaRPr sz="1800" dirty="0">
              <a:latin typeface="Source Sans Pro"/>
              <a:cs typeface="Source Sans Pro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solidFill>
                  <a:srgbClr val="D2E8F4"/>
                </a:solidFill>
                <a:latin typeface="Source Sans Pro"/>
                <a:cs typeface="Source Sans Pro"/>
              </a:rPr>
              <a:t>-</a:t>
            </a:r>
            <a:r>
              <a:rPr sz="1800" spc="-20" dirty="0">
                <a:solidFill>
                  <a:srgbClr val="D2E8F4"/>
                </a:solidFill>
                <a:latin typeface="Source Sans Pro"/>
                <a:cs typeface="Source Sans Pro"/>
              </a:rPr>
              <a:t>start</a:t>
            </a:r>
            <a:endParaRPr sz="1800" dirty="0">
              <a:latin typeface="Source Sans Pro"/>
              <a:cs typeface="Source Sans Pr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69208" y="2984259"/>
            <a:ext cx="2097405" cy="617220"/>
          </a:xfrm>
          <a:prstGeom prst="rect">
            <a:avLst/>
          </a:prstGeom>
          <a:solidFill>
            <a:srgbClr val="0070B1"/>
          </a:solidFill>
          <a:ln w="12700">
            <a:solidFill>
              <a:srgbClr val="005182"/>
            </a:solidFill>
          </a:ln>
        </p:spPr>
        <p:txBody>
          <a:bodyPr vert="horz" wrap="square" lIns="0" tIns="158115" rIns="0" bIns="0" rtlCol="0">
            <a:spAutoFit/>
          </a:bodyPr>
          <a:lstStyle/>
          <a:p>
            <a:pPr marL="307975">
              <a:lnSpc>
                <a:spcPct val="100000"/>
              </a:lnSpc>
              <a:spcBef>
                <a:spcPts val="1245"/>
              </a:spcBef>
            </a:pPr>
            <a:r>
              <a:rPr sz="1800" spc="-10" dirty="0">
                <a:solidFill>
                  <a:srgbClr val="D2E8F4"/>
                </a:solidFill>
                <a:latin typeface="Source Sans Pro"/>
                <a:cs typeface="Source Sans Pro"/>
              </a:rPr>
              <a:t>Projektplanung</a:t>
            </a:r>
            <a:endParaRPr sz="1800" dirty="0">
              <a:latin typeface="Source Sans Pro"/>
              <a:cs typeface="Source Sans Pr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43244" y="2984259"/>
            <a:ext cx="2098675" cy="617220"/>
          </a:xfrm>
          <a:prstGeom prst="rect">
            <a:avLst/>
          </a:prstGeom>
          <a:solidFill>
            <a:srgbClr val="0070B1"/>
          </a:solidFill>
          <a:ln w="12700">
            <a:solidFill>
              <a:srgbClr val="005182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389255" marR="381000" indent="278765">
              <a:lnSpc>
                <a:spcPct val="100000"/>
              </a:lnSpc>
              <a:spcBef>
                <a:spcPts val="165"/>
              </a:spcBef>
            </a:pPr>
            <a:r>
              <a:rPr sz="1800" spc="-10" dirty="0">
                <a:solidFill>
                  <a:srgbClr val="D2E8F4"/>
                </a:solidFill>
                <a:latin typeface="Source Sans Pro"/>
                <a:cs typeface="Source Sans Pro"/>
              </a:rPr>
              <a:t>Projekt- durchführung</a:t>
            </a:r>
            <a:endParaRPr sz="1800" dirty="0">
              <a:latin typeface="Source Sans Pro"/>
              <a:cs typeface="Source Sans Pr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18804" y="2984259"/>
            <a:ext cx="2097405" cy="617220"/>
          </a:xfrm>
          <a:prstGeom prst="rect">
            <a:avLst/>
          </a:prstGeom>
          <a:solidFill>
            <a:srgbClr val="0070B1"/>
          </a:solidFill>
          <a:ln w="12700">
            <a:solidFill>
              <a:srgbClr val="005182"/>
            </a:solidFill>
          </a:ln>
        </p:spPr>
        <p:txBody>
          <a:bodyPr vert="horz" wrap="square" lIns="0" tIns="158115" rIns="0" bIns="0" rtlCol="0">
            <a:spAutoFit/>
          </a:bodyPr>
          <a:lstStyle/>
          <a:p>
            <a:pPr marL="231140">
              <a:lnSpc>
                <a:spcPct val="100000"/>
              </a:lnSpc>
              <a:spcBef>
                <a:spcPts val="1245"/>
              </a:spcBef>
            </a:pPr>
            <a:r>
              <a:rPr sz="1800" spc="-10" dirty="0">
                <a:solidFill>
                  <a:srgbClr val="D2E8F4"/>
                </a:solidFill>
                <a:latin typeface="Source Sans Pro"/>
                <a:cs typeface="Source Sans Pro"/>
              </a:rPr>
              <a:t>Projektabschluss</a:t>
            </a:r>
            <a:endParaRPr sz="1800">
              <a:latin typeface="Source Sans Pro"/>
              <a:cs typeface="Source Sans Pr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666232" y="3255531"/>
            <a:ext cx="477520" cy="76200"/>
          </a:xfrm>
          <a:custGeom>
            <a:avLst/>
            <a:gdLst/>
            <a:ahLst/>
            <a:cxnLst/>
            <a:rect l="l" t="t" r="r" b="b"/>
            <a:pathLst>
              <a:path w="477520" h="76200">
                <a:moveTo>
                  <a:pt x="400812" y="0"/>
                </a:moveTo>
                <a:lnTo>
                  <a:pt x="400812" y="76200"/>
                </a:lnTo>
                <a:lnTo>
                  <a:pt x="464312" y="44450"/>
                </a:lnTo>
                <a:lnTo>
                  <a:pt x="413512" y="44450"/>
                </a:lnTo>
                <a:lnTo>
                  <a:pt x="413512" y="31750"/>
                </a:lnTo>
                <a:lnTo>
                  <a:pt x="464312" y="31750"/>
                </a:lnTo>
                <a:lnTo>
                  <a:pt x="400812" y="0"/>
                </a:lnTo>
                <a:close/>
              </a:path>
              <a:path w="477520" h="76200">
                <a:moveTo>
                  <a:pt x="400812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00812" y="44450"/>
                </a:lnTo>
                <a:lnTo>
                  <a:pt x="400812" y="31750"/>
                </a:lnTo>
                <a:close/>
              </a:path>
              <a:path w="477520" h="76200">
                <a:moveTo>
                  <a:pt x="464312" y="31750"/>
                </a:moveTo>
                <a:lnTo>
                  <a:pt x="413512" y="31750"/>
                </a:lnTo>
                <a:lnTo>
                  <a:pt x="413512" y="44450"/>
                </a:lnTo>
                <a:lnTo>
                  <a:pt x="464312" y="44450"/>
                </a:lnTo>
                <a:lnTo>
                  <a:pt x="477012" y="38100"/>
                </a:lnTo>
                <a:lnTo>
                  <a:pt x="464312" y="31750"/>
                </a:lnTo>
                <a:close/>
              </a:path>
            </a:pathLst>
          </a:custGeom>
          <a:solidFill>
            <a:srgbClr val="0070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241792" y="3255531"/>
            <a:ext cx="477520" cy="76200"/>
          </a:xfrm>
          <a:custGeom>
            <a:avLst/>
            <a:gdLst/>
            <a:ahLst/>
            <a:cxnLst/>
            <a:rect l="l" t="t" r="r" b="b"/>
            <a:pathLst>
              <a:path w="477520" h="76200">
                <a:moveTo>
                  <a:pt x="400811" y="0"/>
                </a:moveTo>
                <a:lnTo>
                  <a:pt x="400811" y="76200"/>
                </a:lnTo>
                <a:lnTo>
                  <a:pt x="464311" y="44450"/>
                </a:lnTo>
                <a:lnTo>
                  <a:pt x="413511" y="44450"/>
                </a:lnTo>
                <a:lnTo>
                  <a:pt x="413511" y="31750"/>
                </a:lnTo>
                <a:lnTo>
                  <a:pt x="464311" y="31750"/>
                </a:lnTo>
                <a:lnTo>
                  <a:pt x="400811" y="0"/>
                </a:lnTo>
                <a:close/>
              </a:path>
              <a:path w="477520" h="76200">
                <a:moveTo>
                  <a:pt x="40081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00811" y="44450"/>
                </a:lnTo>
                <a:lnTo>
                  <a:pt x="400811" y="31750"/>
                </a:lnTo>
                <a:close/>
              </a:path>
              <a:path w="477520" h="76200">
                <a:moveTo>
                  <a:pt x="464311" y="31750"/>
                </a:moveTo>
                <a:lnTo>
                  <a:pt x="413511" y="31750"/>
                </a:lnTo>
                <a:lnTo>
                  <a:pt x="413511" y="44450"/>
                </a:lnTo>
                <a:lnTo>
                  <a:pt x="464311" y="44450"/>
                </a:lnTo>
                <a:lnTo>
                  <a:pt x="477011" y="38100"/>
                </a:lnTo>
                <a:lnTo>
                  <a:pt x="464311" y="31750"/>
                </a:lnTo>
                <a:close/>
              </a:path>
            </a:pathLst>
          </a:custGeom>
          <a:solidFill>
            <a:srgbClr val="0070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62000" y="5043048"/>
            <a:ext cx="9362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764540" indent="-287020">
              <a:lnSpc>
                <a:spcPct val="100000"/>
              </a:lnSpc>
              <a:spcBef>
                <a:spcPts val="2880"/>
              </a:spcBef>
              <a:buFont typeface="Arial"/>
              <a:buChar char="•"/>
              <a:tabLst>
                <a:tab pos="299085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4 Phasen Modell ist der "Klassiker" im Projektmanagement</a:t>
            </a:r>
            <a:endParaRPr dirty="0">
              <a:latin typeface="Source Sans Pro"/>
              <a:cs typeface="Source Sans Pro"/>
            </a:endParaRPr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60973BB0-1121-B67B-8071-A9385D395245}"/>
              </a:ext>
            </a:extLst>
          </p:cNvPr>
          <p:cNvSpPr txBox="1"/>
          <p:nvPr/>
        </p:nvSpPr>
        <p:spPr>
          <a:xfrm>
            <a:off x="762000" y="1351503"/>
            <a:ext cx="9362440" cy="1331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100"/>
              </a:spcBef>
              <a:tabLst>
                <a:tab pos="299085" algn="l"/>
              </a:tabLst>
            </a:pPr>
            <a:r>
              <a:rPr sz="2400" b="1" dirty="0">
                <a:solidFill>
                  <a:srgbClr val="0070B1"/>
                </a:solidFill>
                <a:latin typeface="Source Sans Pro"/>
                <a:cs typeface="Source Sans Pro"/>
              </a:rPr>
              <a:t>Definition</a:t>
            </a:r>
            <a:r>
              <a:rPr sz="2400" b="1" spc="-3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z="2400" b="1" dirty="0">
                <a:solidFill>
                  <a:srgbClr val="0070B1"/>
                </a:solidFill>
                <a:latin typeface="Source Sans Pro"/>
                <a:cs typeface="Source Sans Pro"/>
              </a:rPr>
              <a:t>Projektphase:</a:t>
            </a:r>
            <a:r>
              <a:rPr sz="2400" b="1" spc="-7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endParaRPr lang="de-DE" sz="2400" b="1" spc="-70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12065" marR="5080">
              <a:lnSpc>
                <a:spcPct val="100000"/>
              </a:lnSpc>
              <a:spcBef>
                <a:spcPts val="100"/>
              </a:spcBef>
              <a:tabLst>
                <a:tab pos="299085" algn="l"/>
              </a:tabLst>
            </a:pPr>
            <a:endParaRPr lang="de-DE" sz="2400" b="1" spc="-70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err="1">
                <a:solidFill>
                  <a:srgbClr val="0070B1"/>
                </a:solidFill>
                <a:latin typeface="Source Sans Pro"/>
                <a:cs typeface="Source Sans Pro"/>
              </a:rPr>
              <a:t>Zeitlicher</a:t>
            </a:r>
            <a:r>
              <a:rPr spc="-6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 err="1">
                <a:solidFill>
                  <a:srgbClr val="0070B1"/>
                </a:solidFill>
                <a:latin typeface="Source Sans Pro"/>
                <a:cs typeface="Source Sans Pro"/>
              </a:rPr>
              <a:t>Abschnitt</a:t>
            </a:r>
            <a:r>
              <a:rPr spc="-5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 err="1">
                <a:solidFill>
                  <a:srgbClr val="0070B1"/>
                </a:solidFill>
                <a:latin typeface="Source Sans Pro"/>
                <a:cs typeface="Source Sans Pro"/>
              </a:rPr>
              <a:t>eines</a:t>
            </a:r>
            <a:r>
              <a:rPr spc="-5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 err="1">
                <a:solidFill>
                  <a:srgbClr val="0070B1"/>
                </a:solidFill>
                <a:latin typeface="Source Sans Pro"/>
                <a:cs typeface="Source Sans Pro"/>
              </a:rPr>
              <a:t>Projektablaufs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,</a:t>
            </a:r>
            <a:r>
              <a:rPr spc="-5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25" dirty="0">
                <a:solidFill>
                  <a:srgbClr val="0070B1"/>
                </a:solidFill>
                <a:latin typeface="Source Sans Pro"/>
                <a:cs typeface="Source Sans Pro"/>
              </a:rPr>
              <a:t>der </a:t>
            </a:r>
            <a:r>
              <a:rPr dirty="0" err="1">
                <a:solidFill>
                  <a:srgbClr val="0070B1"/>
                </a:solidFill>
                <a:latin typeface="Source Sans Pro"/>
                <a:cs typeface="Source Sans Pro"/>
              </a:rPr>
              <a:t>sachlich</a:t>
            </a:r>
            <a:r>
              <a:rPr spc="-3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 err="1">
                <a:solidFill>
                  <a:srgbClr val="0070B1"/>
                </a:solidFill>
                <a:latin typeface="Source Sans Pro"/>
                <a:cs typeface="Source Sans Pro"/>
              </a:rPr>
              <a:t>gegenüber</a:t>
            </a:r>
            <a:r>
              <a:rPr spc="-4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 err="1">
                <a:solidFill>
                  <a:srgbClr val="0070B1"/>
                </a:solidFill>
                <a:latin typeface="Source Sans Pro"/>
                <a:cs typeface="Source Sans Pro"/>
              </a:rPr>
              <a:t>anderen</a:t>
            </a:r>
            <a:r>
              <a:rPr spc="-1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 err="1">
                <a:solidFill>
                  <a:srgbClr val="0070B1"/>
                </a:solidFill>
                <a:latin typeface="Source Sans Pro"/>
                <a:cs typeface="Source Sans Pro"/>
              </a:rPr>
              <a:t>Abschnitten</a:t>
            </a:r>
            <a:r>
              <a:rPr spc="-5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 err="1">
                <a:solidFill>
                  <a:srgbClr val="0070B1"/>
                </a:solidFill>
                <a:latin typeface="Source Sans Pro"/>
                <a:cs typeface="Source Sans Pro"/>
              </a:rPr>
              <a:t>getrennt</a:t>
            </a:r>
            <a:r>
              <a:rPr spc="-2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 err="1">
                <a:solidFill>
                  <a:srgbClr val="0070B1"/>
                </a:solidFill>
                <a:latin typeface="Source Sans Pro"/>
                <a:cs typeface="Source Sans Pro"/>
              </a:rPr>
              <a:t>ist</a:t>
            </a:r>
            <a:r>
              <a:rPr spc="-3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(DIN</a:t>
            </a:r>
            <a:r>
              <a:rPr spc="-5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69901)</a:t>
            </a:r>
            <a:endParaRPr dirty="0">
              <a:latin typeface="Source Sans Pro"/>
              <a:cs typeface="Source Sans Pro"/>
            </a:endParaRP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69682008-261F-C2DF-2730-C065B47477C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lang="de-DE" spc="-10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A8CF913B-9D41-AA5B-7E9D-54C3F70CDE1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4330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6</a:t>
            </a:fld>
            <a:endParaRPr lang="de-DE" spc="-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latin typeface="Source Sans Pro"/>
                <a:cs typeface="Source Sans Pro"/>
              </a:rPr>
              <a:t>Wasserfallmodell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0842" y="1875041"/>
            <a:ext cx="5655158" cy="171906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240029" algn="l"/>
              </a:tabLst>
            </a:pP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linear/sequentiell</a:t>
            </a:r>
            <a:endParaRPr dirty="0">
              <a:latin typeface="Source Sans Pro"/>
              <a:cs typeface="Source Sans Pro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029" algn="l"/>
              </a:tabLst>
            </a:pPr>
            <a:r>
              <a:rPr b="1" spc="-10" dirty="0">
                <a:solidFill>
                  <a:srgbClr val="0070B1"/>
                </a:solidFill>
                <a:latin typeface="Source Sans Pro"/>
                <a:cs typeface="Source Sans Pro"/>
              </a:rPr>
              <a:t>Vorteile:</a:t>
            </a:r>
            <a:endParaRPr dirty="0">
              <a:latin typeface="Source Sans Pro"/>
              <a:cs typeface="Source Sans Pro"/>
            </a:endParaRPr>
          </a:p>
          <a:p>
            <a:pPr marL="810260" lvl="1" indent="-342900">
              <a:lnSpc>
                <a:spcPct val="100000"/>
              </a:lnSpc>
              <a:spcBef>
                <a:spcPts val="220"/>
              </a:spcBef>
              <a:buSzPct val="95833"/>
              <a:buFont typeface="Arial" panose="020B0604020202020204" pitchFamily="34" charset="0"/>
              <a:buChar char="•"/>
              <a:tabLst>
                <a:tab pos="711835" algn="l"/>
              </a:tabLst>
            </a:pP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klare</a:t>
            </a:r>
            <a:r>
              <a:rPr spc="-4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Abgrenzung</a:t>
            </a:r>
            <a:r>
              <a:rPr spc="-3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der</a:t>
            </a:r>
            <a:r>
              <a:rPr spc="-3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Phasen</a:t>
            </a:r>
            <a:endParaRPr dirty="0">
              <a:latin typeface="Source Sans Pro"/>
              <a:cs typeface="Source Sans Pro"/>
            </a:endParaRPr>
          </a:p>
          <a:p>
            <a:pPr marL="810260" lvl="1" indent="-342900">
              <a:lnSpc>
                <a:spcPct val="100000"/>
              </a:lnSpc>
              <a:spcBef>
                <a:spcPts val="215"/>
              </a:spcBef>
              <a:buSzPct val="95833"/>
              <a:buFont typeface="Arial" panose="020B0604020202020204" pitchFamily="34" charset="0"/>
              <a:buChar char="•"/>
              <a:tabLst>
                <a:tab pos="711835" algn="l"/>
              </a:tabLst>
            </a:pP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einfache</a:t>
            </a:r>
            <a:r>
              <a:rPr spc="-1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Steuerung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und</a:t>
            </a:r>
            <a:r>
              <a:rPr spc="-2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Kontrolle</a:t>
            </a:r>
            <a:endParaRPr dirty="0">
              <a:latin typeface="Source Sans Pro"/>
              <a:cs typeface="Source Sans Pro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240029" algn="l"/>
              </a:tabLst>
            </a:pPr>
            <a:r>
              <a:rPr b="1" spc="-10" dirty="0">
                <a:solidFill>
                  <a:srgbClr val="0070B1"/>
                </a:solidFill>
                <a:latin typeface="Source Sans Pro"/>
                <a:cs typeface="Source Sans Pro"/>
              </a:rPr>
              <a:t>Nachteile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:</a:t>
            </a:r>
            <a:endParaRPr dirty="0">
              <a:latin typeface="Source Sans Pro"/>
              <a:cs typeface="Source Sans Pr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7563" y="3612771"/>
            <a:ext cx="7366000" cy="92076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353060" indent="-342900">
              <a:lnSpc>
                <a:spcPct val="100000"/>
              </a:lnSpc>
              <a:spcBef>
                <a:spcPts val="300"/>
              </a:spcBef>
              <a:buSzPct val="95833"/>
              <a:buFont typeface="Arial" panose="020B0604020202020204" pitchFamily="34" charset="0"/>
              <a:buChar char="•"/>
              <a:tabLst>
                <a:tab pos="254635" algn="l"/>
              </a:tabLst>
            </a:pP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unflexibel</a:t>
            </a:r>
            <a:r>
              <a:rPr spc="-2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bei</a:t>
            </a:r>
            <a:r>
              <a:rPr spc="-3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Schwierigkeiten</a:t>
            </a:r>
            <a:r>
              <a:rPr spc="-2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innerhalb</a:t>
            </a:r>
            <a:r>
              <a:rPr spc="-2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eines</a:t>
            </a:r>
            <a:r>
              <a:rPr spc="-3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Projektes</a:t>
            </a:r>
            <a:endParaRPr dirty="0">
              <a:latin typeface="Source Sans Pro"/>
              <a:cs typeface="Source Sans Pro"/>
            </a:endParaRPr>
          </a:p>
          <a:p>
            <a:pPr marL="353060" indent="-342900">
              <a:lnSpc>
                <a:spcPct val="100000"/>
              </a:lnSpc>
              <a:spcBef>
                <a:spcPts val="204"/>
              </a:spcBef>
              <a:buSzPct val="95833"/>
              <a:buFont typeface="Arial" panose="020B0604020202020204" pitchFamily="34" charset="0"/>
              <a:buChar char="•"/>
              <a:tabLst>
                <a:tab pos="254635" algn="l"/>
              </a:tabLst>
            </a:pP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Ende</a:t>
            </a:r>
            <a:r>
              <a:rPr spc="-2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einer</a:t>
            </a:r>
            <a:r>
              <a:rPr spc="-2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Phase</a:t>
            </a:r>
            <a:r>
              <a:rPr spc="-3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=</a:t>
            </a:r>
            <a:r>
              <a:rPr spc="-2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Point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of</a:t>
            </a:r>
            <a:r>
              <a:rPr spc="-3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no</a:t>
            </a:r>
            <a:r>
              <a:rPr spc="-2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return</a:t>
            </a:r>
            <a:endParaRPr dirty="0">
              <a:latin typeface="Source Sans Pro"/>
              <a:cs typeface="Source Sans Pro"/>
            </a:endParaRPr>
          </a:p>
          <a:p>
            <a:pPr marL="353060" indent="-342900">
              <a:lnSpc>
                <a:spcPct val="100000"/>
              </a:lnSpc>
              <a:spcBef>
                <a:spcPts val="215"/>
              </a:spcBef>
              <a:buSzPct val="95833"/>
              <a:buFont typeface="Arial" panose="020B0604020202020204" pitchFamily="34" charset="0"/>
              <a:buChar char="•"/>
              <a:tabLst>
                <a:tab pos="254635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Keine Wiederholungen von Phasen vorgesehen</a:t>
            </a:r>
            <a:endParaRPr dirty="0">
              <a:latin typeface="Source Sans Pro"/>
              <a:cs typeface="Source Sans Pr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53555" y="1684020"/>
            <a:ext cx="2097405" cy="615950"/>
          </a:xfrm>
          <a:prstGeom prst="rect">
            <a:avLst/>
          </a:prstGeom>
          <a:solidFill>
            <a:srgbClr val="0070B1"/>
          </a:solidFill>
          <a:ln w="12700">
            <a:solidFill>
              <a:srgbClr val="005182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sz="1600" spc="-10" dirty="0">
                <a:solidFill>
                  <a:srgbClr val="D2E8F4"/>
                </a:solidFill>
                <a:latin typeface="Source Sans Pro"/>
                <a:cs typeface="Source Sans Pro"/>
              </a:rPr>
              <a:t>Projektinitialisierung/</a:t>
            </a:r>
            <a:endParaRPr sz="1600" dirty="0">
              <a:latin typeface="Source Sans Pro"/>
              <a:cs typeface="Source Sans Pro"/>
            </a:endParaRPr>
          </a:p>
          <a:p>
            <a:pPr algn="ctr">
              <a:lnSpc>
                <a:spcPct val="100000"/>
              </a:lnSpc>
            </a:pPr>
            <a:r>
              <a:rPr sz="1600" spc="-10" dirty="0">
                <a:solidFill>
                  <a:srgbClr val="D2E8F4"/>
                </a:solidFill>
                <a:latin typeface="Source Sans Pro"/>
                <a:cs typeface="Source Sans Pro"/>
              </a:rPr>
              <a:t>-start</a:t>
            </a:r>
            <a:endParaRPr sz="1600" dirty="0">
              <a:latin typeface="Source Sans Pro"/>
              <a:cs typeface="Source Sans Pr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83780" y="2657855"/>
            <a:ext cx="2097405" cy="615950"/>
          </a:xfrm>
          <a:prstGeom prst="rect">
            <a:avLst/>
          </a:prstGeom>
          <a:solidFill>
            <a:srgbClr val="0070B1"/>
          </a:solidFill>
          <a:ln w="12700">
            <a:solidFill>
              <a:srgbClr val="005182"/>
            </a:solidFill>
          </a:ln>
        </p:spPr>
        <p:txBody>
          <a:bodyPr vert="horz" wrap="square" lIns="0" tIns="157480" rIns="0" bIns="0" rtlCol="0">
            <a:spAutoFit/>
          </a:bodyPr>
          <a:lstStyle/>
          <a:p>
            <a:pPr marL="307975">
              <a:lnSpc>
                <a:spcPct val="100000"/>
              </a:lnSpc>
              <a:spcBef>
                <a:spcPts val="1240"/>
              </a:spcBef>
            </a:pPr>
            <a:r>
              <a:rPr sz="1800" spc="-10" dirty="0">
                <a:solidFill>
                  <a:srgbClr val="D2E8F4"/>
                </a:solidFill>
                <a:latin typeface="Source Sans Pro"/>
                <a:cs typeface="Source Sans Pro"/>
              </a:rPr>
              <a:t>Projektplanung</a:t>
            </a:r>
            <a:endParaRPr sz="1800" dirty="0">
              <a:latin typeface="Source Sans Pro"/>
              <a:cs typeface="Source Sans Pr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24671" y="3840479"/>
            <a:ext cx="2097405" cy="617220"/>
          </a:xfrm>
          <a:prstGeom prst="rect">
            <a:avLst/>
          </a:prstGeom>
          <a:solidFill>
            <a:srgbClr val="0070B1"/>
          </a:solidFill>
          <a:ln w="12700">
            <a:solidFill>
              <a:srgbClr val="005182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389255" marR="379095" indent="278765">
              <a:lnSpc>
                <a:spcPct val="100000"/>
              </a:lnSpc>
              <a:spcBef>
                <a:spcPts val="165"/>
              </a:spcBef>
            </a:pPr>
            <a:r>
              <a:rPr sz="1800" spc="-10" dirty="0">
                <a:solidFill>
                  <a:srgbClr val="D2E8F4"/>
                </a:solidFill>
                <a:latin typeface="Source Sans Pro"/>
                <a:cs typeface="Source Sans Pro"/>
              </a:rPr>
              <a:t>Projekt- durchführung</a:t>
            </a:r>
            <a:endParaRPr sz="1800">
              <a:latin typeface="Source Sans Pro"/>
              <a:cs typeface="Source Sans Pr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82328" y="5010911"/>
            <a:ext cx="2097405" cy="617220"/>
          </a:xfrm>
          <a:prstGeom prst="rect">
            <a:avLst/>
          </a:prstGeom>
          <a:solidFill>
            <a:srgbClr val="0070B1"/>
          </a:solidFill>
          <a:ln w="12700">
            <a:solidFill>
              <a:srgbClr val="005182"/>
            </a:solidFill>
          </a:ln>
        </p:spPr>
        <p:txBody>
          <a:bodyPr vert="horz" wrap="square" lIns="0" tIns="158750" rIns="0" bIns="0" rtlCol="0">
            <a:spAutoFit/>
          </a:bodyPr>
          <a:lstStyle/>
          <a:p>
            <a:pPr marL="231140">
              <a:lnSpc>
                <a:spcPct val="100000"/>
              </a:lnSpc>
              <a:spcBef>
                <a:spcPts val="1250"/>
              </a:spcBef>
            </a:pPr>
            <a:r>
              <a:rPr sz="1800" spc="-10" dirty="0">
                <a:solidFill>
                  <a:srgbClr val="D2E8F4"/>
                </a:solidFill>
                <a:latin typeface="Source Sans Pro"/>
                <a:cs typeface="Source Sans Pro"/>
              </a:rPr>
              <a:t>Projektabschluss</a:t>
            </a:r>
            <a:endParaRPr sz="1800">
              <a:latin typeface="Source Sans Pro"/>
              <a:cs typeface="Source Sans Pr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395718" y="2299716"/>
            <a:ext cx="1075690" cy="357505"/>
          </a:xfrm>
          <a:custGeom>
            <a:avLst/>
            <a:gdLst/>
            <a:ahLst/>
            <a:cxnLst/>
            <a:rect l="l" t="t" r="r" b="b"/>
            <a:pathLst>
              <a:path w="1075690" h="357505">
                <a:moveTo>
                  <a:pt x="1030985" y="280797"/>
                </a:moveTo>
                <a:lnTo>
                  <a:pt x="999235" y="280797"/>
                </a:lnTo>
                <a:lnTo>
                  <a:pt x="1037335" y="356997"/>
                </a:lnTo>
                <a:lnTo>
                  <a:pt x="1069085" y="293497"/>
                </a:lnTo>
                <a:lnTo>
                  <a:pt x="1030985" y="293497"/>
                </a:lnTo>
                <a:lnTo>
                  <a:pt x="1030985" y="280797"/>
                </a:lnTo>
                <a:close/>
              </a:path>
              <a:path w="1075690" h="357505">
                <a:moveTo>
                  <a:pt x="1030985" y="178562"/>
                </a:moveTo>
                <a:lnTo>
                  <a:pt x="1030985" y="293497"/>
                </a:lnTo>
                <a:lnTo>
                  <a:pt x="1043685" y="293497"/>
                </a:lnTo>
                <a:lnTo>
                  <a:pt x="1043685" y="184912"/>
                </a:lnTo>
                <a:lnTo>
                  <a:pt x="1037335" y="184912"/>
                </a:lnTo>
                <a:lnTo>
                  <a:pt x="1030985" y="178562"/>
                </a:lnTo>
                <a:close/>
              </a:path>
              <a:path w="1075690" h="357505">
                <a:moveTo>
                  <a:pt x="1075435" y="280797"/>
                </a:moveTo>
                <a:lnTo>
                  <a:pt x="1043685" y="280797"/>
                </a:lnTo>
                <a:lnTo>
                  <a:pt x="1043685" y="293497"/>
                </a:lnTo>
                <a:lnTo>
                  <a:pt x="1069085" y="293497"/>
                </a:lnTo>
                <a:lnTo>
                  <a:pt x="1075435" y="280797"/>
                </a:lnTo>
                <a:close/>
              </a:path>
              <a:path w="1075690" h="357505">
                <a:moveTo>
                  <a:pt x="12700" y="0"/>
                </a:moveTo>
                <a:lnTo>
                  <a:pt x="0" y="0"/>
                </a:lnTo>
                <a:lnTo>
                  <a:pt x="0" y="184912"/>
                </a:lnTo>
                <a:lnTo>
                  <a:pt x="1030985" y="184912"/>
                </a:lnTo>
                <a:lnTo>
                  <a:pt x="1030985" y="178562"/>
                </a:lnTo>
                <a:lnTo>
                  <a:pt x="12700" y="178562"/>
                </a:lnTo>
                <a:lnTo>
                  <a:pt x="6350" y="172212"/>
                </a:lnTo>
                <a:lnTo>
                  <a:pt x="12700" y="172212"/>
                </a:lnTo>
                <a:lnTo>
                  <a:pt x="12700" y="0"/>
                </a:lnTo>
                <a:close/>
              </a:path>
              <a:path w="1075690" h="357505">
                <a:moveTo>
                  <a:pt x="1043685" y="172212"/>
                </a:moveTo>
                <a:lnTo>
                  <a:pt x="12700" y="172212"/>
                </a:lnTo>
                <a:lnTo>
                  <a:pt x="12700" y="178562"/>
                </a:lnTo>
                <a:lnTo>
                  <a:pt x="1030985" y="178562"/>
                </a:lnTo>
                <a:lnTo>
                  <a:pt x="1037335" y="184912"/>
                </a:lnTo>
                <a:lnTo>
                  <a:pt x="1043685" y="184912"/>
                </a:lnTo>
                <a:lnTo>
                  <a:pt x="1043685" y="172212"/>
                </a:lnTo>
                <a:close/>
              </a:path>
              <a:path w="1075690" h="357505">
                <a:moveTo>
                  <a:pt x="12700" y="172212"/>
                </a:moveTo>
                <a:lnTo>
                  <a:pt x="6350" y="172212"/>
                </a:lnTo>
                <a:lnTo>
                  <a:pt x="12700" y="178562"/>
                </a:lnTo>
                <a:lnTo>
                  <a:pt x="12700" y="172212"/>
                </a:lnTo>
                <a:close/>
              </a:path>
            </a:pathLst>
          </a:custGeom>
          <a:solidFill>
            <a:srgbClr val="0070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425942" y="3273552"/>
            <a:ext cx="1085850" cy="567055"/>
          </a:xfrm>
          <a:custGeom>
            <a:avLst/>
            <a:gdLst/>
            <a:ahLst/>
            <a:cxnLst/>
            <a:rect l="l" t="t" r="r" b="b"/>
            <a:pathLst>
              <a:path w="1085850" h="567054">
                <a:moveTo>
                  <a:pt x="1041273" y="490855"/>
                </a:moveTo>
                <a:lnTo>
                  <a:pt x="1009523" y="490855"/>
                </a:lnTo>
                <a:lnTo>
                  <a:pt x="1047623" y="567055"/>
                </a:lnTo>
                <a:lnTo>
                  <a:pt x="1079373" y="503555"/>
                </a:lnTo>
                <a:lnTo>
                  <a:pt x="1041273" y="503555"/>
                </a:lnTo>
                <a:lnTo>
                  <a:pt x="1041273" y="490855"/>
                </a:lnTo>
                <a:close/>
              </a:path>
              <a:path w="1085850" h="567054">
                <a:moveTo>
                  <a:pt x="1041273" y="283590"/>
                </a:moveTo>
                <a:lnTo>
                  <a:pt x="1041273" y="503555"/>
                </a:lnTo>
                <a:lnTo>
                  <a:pt x="1053973" y="503555"/>
                </a:lnTo>
                <a:lnTo>
                  <a:pt x="1053973" y="289940"/>
                </a:lnTo>
                <a:lnTo>
                  <a:pt x="1047623" y="289940"/>
                </a:lnTo>
                <a:lnTo>
                  <a:pt x="1041273" y="283590"/>
                </a:lnTo>
                <a:close/>
              </a:path>
              <a:path w="1085850" h="567054">
                <a:moveTo>
                  <a:pt x="1085723" y="490855"/>
                </a:moveTo>
                <a:lnTo>
                  <a:pt x="1053973" y="490855"/>
                </a:lnTo>
                <a:lnTo>
                  <a:pt x="1053973" y="503555"/>
                </a:lnTo>
                <a:lnTo>
                  <a:pt x="1079373" y="503555"/>
                </a:lnTo>
                <a:lnTo>
                  <a:pt x="1085723" y="490855"/>
                </a:lnTo>
                <a:close/>
              </a:path>
              <a:path w="1085850" h="567054">
                <a:moveTo>
                  <a:pt x="12700" y="0"/>
                </a:moveTo>
                <a:lnTo>
                  <a:pt x="0" y="0"/>
                </a:lnTo>
                <a:lnTo>
                  <a:pt x="0" y="289940"/>
                </a:lnTo>
                <a:lnTo>
                  <a:pt x="1041273" y="289940"/>
                </a:lnTo>
                <a:lnTo>
                  <a:pt x="1041273" y="283590"/>
                </a:lnTo>
                <a:lnTo>
                  <a:pt x="12700" y="283590"/>
                </a:lnTo>
                <a:lnTo>
                  <a:pt x="6350" y="277240"/>
                </a:lnTo>
                <a:lnTo>
                  <a:pt x="12700" y="277240"/>
                </a:lnTo>
                <a:lnTo>
                  <a:pt x="12700" y="0"/>
                </a:lnTo>
                <a:close/>
              </a:path>
              <a:path w="1085850" h="567054">
                <a:moveTo>
                  <a:pt x="1053973" y="277240"/>
                </a:moveTo>
                <a:lnTo>
                  <a:pt x="12700" y="277240"/>
                </a:lnTo>
                <a:lnTo>
                  <a:pt x="12700" y="283590"/>
                </a:lnTo>
                <a:lnTo>
                  <a:pt x="1041273" y="283590"/>
                </a:lnTo>
                <a:lnTo>
                  <a:pt x="1047623" y="289940"/>
                </a:lnTo>
                <a:lnTo>
                  <a:pt x="1053973" y="289940"/>
                </a:lnTo>
                <a:lnTo>
                  <a:pt x="1053973" y="277240"/>
                </a:lnTo>
                <a:close/>
              </a:path>
              <a:path w="1085850" h="567054">
                <a:moveTo>
                  <a:pt x="12700" y="277240"/>
                </a:moveTo>
                <a:lnTo>
                  <a:pt x="6350" y="277240"/>
                </a:lnTo>
                <a:lnTo>
                  <a:pt x="12700" y="283590"/>
                </a:lnTo>
                <a:lnTo>
                  <a:pt x="12700" y="277240"/>
                </a:lnTo>
                <a:close/>
              </a:path>
            </a:pathLst>
          </a:custGeom>
          <a:solidFill>
            <a:srgbClr val="0070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466833" y="4457700"/>
            <a:ext cx="1101725" cy="554355"/>
          </a:xfrm>
          <a:custGeom>
            <a:avLst/>
            <a:gdLst/>
            <a:ahLst/>
            <a:cxnLst/>
            <a:rect l="l" t="t" r="r" b="b"/>
            <a:pathLst>
              <a:path w="1101725" h="554354">
                <a:moveTo>
                  <a:pt x="1056894" y="478155"/>
                </a:moveTo>
                <a:lnTo>
                  <a:pt x="1025144" y="478155"/>
                </a:lnTo>
                <a:lnTo>
                  <a:pt x="1063244" y="554355"/>
                </a:lnTo>
                <a:lnTo>
                  <a:pt x="1094994" y="490855"/>
                </a:lnTo>
                <a:lnTo>
                  <a:pt x="1056894" y="490855"/>
                </a:lnTo>
                <a:lnTo>
                  <a:pt x="1056894" y="478155"/>
                </a:lnTo>
                <a:close/>
              </a:path>
              <a:path w="1101725" h="554354">
                <a:moveTo>
                  <a:pt x="1056894" y="277113"/>
                </a:moveTo>
                <a:lnTo>
                  <a:pt x="1056894" y="490855"/>
                </a:lnTo>
                <a:lnTo>
                  <a:pt x="1069594" y="490855"/>
                </a:lnTo>
                <a:lnTo>
                  <a:pt x="1069594" y="283463"/>
                </a:lnTo>
                <a:lnTo>
                  <a:pt x="1063244" y="283463"/>
                </a:lnTo>
                <a:lnTo>
                  <a:pt x="1056894" y="277113"/>
                </a:lnTo>
                <a:close/>
              </a:path>
              <a:path w="1101725" h="554354">
                <a:moveTo>
                  <a:pt x="1101344" y="478155"/>
                </a:moveTo>
                <a:lnTo>
                  <a:pt x="1069594" y="478155"/>
                </a:lnTo>
                <a:lnTo>
                  <a:pt x="1069594" y="490855"/>
                </a:lnTo>
                <a:lnTo>
                  <a:pt x="1094994" y="490855"/>
                </a:lnTo>
                <a:lnTo>
                  <a:pt x="1101344" y="478155"/>
                </a:lnTo>
                <a:close/>
              </a:path>
              <a:path w="1101725" h="554354">
                <a:moveTo>
                  <a:pt x="12700" y="0"/>
                </a:moveTo>
                <a:lnTo>
                  <a:pt x="0" y="0"/>
                </a:lnTo>
                <a:lnTo>
                  <a:pt x="0" y="283463"/>
                </a:lnTo>
                <a:lnTo>
                  <a:pt x="1056894" y="283463"/>
                </a:lnTo>
                <a:lnTo>
                  <a:pt x="1056894" y="277113"/>
                </a:lnTo>
                <a:lnTo>
                  <a:pt x="12700" y="277113"/>
                </a:lnTo>
                <a:lnTo>
                  <a:pt x="6350" y="270763"/>
                </a:lnTo>
                <a:lnTo>
                  <a:pt x="12700" y="270763"/>
                </a:lnTo>
                <a:lnTo>
                  <a:pt x="12700" y="0"/>
                </a:lnTo>
                <a:close/>
              </a:path>
              <a:path w="1101725" h="554354">
                <a:moveTo>
                  <a:pt x="1069594" y="270763"/>
                </a:moveTo>
                <a:lnTo>
                  <a:pt x="12700" y="270763"/>
                </a:lnTo>
                <a:lnTo>
                  <a:pt x="12700" y="277113"/>
                </a:lnTo>
                <a:lnTo>
                  <a:pt x="1056894" y="277113"/>
                </a:lnTo>
                <a:lnTo>
                  <a:pt x="1063244" y="283463"/>
                </a:lnTo>
                <a:lnTo>
                  <a:pt x="1069594" y="283463"/>
                </a:lnTo>
                <a:lnTo>
                  <a:pt x="1069594" y="270763"/>
                </a:lnTo>
                <a:close/>
              </a:path>
              <a:path w="1101725" h="554354">
                <a:moveTo>
                  <a:pt x="12700" y="270763"/>
                </a:moveTo>
                <a:lnTo>
                  <a:pt x="6350" y="270763"/>
                </a:lnTo>
                <a:lnTo>
                  <a:pt x="12700" y="277113"/>
                </a:lnTo>
                <a:lnTo>
                  <a:pt x="12700" y="270763"/>
                </a:lnTo>
                <a:close/>
              </a:path>
            </a:pathLst>
          </a:custGeom>
          <a:solidFill>
            <a:srgbClr val="0070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710303A-29EF-43FC-AB9E-906C7A1012A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4330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7</a:t>
            </a:fld>
            <a:endParaRPr lang="de-DE" spc="-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Source Sans Pro"/>
                <a:cs typeface="Source Sans Pro"/>
              </a:rPr>
              <a:t>Rollen</a:t>
            </a:r>
            <a:r>
              <a:rPr sz="4000" b="1" spc="-65" dirty="0">
                <a:latin typeface="Source Sans Pro"/>
                <a:cs typeface="Source Sans Pro"/>
              </a:rPr>
              <a:t> </a:t>
            </a:r>
            <a:r>
              <a:rPr sz="4000" b="1" dirty="0">
                <a:latin typeface="Source Sans Pro"/>
                <a:cs typeface="Source Sans Pro"/>
              </a:rPr>
              <a:t>im</a:t>
            </a:r>
            <a:r>
              <a:rPr sz="4000" b="1" spc="-80" dirty="0">
                <a:latin typeface="Source Sans Pro"/>
                <a:cs typeface="Source Sans Pro"/>
              </a:rPr>
              <a:t> </a:t>
            </a:r>
            <a:r>
              <a:rPr sz="4000" b="1" dirty="0">
                <a:latin typeface="Source Sans Pro"/>
                <a:cs typeface="Source Sans Pro"/>
              </a:rPr>
              <a:t>Projekt</a:t>
            </a:r>
            <a:r>
              <a:rPr sz="4000" b="1" spc="-45" dirty="0">
                <a:latin typeface="Source Sans Pro"/>
                <a:cs typeface="Source Sans Pro"/>
              </a:rPr>
              <a:t> </a:t>
            </a:r>
            <a:r>
              <a:rPr sz="4000" b="1" dirty="0">
                <a:latin typeface="Source Sans Pro"/>
                <a:cs typeface="Source Sans Pro"/>
              </a:rPr>
              <a:t>–</a:t>
            </a:r>
            <a:r>
              <a:rPr sz="4000" b="1" spc="-75" dirty="0">
                <a:latin typeface="Source Sans Pro"/>
                <a:cs typeface="Source Sans Pro"/>
              </a:rPr>
              <a:t> </a:t>
            </a:r>
            <a:r>
              <a:rPr sz="4000" b="1" dirty="0">
                <a:latin typeface="Source Sans Pro"/>
                <a:cs typeface="Source Sans Pro"/>
              </a:rPr>
              <a:t>Wer</a:t>
            </a:r>
            <a:r>
              <a:rPr sz="4000" b="1" spc="-80" dirty="0">
                <a:latin typeface="Source Sans Pro"/>
                <a:cs typeface="Source Sans Pro"/>
              </a:rPr>
              <a:t> </a:t>
            </a:r>
            <a:r>
              <a:rPr sz="4000" b="1" dirty="0">
                <a:latin typeface="Source Sans Pro"/>
                <a:cs typeface="Source Sans Pro"/>
              </a:rPr>
              <a:t>macht</a:t>
            </a:r>
            <a:r>
              <a:rPr sz="4000" b="1" spc="-60" dirty="0">
                <a:latin typeface="Source Sans Pro"/>
                <a:cs typeface="Source Sans Pro"/>
              </a:rPr>
              <a:t> </a:t>
            </a:r>
            <a:r>
              <a:rPr sz="4000" b="1" spc="-20" dirty="0">
                <a:latin typeface="Source Sans Pro"/>
                <a:cs typeface="Source Sans Pro"/>
              </a:rPr>
              <a:t>mit?</a:t>
            </a:r>
            <a:endParaRPr sz="4000">
              <a:latin typeface="Source Sans Pro"/>
              <a:cs typeface="Source Sans Pr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0842" y="1251414"/>
            <a:ext cx="162433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i="1" spc="-45" dirty="0">
                <a:solidFill>
                  <a:srgbClr val="0070B1"/>
                </a:solidFill>
                <a:latin typeface="Source Sans Pro"/>
                <a:cs typeface="Source Sans Pro"/>
              </a:rPr>
              <a:t>Projektbeteiligte</a:t>
            </a:r>
            <a:endParaRPr sz="1900">
              <a:latin typeface="Source Sans Pro"/>
              <a:cs typeface="Source Sans Pr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383" y="1206381"/>
            <a:ext cx="11921236" cy="46288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443221" y="4201795"/>
            <a:ext cx="33375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10" dirty="0">
                <a:solidFill>
                  <a:srgbClr val="EFEFEF"/>
                </a:solidFill>
                <a:latin typeface="Source Sans Pro"/>
                <a:cs typeface="Source Sans Pro"/>
              </a:rPr>
              <a:t>Stakeholder</a:t>
            </a:r>
            <a:endParaRPr sz="4800" dirty="0">
              <a:latin typeface="Source Sans Pro"/>
              <a:cs typeface="Source Sans Pro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44269" y="2697226"/>
            <a:ext cx="3025775" cy="1241425"/>
            <a:chOff x="1144269" y="2697226"/>
            <a:chExt cx="3025775" cy="1241425"/>
          </a:xfrm>
        </p:grpSpPr>
        <p:sp>
          <p:nvSpPr>
            <p:cNvPr id="7" name="object 7"/>
            <p:cNvSpPr/>
            <p:nvPr/>
          </p:nvSpPr>
          <p:spPr>
            <a:xfrm>
              <a:off x="1150619" y="2703576"/>
              <a:ext cx="3013075" cy="1228725"/>
            </a:xfrm>
            <a:custGeom>
              <a:avLst/>
              <a:gdLst/>
              <a:ahLst/>
              <a:cxnLst/>
              <a:rect l="l" t="t" r="r" b="b"/>
              <a:pathLst>
                <a:path w="3013075" h="1228725">
                  <a:moveTo>
                    <a:pt x="3012948" y="0"/>
                  </a:moveTo>
                  <a:lnTo>
                    <a:pt x="0" y="0"/>
                  </a:lnTo>
                  <a:lnTo>
                    <a:pt x="0" y="1228344"/>
                  </a:lnTo>
                  <a:lnTo>
                    <a:pt x="3012948" y="1228344"/>
                  </a:lnTo>
                  <a:lnTo>
                    <a:pt x="3012948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50619" y="2703576"/>
              <a:ext cx="3013075" cy="1228725"/>
            </a:xfrm>
            <a:custGeom>
              <a:avLst/>
              <a:gdLst/>
              <a:ahLst/>
              <a:cxnLst/>
              <a:rect l="l" t="t" r="r" b="b"/>
              <a:pathLst>
                <a:path w="3013075" h="1228725">
                  <a:moveTo>
                    <a:pt x="0" y="1228344"/>
                  </a:moveTo>
                  <a:lnTo>
                    <a:pt x="3012948" y="1228344"/>
                  </a:lnTo>
                  <a:lnTo>
                    <a:pt x="3012948" y="0"/>
                  </a:lnTo>
                  <a:lnTo>
                    <a:pt x="0" y="0"/>
                  </a:lnTo>
                  <a:lnTo>
                    <a:pt x="0" y="1228344"/>
                  </a:lnTo>
                  <a:close/>
                </a:path>
              </a:pathLst>
            </a:custGeom>
            <a:ln w="12700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56969" y="3154426"/>
            <a:ext cx="3000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850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D2E8F4"/>
                </a:solidFill>
                <a:latin typeface="Source Sans Pro"/>
                <a:cs typeface="Source Sans Pro"/>
              </a:rPr>
              <a:t>Teammitglieder</a:t>
            </a:r>
            <a:endParaRPr sz="1800" dirty="0">
              <a:latin typeface="Source Sans Pro"/>
              <a:cs typeface="Source Sans Pr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84250" y="1773682"/>
            <a:ext cx="3347720" cy="955040"/>
            <a:chOff x="984250" y="1773682"/>
            <a:chExt cx="3347720" cy="955040"/>
          </a:xfrm>
        </p:grpSpPr>
        <p:sp>
          <p:nvSpPr>
            <p:cNvPr id="11" name="object 11"/>
            <p:cNvSpPr/>
            <p:nvPr/>
          </p:nvSpPr>
          <p:spPr>
            <a:xfrm>
              <a:off x="990600" y="1780032"/>
              <a:ext cx="3335020" cy="942340"/>
            </a:xfrm>
            <a:custGeom>
              <a:avLst/>
              <a:gdLst/>
              <a:ahLst/>
              <a:cxnLst/>
              <a:rect l="l" t="t" r="r" b="b"/>
              <a:pathLst>
                <a:path w="3335020" h="942339">
                  <a:moveTo>
                    <a:pt x="1667256" y="0"/>
                  </a:moveTo>
                  <a:lnTo>
                    <a:pt x="0" y="941831"/>
                  </a:lnTo>
                  <a:lnTo>
                    <a:pt x="3334512" y="941831"/>
                  </a:lnTo>
                  <a:lnTo>
                    <a:pt x="1667256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90600" y="1780032"/>
              <a:ext cx="3335020" cy="942340"/>
            </a:xfrm>
            <a:custGeom>
              <a:avLst/>
              <a:gdLst/>
              <a:ahLst/>
              <a:cxnLst/>
              <a:rect l="l" t="t" r="r" b="b"/>
              <a:pathLst>
                <a:path w="3335020" h="942339">
                  <a:moveTo>
                    <a:pt x="0" y="941831"/>
                  </a:moveTo>
                  <a:lnTo>
                    <a:pt x="1667256" y="0"/>
                  </a:lnTo>
                  <a:lnTo>
                    <a:pt x="3334512" y="941831"/>
                  </a:lnTo>
                  <a:lnTo>
                    <a:pt x="0" y="941831"/>
                  </a:lnTo>
                  <a:close/>
                </a:path>
              </a:pathLst>
            </a:custGeom>
            <a:ln w="12700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117851" y="2339720"/>
            <a:ext cx="10788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161616"/>
                </a:solidFill>
                <a:latin typeface="Source Sans Pro"/>
                <a:cs typeface="Source Sans Pro"/>
              </a:rPr>
              <a:t>Projektteam</a:t>
            </a:r>
            <a:endParaRPr sz="1600" dirty="0">
              <a:latin typeface="Source Sans Pro"/>
              <a:cs typeface="Source Sans Pr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617465" y="1618233"/>
            <a:ext cx="1835785" cy="840740"/>
            <a:chOff x="4617465" y="1618233"/>
            <a:chExt cx="1835785" cy="840740"/>
          </a:xfrm>
        </p:grpSpPr>
        <p:sp>
          <p:nvSpPr>
            <p:cNvPr id="15" name="object 15"/>
            <p:cNvSpPr/>
            <p:nvPr/>
          </p:nvSpPr>
          <p:spPr>
            <a:xfrm>
              <a:off x="4623815" y="1624583"/>
              <a:ext cx="1823085" cy="828040"/>
            </a:xfrm>
            <a:custGeom>
              <a:avLst/>
              <a:gdLst/>
              <a:ahLst/>
              <a:cxnLst/>
              <a:rect l="l" t="t" r="r" b="b"/>
              <a:pathLst>
                <a:path w="1823085" h="828039">
                  <a:moveTo>
                    <a:pt x="1684782" y="0"/>
                  </a:moveTo>
                  <a:lnTo>
                    <a:pt x="137922" y="0"/>
                  </a:lnTo>
                  <a:lnTo>
                    <a:pt x="94317" y="7028"/>
                  </a:lnTo>
                  <a:lnTo>
                    <a:pt x="56455" y="26602"/>
                  </a:lnTo>
                  <a:lnTo>
                    <a:pt x="26602" y="56455"/>
                  </a:lnTo>
                  <a:lnTo>
                    <a:pt x="7028" y="94317"/>
                  </a:lnTo>
                  <a:lnTo>
                    <a:pt x="0" y="137921"/>
                  </a:lnTo>
                  <a:lnTo>
                    <a:pt x="0" y="689610"/>
                  </a:lnTo>
                  <a:lnTo>
                    <a:pt x="7028" y="733214"/>
                  </a:lnTo>
                  <a:lnTo>
                    <a:pt x="26602" y="771076"/>
                  </a:lnTo>
                  <a:lnTo>
                    <a:pt x="56455" y="800929"/>
                  </a:lnTo>
                  <a:lnTo>
                    <a:pt x="94317" y="820503"/>
                  </a:lnTo>
                  <a:lnTo>
                    <a:pt x="137922" y="827531"/>
                  </a:lnTo>
                  <a:lnTo>
                    <a:pt x="1684782" y="827531"/>
                  </a:lnTo>
                  <a:lnTo>
                    <a:pt x="1728386" y="820503"/>
                  </a:lnTo>
                  <a:lnTo>
                    <a:pt x="1766248" y="800929"/>
                  </a:lnTo>
                  <a:lnTo>
                    <a:pt x="1796101" y="771076"/>
                  </a:lnTo>
                  <a:lnTo>
                    <a:pt x="1815675" y="733214"/>
                  </a:lnTo>
                  <a:lnTo>
                    <a:pt x="1822704" y="689610"/>
                  </a:lnTo>
                  <a:lnTo>
                    <a:pt x="1822704" y="137921"/>
                  </a:lnTo>
                  <a:lnTo>
                    <a:pt x="1815675" y="94317"/>
                  </a:lnTo>
                  <a:lnTo>
                    <a:pt x="1796101" y="56455"/>
                  </a:lnTo>
                  <a:lnTo>
                    <a:pt x="1766248" y="26602"/>
                  </a:lnTo>
                  <a:lnTo>
                    <a:pt x="1728386" y="7028"/>
                  </a:lnTo>
                  <a:lnTo>
                    <a:pt x="1684782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23815" y="1624583"/>
              <a:ext cx="1823085" cy="828040"/>
            </a:xfrm>
            <a:custGeom>
              <a:avLst/>
              <a:gdLst/>
              <a:ahLst/>
              <a:cxnLst/>
              <a:rect l="l" t="t" r="r" b="b"/>
              <a:pathLst>
                <a:path w="1823085" h="828039">
                  <a:moveTo>
                    <a:pt x="0" y="137921"/>
                  </a:moveTo>
                  <a:lnTo>
                    <a:pt x="7028" y="94317"/>
                  </a:lnTo>
                  <a:lnTo>
                    <a:pt x="26602" y="56455"/>
                  </a:lnTo>
                  <a:lnTo>
                    <a:pt x="56455" y="26602"/>
                  </a:lnTo>
                  <a:lnTo>
                    <a:pt x="94317" y="7028"/>
                  </a:lnTo>
                  <a:lnTo>
                    <a:pt x="137922" y="0"/>
                  </a:lnTo>
                  <a:lnTo>
                    <a:pt x="1684782" y="0"/>
                  </a:lnTo>
                  <a:lnTo>
                    <a:pt x="1728386" y="7028"/>
                  </a:lnTo>
                  <a:lnTo>
                    <a:pt x="1766248" y="26602"/>
                  </a:lnTo>
                  <a:lnTo>
                    <a:pt x="1796101" y="56455"/>
                  </a:lnTo>
                  <a:lnTo>
                    <a:pt x="1815675" y="94317"/>
                  </a:lnTo>
                  <a:lnTo>
                    <a:pt x="1822704" y="137921"/>
                  </a:lnTo>
                  <a:lnTo>
                    <a:pt x="1822704" y="689610"/>
                  </a:lnTo>
                  <a:lnTo>
                    <a:pt x="1815675" y="733214"/>
                  </a:lnTo>
                  <a:lnTo>
                    <a:pt x="1796101" y="771076"/>
                  </a:lnTo>
                  <a:lnTo>
                    <a:pt x="1766248" y="800929"/>
                  </a:lnTo>
                  <a:lnTo>
                    <a:pt x="1728386" y="820503"/>
                  </a:lnTo>
                  <a:lnTo>
                    <a:pt x="1684782" y="827531"/>
                  </a:lnTo>
                  <a:lnTo>
                    <a:pt x="137922" y="827531"/>
                  </a:lnTo>
                  <a:lnTo>
                    <a:pt x="94317" y="820503"/>
                  </a:lnTo>
                  <a:lnTo>
                    <a:pt x="56455" y="800929"/>
                  </a:lnTo>
                  <a:lnTo>
                    <a:pt x="26602" y="771076"/>
                  </a:lnTo>
                  <a:lnTo>
                    <a:pt x="7028" y="733214"/>
                  </a:lnTo>
                  <a:lnTo>
                    <a:pt x="0" y="689610"/>
                  </a:lnTo>
                  <a:lnTo>
                    <a:pt x="0" y="137921"/>
                  </a:lnTo>
                  <a:close/>
                </a:path>
              </a:pathLst>
            </a:custGeom>
            <a:ln w="12700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928361" y="1875535"/>
            <a:ext cx="1214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D2E8F4"/>
                </a:solidFill>
                <a:latin typeface="Source Sans Pro"/>
                <a:cs typeface="Source Sans Pro"/>
              </a:rPr>
              <a:t>Projektleiter</a:t>
            </a:r>
            <a:endParaRPr sz="1800" dirty="0">
              <a:latin typeface="Source Sans Pro"/>
              <a:cs typeface="Source Sans Pro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939785" y="2112010"/>
            <a:ext cx="2760980" cy="1899920"/>
            <a:chOff x="7939785" y="2112010"/>
            <a:chExt cx="2760980" cy="1899920"/>
          </a:xfrm>
        </p:grpSpPr>
        <p:sp>
          <p:nvSpPr>
            <p:cNvPr id="19" name="object 19"/>
            <p:cNvSpPr/>
            <p:nvPr/>
          </p:nvSpPr>
          <p:spPr>
            <a:xfrm>
              <a:off x="7946135" y="2118360"/>
              <a:ext cx="2748280" cy="1887220"/>
            </a:xfrm>
            <a:custGeom>
              <a:avLst/>
              <a:gdLst/>
              <a:ahLst/>
              <a:cxnLst/>
              <a:rect l="l" t="t" r="r" b="b"/>
              <a:pathLst>
                <a:path w="2748279" h="1887220">
                  <a:moveTo>
                    <a:pt x="1373886" y="0"/>
                  </a:moveTo>
                  <a:lnTo>
                    <a:pt x="1317251" y="786"/>
                  </a:lnTo>
                  <a:lnTo>
                    <a:pt x="1261199" y="3127"/>
                  </a:lnTo>
                  <a:lnTo>
                    <a:pt x="1205775" y="6991"/>
                  </a:lnTo>
                  <a:lnTo>
                    <a:pt x="1151022" y="12348"/>
                  </a:lnTo>
                  <a:lnTo>
                    <a:pt x="1096986" y="19167"/>
                  </a:lnTo>
                  <a:lnTo>
                    <a:pt x="1043709" y="27419"/>
                  </a:lnTo>
                  <a:lnTo>
                    <a:pt x="991237" y="37072"/>
                  </a:lnTo>
                  <a:lnTo>
                    <a:pt x="939613" y="48097"/>
                  </a:lnTo>
                  <a:lnTo>
                    <a:pt x="888881" y="60463"/>
                  </a:lnTo>
                  <a:lnTo>
                    <a:pt x="839087" y="74140"/>
                  </a:lnTo>
                  <a:lnTo>
                    <a:pt x="790273" y="89097"/>
                  </a:lnTo>
                  <a:lnTo>
                    <a:pt x="742484" y="105304"/>
                  </a:lnTo>
                  <a:lnTo>
                    <a:pt x="695765" y="122731"/>
                  </a:lnTo>
                  <a:lnTo>
                    <a:pt x="650159" y="141347"/>
                  </a:lnTo>
                  <a:lnTo>
                    <a:pt x="605711" y="161122"/>
                  </a:lnTo>
                  <a:lnTo>
                    <a:pt x="562465" y="182026"/>
                  </a:lnTo>
                  <a:lnTo>
                    <a:pt x="520465" y="204028"/>
                  </a:lnTo>
                  <a:lnTo>
                    <a:pt x="479755" y="227098"/>
                  </a:lnTo>
                  <a:lnTo>
                    <a:pt x="440380" y="251205"/>
                  </a:lnTo>
                  <a:lnTo>
                    <a:pt x="402383" y="276320"/>
                  </a:lnTo>
                  <a:lnTo>
                    <a:pt x="365809" y="302411"/>
                  </a:lnTo>
                  <a:lnTo>
                    <a:pt x="330702" y="329449"/>
                  </a:lnTo>
                  <a:lnTo>
                    <a:pt x="297106" y="357403"/>
                  </a:lnTo>
                  <a:lnTo>
                    <a:pt x="265066" y="386242"/>
                  </a:lnTo>
                  <a:lnTo>
                    <a:pt x="234625" y="415937"/>
                  </a:lnTo>
                  <a:lnTo>
                    <a:pt x="205828" y="446457"/>
                  </a:lnTo>
                  <a:lnTo>
                    <a:pt x="178718" y="477771"/>
                  </a:lnTo>
                  <a:lnTo>
                    <a:pt x="153341" y="509850"/>
                  </a:lnTo>
                  <a:lnTo>
                    <a:pt x="129740" y="542663"/>
                  </a:lnTo>
                  <a:lnTo>
                    <a:pt x="107959" y="576179"/>
                  </a:lnTo>
                  <a:lnTo>
                    <a:pt x="88044" y="610368"/>
                  </a:lnTo>
                  <a:lnTo>
                    <a:pt x="70036" y="645200"/>
                  </a:lnTo>
                  <a:lnTo>
                    <a:pt x="53982" y="680645"/>
                  </a:lnTo>
                  <a:lnTo>
                    <a:pt x="39925" y="716671"/>
                  </a:lnTo>
                  <a:lnTo>
                    <a:pt x="27910" y="753250"/>
                  </a:lnTo>
                  <a:lnTo>
                    <a:pt x="17980" y="790350"/>
                  </a:lnTo>
                  <a:lnTo>
                    <a:pt x="10180" y="827941"/>
                  </a:lnTo>
                  <a:lnTo>
                    <a:pt x="4554" y="865992"/>
                  </a:lnTo>
                  <a:lnTo>
                    <a:pt x="1145" y="904474"/>
                  </a:lnTo>
                  <a:lnTo>
                    <a:pt x="0" y="943355"/>
                  </a:lnTo>
                  <a:lnTo>
                    <a:pt x="1145" y="982237"/>
                  </a:lnTo>
                  <a:lnTo>
                    <a:pt x="4554" y="1020719"/>
                  </a:lnTo>
                  <a:lnTo>
                    <a:pt x="10180" y="1058770"/>
                  </a:lnTo>
                  <a:lnTo>
                    <a:pt x="17980" y="1096361"/>
                  </a:lnTo>
                  <a:lnTo>
                    <a:pt x="27910" y="1133461"/>
                  </a:lnTo>
                  <a:lnTo>
                    <a:pt x="39925" y="1170040"/>
                  </a:lnTo>
                  <a:lnTo>
                    <a:pt x="53982" y="1206066"/>
                  </a:lnTo>
                  <a:lnTo>
                    <a:pt x="70036" y="1241511"/>
                  </a:lnTo>
                  <a:lnTo>
                    <a:pt x="88044" y="1276343"/>
                  </a:lnTo>
                  <a:lnTo>
                    <a:pt x="107959" y="1310532"/>
                  </a:lnTo>
                  <a:lnTo>
                    <a:pt x="129740" y="1344048"/>
                  </a:lnTo>
                  <a:lnTo>
                    <a:pt x="153341" y="1376861"/>
                  </a:lnTo>
                  <a:lnTo>
                    <a:pt x="178718" y="1408940"/>
                  </a:lnTo>
                  <a:lnTo>
                    <a:pt x="205828" y="1440254"/>
                  </a:lnTo>
                  <a:lnTo>
                    <a:pt x="234625" y="1470774"/>
                  </a:lnTo>
                  <a:lnTo>
                    <a:pt x="265066" y="1500469"/>
                  </a:lnTo>
                  <a:lnTo>
                    <a:pt x="297106" y="1529308"/>
                  </a:lnTo>
                  <a:lnTo>
                    <a:pt x="330702" y="1557262"/>
                  </a:lnTo>
                  <a:lnTo>
                    <a:pt x="365809" y="1584300"/>
                  </a:lnTo>
                  <a:lnTo>
                    <a:pt x="402383" y="1610391"/>
                  </a:lnTo>
                  <a:lnTo>
                    <a:pt x="440380" y="1635506"/>
                  </a:lnTo>
                  <a:lnTo>
                    <a:pt x="479755" y="1659613"/>
                  </a:lnTo>
                  <a:lnTo>
                    <a:pt x="520465" y="1682683"/>
                  </a:lnTo>
                  <a:lnTo>
                    <a:pt x="562465" y="1704685"/>
                  </a:lnTo>
                  <a:lnTo>
                    <a:pt x="605711" y="1725589"/>
                  </a:lnTo>
                  <a:lnTo>
                    <a:pt x="650159" y="1745364"/>
                  </a:lnTo>
                  <a:lnTo>
                    <a:pt x="695765" y="1763980"/>
                  </a:lnTo>
                  <a:lnTo>
                    <a:pt x="742484" y="1781407"/>
                  </a:lnTo>
                  <a:lnTo>
                    <a:pt x="790273" y="1797614"/>
                  </a:lnTo>
                  <a:lnTo>
                    <a:pt x="839087" y="1812571"/>
                  </a:lnTo>
                  <a:lnTo>
                    <a:pt x="888881" y="1826248"/>
                  </a:lnTo>
                  <a:lnTo>
                    <a:pt x="939613" y="1838614"/>
                  </a:lnTo>
                  <a:lnTo>
                    <a:pt x="991237" y="1849639"/>
                  </a:lnTo>
                  <a:lnTo>
                    <a:pt x="1043709" y="1859292"/>
                  </a:lnTo>
                  <a:lnTo>
                    <a:pt x="1096986" y="1867544"/>
                  </a:lnTo>
                  <a:lnTo>
                    <a:pt x="1151022" y="1874363"/>
                  </a:lnTo>
                  <a:lnTo>
                    <a:pt x="1205775" y="1879720"/>
                  </a:lnTo>
                  <a:lnTo>
                    <a:pt x="1261199" y="1883584"/>
                  </a:lnTo>
                  <a:lnTo>
                    <a:pt x="1317251" y="1885925"/>
                  </a:lnTo>
                  <a:lnTo>
                    <a:pt x="1373886" y="1886712"/>
                  </a:lnTo>
                  <a:lnTo>
                    <a:pt x="1430520" y="1885925"/>
                  </a:lnTo>
                  <a:lnTo>
                    <a:pt x="1486572" y="1883584"/>
                  </a:lnTo>
                  <a:lnTo>
                    <a:pt x="1541996" y="1879720"/>
                  </a:lnTo>
                  <a:lnTo>
                    <a:pt x="1596749" y="1874363"/>
                  </a:lnTo>
                  <a:lnTo>
                    <a:pt x="1650785" y="1867544"/>
                  </a:lnTo>
                  <a:lnTo>
                    <a:pt x="1704062" y="1859292"/>
                  </a:lnTo>
                  <a:lnTo>
                    <a:pt x="1756534" y="1849639"/>
                  </a:lnTo>
                  <a:lnTo>
                    <a:pt x="1808158" y="1838614"/>
                  </a:lnTo>
                  <a:lnTo>
                    <a:pt x="1858890" y="1826248"/>
                  </a:lnTo>
                  <a:lnTo>
                    <a:pt x="1908684" y="1812571"/>
                  </a:lnTo>
                  <a:lnTo>
                    <a:pt x="1957498" y="1797614"/>
                  </a:lnTo>
                  <a:lnTo>
                    <a:pt x="2005287" y="1781407"/>
                  </a:lnTo>
                  <a:lnTo>
                    <a:pt x="2052006" y="1763980"/>
                  </a:lnTo>
                  <a:lnTo>
                    <a:pt x="2097612" y="1745364"/>
                  </a:lnTo>
                  <a:lnTo>
                    <a:pt x="2142060" y="1725589"/>
                  </a:lnTo>
                  <a:lnTo>
                    <a:pt x="2185306" y="1704685"/>
                  </a:lnTo>
                  <a:lnTo>
                    <a:pt x="2227306" y="1682683"/>
                  </a:lnTo>
                  <a:lnTo>
                    <a:pt x="2268016" y="1659613"/>
                  </a:lnTo>
                  <a:lnTo>
                    <a:pt x="2307391" y="1635506"/>
                  </a:lnTo>
                  <a:lnTo>
                    <a:pt x="2345388" y="1610391"/>
                  </a:lnTo>
                  <a:lnTo>
                    <a:pt x="2381962" y="1584300"/>
                  </a:lnTo>
                  <a:lnTo>
                    <a:pt x="2417069" y="1557262"/>
                  </a:lnTo>
                  <a:lnTo>
                    <a:pt x="2450665" y="1529308"/>
                  </a:lnTo>
                  <a:lnTo>
                    <a:pt x="2482705" y="1500469"/>
                  </a:lnTo>
                  <a:lnTo>
                    <a:pt x="2513146" y="1470774"/>
                  </a:lnTo>
                  <a:lnTo>
                    <a:pt x="2541943" y="1440254"/>
                  </a:lnTo>
                  <a:lnTo>
                    <a:pt x="2569053" y="1408940"/>
                  </a:lnTo>
                  <a:lnTo>
                    <a:pt x="2594430" y="1376861"/>
                  </a:lnTo>
                  <a:lnTo>
                    <a:pt x="2618031" y="1344048"/>
                  </a:lnTo>
                  <a:lnTo>
                    <a:pt x="2639812" y="1310532"/>
                  </a:lnTo>
                  <a:lnTo>
                    <a:pt x="2659727" y="1276343"/>
                  </a:lnTo>
                  <a:lnTo>
                    <a:pt x="2677735" y="1241511"/>
                  </a:lnTo>
                  <a:lnTo>
                    <a:pt x="2693789" y="1206066"/>
                  </a:lnTo>
                  <a:lnTo>
                    <a:pt x="2707846" y="1170040"/>
                  </a:lnTo>
                  <a:lnTo>
                    <a:pt x="2719861" y="1133461"/>
                  </a:lnTo>
                  <a:lnTo>
                    <a:pt x="2729791" y="1096361"/>
                  </a:lnTo>
                  <a:lnTo>
                    <a:pt x="2737591" y="1058770"/>
                  </a:lnTo>
                  <a:lnTo>
                    <a:pt x="2743217" y="1020719"/>
                  </a:lnTo>
                  <a:lnTo>
                    <a:pt x="2746626" y="982237"/>
                  </a:lnTo>
                  <a:lnTo>
                    <a:pt x="2747772" y="943355"/>
                  </a:lnTo>
                  <a:lnTo>
                    <a:pt x="2746626" y="904474"/>
                  </a:lnTo>
                  <a:lnTo>
                    <a:pt x="2743217" y="865992"/>
                  </a:lnTo>
                  <a:lnTo>
                    <a:pt x="2737591" y="827941"/>
                  </a:lnTo>
                  <a:lnTo>
                    <a:pt x="2729791" y="790350"/>
                  </a:lnTo>
                  <a:lnTo>
                    <a:pt x="2719861" y="753250"/>
                  </a:lnTo>
                  <a:lnTo>
                    <a:pt x="2707846" y="716671"/>
                  </a:lnTo>
                  <a:lnTo>
                    <a:pt x="2693789" y="680645"/>
                  </a:lnTo>
                  <a:lnTo>
                    <a:pt x="2677735" y="645200"/>
                  </a:lnTo>
                  <a:lnTo>
                    <a:pt x="2659727" y="610368"/>
                  </a:lnTo>
                  <a:lnTo>
                    <a:pt x="2639812" y="576179"/>
                  </a:lnTo>
                  <a:lnTo>
                    <a:pt x="2618031" y="542663"/>
                  </a:lnTo>
                  <a:lnTo>
                    <a:pt x="2594430" y="509850"/>
                  </a:lnTo>
                  <a:lnTo>
                    <a:pt x="2569053" y="477771"/>
                  </a:lnTo>
                  <a:lnTo>
                    <a:pt x="2541943" y="446457"/>
                  </a:lnTo>
                  <a:lnTo>
                    <a:pt x="2513146" y="415937"/>
                  </a:lnTo>
                  <a:lnTo>
                    <a:pt x="2482705" y="386242"/>
                  </a:lnTo>
                  <a:lnTo>
                    <a:pt x="2450665" y="357403"/>
                  </a:lnTo>
                  <a:lnTo>
                    <a:pt x="2417069" y="329449"/>
                  </a:lnTo>
                  <a:lnTo>
                    <a:pt x="2381962" y="302411"/>
                  </a:lnTo>
                  <a:lnTo>
                    <a:pt x="2345388" y="276320"/>
                  </a:lnTo>
                  <a:lnTo>
                    <a:pt x="2307391" y="251205"/>
                  </a:lnTo>
                  <a:lnTo>
                    <a:pt x="2268016" y="227098"/>
                  </a:lnTo>
                  <a:lnTo>
                    <a:pt x="2227306" y="204028"/>
                  </a:lnTo>
                  <a:lnTo>
                    <a:pt x="2185306" y="182026"/>
                  </a:lnTo>
                  <a:lnTo>
                    <a:pt x="2142060" y="161122"/>
                  </a:lnTo>
                  <a:lnTo>
                    <a:pt x="2097612" y="141347"/>
                  </a:lnTo>
                  <a:lnTo>
                    <a:pt x="2052006" y="122731"/>
                  </a:lnTo>
                  <a:lnTo>
                    <a:pt x="2005287" y="105304"/>
                  </a:lnTo>
                  <a:lnTo>
                    <a:pt x="1957498" y="89097"/>
                  </a:lnTo>
                  <a:lnTo>
                    <a:pt x="1908684" y="74140"/>
                  </a:lnTo>
                  <a:lnTo>
                    <a:pt x="1858890" y="60463"/>
                  </a:lnTo>
                  <a:lnTo>
                    <a:pt x="1808158" y="48097"/>
                  </a:lnTo>
                  <a:lnTo>
                    <a:pt x="1756534" y="37072"/>
                  </a:lnTo>
                  <a:lnTo>
                    <a:pt x="1704062" y="27419"/>
                  </a:lnTo>
                  <a:lnTo>
                    <a:pt x="1650785" y="19167"/>
                  </a:lnTo>
                  <a:lnTo>
                    <a:pt x="1596749" y="12348"/>
                  </a:lnTo>
                  <a:lnTo>
                    <a:pt x="1541996" y="6991"/>
                  </a:lnTo>
                  <a:lnTo>
                    <a:pt x="1486572" y="3127"/>
                  </a:lnTo>
                  <a:lnTo>
                    <a:pt x="1430520" y="786"/>
                  </a:lnTo>
                  <a:lnTo>
                    <a:pt x="1373886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946135" y="2118360"/>
              <a:ext cx="2748280" cy="1887220"/>
            </a:xfrm>
            <a:custGeom>
              <a:avLst/>
              <a:gdLst/>
              <a:ahLst/>
              <a:cxnLst/>
              <a:rect l="l" t="t" r="r" b="b"/>
              <a:pathLst>
                <a:path w="2748279" h="1887220">
                  <a:moveTo>
                    <a:pt x="0" y="943355"/>
                  </a:moveTo>
                  <a:lnTo>
                    <a:pt x="1145" y="904474"/>
                  </a:lnTo>
                  <a:lnTo>
                    <a:pt x="4554" y="865992"/>
                  </a:lnTo>
                  <a:lnTo>
                    <a:pt x="10180" y="827941"/>
                  </a:lnTo>
                  <a:lnTo>
                    <a:pt x="17980" y="790350"/>
                  </a:lnTo>
                  <a:lnTo>
                    <a:pt x="27910" y="753250"/>
                  </a:lnTo>
                  <a:lnTo>
                    <a:pt x="39925" y="716671"/>
                  </a:lnTo>
                  <a:lnTo>
                    <a:pt x="53982" y="680645"/>
                  </a:lnTo>
                  <a:lnTo>
                    <a:pt x="70036" y="645200"/>
                  </a:lnTo>
                  <a:lnTo>
                    <a:pt x="88044" y="610368"/>
                  </a:lnTo>
                  <a:lnTo>
                    <a:pt x="107959" y="576179"/>
                  </a:lnTo>
                  <a:lnTo>
                    <a:pt x="129740" y="542663"/>
                  </a:lnTo>
                  <a:lnTo>
                    <a:pt x="153341" y="509850"/>
                  </a:lnTo>
                  <a:lnTo>
                    <a:pt x="178718" y="477771"/>
                  </a:lnTo>
                  <a:lnTo>
                    <a:pt x="205828" y="446457"/>
                  </a:lnTo>
                  <a:lnTo>
                    <a:pt x="234625" y="415937"/>
                  </a:lnTo>
                  <a:lnTo>
                    <a:pt x="265066" y="386242"/>
                  </a:lnTo>
                  <a:lnTo>
                    <a:pt x="297106" y="357403"/>
                  </a:lnTo>
                  <a:lnTo>
                    <a:pt x="330702" y="329449"/>
                  </a:lnTo>
                  <a:lnTo>
                    <a:pt x="365809" y="302411"/>
                  </a:lnTo>
                  <a:lnTo>
                    <a:pt x="402383" y="276320"/>
                  </a:lnTo>
                  <a:lnTo>
                    <a:pt x="440380" y="251205"/>
                  </a:lnTo>
                  <a:lnTo>
                    <a:pt x="479755" y="227098"/>
                  </a:lnTo>
                  <a:lnTo>
                    <a:pt x="520465" y="204028"/>
                  </a:lnTo>
                  <a:lnTo>
                    <a:pt x="562465" y="182026"/>
                  </a:lnTo>
                  <a:lnTo>
                    <a:pt x="605711" y="161122"/>
                  </a:lnTo>
                  <a:lnTo>
                    <a:pt x="650159" y="141347"/>
                  </a:lnTo>
                  <a:lnTo>
                    <a:pt x="695765" y="122731"/>
                  </a:lnTo>
                  <a:lnTo>
                    <a:pt x="742484" y="105304"/>
                  </a:lnTo>
                  <a:lnTo>
                    <a:pt x="790273" y="89097"/>
                  </a:lnTo>
                  <a:lnTo>
                    <a:pt x="839087" y="74140"/>
                  </a:lnTo>
                  <a:lnTo>
                    <a:pt x="888881" y="60463"/>
                  </a:lnTo>
                  <a:lnTo>
                    <a:pt x="939613" y="48097"/>
                  </a:lnTo>
                  <a:lnTo>
                    <a:pt x="991237" y="37072"/>
                  </a:lnTo>
                  <a:lnTo>
                    <a:pt x="1043709" y="27419"/>
                  </a:lnTo>
                  <a:lnTo>
                    <a:pt x="1096986" y="19167"/>
                  </a:lnTo>
                  <a:lnTo>
                    <a:pt x="1151022" y="12348"/>
                  </a:lnTo>
                  <a:lnTo>
                    <a:pt x="1205775" y="6991"/>
                  </a:lnTo>
                  <a:lnTo>
                    <a:pt x="1261199" y="3127"/>
                  </a:lnTo>
                  <a:lnTo>
                    <a:pt x="1317251" y="786"/>
                  </a:lnTo>
                  <a:lnTo>
                    <a:pt x="1373886" y="0"/>
                  </a:lnTo>
                  <a:lnTo>
                    <a:pt x="1430520" y="786"/>
                  </a:lnTo>
                  <a:lnTo>
                    <a:pt x="1486572" y="3127"/>
                  </a:lnTo>
                  <a:lnTo>
                    <a:pt x="1541996" y="6991"/>
                  </a:lnTo>
                  <a:lnTo>
                    <a:pt x="1596749" y="12348"/>
                  </a:lnTo>
                  <a:lnTo>
                    <a:pt x="1650785" y="19167"/>
                  </a:lnTo>
                  <a:lnTo>
                    <a:pt x="1704062" y="27419"/>
                  </a:lnTo>
                  <a:lnTo>
                    <a:pt x="1756534" y="37072"/>
                  </a:lnTo>
                  <a:lnTo>
                    <a:pt x="1808158" y="48097"/>
                  </a:lnTo>
                  <a:lnTo>
                    <a:pt x="1858890" y="60463"/>
                  </a:lnTo>
                  <a:lnTo>
                    <a:pt x="1908684" y="74140"/>
                  </a:lnTo>
                  <a:lnTo>
                    <a:pt x="1957498" y="89097"/>
                  </a:lnTo>
                  <a:lnTo>
                    <a:pt x="2005287" y="105304"/>
                  </a:lnTo>
                  <a:lnTo>
                    <a:pt x="2052006" y="122731"/>
                  </a:lnTo>
                  <a:lnTo>
                    <a:pt x="2097612" y="141347"/>
                  </a:lnTo>
                  <a:lnTo>
                    <a:pt x="2142060" y="161122"/>
                  </a:lnTo>
                  <a:lnTo>
                    <a:pt x="2185306" y="182026"/>
                  </a:lnTo>
                  <a:lnTo>
                    <a:pt x="2227306" y="204028"/>
                  </a:lnTo>
                  <a:lnTo>
                    <a:pt x="2268016" y="227098"/>
                  </a:lnTo>
                  <a:lnTo>
                    <a:pt x="2307391" y="251205"/>
                  </a:lnTo>
                  <a:lnTo>
                    <a:pt x="2345388" y="276320"/>
                  </a:lnTo>
                  <a:lnTo>
                    <a:pt x="2381962" y="302411"/>
                  </a:lnTo>
                  <a:lnTo>
                    <a:pt x="2417069" y="329449"/>
                  </a:lnTo>
                  <a:lnTo>
                    <a:pt x="2450665" y="357403"/>
                  </a:lnTo>
                  <a:lnTo>
                    <a:pt x="2482705" y="386242"/>
                  </a:lnTo>
                  <a:lnTo>
                    <a:pt x="2513146" y="415937"/>
                  </a:lnTo>
                  <a:lnTo>
                    <a:pt x="2541943" y="446457"/>
                  </a:lnTo>
                  <a:lnTo>
                    <a:pt x="2569053" y="477771"/>
                  </a:lnTo>
                  <a:lnTo>
                    <a:pt x="2594430" y="509850"/>
                  </a:lnTo>
                  <a:lnTo>
                    <a:pt x="2618031" y="542663"/>
                  </a:lnTo>
                  <a:lnTo>
                    <a:pt x="2639812" y="576179"/>
                  </a:lnTo>
                  <a:lnTo>
                    <a:pt x="2659727" y="610368"/>
                  </a:lnTo>
                  <a:lnTo>
                    <a:pt x="2677735" y="645200"/>
                  </a:lnTo>
                  <a:lnTo>
                    <a:pt x="2693789" y="680645"/>
                  </a:lnTo>
                  <a:lnTo>
                    <a:pt x="2707846" y="716671"/>
                  </a:lnTo>
                  <a:lnTo>
                    <a:pt x="2719861" y="753250"/>
                  </a:lnTo>
                  <a:lnTo>
                    <a:pt x="2729791" y="790350"/>
                  </a:lnTo>
                  <a:lnTo>
                    <a:pt x="2737591" y="827941"/>
                  </a:lnTo>
                  <a:lnTo>
                    <a:pt x="2743217" y="865992"/>
                  </a:lnTo>
                  <a:lnTo>
                    <a:pt x="2746626" y="904474"/>
                  </a:lnTo>
                  <a:lnTo>
                    <a:pt x="2747772" y="943355"/>
                  </a:lnTo>
                  <a:lnTo>
                    <a:pt x="2746626" y="982237"/>
                  </a:lnTo>
                  <a:lnTo>
                    <a:pt x="2743217" y="1020719"/>
                  </a:lnTo>
                  <a:lnTo>
                    <a:pt x="2737591" y="1058770"/>
                  </a:lnTo>
                  <a:lnTo>
                    <a:pt x="2729791" y="1096361"/>
                  </a:lnTo>
                  <a:lnTo>
                    <a:pt x="2719861" y="1133461"/>
                  </a:lnTo>
                  <a:lnTo>
                    <a:pt x="2707846" y="1170040"/>
                  </a:lnTo>
                  <a:lnTo>
                    <a:pt x="2693789" y="1206066"/>
                  </a:lnTo>
                  <a:lnTo>
                    <a:pt x="2677735" y="1241511"/>
                  </a:lnTo>
                  <a:lnTo>
                    <a:pt x="2659727" y="1276343"/>
                  </a:lnTo>
                  <a:lnTo>
                    <a:pt x="2639812" y="1310532"/>
                  </a:lnTo>
                  <a:lnTo>
                    <a:pt x="2618031" y="1344048"/>
                  </a:lnTo>
                  <a:lnTo>
                    <a:pt x="2594430" y="1376861"/>
                  </a:lnTo>
                  <a:lnTo>
                    <a:pt x="2569053" y="1408940"/>
                  </a:lnTo>
                  <a:lnTo>
                    <a:pt x="2541943" y="1440254"/>
                  </a:lnTo>
                  <a:lnTo>
                    <a:pt x="2513146" y="1470774"/>
                  </a:lnTo>
                  <a:lnTo>
                    <a:pt x="2482705" y="1500469"/>
                  </a:lnTo>
                  <a:lnTo>
                    <a:pt x="2450665" y="1529308"/>
                  </a:lnTo>
                  <a:lnTo>
                    <a:pt x="2417069" y="1557262"/>
                  </a:lnTo>
                  <a:lnTo>
                    <a:pt x="2381962" y="1584300"/>
                  </a:lnTo>
                  <a:lnTo>
                    <a:pt x="2345388" y="1610391"/>
                  </a:lnTo>
                  <a:lnTo>
                    <a:pt x="2307391" y="1635506"/>
                  </a:lnTo>
                  <a:lnTo>
                    <a:pt x="2268016" y="1659613"/>
                  </a:lnTo>
                  <a:lnTo>
                    <a:pt x="2227306" y="1682683"/>
                  </a:lnTo>
                  <a:lnTo>
                    <a:pt x="2185306" y="1704685"/>
                  </a:lnTo>
                  <a:lnTo>
                    <a:pt x="2142060" y="1725589"/>
                  </a:lnTo>
                  <a:lnTo>
                    <a:pt x="2097612" y="1745364"/>
                  </a:lnTo>
                  <a:lnTo>
                    <a:pt x="2052006" y="1763980"/>
                  </a:lnTo>
                  <a:lnTo>
                    <a:pt x="2005287" y="1781407"/>
                  </a:lnTo>
                  <a:lnTo>
                    <a:pt x="1957498" y="1797614"/>
                  </a:lnTo>
                  <a:lnTo>
                    <a:pt x="1908684" y="1812571"/>
                  </a:lnTo>
                  <a:lnTo>
                    <a:pt x="1858890" y="1826248"/>
                  </a:lnTo>
                  <a:lnTo>
                    <a:pt x="1808158" y="1838614"/>
                  </a:lnTo>
                  <a:lnTo>
                    <a:pt x="1756534" y="1849639"/>
                  </a:lnTo>
                  <a:lnTo>
                    <a:pt x="1704062" y="1859292"/>
                  </a:lnTo>
                  <a:lnTo>
                    <a:pt x="1650785" y="1867544"/>
                  </a:lnTo>
                  <a:lnTo>
                    <a:pt x="1596749" y="1874363"/>
                  </a:lnTo>
                  <a:lnTo>
                    <a:pt x="1541996" y="1879720"/>
                  </a:lnTo>
                  <a:lnTo>
                    <a:pt x="1486572" y="1883584"/>
                  </a:lnTo>
                  <a:lnTo>
                    <a:pt x="1430520" y="1885925"/>
                  </a:lnTo>
                  <a:lnTo>
                    <a:pt x="1373886" y="1886712"/>
                  </a:lnTo>
                  <a:lnTo>
                    <a:pt x="1317251" y="1885925"/>
                  </a:lnTo>
                  <a:lnTo>
                    <a:pt x="1261199" y="1883584"/>
                  </a:lnTo>
                  <a:lnTo>
                    <a:pt x="1205775" y="1879720"/>
                  </a:lnTo>
                  <a:lnTo>
                    <a:pt x="1151022" y="1874363"/>
                  </a:lnTo>
                  <a:lnTo>
                    <a:pt x="1096986" y="1867544"/>
                  </a:lnTo>
                  <a:lnTo>
                    <a:pt x="1043709" y="1859292"/>
                  </a:lnTo>
                  <a:lnTo>
                    <a:pt x="991237" y="1849639"/>
                  </a:lnTo>
                  <a:lnTo>
                    <a:pt x="939613" y="1838614"/>
                  </a:lnTo>
                  <a:lnTo>
                    <a:pt x="888881" y="1826248"/>
                  </a:lnTo>
                  <a:lnTo>
                    <a:pt x="839087" y="1812571"/>
                  </a:lnTo>
                  <a:lnTo>
                    <a:pt x="790273" y="1797614"/>
                  </a:lnTo>
                  <a:lnTo>
                    <a:pt x="742484" y="1781407"/>
                  </a:lnTo>
                  <a:lnTo>
                    <a:pt x="695765" y="1763980"/>
                  </a:lnTo>
                  <a:lnTo>
                    <a:pt x="650159" y="1745364"/>
                  </a:lnTo>
                  <a:lnTo>
                    <a:pt x="605711" y="1725589"/>
                  </a:lnTo>
                  <a:lnTo>
                    <a:pt x="562465" y="1704685"/>
                  </a:lnTo>
                  <a:lnTo>
                    <a:pt x="520465" y="1682683"/>
                  </a:lnTo>
                  <a:lnTo>
                    <a:pt x="479755" y="1659613"/>
                  </a:lnTo>
                  <a:lnTo>
                    <a:pt x="440380" y="1635506"/>
                  </a:lnTo>
                  <a:lnTo>
                    <a:pt x="402383" y="1610391"/>
                  </a:lnTo>
                  <a:lnTo>
                    <a:pt x="365809" y="1584300"/>
                  </a:lnTo>
                  <a:lnTo>
                    <a:pt x="330702" y="1557262"/>
                  </a:lnTo>
                  <a:lnTo>
                    <a:pt x="297106" y="1529308"/>
                  </a:lnTo>
                  <a:lnTo>
                    <a:pt x="265066" y="1500469"/>
                  </a:lnTo>
                  <a:lnTo>
                    <a:pt x="234625" y="1470774"/>
                  </a:lnTo>
                  <a:lnTo>
                    <a:pt x="205828" y="1440254"/>
                  </a:lnTo>
                  <a:lnTo>
                    <a:pt x="178718" y="1408940"/>
                  </a:lnTo>
                  <a:lnTo>
                    <a:pt x="153341" y="1376861"/>
                  </a:lnTo>
                  <a:lnTo>
                    <a:pt x="129740" y="1344048"/>
                  </a:lnTo>
                  <a:lnTo>
                    <a:pt x="107959" y="1310532"/>
                  </a:lnTo>
                  <a:lnTo>
                    <a:pt x="88044" y="1276343"/>
                  </a:lnTo>
                  <a:lnTo>
                    <a:pt x="70036" y="1241511"/>
                  </a:lnTo>
                  <a:lnTo>
                    <a:pt x="53982" y="1206066"/>
                  </a:lnTo>
                  <a:lnTo>
                    <a:pt x="39925" y="1170040"/>
                  </a:lnTo>
                  <a:lnTo>
                    <a:pt x="27910" y="1133461"/>
                  </a:lnTo>
                  <a:lnTo>
                    <a:pt x="17980" y="1096361"/>
                  </a:lnTo>
                  <a:lnTo>
                    <a:pt x="10180" y="1058770"/>
                  </a:lnTo>
                  <a:lnTo>
                    <a:pt x="4554" y="1020719"/>
                  </a:lnTo>
                  <a:lnTo>
                    <a:pt x="1145" y="982237"/>
                  </a:lnTo>
                  <a:lnTo>
                    <a:pt x="0" y="943355"/>
                  </a:lnTo>
                  <a:close/>
                </a:path>
              </a:pathLst>
            </a:custGeom>
            <a:ln w="12699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589009" y="2263012"/>
            <a:ext cx="1475105" cy="143764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80"/>
              </a:spcBef>
            </a:pPr>
            <a:r>
              <a:rPr sz="1800" spc="-10" dirty="0">
                <a:solidFill>
                  <a:srgbClr val="0070B1"/>
                </a:solidFill>
                <a:latin typeface="Source Sans Pro"/>
                <a:cs typeface="Source Sans Pro"/>
              </a:rPr>
              <a:t>Auftragnehmer</a:t>
            </a:r>
            <a:endParaRPr sz="1800" dirty="0">
              <a:latin typeface="Source Sans Pro"/>
              <a:cs typeface="Source Sans Pro"/>
            </a:endParaRPr>
          </a:p>
          <a:p>
            <a:pPr marL="233045" marR="238760" algn="ctr">
              <a:lnSpc>
                <a:spcPct val="100000"/>
              </a:lnSpc>
              <a:spcBef>
                <a:spcPts val="885"/>
              </a:spcBef>
            </a:pPr>
            <a:r>
              <a:rPr sz="1800" spc="-10" dirty="0">
                <a:solidFill>
                  <a:srgbClr val="161616"/>
                </a:solidFill>
                <a:latin typeface="Source Sans Pro"/>
                <a:cs typeface="Source Sans Pro"/>
              </a:rPr>
              <a:t>Lenkungs- ausschuss</a:t>
            </a:r>
            <a:endParaRPr sz="1800" dirty="0">
              <a:latin typeface="Source Sans Pro"/>
              <a:cs typeface="Source Sans Pro"/>
            </a:endParaRPr>
          </a:p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sz="1800" spc="-10" dirty="0">
                <a:solidFill>
                  <a:srgbClr val="0070B1"/>
                </a:solidFill>
                <a:latin typeface="Source Sans Pro"/>
                <a:cs typeface="Source Sans Pro"/>
              </a:rPr>
              <a:t>Auftraggeber</a:t>
            </a:r>
            <a:endParaRPr sz="1800" dirty="0">
              <a:latin typeface="Source Sans Pro"/>
              <a:cs typeface="Source Sans Pro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491484" y="2015743"/>
            <a:ext cx="4855845" cy="403225"/>
          </a:xfrm>
          <a:custGeom>
            <a:avLst/>
            <a:gdLst/>
            <a:ahLst/>
            <a:cxnLst/>
            <a:rect l="l" t="t" r="r" b="b"/>
            <a:pathLst>
              <a:path w="4855845" h="403225">
                <a:moveTo>
                  <a:pt x="1132459" y="23368"/>
                </a:moveTo>
                <a:lnTo>
                  <a:pt x="1050544" y="0"/>
                </a:lnTo>
                <a:lnTo>
                  <a:pt x="1056360" y="31165"/>
                </a:lnTo>
                <a:lnTo>
                  <a:pt x="73761" y="215201"/>
                </a:lnTo>
                <a:lnTo>
                  <a:pt x="67945" y="184023"/>
                </a:lnTo>
                <a:lnTo>
                  <a:pt x="0" y="235458"/>
                </a:lnTo>
                <a:lnTo>
                  <a:pt x="81915" y="258826"/>
                </a:lnTo>
                <a:lnTo>
                  <a:pt x="76530" y="229997"/>
                </a:lnTo>
                <a:lnTo>
                  <a:pt x="76085" y="227672"/>
                </a:lnTo>
                <a:lnTo>
                  <a:pt x="1058684" y="43637"/>
                </a:lnTo>
                <a:lnTo>
                  <a:pt x="1064514" y="74803"/>
                </a:lnTo>
                <a:lnTo>
                  <a:pt x="1125232" y="28829"/>
                </a:lnTo>
                <a:lnTo>
                  <a:pt x="1132459" y="23368"/>
                </a:lnTo>
                <a:close/>
              </a:path>
              <a:path w="4855845" h="403225">
                <a:moveTo>
                  <a:pt x="4855718" y="379857"/>
                </a:moveTo>
                <a:lnTo>
                  <a:pt x="4848530" y="374396"/>
                </a:lnTo>
                <a:lnTo>
                  <a:pt x="4787900" y="328295"/>
                </a:lnTo>
                <a:lnTo>
                  <a:pt x="4782007" y="359613"/>
                </a:lnTo>
                <a:lnTo>
                  <a:pt x="3031071" y="31165"/>
                </a:lnTo>
                <a:lnTo>
                  <a:pt x="3031515" y="28829"/>
                </a:lnTo>
                <a:lnTo>
                  <a:pt x="3036938" y="0"/>
                </a:lnTo>
                <a:lnTo>
                  <a:pt x="2955036" y="23368"/>
                </a:lnTo>
                <a:lnTo>
                  <a:pt x="3022854" y="74803"/>
                </a:lnTo>
                <a:lnTo>
                  <a:pt x="3028721" y="43624"/>
                </a:lnTo>
                <a:lnTo>
                  <a:pt x="4779657" y="372046"/>
                </a:lnTo>
                <a:lnTo>
                  <a:pt x="4773803" y="403225"/>
                </a:lnTo>
                <a:lnTo>
                  <a:pt x="4855718" y="379857"/>
                </a:lnTo>
                <a:close/>
              </a:path>
            </a:pathLst>
          </a:custGeom>
          <a:solidFill>
            <a:srgbClr val="0070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26" name="Foliennummernplatzhalter 25">
            <a:extLst>
              <a:ext uri="{FF2B5EF4-FFF2-40B4-BE49-F238E27FC236}">
                <a16:creationId xmlns:a16="http://schemas.microsoft.com/office/drawing/2014/main" id="{505DD0EF-9B8F-24F1-C2E5-115D3CB7571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4330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8</a:t>
            </a:fld>
            <a:endParaRPr lang="de-DE" spc="-50" dirty="0"/>
          </a:p>
        </p:txBody>
      </p:sp>
      <p:grpSp>
        <p:nvGrpSpPr>
          <p:cNvPr id="29" name="object 14">
            <a:extLst>
              <a:ext uri="{FF2B5EF4-FFF2-40B4-BE49-F238E27FC236}">
                <a16:creationId xmlns:a16="http://schemas.microsoft.com/office/drawing/2014/main" id="{507DFD25-9E57-8BAD-FA8D-BA9851739A0A}"/>
              </a:ext>
            </a:extLst>
          </p:cNvPr>
          <p:cNvGrpSpPr/>
          <p:nvPr/>
        </p:nvGrpSpPr>
        <p:grpSpPr>
          <a:xfrm>
            <a:off x="4928361" y="2973594"/>
            <a:ext cx="1835785" cy="840740"/>
            <a:chOff x="4617465" y="1618233"/>
            <a:chExt cx="1835785" cy="840740"/>
          </a:xfrm>
        </p:grpSpPr>
        <p:sp>
          <p:nvSpPr>
            <p:cNvPr id="30" name="object 15">
              <a:extLst>
                <a:ext uri="{FF2B5EF4-FFF2-40B4-BE49-F238E27FC236}">
                  <a16:creationId xmlns:a16="http://schemas.microsoft.com/office/drawing/2014/main" id="{D09F6167-998F-B87C-72AC-8592376C3341}"/>
                </a:ext>
              </a:extLst>
            </p:cNvPr>
            <p:cNvSpPr/>
            <p:nvPr/>
          </p:nvSpPr>
          <p:spPr>
            <a:xfrm>
              <a:off x="4623815" y="1624583"/>
              <a:ext cx="1823085" cy="828040"/>
            </a:xfrm>
            <a:custGeom>
              <a:avLst/>
              <a:gdLst/>
              <a:ahLst/>
              <a:cxnLst/>
              <a:rect l="l" t="t" r="r" b="b"/>
              <a:pathLst>
                <a:path w="1823085" h="828039">
                  <a:moveTo>
                    <a:pt x="1684782" y="0"/>
                  </a:moveTo>
                  <a:lnTo>
                    <a:pt x="137922" y="0"/>
                  </a:lnTo>
                  <a:lnTo>
                    <a:pt x="94317" y="7028"/>
                  </a:lnTo>
                  <a:lnTo>
                    <a:pt x="56455" y="26602"/>
                  </a:lnTo>
                  <a:lnTo>
                    <a:pt x="26602" y="56455"/>
                  </a:lnTo>
                  <a:lnTo>
                    <a:pt x="7028" y="94317"/>
                  </a:lnTo>
                  <a:lnTo>
                    <a:pt x="0" y="137921"/>
                  </a:lnTo>
                  <a:lnTo>
                    <a:pt x="0" y="689610"/>
                  </a:lnTo>
                  <a:lnTo>
                    <a:pt x="7028" y="733214"/>
                  </a:lnTo>
                  <a:lnTo>
                    <a:pt x="26602" y="771076"/>
                  </a:lnTo>
                  <a:lnTo>
                    <a:pt x="56455" y="800929"/>
                  </a:lnTo>
                  <a:lnTo>
                    <a:pt x="94317" y="820503"/>
                  </a:lnTo>
                  <a:lnTo>
                    <a:pt x="137922" y="827531"/>
                  </a:lnTo>
                  <a:lnTo>
                    <a:pt x="1684782" y="827531"/>
                  </a:lnTo>
                  <a:lnTo>
                    <a:pt x="1728386" y="820503"/>
                  </a:lnTo>
                  <a:lnTo>
                    <a:pt x="1766248" y="800929"/>
                  </a:lnTo>
                  <a:lnTo>
                    <a:pt x="1796101" y="771076"/>
                  </a:lnTo>
                  <a:lnTo>
                    <a:pt x="1815675" y="733214"/>
                  </a:lnTo>
                  <a:lnTo>
                    <a:pt x="1822704" y="689610"/>
                  </a:lnTo>
                  <a:lnTo>
                    <a:pt x="1822704" y="137921"/>
                  </a:lnTo>
                  <a:lnTo>
                    <a:pt x="1815675" y="94317"/>
                  </a:lnTo>
                  <a:lnTo>
                    <a:pt x="1796101" y="56455"/>
                  </a:lnTo>
                  <a:lnTo>
                    <a:pt x="1766248" y="26602"/>
                  </a:lnTo>
                  <a:lnTo>
                    <a:pt x="1728386" y="7028"/>
                  </a:lnTo>
                  <a:lnTo>
                    <a:pt x="1684782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16">
              <a:extLst>
                <a:ext uri="{FF2B5EF4-FFF2-40B4-BE49-F238E27FC236}">
                  <a16:creationId xmlns:a16="http://schemas.microsoft.com/office/drawing/2014/main" id="{8F45F845-8CE0-7F3B-D043-E5CFCBF8C574}"/>
                </a:ext>
              </a:extLst>
            </p:cNvPr>
            <p:cNvSpPr/>
            <p:nvPr/>
          </p:nvSpPr>
          <p:spPr>
            <a:xfrm>
              <a:off x="4623815" y="1624583"/>
              <a:ext cx="1823085" cy="828040"/>
            </a:xfrm>
            <a:custGeom>
              <a:avLst/>
              <a:gdLst/>
              <a:ahLst/>
              <a:cxnLst/>
              <a:rect l="l" t="t" r="r" b="b"/>
              <a:pathLst>
                <a:path w="1823085" h="828039">
                  <a:moveTo>
                    <a:pt x="0" y="137921"/>
                  </a:moveTo>
                  <a:lnTo>
                    <a:pt x="7028" y="94317"/>
                  </a:lnTo>
                  <a:lnTo>
                    <a:pt x="26602" y="56455"/>
                  </a:lnTo>
                  <a:lnTo>
                    <a:pt x="56455" y="26602"/>
                  </a:lnTo>
                  <a:lnTo>
                    <a:pt x="94317" y="7028"/>
                  </a:lnTo>
                  <a:lnTo>
                    <a:pt x="137922" y="0"/>
                  </a:lnTo>
                  <a:lnTo>
                    <a:pt x="1684782" y="0"/>
                  </a:lnTo>
                  <a:lnTo>
                    <a:pt x="1728386" y="7028"/>
                  </a:lnTo>
                  <a:lnTo>
                    <a:pt x="1766248" y="26602"/>
                  </a:lnTo>
                  <a:lnTo>
                    <a:pt x="1796101" y="56455"/>
                  </a:lnTo>
                  <a:lnTo>
                    <a:pt x="1815675" y="94317"/>
                  </a:lnTo>
                  <a:lnTo>
                    <a:pt x="1822704" y="137921"/>
                  </a:lnTo>
                  <a:lnTo>
                    <a:pt x="1822704" y="689610"/>
                  </a:lnTo>
                  <a:lnTo>
                    <a:pt x="1815675" y="733214"/>
                  </a:lnTo>
                  <a:lnTo>
                    <a:pt x="1796101" y="771076"/>
                  </a:lnTo>
                  <a:lnTo>
                    <a:pt x="1766248" y="800929"/>
                  </a:lnTo>
                  <a:lnTo>
                    <a:pt x="1728386" y="820503"/>
                  </a:lnTo>
                  <a:lnTo>
                    <a:pt x="1684782" y="827531"/>
                  </a:lnTo>
                  <a:lnTo>
                    <a:pt x="137922" y="827531"/>
                  </a:lnTo>
                  <a:lnTo>
                    <a:pt x="94317" y="820503"/>
                  </a:lnTo>
                  <a:lnTo>
                    <a:pt x="56455" y="800929"/>
                  </a:lnTo>
                  <a:lnTo>
                    <a:pt x="26602" y="771076"/>
                  </a:lnTo>
                  <a:lnTo>
                    <a:pt x="7028" y="733214"/>
                  </a:lnTo>
                  <a:lnTo>
                    <a:pt x="0" y="689610"/>
                  </a:lnTo>
                  <a:lnTo>
                    <a:pt x="0" y="137921"/>
                  </a:lnTo>
                  <a:close/>
                </a:path>
              </a:pathLst>
            </a:custGeom>
            <a:ln w="12700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17">
            <a:extLst>
              <a:ext uri="{FF2B5EF4-FFF2-40B4-BE49-F238E27FC236}">
                <a16:creationId xmlns:a16="http://schemas.microsoft.com/office/drawing/2014/main" id="{503A4249-0C95-EF72-3228-FE791AD75561}"/>
              </a:ext>
            </a:extLst>
          </p:cNvPr>
          <p:cNvSpPr txBox="1"/>
          <p:nvPr/>
        </p:nvSpPr>
        <p:spPr>
          <a:xfrm>
            <a:off x="5267578" y="3121006"/>
            <a:ext cx="1214120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de-DE" spc="-10" dirty="0">
                <a:solidFill>
                  <a:srgbClr val="D2E8F4"/>
                </a:solidFill>
                <a:latin typeface="Source Sans Pro"/>
                <a:cs typeface="Source Sans Pro"/>
              </a:rPr>
              <a:t>Interessens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de-DE" spc="-10" dirty="0">
                <a:solidFill>
                  <a:srgbClr val="D2E8F4"/>
                </a:solidFill>
                <a:latin typeface="Source Sans Pro"/>
                <a:cs typeface="Source Sans Pro"/>
              </a:rPr>
              <a:t>gruppen</a:t>
            </a:r>
            <a:endParaRPr sz="1800" dirty="0">
              <a:latin typeface="Source Sans Pro"/>
              <a:cs typeface="Source Sans Pr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3" grpId="0"/>
      <p:bldP spid="17" grpId="0"/>
      <p:bldP spid="21" grpId="0"/>
      <p:bldP spid="22" grpId="0" animBg="1"/>
      <p:bldP spid="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latin typeface="Source Sans Pro"/>
                <a:cs typeface="Source Sans Pro"/>
              </a:rPr>
              <a:t>Projektleiter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0842" y="1251414"/>
            <a:ext cx="3220085" cy="283603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i="1" spc="-10" dirty="0">
                <a:solidFill>
                  <a:srgbClr val="0070B1"/>
                </a:solidFill>
                <a:latin typeface="Source Sans Pro"/>
                <a:cs typeface="Source Sans Pro"/>
              </a:rPr>
              <a:t>Aufgaben</a:t>
            </a:r>
            <a:endParaRPr sz="1900" dirty="0">
              <a:latin typeface="Source Sans Pro"/>
              <a:cs typeface="Source Sans Pro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1900" dirty="0">
              <a:latin typeface="Source Sans Pro"/>
              <a:cs typeface="Source Sans Pro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Mitarbeiterführung</a:t>
            </a:r>
            <a:endParaRPr dirty="0">
              <a:latin typeface="Source Sans Pro"/>
              <a:cs typeface="Source Sans Pro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240029" algn="l"/>
              </a:tabLst>
            </a:pP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Projektkommunikation</a:t>
            </a:r>
            <a:endParaRPr dirty="0">
              <a:latin typeface="Source Sans Pro"/>
              <a:cs typeface="Source Sans Pro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0029" algn="l"/>
              </a:tabLst>
            </a:pP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Projektcontrolling</a:t>
            </a:r>
            <a:endParaRPr dirty="0">
              <a:latin typeface="Source Sans Pro"/>
              <a:cs typeface="Source Sans Pro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240029" algn="l"/>
              </a:tabLst>
            </a:pP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Projektorganisation</a:t>
            </a:r>
            <a:endParaRPr dirty="0">
              <a:latin typeface="Source Sans Pro"/>
              <a:cs typeface="Source Sans Pro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029" algn="l"/>
              </a:tabLst>
            </a:pP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Projektmanagement</a:t>
            </a:r>
            <a:endParaRPr dirty="0">
              <a:latin typeface="Source Sans Pro"/>
              <a:cs typeface="Source Sans Pro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240029" algn="l"/>
              </a:tabLst>
            </a:pP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Projektmeetings</a:t>
            </a:r>
            <a:endParaRPr dirty="0">
              <a:latin typeface="Source Sans Pro"/>
              <a:cs typeface="Source Sans Pr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0638" y="1380726"/>
            <a:ext cx="5709699" cy="386870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C156854-4AA2-9DC6-FA8E-C409E99831F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049000" y="6407302"/>
            <a:ext cx="45720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9</a:t>
            </a:fld>
            <a:endParaRPr lang="de-DE" spc="-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147" y="481964"/>
            <a:ext cx="370522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dirty="0">
                <a:latin typeface="Source Sans Pro"/>
                <a:cs typeface="Source Sans Pro"/>
              </a:rPr>
              <a:t>Das</a:t>
            </a:r>
            <a:r>
              <a:rPr sz="4000" b="1" spc="-75" dirty="0">
                <a:latin typeface="Source Sans Pro"/>
                <a:cs typeface="Source Sans Pro"/>
              </a:rPr>
              <a:t> </a:t>
            </a:r>
            <a:r>
              <a:rPr sz="4000" b="1" spc="-10" dirty="0">
                <a:latin typeface="Source Sans Pro"/>
                <a:cs typeface="Source Sans Pro"/>
              </a:rPr>
              <a:t>Lastenheft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24382" y="1394600"/>
            <a:ext cx="9634017" cy="30822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151255" indent="-342900">
              <a:lnSpc>
                <a:spcPct val="1246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Ausgangssituation</a:t>
            </a:r>
            <a:r>
              <a:rPr spc="-4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und Wünsche</a:t>
            </a:r>
            <a:r>
              <a:rPr spc="-2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des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 err="1">
                <a:solidFill>
                  <a:srgbClr val="0070B1"/>
                </a:solidFill>
                <a:latin typeface="Source Sans Pro"/>
                <a:cs typeface="Source Sans Pro"/>
              </a:rPr>
              <a:t>Kunden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endParaRPr lang="de-DE" spc="-10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355600" marR="1151255" indent="-342900">
              <a:lnSpc>
                <a:spcPct val="1246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pc="-10" dirty="0" err="1">
                <a:solidFill>
                  <a:srgbClr val="0070B1"/>
                </a:solidFill>
                <a:latin typeface="Source Sans Pro"/>
                <a:cs typeface="Source Sans Pro"/>
              </a:rPr>
              <a:t>Anforderungskatalog</a:t>
            </a:r>
            <a:endParaRPr dirty="0">
              <a:latin typeface="Source Sans Pro"/>
              <a:cs typeface="Source Sans Pro"/>
            </a:endParaRPr>
          </a:p>
          <a:p>
            <a:pPr marL="355600" indent="-342900">
              <a:lnSpc>
                <a:spcPct val="100000"/>
              </a:lnSpc>
              <a:spcBef>
                <a:spcPts val="725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Ersteller:</a:t>
            </a:r>
            <a:r>
              <a:rPr spc="-4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b="1" spc="-10" dirty="0">
                <a:solidFill>
                  <a:srgbClr val="0070B1"/>
                </a:solidFill>
                <a:latin typeface="Source Sans Pro"/>
                <a:cs typeface="Source Sans Pro"/>
              </a:rPr>
              <a:t>Auftraggeber</a:t>
            </a:r>
            <a:endParaRPr dirty="0">
              <a:latin typeface="Source Sans Pro"/>
              <a:cs typeface="Source Sans Pro"/>
            </a:endParaRPr>
          </a:p>
          <a:p>
            <a:pPr marL="355600" indent="-342900">
              <a:lnSpc>
                <a:spcPct val="100000"/>
              </a:lnSpc>
              <a:spcBef>
                <a:spcPts val="705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DIN</a:t>
            </a:r>
            <a:r>
              <a:rPr spc="-3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69901-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5[1]</a:t>
            </a:r>
            <a:r>
              <a:rPr spc="-4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(Begriffe</a:t>
            </a:r>
            <a:r>
              <a:rPr spc="-1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der</a:t>
            </a:r>
            <a:r>
              <a:rPr spc="-1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Projektabwicklung):</a:t>
            </a:r>
            <a:endParaRPr dirty="0">
              <a:latin typeface="Source Sans Pro"/>
              <a:cs typeface="Source Sans Pro"/>
            </a:endParaRPr>
          </a:p>
          <a:p>
            <a:pPr marL="12700" marR="6350">
              <a:lnSpc>
                <a:spcPct val="90000"/>
              </a:lnSpc>
              <a:spcBef>
                <a:spcPts val="994"/>
              </a:spcBef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	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„vom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Auftraggeber</a:t>
            </a:r>
            <a:r>
              <a:rPr spc="-4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festgelegte</a:t>
            </a:r>
            <a:r>
              <a:rPr spc="-3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Gesamtheit</a:t>
            </a:r>
            <a:r>
              <a:rPr spc="-5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25" dirty="0">
                <a:solidFill>
                  <a:srgbClr val="0070B1"/>
                </a:solidFill>
                <a:latin typeface="Source Sans Pro"/>
                <a:cs typeface="Source Sans Pro"/>
              </a:rPr>
              <a:t>der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Forderungen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an</a:t>
            </a:r>
            <a:r>
              <a:rPr spc="-2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die</a:t>
            </a:r>
            <a:r>
              <a:rPr spc="-3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 err="1">
                <a:solidFill>
                  <a:srgbClr val="0070B1"/>
                </a:solidFill>
                <a:latin typeface="Source Sans Pro"/>
                <a:cs typeface="Source Sans Pro"/>
              </a:rPr>
              <a:t>Lieferungen</a:t>
            </a:r>
            <a:r>
              <a:rPr spc="-2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und</a:t>
            </a:r>
            <a:r>
              <a:rPr spc="-2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lang="de-DE" spc="-25" dirty="0">
                <a:solidFill>
                  <a:srgbClr val="0070B1"/>
                </a:solidFill>
                <a:latin typeface="Source Sans Pro"/>
                <a:cs typeface="Source Sans Pro"/>
              </a:rPr>
              <a:t>	</a:t>
            </a:r>
            <a:r>
              <a:rPr dirty="0" err="1">
                <a:solidFill>
                  <a:srgbClr val="0070B1"/>
                </a:solidFill>
                <a:latin typeface="Source Sans Pro"/>
                <a:cs typeface="Source Sans Pro"/>
              </a:rPr>
              <a:t>Leistungen</a:t>
            </a:r>
            <a:r>
              <a:rPr spc="-4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eines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Auftragnehmers</a:t>
            </a:r>
            <a:r>
              <a:rPr spc="-3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innerhalb</a:t>
            </a:r>
            <a:r>
              <a:rPr spc="-2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 err="1">
                <a:solidFill>
                  <a:srgbClr val="0070B1"/>
                </a:solidFill>
                <a:latin typeface="Source Sans Pro"/>
                <a:cs typeface="Source Sans Pro"/>
              </a:rPr>
              <a:t>eines</a:t>
            </a:r>
            <a:r>
              <a:rPr spc="-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 err="1">
                <a:solidFill>
                  <a:srgbClr val="0070B1"/>
                </a:solidFill>
                <a:latin typeface="Source Sans Pro"/>
                <a:cs typeface="Source Sans Pro"/>
              </a:rPr>
              <a:t>Auftrages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".</a:t>
            </a:r>
            <a:endParaRPr dirty="0">
              <a:latin typeface="Source Sans Pro"/>
              <a:cs typeface="Source Sans Pro"/>
            </a:endParaRPr>
          </a:p>
          <a:p>
            <a:pPr marL="12700" marR="5080">
              <a:lnSpc>
                <a:spcPct val="90000"/>
              </a:lnSpc>
              <a:spcBef>
                <a:spcPts val="1010"/>
              </a:spcBef>
            </a:pPr>
            <a:endParaRPr lang="de-DE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12700" marR="5080">
              <a:lnSpc>
                <a:spcPct val="90000"/>
              </a:lnSpc>
              <a:spcBef>
                <a:spcPts val="1010"/>
              </a:spcBef>
            </a:pPr>
            <a:r>
              <a:rPr dirty="0" err="1">
                <a:solidFill>
                  <a:srgbClr val="0070B1"/>
                </a:solidFill>
                <a:latin typeface="Source Sans Pro"/>
                <a:cs typeface="Source Sans Pro"/>
              </a:rPr>
              <a:t>Im</a:t>
            </a:r>
            <a:r>
              <a:rPr spc="-3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Rahmen</a:t>
            </a:r>
            <a:r>
              <a:rPr spc="-3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eines</a:t>
            </a:r>
            <a:r>
              <a:rPr spc="-3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Werkvertrages</a:t>
            </a:r>
            <a:r>
              <a:rPr spc="1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20" dirty="0">
                <a:solidFill>
                  <a:srgbClr val="0070B1"/>
                </a:solidFill>
                <a:latin typeface="Source Sans Pro"/>
                <a:cs typeface="Source Sans Pro"/>
              </a:rPr>
              <a:t>oder 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Werkliefervertrages</a:t>
            </a:r>
            <a:r>
              <a:rPr spc="1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und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der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 dazugehörenden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formellen</a:t>
            </a:r>
            <a:r>
              <a:rPr spc="-1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Abnahme</a:t>
            </a:r>
            <a:r>
              <a:rPr spc="-4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beschreibt</a:t>
            </a:r>
            <a:r>
              <a:rPr spc="-3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das</a:t>
            </a:r>
            <a:r>
              <a:rPr spc="-2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Lastenheft</a:t>
            </a:r>
            <a:r>
              <a:rPr spc="-4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präzise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die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 nachprüfbaren</a:t>
            </a:r>
            <a:r>
              <a:rPr spc="-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Leistungen</a:t>
            </a:r>
            <a:r>
              <a:rPr spc="-2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und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 err="1">
                <a:solidFill>
                  <a:srgbClr val="0070B1"/>
                </a:solidFill>
                <a:latin typeface="Source Sans Pro"/>
                <a:cs typeface="Source Sans Pro"/>
              </a:rPr>
              <a:t>Lieferungen</a:t>
            </a: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.</a:t>
            </a:r>
            <a:endParaRPr dirty="0">
              <a:latin typeface="Source Sans Pro"/>
              <a:cs typeface="Source Sans Pro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C523E13-987E-724B-DFD2-6940C60AE14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10</a:t>
            </a:fld>
            <a:endParaRPr lang="de-DE" spc="-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842" y="253844"/>
            <a:ext cx="4292600" cy="859210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4000" b="1" dirty="0">
                <a:latin typeface="Source Sans Pro"/>
                <a:cs typeface="Source Sans Pro"/>
              </a:rPr>
              <a:t>Das</a:t>
            </a:r>
            <a:r>
              <a:rPr sz="4000" b="1" spc="-75" dirty="0">
                <a:latin typeface="Source Sans Pro"/>
                <a:cs typeface="Source Sans Pro"/>
              </a:rPr>
              <a:t> </a:t>
            </a:r>
            <a:r>
              <a:rPr sz="4000" b="1" spc="-10" dirty="0" err="1">
                <a:latin typeface="Source Sans Pro"/>
                <a:cs typeface="Source Sans Pro"/>
              </a:rPr>
              <a:t>Pflichtenheft</a:t>
            </a:r>
            <a:endParaRPr sz="4000" b="1" spc="-10" dirty="0">
              <a:latin typeface="Source Sans Pro"/>
              <a:cs typeface="Source Sans Pr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0842" y="1881100"/>
            <a:ext cx="6389370" cy="3107133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515"/>
              </a:spcBef>
              <a:buFont typeface="Arial"/>
              <a:buChar char="•"/>
              <a:tabLst>
                <a:tab pos="240029" algn="l"/>
              </a:tabLst>
            </a:pP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Ersteller:</a:t>
            </a:r>
            <a:r>
              <a:rPr spc="-5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b="1" spc="-10" dirty="0">
                <a:solidFill>
                  <a:srgbClr val="0070B1"/>
                </a:solidFill>
                <a:latin typeface="Source Sans Pro"/>
                <a:cs typeface="Source Sans Pro"/>
              </a:rPr>
              <a:t>Auftragnehmer</a:t>
            </a:r>
            <a:endParaRPr dirty="0">
              <a:latin typeface="Source Sans Pro"/>
              <a:cs typeface="Source Sans Pro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DIN</a:t>
            </a:r>
            <a:r>
              <a:rPr spc="-1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69901-</a:t>
            </a:r>
            <a:r>
              <a:rPr spc="-25" dirty="0">
                <a:solidFill>
                  <a:srgbClr val="0070B1"/>
                </a:solidFill>
                <a:latin typeface="Source Sans Pro"/>
                <a:cs typeface="Source Sans Pro"/>
              </a:rPr>
              <a:t>5:</a:t>
            </a:r>
            <a:endParaRPr dirty="0">
              <a:latin typeface="Source Sans Pro"/>
              <a:cs typeface="Source Sans Pro"/>
            </a:endParaRPr>
          </a:p>
          <a:p>
            <a:pPr marL="240029" marR="5080" indent="-227329">
              <a:lnSpc>
                <a:spcPts val="23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„vom</a:t>
            </a:r>
            <a:r>
              <a:rPr spc="-1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Auftragnehmer</a:t>
            </a:r>
            <a:r>
              <a:rPr spc="-4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 err="1">
                <a:solidFill>
                  <a:srgbClr val="0070B1"/>
                </a:solidFill>
                <a:latin typeface="Source Sans Pro"/>
                <a:cs typeface="Source Sans Pro"/>
              </a:rPr>
              <a:t>erarbeitete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 err="1">
                <a:solidFill>
                  <a:srgbClr val="0070B1"/>
                </a:solidFill>
                <a:latin typeface="Source Sans Pro"/>
                <a:cs typeface="Source Sans Pro"/>
              </a:rPr>
              <a:t>Realisierungsvorgaben</a:t>
            </a:r>
            <a:r>
              <a:rPr spc="-8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aufgrund</a:t>
            </a:r>
            <a:r>
              <a:rPr spc="-7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der</a:t>
            </a:r>
            <a:r>
              <a:rPr spc="-7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 err="1">
                <a:solidFill>
                  <a:srgbClr val="0070B1"/>
                </a:solidFill>
                <a:latin typeface="Source Sans Pro"/>
                <a:cs typeface="Source Sans Pro"/>
              </a:rPr>
              <a:t>Umsetzung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des</a:t>
            </a:r>
            <a:r>
              <a:rPr spc="-5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vom</a:t>
            </a:r>
            <a:r>
              <a:rPr spc="-3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Auftraggeber</a:t>
            </a:r>
            <a:r>
              <a:rPr spc="-6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vorgegebenen 	Lastenhefts“</a:t>
            </a:r>
            <a:endParaRPr dirty="0">
              <a:latin typeface="Source Sans Pro"/>
              <a:cs typeface="Source Sans Pro"/>
            </a:endParaRPr>
          </a:p>
          <a:p>
            <a:pPr marL="240029" marR="546100" indent="-227329">
              <a:lnSpc>
                <a:spcPts val="230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Anforderungen</a:t>
            </a:r>
            <a:r>
              <a:rPr spc="-3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des</a:t>
            </a:r>
            <a:r>
              <a:rPr spc="-6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Lastenhefts</a:t>
            </a:r>
            <a:r>
              <a:rPr spc="-6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werden</a:t>
            </a:r>
            <a:r>
              <a:rPr spc="-4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25" dirty="0" err="1">
                <a:solidFill>
                  <a:srgbClr val="0070B1"/>
                </a:solidFill>
                <a:latin typeface="Source Sans Pro"/>
                <a:cs typeface="Source Sans Pro"/>
              </a:rPr>
              <a:t>mit</a:t>
            </a:r>
            <a:r>
              <a:rPr spc="-2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 err="1">
                <a:solidFill>
                  <a:srgbClr val="0070B1"/>
                </a:solidFill>
                <a:latin typeface="Source Sans Pro"/>
                <a:cs typeface="Source Sans Pro"/>
              </a:rPr>
              <a:t>technischen</a:t>
            </a:r>
            <a:r>
              <a:rPr spc="-4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Festlegungen</a:t>
            </a:r>
            <a:r>
              <a:rPr spc="-3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der</a:t>
            </a:r>
            <a:r>
              <a:rPr spc="-1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 err="1">
                <a:solidFill>
                  <a:srgbClr val="0070B1"/>
                </a:solidFill>
                <a:latin typeface="Source Sans Pro"/>
                <a:cs typeface="Source Sans Pro"/>
              </a:rPr>
              <a:t>Betriebs</a:t>
            </a: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- </a:t>
            </a:r>
            <a:r>
              <a:rPr spc="-25" dirty="0">
                <a:solidFill>
                  <a:srgbClr val="0070B1"/>
                </a:solidFill>
                <a:latin typeface="Source Sans Pro"/>
                <a:cs typeface="Source Sans Pro"/>
              </a:rPr>
              <a:t>und </a:t>
            </a:r>
            <a:r>
              <a:rPr dirty="0" err="1">
                <a:solidFill>
                  <a:srgbClr val="0070B1"/>
                </a:solidFill>
                <a:latin typeface="Source Sans Pro"/>
                <a:cs typeface="Source Sans Pro"/>
              </a:rPr>
              <a:t>Wartungsumgebung</a:t>
            </a: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 err="1">
                <a:solidFill>
                  <a:srgbClr val="0070B1"/>
                </a:solidFill>
                <a:latin typeface="Source Sans Pro"/>
                <a:cs typeface="Source Sans Pro"/>
              </a:rPr>
              <a:t>verknüpft</a:t>
            </a: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</a:p>
          <a:p>
            <a:pPr marL="240029" marR="546100" indent="-227329">
              <a:lnSpc>
                <a:spcPts val="230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dirty="0" err="1">
                <a:solidFill>
                  <a:srgbClr val="0070B1"/>
                </a:solidFill>
                <a:latin typeface="Source Sans Pro"/>
                <a:cs typeface="Source Sans Pro"/>
              </a:rPr>
              <a:t>wird</a:t>
            </a:r>
            <a:r>
              <a:rPr spc="-4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Vertragsbestandteil</a:t>
            </a:r>
            <a:endParaRPr dirty="0">
              <a:latin typeface="Source Sans Pro"/>
              <a:cs typeface="Source Sans Pro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54" name="Foliennummernplatzhalter 53">
            <a:extLst>
              <a:ext uri="{FF2B5EF4-FFF2-40B4-BE49-F238E27FC236}">
                <a16:creationId xmlns:a16="http://schemas.microsoft.com/office/drawing/2014/main" id="{491E7C18-6964-2557-9528-0A32DD0027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11</a:t>
            </a:fld>
            <a:endParaRPr lang="de-DE" spc="-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147" y="492633"/>
            <a:ext cx="9236253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>
                <a:latin typeface="Source Sans Pro"/>
                <a:cs typeface="Source Sans Pro"/>
              </a:rPr>
              <a:t>Formulierung der Projektziele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34441" y="1251414"/>
            <a:ext cx="10562489" cy="36566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31825">
              <a:lnSpc>
                <a:spcPts val="2590"/>
              </a:lnSpc>
              <a:tabLst>
                <a:tab pos="241300" algn="l"/>
              </a:tabLst>
            </a:pPr>
            <a:endParaRPr lang="de-DE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240029" marR="631825" indent="-227329">
              <a:lnSpc>
                <a:spcPts val="2590"/>
              </a:lnSpc>
              <a:buFont typeface="Arial"/>
              <a:buChar char="•"/>
              <a:tabLst>
                <a:tab pos="241300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Das Ziel muss verständlich und klar formuliert werden (keine undeutlichen Formulierungen, hinter denen sich weitere Ziele verstecken können)</a:t>
            </a:r>
          </a:p>
          <a:p>
            <a:pPr marL="240029" marR="631825" indent="-227329">
              <a:lnSpc>
                <a:spcPts val="2590"/>
              </a:lnSpc>
              <a:buFont typeface="Arial"/>
              <a:buChar char="•"/>
              <a:tabLst>
                <a:tab pos="241300" algn="l"/>
              </a:tabLst>
            </a:pPr>
            <a:endParaRPr lang="de-DE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240029" marR="631825" indent="-227329">
              <a:lnSpc>
                <a:spcPts val="2590"/>
              </a:lnSpc>
              <a:buFont typeface="Arial"/>
              <a:buChar char="•"/>
              <a:tabLst>
                <a:tab pos="241300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Das Ziel darf keine Lösungswege vorwegnehmen (nicht das </a:t>
            </a:r>
            <a:r>
              <a:rPr lang="de-DE" b="1" dirty="0">
                <a:solidFill>
                  <a:srgbClr val="0070B1"/>
                </a:solidFill>
                <a:latin typeface="Source Sans Pro"/>
                <a:cs typeface="Source Sans Pro"/>
              </a:rPr>
              <a:t>wie</a:t>
            </a: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, sondern das </a:t>
            </a:r>
            <a:r>
              <a:rPr lang="de-DE" b="1" dirty="0">
                <a:solidFill>
                  <a:srgbClr val="0070B1"/>
                </a:solidFill>
                <a:latin typeface="Source Sans Pro"/>
                <a:cs typeface="Source Sans Pro"/>
              </a:rPr>
              <a:t>was</a:t>
            </a: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 muss geklärt werden)</a:t>
            </a:r>
          </a:p>
          <a:p>
            <a:pPr marL="240029" marR="631825" indent="-227329">
              <a:lnSpc>
                <a:spcPts val="2590"/>
              </a:lnSpc>
              <a:buFont typeface="Arial"/>
              <a:buChar char="•"/>
              <a:tabLst>
                <a:tab pos="241300" algn="l"/>
              </a:tabLst>
            </a:pPr>
            <a:endParaRPr lang="de-DE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240029" marR="631825" indent="-227329">
              <a:lnSpc>
                <a:spcPts val="2590"/>
              </a:lnSpc>
              <a:buFont typeface="Arial"/>
              <a:buChar char="•"/>
              <a:tabLst>
                <a:tab pos="241300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Positivbeispiel:  Entwicklung, Umsetzung und Publikation der XY Webseite im neuen Corporate Design bis zum 30. Juli 2024</a:t>
            </a:r>
          </a:p>
          <a:p>
            <a:pPr marL="240029" marR="631825" indent="-227329">
              <a:lnSpc>
                <a:spcPts val="2590"/>
              </a:lnSpc>
              <a:buFont typeface="Arial"/>
              <a:buChar char="•"/>
              <a:tabLst>
                <a:tab pos="241300" algn="l"/>
              </a:tabLst>
            </a:pPr>
            <a:endParaRPr lang="de-DE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240029" marR="631825" indent="-227329">
              <a:lnSpc>
                <a:spcPts val="2590"/>
              </a:lnSpc>
              <a:buFont typeface="Arial"/>
              <a:buChar char="•"/>
              <a:tabLst>
                <a:tab pos="241300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Negativbeispiel: Erstellung einer neuen Webseite bis zum Herbst</a:t>
            </a:r>
            <a:endParaRPr dirty="0">
              <a:latin typeface="Source Sans Pro"/>
              <a:cs typeface="Source Sans Pro"/>
            </a:endParaRP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364C8D0-4421-A7DF-DA18-BC220D6D4AB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12</a:t>
            </a:fld>
            <a:endParaRPr lang="de-DE" spc="-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58979"/>
          </a:xfrm>
          <a:prstGeom prst="rect">
            <a:avLst/>
          </a:prstGeom>
        </p:spPr>
        <p:txBody>
          <a:bodyPr vert="horz" wrap="square" lIns="0" tIns="34010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05"/>
              </a:spcBef>
            </a:pPr>
            <a:r>
              <a:rPr sz="4000" b="1" dirty="0">
                <a:latin typeface="Source Sans Pro"/>
                <a:cs typeface="Source Sans Pro"/>
              </a:rPr>
              <a:t>SMARTe</a:t>
            </a:r>
            <a:r>
              <a:rPr sz="4000" b="1" spc="-20" dirty="0">
                <a:latin typeface="Source Sans Pro"/>
                <a:cs typeface="Source Sans Pro"/>
              </a:rPr>
              <a:t> </a:t>
            </a:r>
            <a:r>
              <a:rPr sz="4000" b="1" spc="-10" dirty="0">
                <a:latin typeface="Source Sans Pro"/>
                <a:cs typeface="Source Sans Pro"/>
              </a:rPr>
              <a:t>Ziele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4852" y="1737677"/>
            <a:ext cx="9545320" cy="839974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400" b="1" spc="-10" dirty="0">
                <a:solidFill>
                  <a:srgbClr val="0070B1"/>
                </a:solidFill>
                <a:latin typeface="Source Sans Pro"/>
                <a:cs typeface="Source Sans Pro"/>
              </a:rPr>
              <a:t>Spezifisch:</a:t>
            </a:r>
            <a:endParaRPr sz="2400" dirty="0">
              <a:latin typeface="Source Sans Pro"/>
              <a:cs typeface="Source Sans Pro"/>
            </a:endParaRPr>
          </a:p>
          <a:p>
            <a:pPr marL="354965" indent="-342265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354965" algn="l"/>
              </a:tabLst>
            </a:pP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Die Ziele müssen deutlich definiert und beschrieben sein</a:t>
            </a:r>
            <a:endParaRPr dirty="0">
              <a:latin typeface="Source Sans Pro"/>
              <a:cs typeface="Source Sans Pr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49542" y="1157986"/>
            <a:ext cx="5113655" cy="1203325"/>
            <a:chOff x="6749542" y="1157986"/>
            <a:chExt cx="5113655" cy="1203325"/>
          </a:xfrm>
        </p:grpSpPr>
        <p:sp>
          <p:nvSpPr>
            <p:cNvPr id="5" name="object 5"/>
            <p:cNvSpPr/>
            <p:nvPr/>
          </p:nvSpPr>
          <p:spPr>
            <a:xfrm>
              <a:off x="6755892" y="1164336"/>
              <a:ext cx="992505" cy="1190625"/>
            </a:xfrm>
            <a:custGeom>
              <a:avLst/>
              <a:gdLst/>
              <a:ahLst/>
              <a:cxnLst/>
              <a:rect l="l" t="t" r="r" b="b"/>
              <a:pathLst>
                <a:path w="992504" h="1190625">
                  <a:moveTo>
                    <a:pt x="942466" y="0"/>
                  </a:moveTo>
                  <a:lnTo>
                    <a:pt x="49656" y="0"/>
                  </a:lnTo>
                  <a:lnTo>
                    <a:pt x="30325" y="3901"/>
                  </a:lnTo>
                  <a:lnTo>
                    <a:pt x="14541" y="14541"/>
                  </a:lnTo>
                  <a:lnTo>
                    <a:pt x="3901" y="30325"/>
                  </a:lnTo>
                  <a:lnTo>
                    <a:pt x="0" y="49656"/>
                  </a:lnTo>
                  <a:lnTo>
                    <a:pt x="0" y="1140587"/>
                  </a:lnTo>
                  <a:lnTo>
                    <a:pt x="3901" y="1159918"/>
                  </a:lnTo>
                  <a:lnTo>
                    <a:pt x="14541" y="1175702"/>
                  </a:lnTo>
                  <a:lnTo>
                    <a:pt x="30325" y="1186342"/>
                  </a:lnTo>
                  <a:lnTo>
                    <a:pt x="49656" y="1190243"/>
                  </a:lnTo>
                  <a:lnTo>
                    <a:pt x="942466" y="1190243"/>
                  </a:lnTo>
                  <a:lnTo>
                    <a:pt x="961798" y="1186342"/>
                  </a:lnTo>
                  <a:lnTo>
                    <a:pt x="977582" y="1175702"/>
                  </a:lnTo>
                  <a:lnTo>
                    <a:pt x="988222" y="1159918"/>
                  </a:lnTo>
                  <a:lnTo>
                    <a:pt x="992124" y="1140587"/>
                  </a:lnTo>
                  <a:lnTo>
                    <a:pt x="992124" y="49656"/>
                  </a:lnTo>
                  <a:lnTo>
                    <a:pt x="988222" y="30325"/>
                  </a:lnTo>
                  <a:lnTo>
                    <a:pt x="977582" y="14541"/>
                  </a:lnTo>
                  <a:lnTo>
                    <a:pt x="961798" y="3901"/>
                  </a:lnTo>
                  <a:lnTo>
                    <a:pt x="942466" y="0"/>
                  </a:lnTo>
                  <a:close/>
                </a:path>
              </a:pathLst>
            </a:custGeom>
            <a:solidFill>
              <a:srgbClr val="FD5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55892" y="1164336"/>
              <a:ext cx="992505" cy="1190625"/>
            </a:xfrm>
            <a:custGeom>
              <a:avLst/>
              <a:gdLst/>
              <a:ahLst/>
              <a:cxnLst/>
              <a:rect l="l" t="t" r="r" b="b"/>
              <a:pathLst>
                <a:path w="992504" h="1190625">
                  <a:moveTo>
                    <a:pt x="0" y="49656"/>
                  </a:moveTo>
                  <a:lnTo>
                    <a:pt x="3901" y="30325"/>
                  </a:lnTo>
                  <a:lnTo>
                    <a:pt x="14541" y="14541"/>
                  </a:lnTo>
                  <a:lnTo>
                    <a:pt x="30325" y="3901"/>
                  </a:lnTo>
                  <a:lnTo>
                    <a:pt x="49656" y="0"/>
                  </a:lnTo>
                  <a:lnTo>
                    <a:pt x="942466" y="0"/>
                  </a:lnTo>
                  <a:lnTo>
                    <a:pt x="961798" y="3901"/>
                  </a:lnTo>
                  <a:lnTo>
                    <a:pt x="977582" y="14541"/>
                  </a:lnTo>
                  <a:lnTo>
                    <a:pt x="988222" y="30325"/>
                  </a:lnTo>
                  <a:lnTo>
                    <a:pt x="992124" y="49656"/>
                  </a:lnTo>
                  <a:lnTo>
                    <a:pt x="992124" y="1140587"/>
                  </a:lnTo>
                  <a:lnTo>
                    <a:pt x="988222" y="1159918"/>
                  </a:lnTo>
                  <a:lnTo>
                    <a:pt x="977582" y="1175702"/>
                  </a:lnTo>
                  <a:lnTo>
                    <a:pt x="961798" y="1186342"/>
                  </a:lnTo>
                  <a:lnTo>
                    <a:pt x="942466" y="1190243"/>
                  </a:lnTo>
                  <a:lnTo>
                    <a:pt x="49656" y="1190243"/>
                  </a:lnTo>
                  <a:lnTo>
                    <a:pt x="30325" y="1186342"/>
                  </a:lnTo>
                  <a:lnTo>
                    <a:pt x="14541" y="1175702"/>
                  </a:lnTo>
                  <a:lnTo>
                    <a:pt x="3901" y="1159918"/>
                  </a:lnTo>
                  <a:lnTo>
                    <a:pt x="0" y="1140587"/>
                  </a:lnTo>
                  <a:lnTo>
                    <a:pt x="0" y="49656"/>
                  </a:lnTo>
                  <a:close/>
                </a:path>
              </a:pathLst>
            </a:custGeom>
            <a:ln w="12700">
              <a:solidFill>
                <a:srgbClr val="D2E8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83068" y="1164336"/>
              <a:ext cx="992505" cy="1190625"/>
            </a:xfrm>
            <a:custGeom>
              <a:avLst/>
              <a:gdLst/>
              <a:ahLst/>
              <a:cxnLst/>
              <a:rect l="l" t="t" r="r" b="b"/>
              <a:pathLst>
                <a:path w="992504" h="1190625">
                  <a:moveTo>
                    <a:pt x="942466" y="0"/>
                  </a:moveTo>
                  <a:lnTo>
                    <a:pt x="49656" y="0"/>
                  </a:lnTo>
                  <a:lnTo>
                    <a:pt x="30325" y="3901"/>
                  </a:lnTo>
                  <a:lnTo>
                    <a:pt x="14541" y="14541"/>
                  </a:lnTo>
                  <a:lnTo>
                    <a:pt x="3901" y="30325"/>
                  </a:lnTo>
                  <a:lnTo>
                    <a:pt x="0" y="49656"/>
                  </a:lnTo>
                  <a:lnTo>
                    <a:pt x="0" y="1140587"/>
                  </a:lnTo>
                  <a:lnTo>
                    <a:pt x="3901" y="1159918"/>
                  </a:lnTo>
                  <a:lnTo>
                    <a:pt x="14541" y="1175702"/>
                  </a:lnTo>
                  <a:lnTo>
                    <a:pt x="30325" y="1186342"/>
                  </a:lnTo>
                  <a:lnTo>
                    <a:pt x="49656" y="1190243"/>
                  </a:lnTo>
                  <a:lnTo>
                    <a:pt x="942466" y="1190243"/>
                  </a:lnTo>
                  <a:lnTo>
                    <a:pt x="961798" y="1186342"/>
                  </a:lnTo>
                  <a:lnTo>
                    <a:pt x="977582" y="1175702"/>
                  </a:lnTo>
                  <a:lnTo>
                    <a:pt x="988222" y="1159918"/>
                  </a:lnTo>
                  <a:lnTo>
                    <a:pt x="992124" y="1140587"/>
                  </a:lnTo>
                  <a:lnTo>
                    <a:pt x="992124" y="49656"/>
                  </a:lnTo>
                  <a:lnTo>
                    <a:pt x="988222" y="30325"/>
                  </a:lnTo>
                  <a:lnTo>
                    <a:pt x="977582" y="14541"/>
                  </a:lnTo>
                  <a:lnTo>
                    <a:pt x="961798" y="3901"/>
                  </a:lnTo>
                  <a:lnTo>
                    <a:pt x="942466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83068" y="1164336"/>
              <a:ext cx="992505" cy="1190625"/>
            </a:xfrm>
            <a:custGeom>
              <a:avLst/>
              <a:gdLst/>
              <a:ahLst/>
              <a:cxnLst/>
              <a:rect l="l" t="t" r="r" b="b"/>
              <a:pathLst>
                <a:path w="992504" h="1190625">
                  <a:moveTo>
                    <a:pt x="0" y="49656"/>
                  </a:moveTo>
                  <a:lnTo>
                    <a:pt x="3901" y="30325"/>
                  </a:lnTo>
                  <a:lnTo>
                    <a:pt x="14541" y="14541"/>
                  </a:lnTo>
                  <a:lnTo>
                    <a:pt x="30325" y="3901"/>
                  </a:lnTo>
                  <a:lnTo>
                    <a:pt x="49656" y="0"/>
                  </a:lnTo>
                  <a:lnTo>
                    <a:pt x="942466" y="0"/>
                  </a:lnTo>
                  <a:lnTo>
                    <a:pt x="961798" y="3901"/>
                  </a:lnTo>
                  <a:lnTo>
                    <a:pt x="977582" y="14541"/>
                  </a:lnTo>
                  <a:lnTo>
                    <a:pt x="988222" y="30325"/>
                  </a:lnTo>
                  <a:lnTo>
                    <a:pt x="992124" y="49656"/>
                  </a:lnTo>
                  <a:lnTo>
                    <a:pt x="992124" y="1140587"/>
                  </a:lnTo>
                  <a:lnTo>
                    <a:pt x="988222" y="1159918"/>
                  </a:lnTo>
                  <a:lnTo>
                    <a:pt x="977582" y="1175702"/>
                  </a:lnTo>
                  <a:lnTo>
                    <a:pt x="961798" y="1186342"/>
                  </a:lnTo>
                  <a:lnTo>
                    <a:pt x="942466" y="1190243"/>
                  </a:lnTo>
                  <a:lnTo>
                    <a:pt x="49656" y="1190243"/>
                  </a:lnTo>
                  <a:lnTo>
                    <a:pt x="30325" y="1186342"/>
                  </a:lnTo>
                  <a:lnTo>
                    <a:pt x="14541" y="1175702"/>
                  </a:lnTo>
                  <a:lnTo>
                    <a:pt x="3901" y="1159918"/>
                  </a:lnTo>
                  <a:lnTo>
                    <a:pt x="0" y="1140587"/>
                  </a:lnTo>
                  <a:lnTo>
                    <a:pt x="0" y="49656"/>
                  </a:lnTo>
                  <a:close/>
                </a:path>
              </a:pathLst>
            </a:custGeom>
            <a:ln w="12700">
              <a:solidFill>
                <a:srgbClr val="D2E8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08138" y="2090674"/>
              <a:ext cx="160527" cy="18796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810244" y="1164336"/>
              <a:ext cx="992505" cy="1190625"/>
            </a:xfrm>
            <a:custGeom>
              <a:avLst/>
              <a:gdLst/>
              <a:ahLst/>
              <a:cxnLst/>
              <a:rect l="l" t="t" r="r" b="b"/>
              <a:pathLst>
                <a:path w="992504" h="1190625">
                  <a:moveTo>
                    <a:pt x="942466" y="0"/>
                  </a:moveTo>
                  <a:lnTo>
                    <a:pt x="49656" y="0"/>
                  </a:lnTo>
                  <a:lnTo>
                    <a:pt x="30325" y="3901"/>
                  </a:lnTo>
                  <a:lnTo>
                    <a:pt x="14541" y="14541"/>
                  </a:lnTo>
                  <a:lnTo>
                    <a:pt x="3901" y="30325"/>
                  </a:lnTo>
                  <a:lnTo>
                    <a:pt x="0" y="49656"/>
                  </a:lnTo>
                  <a:lnTo>
                    <a:pt x="0" y="1140587"/>
                  </a:lnTo>
                  <a:lnTo>
                    <a:pt x="3901" y="1159918"/>
                  </a:lnTo>
                  <a:lnTo>
                    <a:pt x="14541" y="1175702"/>
                  </a:lnTo>
                  <a:lnTo>
                    <a:pt x="30325" y="1186342"/>
                  </a:lnTo>
                  <a:lnTo>
                    <a:pt x="49656" y="1190243"/>
                  </a:lnTo>
                  <a:lnTo>
                    <a:pt x="942466" y="1190243"/>
                  </a:lnTo>
                  <a:lnTo>
                    <a:pt x="961798" y="1186342"/>
                  </a:lnTo>
                  <a:lnTo>
                    <a:pt x="977582" y="1175702"/>
                  </a:lnTo>
                  <a:lnTo>
                    <a:pt x="988222" y="1159918"/>
                  </a:lnTo>
                  <a:lnTo>
                    <a:pt x="992124" y="1140587"/>
                  </a:lnTo>
                  <a:lnTo>
                    <a:pt x="992124" y="49656"/>
                  </a:lnTo>
                  <a:lnTo>
                    <a:pt x="988222" y="30325"/>
                  </a:lnTo>
                  <a:lnTo>
                    <a:pt x="977582" y="14541"/>
                  </a:lnTo>
                  <a:lnTo>
                    <a:pt x="961798" y="3901"/>
                  </a:lnTo>
                  <a:lnTo>
                    <a:pt x="942466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810244" y="1164336"/>
              <a:ext cx="992505" cy="1190625"/>
            </a:xfrm>
            <a:custGeom>
              <a:avLst/>
              <a:gdLst/>
              <a:ahLst/>
              <a:cxnLst/>
              <a:rect l="l" t="t" r="r" b="b"/>
              <a:pathLst>
                <a:path w="992504" h="1190625">
                  <a:moveTo>
                    <a:pt x="0" y="49656"/>
                  </a:moveTo>
                  <a:lnTo>
                    <a:pt x="3901" y="30325"/>
                  </a:lnTo>
                  <a:lnTo>
                    <a:pt x="14541" y="14541"/>
                  </a:lnTo>
                  <a:lnTo>
                    <a:pt x="30325" y="3901"/>
                  </a:lnTo>
                  <a:lnTo>
                    <a:pt x="49656" y="0"/>
                  </a:lnTo>
                  <a:lnTo>
                    <a:pt x="942466" y="0"/>
                  </a:lnTo>
                  <a:lnTo>
                    <a:pt x="961798" y="3901"/>
                  </a:lnTo>
                  <a:lnTo>
                    <a:pt x="977582" y="14541"/>
                  </a:lnTo>
                  <a:lnTo>
                    <a:pt x="988222" y="30325"/>
                  </a:lnTo>
                  <a:lnTo>
                    <a:pt x="992124" y="49656"/>
                  </a:lnTo>
                  <a:lnTo>
                    <a:pt x="992124" y="1140587"/>
                  </a:lnTo>
                  <a:lnTo>
                    <a:pt x="988222" y="1159918"/>
                  </a:lnTo>
                  <a:lnTo>
                    <a:pt x="977582" y="1175702"/>
                  </a:lnTo>
                  <a:lnTo>
                    <a:pt x="961798" y="1186342"/>
                  </a:lnTo>
                  <a:lnTo>
                    <a:pt x="942466" y="1190243"/>
                  </a:lnTo>
                  <a:lnTo>
                    <a:pt x="49656" y="1190243"/>
                  </a:lnTo>
                  <a:lnTo>
                    <a:pt x="30325" y="1186342"/>
                  </a:lnTo>
                  <a:lnTo>
                    <a:pt x="14541" y="1175702"/>
                  </a:lnTo>
                  <a:lnTo>
                    <a:pt x="3901" y="1159918"/>
                  </a:lnTo>
                  <a:lnTo>
                    <a:pt x="0" y="1140587"/>
                  </a:lnTo>
                  <a:lnTo>
                    <a:pt x="0" y="49656"/>
                  </a:lnTo>
                  <a:close/>
                </a:path>
              </a:pathLst>
            </a:custGeom>
            <a:ln w="12700">
              <a:solidFill>
                <a:srgbClr val="D2E8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33790" y="2090674"/>
              <a:ext cx="162051" cy="18796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837420" y="1164336"/>
              <a:ext cx="992505" cy="1190625"/>
            </a:xfrm>
            <a:custGeom>
              <a:avLst/>
              <a:gdLst/>
              <a:ahLst/>
              <a:cxnLst/>
              <a:rect l="l" t="t" r="r" b="b"/>
              <a:pathLst>
                <a:path w="992504" h="1190625">
                  <a:moveTo>
                    <a:pt x="942466" y="0"/>
                  </a:moveTo>
                  <a:lnTo>
                    <a:pt x="49656" y="0"/>
                  </a:lnTo>
                  <a:lnTo>
                    <a:pt x="30325" y="3901"/>
                  </a:lnTo>
                  <a:lnTo>
                    <a:pt x="14541" y="14541"/>
                  </a:lnTo>
                  <a:lnTo>
                    <a:pt x="3901" y="30325"/>
                  </a:lnTo>
                  <a:lnTo>
                    <a:pt x="0" y="49656"/>
                  </a:lnTo>
                  <a:lnTo>
                    <a:pt x="0" y="1140587"/>
                  </a:lnTo>
                  <a:lnTo>
                    <a:pt x="3901" y="1159918"/>
                  </a:lnTo>
                  <a:lnTo>
                    <a:pt x="14541" y="1175702"/>
                  </a:lnTo>
                  <a:lnTo>
                    <a:pt x="30325" y="1186342"/>
                  </a:lnTo>
                  <a:lnTo>
                    <a:pt x="49656" y="1190243"/>
                  </a:lnTo>
                  <a:lnTo>
                    <a:pt x="942466" y="1190243"/>
                  </a:lnTo>
                  <a:lnTo>
                    <a:pt x="961798" y="1186342"/>
                  </a:lnTo>
                  <a:lnTo>
                    <a:pt x="977582" y="1175702"/>
                  </a:lnTo>
                  <a:lnTo>
                    <a:pt x="988222" y="1159918"/>
                  </a:lnTo>
                  <a:lnTo>
                    <a:pt x="992124" y="1140587"/>
                  </a:lnTo>
                  <a:lnTo>
                    <a:pt x="992124" y="49656"/>
                  </a:lnTo>
                  <a:lnTo>
                    <a:pt x="988222" y="30325"/>
                  </a:lnTo>
                  <a:lnTo>
                    <a:pt x="977582" y="14541"/>
                  </a:lnTo>
                  <a:lnTo>
                    <a:pt x="961798" y="3901"/>
                  </a:lnTo>
                  <a:lnTo>
                    <a:pt x="942466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837420" y="1164336"/>
              <a:ext cx="992505" cy="1190625"/>
            </a:xfrm>
            <a:custGeom>
              <a:avLst/>
              <a:gdLst/>
              <a:ahLst/>
              <a:cxnLst/>
              <a:rect l="l" t="t" r="r" b="b"/>
              <a:pathLst>
                <a:path w="992504" h="1190625">
                  <a:moveTo>
                    <a:pt x="0" y="49656"/>
                  </a:moveTo>
                  <a:lnTo>
                    <a:pt x="3901" y="30325"/>
                  </a:lnTo>
                  <a:lnTo>
                    <a:pt x="14541" y="14541"/>
                  </a:lnTo>
                  <a:lnTo>
                    <a:pt x="30325" y="3901"/>
                  </a:lnTo>
                  <a:lnTo>
                    <a:pt x="49656" y="0"/>
                  </a:lnTo>
                  <a:lnTo>
                    <a:pt x="942466" y="0"/>
                  </a:lnTo>
                  <a:lnTo>
                    <a:pt x="961798" y="3901"/>
                  </a:lnTo>
                  <a:lnTo>
                    <a:pt x="977582" y="14541"/>
                  </a:lnTo>
                  <a:lnTo>
                    <a:pt x="988222" y="30325"/>
                  </a:lnTo>
                  <a:lnTo>
                    <a:pt x="992124" y="49656"/>
                  </a:lnTo>
                  <a:lnTo>
                    <a:pt x="992124" y="1140587"/>
                  </a:lnTo>
                  <a:lnTo>
                    <a:pt x="988222" y="1159918"/>
                  </a:lnTo>
                  <a:lnTo>
                    <a:pt x="977582" y="1175702"/>
                  </a:lnTo>
                  <a:lnTo>
                    <a:pt x="961798" y="1186342"/>
                  </a:lnTo>
                  <a:lnTo>
                    <a:pt x="942466" y="1190243"/>
                  </a:lnTo>
                  <a:lnTo>
                    <a:pt x="49656" y="1190243"/>
                  </a:lnTo>
                  <a:lnTo>
                    <a:pt x="30325" y="1186342"/>
                  </a:lnTo>
                  <a:lnTo>
                    <a:pt x="14541" y="1175702"/>
                  </a:lnTo>
                  <a:lnTo>
                    <a:pt x="3901" y="1159918"/>
                  </a:lnTo>
                  <a:lnTo>
                    <a:pt x="0" y="1140587"/>
                  </a:lnTo>
                  <a:lnTo>
                    <a:pt x="0" y="49656"/>
                  </a:lnTo>
                  <a:close/>
                </a:path>
              </a:pathLst>
            </a:custGeom>
            <a:ln w="12700">
              <a:solidFill>
                <a:srgbClr val="D2E8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60966" y="2090674"/>
              <a:ext cx="162051" cy="18796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0864596" y="1164336"/>
              <a:ext cx="992505" cy="1190625"/>
            </a:xfrm>
            <a:custGeom>
              <a:avLst/>
              <a:gdLst/>
              <a:ahLst/>
              <a:cxnLst/>
              <a:rect l="l" t="t" r="r" b="b"/>
              <a:pathLst>
                <a:path w="992504" h="1190625">
                  <a:moveTo>
                    <a:pt x="942467" y="0"/>
                  </a:moveTo>
                  <a:lnTo>
                    <a:pt x="49656" y="0"/>
                  </a:lnTo>
                  <a:lnTo>
                    <a:pt x="30325" y="3901"/>
                  </a:lnTo>
                  <a:lnTo>
                    <a:pt x="14541" y="14541"/>
                  </a:lnTo>
                  <a:lnTo>
                    <a:pt x="3901" y="30325"/>
                  </a:lnTo>
                  <a:lnTo>
                    <a:pt x="0" y="49656"/>
                  </a:lnTo>
                  <a:lnTo>
                    <a:pt x="0" y="1140587"/>
                  </a:lnTo>
                  <a:lnTo>
                    <a:pt x="3901" y="1159918"/>
                  </a:lnTo>
                  <a:lnTo>
                    <a:pt x="14541" y="1175702"/>
                  </a:lnTo>
                  <a:lnTo>
                    <a:pt x="30325" y="1186342"/>
                  </a:lnTo>
                  <a:lnTo>
                    <a:pt x="49656" y="1190243"/>
                  </a:lnTo>
                  <a:lnTo>
                    <a:pt x="942467" y="1190243"/>
                  </a:lnTo>
                  <a:lnTo>
                    <a:pt x="961798" y="1186342"/>
                  </a:lnTo>
                  <a:lnTo>
                    <a:pt x="977582" y="1175702"/>
                  </a:lnTo>
                  <a:lnTo>
                    <a:pt x="988222" y="1159918"/>
                  </a:lnTo>
                  <a:lnTo>
                    <a:pt x="992124" y="1140587"/>
                  </a:lnTo>
                  <a:lnTo>
                    <a:pt x="992124" y="49656"/>
                  </a:lnTo>
                  <a:lnTo>
                    <a:pt x="988222" y="30325"/>
                  </a:lnTo>
                  <a:lnTo>
                    <a:pt x="977582" y="14541"/>
                  </a:lnTo>
                  <a:lnTo>
                    <a:pt x="961798" y="3901"/>
                  </a:lnTo>
                  <a:lnTo>
                    <a:pt x="942467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864596" y="1164336"/>
              <a:ext cx="992505" cy="1190625"/>
            </a:xfrm>
            <a:custGeom>
              <a:avLst/>
              <a:gdLst/>
              <a:ahLst/>
              <a:cxnLst/>
              <a:rect l="l" t="t" r="r" b="b"/>
              <a:pathLst>
                <a:path w="992504" h="1190625">
                  <a:moveTo>
                    <a:pt x="0" y="49656"/>
                  </a:moveTo>
                  <a:lnTo>
                    <a:pt x="3901" y="30325"/>
                  </a:lnTo>
                  <a:lnTo>
                    <a:pt x="14541" y="14541"/>
                  </a:lnTo>
                  <a:lnTo>
                    <a:pt x="30325" y="3901"/>
                  </a:lnTo>
                  <a:lnTo>
                    <a:pt x="49656" y="0"/>
                  </a:lnTo>
                  <a:lnTo>
                    <a:pt x="942467" y="0"/>
                  </a:lnTo>
                  <a:lnTo>
                    <a:pt x="961798" y="3901"/>
                  </a:lnTo>
                  <a:lnTo>
                    <a:pt x="977582" y="14541"/>
                  </a:lnTo>
                  <a:lnTo>
                    <a:pt x="988222" y="30325"/>
                  </a:lnTo>
                  <a:lnTo>
                    <a:pt x="992124" y="49656"/>
                  </a:lnTo>
                  <a:lnTo>
                    <a:pt x="992124" y="1140587"/>
                  </a:lnTo>
                  <a:lnTo>
                    <a:pt x="988222" y="1159918"/>
                  </a:lnTo>
                  <a:lnTo>
                    <a:pt x="977582" y="1175702"/>
                  </a:lnTo>
                  <a:lnTo>
                    <a:pt x="961798" y="1186342"/>
                  </a:lnTo>
                  <a:lnTo>
                    <a:pt x="942467" y="1190243"/>
                  </a:lnTo>
                  <a:lnTo>
                    <a:pt x="49656" y="1190243"/>
                  </a:lnTo>
                  <a:lnTo>
                    <a:pt x="30325" y="1186342"/>
                  </a:lnTo>
                  <a:lnTo>
                    <a:pt x="14541" y="1175702"/>
                  </a:lnTo>
                  <a:lnTo>
                    <a:pt x="3901" y="1159918"/>
                  </a:lnTo>
                  <a:lnTo>
                    <a:pt x="0" y="1140587"/>
                  </a:lnTo>
                  <a:lnTo>
                    <a:pt x="0" y="49656"/>
                  </a:lnTo>
                  <a:close/>
                </a:path>
              </a:pathLst>
            </a:custGeom>
            <a:ln w="12700">
              <a:solidFill>
                <a:srgbClr val="D2E8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88142" y="2090674"/>
              <a:ext cx="162051" cy="18796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7100061" y="1252220"/>
            <a:ext cx="4748530" cy="970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39494" algn="l"/>
                <a:tab pos="2066289" algn="l"/>
                <a:tab pos="3093720" algn="l"/>
                <a:tab pos="4120515" algn="l"/>
              </a:tabLst>
            </a:pPr>
            <a:r>
              <a:rPr sz="6200" spc="-50" dirty="0">
                <a:solidFill>
                  <a:srgbClr val="D2E8F4"/>
                </a:solidFill>
                <a:latin typeface="Source Sans Pro"/>
                <a:cs typeface="Source Sans Pro"/>
              </a:rPr>
              <a:t>S</a:t>
            </a:r>
            <a:r>
              <a:rPr sz="6200" dirty="0">
                <a:solidFill>
                  <a:srgbClr val="D2E8F4"/>
                </a:solidFill>
                <a:latin typeface="Source Sans Pro"/>
                <a:cs typeface="Source Sans Pro"/>
              </a:rPr>
              <a:t>	</a:t>
            </a:r>
            <a:r>
              <a:rPr sz="6200" spc="-50" dirty="0">
                <a:solidFill>
                  <a:srgbClr val="D2E8F4"/>
                </a:solidFill>
                <a:latin typeface="Source Sans Pro"/>
                <a:cs typeface="Source Sans Pro"/>
              </a:rPr>
              <a:t>M</a:t>
            </a:r>
            <a:r>
              <a:rPr sz="6200" dirty="0">
                <a:solidFill>
                  <a:srgbClr val="D2E8F4"/>
                </a:solidFill>
                <a:latin typeface="Source Sans Pro"/>
                <a:cs typeface="Source Sans Pro"/>
              </a:rPr>
              <a:t>	</a:t>
            </a:r>
            <a:r>
              <a:rPr sz="6200" spc="-50" dirty="0">
                <a:solidFill>
                  <a:srgbClr val="D2E8F4"/>
                </a:solidFill>
                <a:latin typeface="Source Sans Pro"/>
                <a:cs typeface="Source Sans Pro"/>
              </a:rPr>
              <a:t>A</a:t>
            </a:r>
            <a:r>
              <a:rPr sz="6200" dirty="0">
                <a:solidFill>
                  <a:srgbClr val="D2E8F4"/>
                </a:solidFill>
                <a:latin typeface="Source Sans Pro"/>
                <a:cs typeface="Source Sans Pro"/>
              </a:rPr>
              <a:t>	</a:t>
            </a:r>
            <a:r>
              <a:rPr sz="6200" spc="-50" dirty="0">
                <a:solidFill>
                  <a:srgbClr val="D2E8F4"/>
                </a:solidFill>
                <a:latin typeface="Source Sans Pro"/>
                <a:cs typeface="Source Sans Pro"/>
              </a:rPr>
              <a:t>R</a:t>
            </a:r>
            <a:r>
              <a:rPr sz="6200" dirty="0">
                <a:solidFill>
                  <a:srgbClr val="D2E8F4"/>
                </a:solidFill>
                <a:latin typeface="Source Sans Pro"/>
                <a:cs typeface="Source Sans Pro"/>
              </a:rPr>
              <a:t>	</a:t>
            </a:r>
            <a:r>
              <a:rPr sz="6200" spc="-50" dirty="0">
                <a:solidFill>
                  <a:srgbClr val="D2E8F4"/>
                </a:solidFill>
                <a:latin typeface="Source Sans Pro"/>
                <a:cs typeface="Source Sans Pro"/>
              </a:rPr>
              <a:t>T</a:t>
            </a:r>
            <a:endParaRPr sz="6200" dirty="0">
              <a:latin typeface="Source Sans Pro"/>
              <a:cs typeface="Source Sans Pro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38" name="Foliennummernplatzhalter 37">
            <a:extLst>
              <a:ext uri="{FF2B5EF4-FFF2-40B4-BE49-F238E27FC236}">
                <a16:creationId xmlns:a16="http://schemas.microsoft.com/office/drawing/2014/main" id="{AB5398AB-F232-B952-B351-1D42294150D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13</a:t>
            </a:fld>
            <a:endParaRPr lang="de-DE" spc="-50" dirty="0"/>
          </a:p>
        </p:txBody>
      </p:sp>
      <p:sp>
        <p:nvSpPr>
          <p:cNvPr id="23" name="object 3">
            <a:extLst>
              <a:ext uri="{FF2B5EF4-FFF2-40B4-BE49-F238E27FC236}">
                <a16:creationId xmlns:a16="http://schemas.microsoft.com/office/drawing/2014/main" id="{1850AEBF-0962-E4D9-7CA7-7E6351892518}"/>
              </a:ext>
            </a:extLst>
          </p:cNvPr>
          <p:cNvSpPr txBox="1"/>
          <p:nvPr/>
        </p:nvSpPr>
        <p:spPr>
          <a:xfrm>
            <a:off x="457200" y="2556818"/>
            <a:ext cx="6991984" cy="1116331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400" b="1" spc="-10" dirty="0">
                <a:solidFill>
                  <a:srgbClr val="0070B1"/>
                </a:solidFill>
                <a:latin typeface="Source Sans Pro"/>
                <a:cs typeface="Source Sans Pro"/>
              </a:rPr>
              <a:t>Messbar:</a:t>
            </a:r>
            <a:endParaRPr sz="2400" dirty="0">
              <a:latin typeface="Source Sans Pro"/>
              <a:cs typeface="Source Sans Pro"/>
            </a:endParaRPr>
          </a:p>
          <a:p>
            <a:pPr marL="354965" indent="-342265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354965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Es müssen messbare Kriterien angegeben sein, um das Ziel zu erreichen</a:t>
            </a:r>
            <a:endParaRPr dirty="0">
              <a:latin typeface="Source Sans Pro"/>
              <a:cs typeface="Source Sans Pro"/>
            </a:endParaRPr>
          </a:p>
        </p:txBody>
      </p:sp>
      <p:sp>
        <p:nvSpPr>
          <p:cNvPr id="27" name="object 3">
            <a:extLst>
              <a:ext uri="{FF2B5EF4-FFF2-40B4-BE49-F238E27FC236}">
                <a16:creationId xmlns:a16="http://schemas.microsoft.com/office/drawing/2014/main" id="{FD60C613-E1C1-1F98-1317-8AE5DF9C68B1}"/>
              </a:ext>
            </a:extLst>
          </p:cNvPr>
          <p:cNvSpPr txBox="1"/>
          <p:nvPr/>
        </p:nvSpPr>
        <p:spPr>
          <a:xfrm>
            <a:off x="454852" y="3581400"/>
            <a:ext cx="5416652" cy="2126864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lang="de-DE" sz="2400" b="1" spc="-10" dirty="0">
                <a:solidFill>
                  <a:srgbClr val="0070B1"/>
                </a:solidFill>
                <a:latin typeface="Source Sans Pro"/>
                <a:cs typeface="Source Sans Pro"/>
              </a:rPr>
              <a:t>Akzeptiert/Ausführbar/Attraktiv</a:t>
            </a:r>
            <a:r>
              <a:rPr sz="2400" b="1" spc="-10" dirty="0">
                <a:solidFill>
                  <a:srgbClr val="0070B1"/>
                </a:solidFill>
                <a:latin typeface="Source Sans Pro"/>
                <a:cs typeface="Source Sans Pro"/>
              </a:rPr>
              <a:t>:</a:t>
            </a:r>
            <a:endParaRPr sz="2400" dirty="0">
              <a:latin typeface="Source Sans Pro"/>
              <a:cs typeface="Source Sans Pro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</a:tabLst>
            </a:pP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Ziel ist erstrebenswert/wird akzeptiert</a:t>
            </a: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</a:tabLst>
            </a:pP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Das Ziel ist mit den verfügbaren Ressourcen erreichbar</a:t>
            </a:r>
            <a:endParaRPr dirty="0">
              <a:latin typeface="Source Sans Pro"/>
              <a:cs typeface="Source Sans Pro"/>
            </a:endParaRPr>
          </a:p>
          <a:p>
            <a:pPr marL="354965" indent="-342265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354965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E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s</a:t>
            </a:r>
            <a:r>
              <a:rPr spc="-3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lohnt,</a:t>
            </a:r>
            <a:r>
              <a:rPr spc="-1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dieses</a:t>
            </a:r>
            <a:r>
              <a:rPr spc="-2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Ziel</a:t>
            </a:r>
            <a:r>
              <a:rPr spc="-3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 err="1">
                <a:solidFill>
                  <a:srgbClr val="0070B1"/>
                </a:solidFill>
                <a:latin typeface="Source Sans Pro"/>
                <a:cs typeface="Source Sans Pro"/>
              </a:rPr>
              <a:t>zu</a:t>
            </a:r>
            <a:r>
              <a:rPr spc="-2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 err="1">
                <a:solidFill>
                  <a:srgbClr val="0070B1"/>
                </a:solidFill>
                <a:latin typeface="Source Sans Pro"/>
                <a:cs typeface="Source Sans Pro"/>
              </a:rPr>
              <a:t>erreichen</a:t>
            </a: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 – es bietet einen Nutzen</a:t>
            </a:r>
            <a:endParaRPr dirty="0">
              <a:latin typeface="Source Sans Pro"/>
              <a:cs typeface="Source Sans Pro"/>
            </a:endParaRPr>
          </a:p>
        </p:txBody>
      </p:sp>
      <p:sp>
        <p:nvSpPr>
          <p:cNvPr id="29" name="object 3">
            <a:extLst>
              <a:ext uri="{FF2B5EF4-FFF2-40B4-BE49-F238E27FC236}">
                <a16:creationId xmlns:a16="http://schemas.microsoft.com/office/drawing/2014/main" id="{66A879F4-CBC7-5FD9-5432-A36269D12E1C}"/>
              </a:ext>
            </a:extLst>
          </p:cNvPr>
          <p:cNvSpPr txBox="1"/>
          <p:nvPr/>
        </p:nvSpPr>
        <p:spPr>
          <a:xfrm>
            <a:off x="5942330" y="3496765"/>
            <a:ext cx="6249670" cy="1116972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400" b="1" spc="-10" dirty="0">
                <a:solidFill>
                  <a:srgbClr val="0070B1"/>
                </a:solidFill>
                <a:latin typeface="Source Sans Pro"/>
                <a:cs typeface="Source Sans Pro"/>
              </a:rPr>
              <a:t>Realistisch:</a:t>
            </a:r>
            <a:endParaRPr sz="2400" dirty="0">
              <a:latin typeface="Source Sans Pro"/>
              <a:cs typeface="Source Sans Pro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Die Ziele müssen erreichbar sein, es dürfen keine Visionen sein</a:t>
            </a:r>
            <a:endParaRPr dirty="0">
              <a:latin typeface="Source Sans Pro"/>
              <a:cs typeface="Source Sans Pro"/>
            </a:endParaRPr>
          </a:p>
        </p:txBody>
      </p:sp>
      <p:sp>
        <p:nvSpPr>
          <p:cNvPr id="31" name="object 3">
            <a:extLst>
              <a:ext uri="{FF2B5EF4-FFF2-40B4-BE49-F238E27FC236}">
                <a16:creationId xmlns:a16="http://schemas.microsoft.com/office/drawing/2014/main" id="{16212D2E-4400-7815-F2F9-457C2C8A3EB9}"/>
              </a:ext>
            </a:extLst>
          </p:cNvPr>
          <p:cNvSpPr txBox="1"/>
          <p:nvPr/>
        </p:nvSpPr>
        <p:spPr>
          <a:xfrm>
            <a:off x="5942330" y="4760174"/>
            <a:ext cx="5906261" cy="839974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400" b="1" spc="-10" dirty="0">
                <a:solidFill>
                  <a:srgbClr val="0070B1"/>
                </a:solidFill>
                <a:latin typeface="Source Sans Pro"/>
                <a:cs typeface="Source Sans Pro"/>
              </a:rPr>
              <a:t>Terminiert:</a:t>
            </a:r>
            <a:endParaRPr sz="2400" dirty="0">
              <a:latin typeface="Source Sans Pro"/>
              <a:cs typeface="Source Sans Pro"/>
            </a:endParaRPr>
          </a:p>
          <a:p>
            <a:pPr marL="354965" indent="-342265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354965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F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ester</a:t>
            </a:r>
            <a:r>
              <a:rPr spc="-5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und</a:t>
            </a:r>
            <a:r>
              <a:rPr spc="-6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klar</a:t>
            </a:r>
            <a:r>
              <a:rPr spc="-4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 err="1">
                <a:solidFill>
                  <a:srgbClr val="0070B1"/>
                </a:solidFill>
                <a:latin typeface="Source Sans Pro"/>
                <a:cs typeface="Source Sans Pro"/>
              </a:rPr>
              <a:t>definierter</a:t>
            </a:r>
            <a:r>
              <a:rPr spc="-4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 err="1">
                <a:solidFill>
                  <a:srgbClr val="0070B1"/>
                </a:solidFill>
                <a:latin typeface="Source Sans Pro"/>
                <a:cs typeface="Source Sans Pro"/>
              </a:rPr>
              <a:t>Termin</a:t>
            </a:r>
            <a:endParaRPr dirty="0">
              <a:latin typeface="Source Sans Pro"/>
              <a:cs typeface="Source Sans Pr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A6620-DA5C-C605-76F9-5F0AD69D4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E49413A-D746-73E8-5A9D-BA669B92DD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>
                <a:latin typeface="Source Sans Pro"/>
                <a:cs typeface="Source Sans Pro"/>
              </a:rPr>
              <a:t>Projektstrukturplan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D7F9046-00FA-3DCD-F3D2-80A770955BC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2AB95AD-CA23-598A-1D1C-03A2B1E5C83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29" y="6407302"/>
            <a:ext cx="422305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14</a:t>
            </a:fld>
            <a:endParaRPr lang="de-DE" spc="-50" dirty="0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606B95C-774E-B0F9-2E37-ED51C56E928E}"/>
              </a:ext>
            </a:extLst>
          </p:cNvPr>
          <p:cNvGrpSpPr/>
          <p:nvPr/>
        </p:nvGrpSpPr>
        <p:grpSpPr>
          <a:xfrm>
            <a:off x="4724400" y="1219200"/>
            <a:ext cx="6982364" cy="4573426"/>
            <a:chOff x="685980" y="1015814"/>
            <a:chExt cx="8082259" cy="4777509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309D8E55-4021-6F73-8F40-F81ACE8AF89B}"/>
                </a:ext>
              </a:extLst>
            </p:cNvPr>
            <p:cNvCxnSpPr/>
            <p:nvPr/>
          </p:nvCxnSpPr>
          <p:spPr>
            <a:xfrm>
              <a:off x="7110906" y="4398868"/>
              <a:ext cx="14401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A3F61274-F308-6345-D370-3626D5AEBE91}"/>
                </a:ext>
              </a:extLst>
            </p:cNvPr>
            <p:cNvCxnSpPr/>
            <p:nvPr/>
          </p:nvCxnSpPr>
          <p:spPr>
            <a:xfrm>
              <a:off x="7110906" y="3821109"/>
              <a:ext cx="14401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F6AFFAFC-17B7-EC28-31A2-E7165ECF3EE1}"/>
                </a:ext>
              </a:extLst>
            </p:cNvPr>
            <p:cNvGrpSpPr/>
            <p:nvPr/>
          </p:nvGrpSpPr>
          <p:grpSpPr>
            <a:xfrm>
              <a:off x="6267355" y="2020566"/>
              <a:ext cx="2384677" cy="568590"/>
              <a:chOff x="1774900" y="751515"/>
              <a:chExt cx="1137181" cy="568590"/>
            </a:xfrm>
          </p:grpSpPr>
          <p:sp>
            <p:nvSpPr>
              <p:cNvPr id="76" name="Rechteck 75">
                <a:extLst>
                  <a:ext uri="{FF2B5EF4-FFF2-40B4-BE49-F238E27FC236}">
                    <a16:creationId xmlns:a16="http://schemas.microsoft.com/office/drawing/2014/main" id="{97E69C40-A60C-E005-1295-BBF8C82D2C6C}"/>
                  </a:ext>
                </a:extLst>
              </p:cNvPr>
              <p:cNvSpPr/>
              <p:nvPr/>
            </p:nvSpPr>
            <p:spPr>
              <a:xfrm>
                <a:off x="1774900" y="751515"/>
                <a:ext cx="1137181" cy="56859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FFFE22EB-C068-91A9-2337-5B083850636D}"/>
                  </a:ext>
                </a:extLst>
              </p:cNvPr>
              <p:cNvSpPr txBox="1"/>
              <p:nvPr/>
            </p:nvSpPr>
            <p:spPr>
              <a:xfrm>
                <a:off x="1774900" y="751515"/>
                <a:ext cx="1137181" cy="56859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350" tIns="6350" rIns="6350" bIns="6350" numCol="1" spcCol="1270" anchor="ctr" anchorCtr="0">
                <a:noAutofit/>
              </a:bodyPr>
              <a:lstStyle/>
              <a:p>
                <a:pPr lvl="0"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de-DE" sz="1000" b="1" kern="1200" dirty="0">
                    <a:solidFill>
                      <a:schemeClr val="tx1"/>
                    </a:solidFill>
                  </a:rPr>
                  <a:t>Teilprojekt B</a:t>
                </a:r>
              </a:p>
            </p:txBody>
          </p:sp>
        </p:grpSp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6362420E-E3D9-9A69-F2DD-368E4759AA60}"/>
                </a:ext>
              </a:extLst>
            </p:cNvPr>
            <p:cNvGrpSpPr/>
            <p:nvPr/>
          </p:nvGrpSpPr>
          <p:grpSpPr>
            <a:xfrm>
              <a:off x="1617902" y="2807965"/>
              <a:ext cx="792088" cy="617948"/>
              <a:chOff x="1255720" y="1651197"/>
              <a:chExt cx="1137181" cy="617948"/>
            </a:xfrm>
          </p:grpSpPr>
          <p:sp>
            <p:nvSpPr>
              <p:cNvPr id="74" name="Rechteck 73">
                <a:extLst>
                  <a:ext uri="{FF2B5EF4-FFF2-40B4-BE49-F238E27FC236}">
                    <a16:creationId xmlns:a16="http://schemas.microsoft.com/office/drawing/2014/main" id="{C85F2748-6FBC-D745-F571-A0C9476981F7}"/>
                  </a:ext>
                </a:extLst>
              </p:cNvPr>
              <p:cNvSpPr/>
              <p:nvPr/>
            </p:nvSpPr>
            <p:spPr>
              <a:xfrm>
                <a:off x="1255720" y="1651197"/>
                <a:ext cx="1137181" cy="568590"/>
              </a:xfrm>
              <a:prstGeom prst="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5" name="Textfeld 74">
                <a:extLst>
                  <a:ext uri="{FF2B5EF4-FFF2-40B4-BE49-F238E27FC236}">
                    <a16:creationId xmlns:a16="http://schemas.microsoft.com/office/drawing/2014/main" id="{EC3D4010-FDEA-9CEC-FC90-D593E308DA2D}"/>
                  </a:ext>
                </a:extLst>
              </p:cNvPr>
              <p:cNvSpPr txBox="1"/>
              <p:nvPr/>
            </p:nvSpPr>
            <p:spPr>
              <a:xfrm>
                <a:off x="1255720" y="1700555"/>
                <a:ext cx="1137181" cy="56859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7000"/>
                    </a:schemeClr>
                  </a:gs>
                  <a:gs pos="48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350" tIns="6350" rIns="6350" bIns="6350" numCol="1" spcCol="1270" anchor="ctr" anchorCtr="0">
                <a:noAutofit/>
              </a:bodyPr>
              <a:lstStyle/>
              <a:p>
                <a:pPr lvl="0"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de-DE" sz="1000" kern="1200" dirty="0"/>
                  <a:t>Aufgabe</a:t>
                </a:r>
              </a:p>
              <a:p>
                <a:pPr lvl="0"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de-DE" sz="1000" dirty="0"/>
                  <a:t>A2</a:t>
                </a:r>
                <a:endParaRPr lang="de-DE" sz="1000" kern="1200" dirty="0"/>
              </a:p>
            </p:txBody>
          </p:sp>
        </p:grp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C22D8E9D-2D06-B98F-1988-4AE54EA93329}"/>
                </a:ext>
              </a:extLst>
            </p:cNvPr>
            <p:cNvSpPr/>
            <p:nvPr/>
          </p:nvSpPr>
          <p:spPr>
            <a:xfrm>
              <a:off x="3603266" y="1015814"/>
              <a:ext cx="1889565" cy="568590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lang="de-DE" dirty="0"/>
                <a:t>Gesamtprojekt</a:t>
              </a:r>
            </a:p>
          </p:txBody>
        </p: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1D546D68-644B-2DB8-C530-29D60CD8CAD3}"/>
                </a:ext>
              </a:extLst>
            </p:cNvPr>
            <p:cNvCxnSpPr/>
            <p:nvPr/>
          </p:nvCxnSpPr>
          <p:spPr>
            <a:xfrm flipH="1">
              <a:off x="4553267" y="1490423"/>
              <a:ext cx="1" cy="26200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9C80C8-5A4C-0F7E-6BDF-0900D276E558}"/>
                </a:ext>
              </a:extLst>
            </p:cNvPr>
            <p:cNvCxnSpPr/>
            <p:nvPr/>
          </p:nvCxnSpPr>
          <p:spPr>
            <a:xfrm flipV="1">
              <a:off x="7449424" y="1745860"/>
              <a:ext cx="0" cy="274706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7D42F158-D8AE-9EFF-4981-DDD304A726ED}"/>
                </a:ext>
              </a:extLst>
            </p:cNvPr>
            <p:cNvCxnSpPr/>
            <p:nvPr/>
          </p:nvCxnSpPr>
          <p:spPr>
            <a:xfrm>
              <a:off x="1917973" y="1725349"/>
              <a:ext cx="5541720" cy="27083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377BBD33-7ECA-90AA-FDDB-1A45277E6AFF}"/>
                </a:ext>
              </a:extLst>
            </p:cNvPr>
            <p:cNvCxnSpPr/>
            <p:nvPr/>
          </p:nvCxnSpPr>
          <p:spPr>
            <a:xfrm>
              <a:off x="687775" y="3399683"/>
              <a:ext cx="0" cy="2174966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0DCFDD98-7700-5210-2BAF-C78082296585}"/>
                </a:ext>
              </a:extLst>
            </p:cNvPr>
            <p:cNvGrpSpPr/>
            <p:nvPr/>
          </p:nvGrpSpPr>
          <p:grpSpPr>
            <a:xfrm>
              <a:off x="821607" y="1973948"/>
              <a:ext cx="2384677" cy="568590"/>
              <a:chOff x="1774900" y="751515"/>
              <a:chExt cx="1137181" cy="568590"/>
            </a:xfrm>
          </p:grpSpPr>
          <p:sp>
            <p:nvSpPr>
              <p:cNvPr id="72" name="Rechteck 71">
                <a:extLst>
                  <a:ext uri="{FF2B5EF4-FFF2-40B4-BE49-F238E27FC236}">
                    <a16:creationId xmlns:a16="http://schemas.microsoft.com/office/drawing/2014/main" id="{04F4FE40-86A7-9125-F99B-CCBD87C3DAB4}"/>
                  </a:ext>
                </a:extLst>
              </p:cNvPr>
              <p:cNvSpPr/>
              <p:nvPr/>
            </p:nvSpPr>
            <p:spPr>
              <a:xfrm>
                <a:off x="1774900" y="751515"/>
                <a:ext cx="1137181" cy="56859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3" name="Textfeld 72">
                <a:extLst>
                  <a:ext uri="{FF2B5EF4-FFF2-40B4-BE49-F238E27FC236}">
                    <a16:creationId xmlns:a16="http://schemas.microsoft.com/office/drawing/2014/main" id="{3A892D6B-0197-DFA6-EE90-293B2EDB7A44}"/>
                  </a:ext>
                </a:extLst>
              </p:cNvPr>
              <p:cNvSpPr txBox="1"/>
              <p:nvPr/>
            </p:nvSpPr>
            <p:spPr>
              <a:xfrm>
                <a:off x="1774900" y="751515"/>
                <a:ext cx="1137181" cy="56859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350" tIns="6350" rIns="6350" bIns="6350" numCol="1" spcCol="1270" anchor="ctr" anchorCtr="0">
                <a:noAutofit/>
              </a:bodyPr>
              <a:lstStyle/>
              <a:p>
                <a:pPr lvl="0"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de-DE" sz="1000" b="1" kern="1200" dirty="0">
                    <a:solidFill>
                      <a:schemeClr val="tx1"/>
                    </a:solidFill>
                  </a:rPr>
                  <a:t>Teilprojekt A</a:t>
                </a:r>
              </a:p>
            </p:txBody>
          </p:sp>
        </p:grp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5DD5F68A-7B93-46A6-16FA-3A5E94CAA026}"/>
                </a:ext>
              </a:extLst>
            </p:cNvPr>
            <p:cNvCxnSpPr/>
            <p:nvPr/>
          </p:nvCxnSpPr>
          <p:spPr>
            <a:xfrm flipV="1">
              <a:off x="1905427" y="1716172"/>
              <a:ext cx="4554" cy="274706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46D76937-C3F5-8E34-32F0-0B5B24473268}"/>
                </a:ext>
              </a:extLst>
            </p:cNvPr>
            <p:cNvGrpSpPr/>
            <p:nvPr/>
          </p:nvGrpSpPr>
          <p:grpSpPr>
            <a:xfrm>
              <a:off x="687775" y="2807965"/>
              <a:ext cx="792088" cy="617948"/>
              <a:chOff x="1255720" y="1651197"/>
              <a:chExt cx="1137181" cy="617948"/>
            </a:xfrm>
          </p:grpSpPr>
          <p:sp>
            <p:nvSpPr>
              <p:cNvPr id="70" name="Rechteck 69">
                <a:extLst>
                  <a:ext uri="{FF2B5EF4-FFF2-40B4-BE49-F238E27FC236}">
                    <a16:creationId xmlns:a16="http://schemas.microsoft.com/office/drawing/2014/main" id="{FA56C794-C7C6-271A-2588-B34C2BF1AE07}"/>
                  </a:ext>
                </a:extLst>
              </p:cNvPr>
              <p:cNvSpPr/>
              <p:nvPr/>
            </p:nvSpPr>
            <p:spPr>
              <a:xfrm>
                <a:off x="1255720" y="1651197"/>
                <a:ext cx="1137181" cy="568590"/>
              </a:xfrm>
              <a:prstGeom prst="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1" name="Textfeld 70">
                <a:extLst>
                  <a:ext uri="{FF2B5EF4-FFF2-40B4-BE49-F238E27FC236}">
                    <a16:creationId xmlns:a16="http://schemas.microsoft.com/office/drawing/2014/main" id="{4A763238-748F-3635-09D7-952A9F1A2F03}"/>
                  </a:ext>
                </a:extLst>
              </p:cNvPr>
              <p:cNvSpPr txBox="1"/>
              <p:nvPr/>
            </p:nvSpPr>
            <p:spPr>
              <a:xfrm>
                <a:off x="1255720" y="1700555"/>
                <a:ext cx="1137181" cy="56859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7000"/>
                    </a:schemeClr>
                  </a:gs>
                  <a:gs pos="48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350" tIns="6350" rIns="6350" bIns="6350" numCol="1" spcCol="1270" anchor="ctr" anchorCtr="0">
                <a:noAutofit/>
              </a:bodyPr>
              <a:lstStyle/>
              <a:p>
                <a:pPr lvl="0"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de-DE" sz="1000" kern="1200" dirty="0"/>
                  <a:t>Aufgabe</a:t>
                </a:r>
              </a:p>
              <a:p>
                <a:pPr lvl="0"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de-DE" sz="1000" dirty="0"/>
                  <a:t>A1</a:t>
                </a:r>
                <a:endParaRPr lang="de-DE" sz="1000" kern="1200" dirty="0"/>
              </a:p>
            </p:txBody>
          </p:sp>
        </p:grpSp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2C6ACA85-0258-EC27-474D-718DAC76579E}"/>
                </a:ext>
              </a:extLst>
            </p:cNvPr>
            <p:cNvGrpSpPr/>
            <p:nvPr/>
          </p:nvGrpSpPr>
          <p:grpSpPr>
            <a:xfrm>
              <a:off x="7975600" y="2815788"/>
              <a:ext cx="792088" cy="617948"/>
              <a:chOff x="1255720" y="1651197"/>
              <a:chExt cx="1137181" cy="617948"/>
            </a:xfrm>
          </p:grpSpPr>
          <p:sp>
            <p:nvSpPr>
              <p:cNvPr id="68" name="Rechteck 67">
                <a:extLst>
                  <a:ext uri="{FF2B5EF4-FFF2-40B4-BE49-F238E27FC236}">
                    <a16:creationId xmlns:a16="http://schemas.microsoft.com/office/drawing/2014/main" id="{46BB8BF7-CE36-BD6F-9B80-DCA6761907D1}"/>
                  </a:ext>
                </a:extLst>
              </p:cNvPr>
              <p:cNvSpPr/>
              <p:nvPr/>
            </p:nvSpPr>
            <p:spPr>
              <a:xfrm>
                <a:off x="1255720" y="1651197"/>
                <a:ext cx="1137181" cy="568590"/>
              </a:xfrm>
              <a:prstGeom prst="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9" name="Textfeld 68">
                <a:extLst>
                  <a:ext uri="{FF2B5EF4-FFF2-40B4-BE49-F238E27FC236}">
                    <a16:creationId xmlns:a16="http://schemas.microsoft.com/office/drawing/2014/main" id="{994885DE-00BE-9455-3DF1-ABFF50DD23FA}"/>
                  </a:ext>
                </a:extLst>
              </p:cNvPr>
              <p:cNvSpPr txBox="1"/>
              <p:nvPr/>
            </p:nvSpPr>
            <p:spPr>
              <a:xfrm>
                <a:off x="1255720" y="1700555"/>
                <a:ext cx="1137181" cy="56859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7000"/>
                    </a:schemeClr>
                  </a:gs>
                  <a:gs pos="48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350" tIns="6350" rIns="6350" bIns="6350" numCol="1" spcCol="1270" anchor="ctr" anchorCtr="0">
                <a:noAutofit/>
              </a:bodyPr>
              <a:lstStyle/>
              <a:p>
                <a:pPr lvl="0"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de-DE" sz="1000" kern="1200" dirty="0"/>
                  <a:t>Aufgabe</a:t>
                </a:r>
              </a:p>
              <a:p>
                <a:pPr lvl="0"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de-DE" sz="1000" dirty="0"/>
                  <a:t>B3</a:t>
                </a:r>
                <a:endParaRPr lang="de-DE" sz="1000" kern="1200" dirty="0"/>
              </a:p>
            </p:txBody>
          </p:sp>
        </p:grpSp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84741E53-E247-B2B2-24A2-EB0EB2EECD56}"/>
                </a:ext>
              </a:extLst>
            </p:cNvPr>
            <p:cNvGrpSpPr/>
            <p:nvPr/>
          </p:nvGrpSpPr>
          <p:grpSpPr>
            <a:xfrm>
              <a:off x="6152061" y="2832644"/>
              <a:ext cx="792088" cy="617948"/>
              <a:chOff x="1255720" y="1651197"/>
              <a:chExt cx="1137181" cy="617948"/>
            </a:xfrm>
          </p:grpSpPr>
          <p:sp>
            <p:nvSpPr>
              <p:cNvPr id="66" name="Rechteck 65">
                <a:extLst>
                  <a:ext uri="{FF2B5EF4-FFF2-40B4-BE49-F238E27FC236}">
                    <a16:creationId xmlns:a16="http://schemas.microsoft.com/office/drawing/2014/main" id="{7C7207D8-F609-E8D9-0353-D2B2092DE92C}"/>
                  </a:ext>
                </a:extLst>
              </p:cNvPr>
              <p:cNvSpPr/>
              <p:nvPr/>
            </p:nvSpPr>
            <p:spPr>
              <a:xfrm>
                <a:off x="1255720" y="1651197"/>
                <a:ext cx="1137181" cy="568590"/>
              </a:xfrm>
              <a:prstGeom prst="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7" name="Textfeld 66">
                <a:extLst>
                  <a:ext uri="{FF2B5EF4-FFF2-40B4-BE49-F238E27FC236}">
                    <a16:creationId xmlns:a16="http://schemas.microsoft.com/office/drawing/2014/main" id="{C5450E1B-9C63-E526-06C9-EA02E4DC5679}"/>
                  </a:ext>
                </a:extLst>
              </p:cNvPr>
              <p:cNvSpPr txBox="1"/>
              <p:nvPr/>
            </p:nvSpPr>
            <p:spPr>
              <a:xfrm>
                <a:off x="1255720" y="1700555"/>
                <a:ext cx="1137181" cy="56859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7000"/>
                    </a:schemeClr>
                  </a:gs>
                  <a:gs pos="48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350" tIns="6350" rIns="6350" bIns="6350" numCol="1" spcCol="1270" anchor="ctr" anchorCtr="0">
                <a:noAutofit/>
              </a:bodyPr>
              <a:lstStyle/>
              <a:p>
                <a:pPr lvl="0"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de-DE" sz="1000" kern="1200" dirty="0"/>
                  <a:t>Aufgabe</a:t>
                </a:r>
              </a:p>
              <a:p>
                <a:pPr lvl="0"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de-DE" sz="1000" dirty="0"/>
                  <a:t>B1</a:t>
                </a:r>
                <a:endParaRPr lang="de-DE" sz="1000" kern="1200" dirty="0"/>
              </a:p>
            </p:txBody>
          </p:sp>
        </p:grpSp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1F9B7773-B80A-187F-C7FB-BED1DBEC5AFA}"/>
                </a:ext>
              </a:extLst>
            </p:cNvPr>
            <p:cNvGrpSpPr/>
            <p:nvPr/>
          </p:nvGrpSpPr>
          <p:grpSpPr>
            <a:xfrm>
              <a:off x="2548029" y="2802154"/>
              <a:ext cx="792088" cy="617948"/>
              <a:chOff x="1255720" y="1651197"/>
              <a:chExt cx="1137181" cy="617948"/>
            </a:xfrm>
          </p:grpSpPr>
          <p:sp>
            <p:nvSpPr>
              <p:cNvPr id="64" name="Rechteck 63">
                <a:extLst>
                  <a:ext uri="{FF2B5EF4-FFF2-40B4-BE49-F238E27FC236}">
                    <a16:creationId xmlns:a16="http://schemas.microsoft.com/office/drawing/2014/main" id="{DBB73973-C5EF-B8D1-C1DE-E0FB00785FBE}"/>
                  </a:ext>
                </a:extLst>
              </p:cNvPr>
              <p:cNvSpPr/>
              <p:nvPr/>
            </p:nvSpPr>
            <p:spPr>
              <a:xfrm>
                <a:off x="1255720" y="1651197"/>
                <a:ext cx="1137181" cy="568590"/>
              </a:xfrm>
              <a:prstGeom prst="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5" name="Textfeld 64">
                <a:extLst>
                  <a:ext uri="{FF2B5EF4-FFF2-40B4-BE49-F238E27FC236}">
                    <a16:creationId xmlns:a16="http://schemas.microsoft.com/office/drawing/2014/main" id="{88CA5601-9C1E-DA8C-71E1-72D1C34D4D1D}"/>
                  </a:ext>
                </a:extLst>
              </p:cNvPr>
              <p:cNvSpPr txBox="1"/>
              <p:nvPr/>
            </p:nvSpPr>
            <p:spPr>
              <a:xfrm>
                <a:off x="1255720" y="1700555"/>
                <a:ext cx="1137181" cy="56859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7000"/>
                    </a:schemeClr>
                  </a:gs>
                  <a:gs pos="48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350" tIns="6350" rIns="6350" bIns="6350" numCol="1" spcCol="1270" anchor="ctr" anchorCtr="0">
                <a:noAutofit/>
              </a:bodyPr>
              <a:lstStyle/>
              <a:p>
                <a:pPr lvl="0"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de-DE" sz="1000" kern="1200" dirty="0"/>
                  <a:t>Aufgabe</a:t>
                </a:r>
              </a:p>
              <a:p>
                <a:pPr lvl="0"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de-DE" sz="1000" dirty="0"/>
                  <a:t>A3</a:t>
                </a:r>
                <a:endParaRPr lang="de-DE" sz="1000" kern="1200" dirty="0"/>
              </a:p>
            </p:txBody>
          </p:sp>
        </p:grpSp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389934EC-97C8-3B17-2BD6-99492765FAA8}"/>
                </a:ext>
              </a:extLst>
            </p:cNvPr>
            <p:cNvGrpSpPr/>
            <p:nvPr/>
          </p:nvGrpSpPr>
          <p:grpSpPr>
            <a:xfrm>
              <a:off x="7063650" y="2832644"/>
              <a:ext cx="792088" cy="617948"/>
              <a:chOff x="1255720" y="1651197"/>
              <a:chExt cx="1137181" cy="617948"/>
            </a:xfrm>
          </p:grpSpPr>
          <p:sp>
            <p:nvSpPr>
              <p:cNvPr id="62" name="Rechteck 61">
                <a:extLst>
                  <a:ext uri="{FF2B5EF4-FFF2-40B4-BE49-F238E27FC236}">
                    <a16:creationId xmlns:a16="http://schemas.microsoft.com/office/drawing/2014/main" id="{DBCF5F37-173E-E582-5961-8FBAD663E0ED}"/>
                  </a:ext>
                </a:extLst>
              </p:cNvPr>
              <p:cNvSpPr/>
              <p:nvPr/>
            </p:nvSpPr>
            <p:spPr>
              <a:xfrm>
                <a:off x="1255720" y="1651197"/>
                <a:ext cx="1137181" cy="568590"/>
              </a:xfrm>
              <a:prstGeom prst="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3" name="Textfeld 62">
                <a:extLst>
                  <a:ext uri="{FF2B5EF4-FFF2-40B4-BE49-F238E27FC236}">
                    <a16:creationId xmlns:a16="http://schemas.microsoft.com/office/drawing/2014/main" id="{1F7B8F00-7B82-FBB5-3D97-0F3BF9AD8AD0}"/>
                  </a:ext>
                </a:extLst>
              </p:cNvPr>
              <p:cNvSpPr txBox="1"/>
              <p:nvPr/>
            </p:nvSpPr>
            <p:spPr>
              <a:xfrm>
                <a:off x="1255720" y="1700555"/>
                <a:ext cx="1137181" cy="56859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7000"/>
                    </a:schemeClr>
                  </a:gs>
                  <a:gs pos="48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350" tIns="6350" rIns="6350" bIns="6350" numCol="1" spcCol="1270" anchor="ctr" anchorCtr="0">
                <a:noAutofit/>
              </a:bodyPr>
              <a:lstStyle/>
              <a:p>
                <a:pPr lvl="0"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de-DE" sz="1000" kern="1200" dirty="0"/>
                  <a:t>Aufgabe</a:t>
                </a:r>
              </a:p>
              <a:p>
                <a:pPr lvl="0"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de-DE" sz="1000" dirty="0"/>
                  <a:t>B2</a:t>
                </a:r>
                <a:endParaRPr lang="de-DE" sz="1000" kern="1200" dirty="0"/>
              </a:p>
            </p:txBody>
          </p:sp>
        </p:grpSp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E718B86A-8689-D4DA-374A-CFB240E47D52}"/>
                </a:ext>
              </a:extLst>
            </p:cNvPr>
            <p:cNvCxnSpPr/>
            <p:nvPr/>
          </p:nvCxnSpPr>
          <p:spPr>
            <a:xfrm>
              <a:off x="1617902" y="3420102"/>
              <a:ext cx="0" cy="1554192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DA10797A-8982-849E-DE1A-85D2E2CC186A}"/>
                </a:ext>
              </a:extLst>
            </p:cNvPr>
            <p:cNvCxnSpPr/>
            <p:nvPr/>
          </p:nvCxnSpPr>
          <p:spPr>
            <a:xfrm>
              <a:off x="2556419" y="3433736"/>
              <a:ext cx="2402" cy="97069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10825D41-8338-D8B6-1590-8E2BFC003D06}"/>
                </a:ext>
              </a:extLst>
            </p:cNvPr>
            <p:cNvCxnSpPr/>
            <p:nvPr/>
          </p:nvCxnSpPr>
          <p:spPr>
            <a:xfrm>
              <a:off x="6152061" y="3420102"/>
              <a:ext cx="0" cy="1554192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A555A145-185B-E9EB-55D5-16DC6A2AA527}"/>
                </a:ext>
              </a:extLst>
            </p:cNvPr>
            <p:cNvCxnSpPr/>
            <p:nvPr/>
          </p:nvCxnSpPr>
          <p:spPr>
            <a:xfrm>
              <a:off x="7099881" y="3433735"/>
              <a:ext cx="11025" cy="97069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2EA3D3FA-CE9C-BA69-36E0-7D6E8DFD1085}"/>
                </a:ext>
              </a:extLst>
            </p:cNvPr>
            <p:cNvCxnSpPr/>
            <p:nvPr/>
          </p:nvCxnSpPr>
          <p:spPr>
            <a:xfrm flipH="1">
              <a:off x="7975600" y="3433736"/>
              <a:ext cx="12461" cy="2140913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595CC201-C1EA-EAE3-282C-17016FA3C929}"/>
                </a:ext>
              </a:extLst>
            </p:cNvPr>
            <p:cNvSpPr txBox="1"/>
            <p:nvPr/>
          </p:nvSpPr>
          <p:spPr>
            <a:xfrm>
              <a:off x="853656" y="4186183"/>
              <a:ext cx="625330" cy="437345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kern="1200" dirty="0"/>
                <a:t>AP</a:t>
              </a:r>
            </a:p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dirty="0"/>
                <a:t>A1.2</a:t>
              </a:r>
              <a:endParaRPr lang="de-DE" sz="1000" kern="1200" dirty="0"/>
            </a:p>
          </p:txBody>
        </p: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78294ECE-7191-6A06-1C37-4E9811C22080}"/>
                </a:ext>
              </a:extLst>
            </p:cNvPr>
            <p:cNvSpPr txBox="1"/>
            <p:nvPr/>
          </p:nvSpPr>
          <p:spPr>
            <a:xfrm>
              <a:off x="1790376" y="3616742"/>
              <a:ext cx="625330" cy="437345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kern="1200" dirty="0"/>
                <a:t>AP</a:t>
              </a:r>
            </a:p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dirty="0"/>
                <a:t>A2.1</a:t>
              </a:r>
              <a:endParaRPr lang="de-DE" sz="1000" kern="1200" dirty="0"/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3E95B1E4-ED90-9A10-B1C1-092379D17068}"/>
                </a:ext>
              </a:extLst>
            </p:cNvPr>
            <p:cNvSpPr txBox="1"/>
            <p:nvPr/>
          </p:nvSpPr>
          <p:spPr>
            <a:xfrm>
              <a:off x="2702070" y="3616742"/>
              <a:ext cx="625330" cy="437345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kern="1200" dirty="0"/>
                <a:t>AP</a:t>
              </a:r>
            </a:p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dirty="0"/>
                <a:t>A3.1</a:t>
              </a:r>
              <a:endParaRPr lang="de-DE" sz="1000" kern="1200" dirty="0"/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4C50551-B7E8-F0FF-0BBE-5F81CFE2294A}"/>
                </a:ext>
              </a:extLst>
            </p:cNvPr>
            <p:cNvSpPr txBox="1"/>
            <p:nvPr/>
          </p:nvSpPr>
          <p:spPr>
            <a:xfrm>
              <a:off x="853656" y="4755624"/>
              <a:ext cx="625330" cy="437345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kern="1200" dirty="0"/>
                <a:t>AP</a:t>
              </a:r>
            </a:p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dirty="0"/>
                <a:t>A1.3</a:t>
              </a:r>
              <a:endParaRPr lang="de-DE" sz="1000" kern="1200" dirty="0"/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8592C82F-1BDC-42DB-7013-BDF1B258F897}"/>
                </a:ext>
              </a:extLst>
            </p:cNvPr>
            <p:cNvSpPr txBox="1"/>
            <p:nvPr/>
          </p:nvSpPr>
          <p:spPr>
            <a:xfrm>
              <a:off x="1783489" y="4755624"/>
              <a:ext cx="625330" cy="437345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kern="1200" dirty="0"/>
                <a:t>AP</a:t>
              </a:r>
            </a:p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dirty="0"/>
                <a:t>A2.3</a:t>
              </a:r>
              <a:endParaRPr lang="de-DE" sz="1000" kern="1200" dirty="0"/>
            </a:p>
          </p:txBody>
        </p:sp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89906E01-930E-18A7-57AD-B54CBFAD7B3E}"/>
                </a:ext>
              </a:extLst>
            </p:cNvPr>
            <p:cNvSpPr txBox="1"/>
            <p:nvPr/>
          </p:nvSpPr>
          <p:spPr>
            <a:xfrm>
              <a:off x="1790376" y="4186183"/>
              <a:ext cx="625330" cy="437345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kern="1200" dirty="0"/>
                <a:t>AP</a:t>
              </a:r>
            </a:p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dirty="0"/>
                <a:t>A2.2</a:t>
              </a:r>
              <a:endParaRPr lang="de-DE" sz="1000" kern="1200" dirty="0"/>
            </a:p>
          </p:txBody>
        </p: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EE225D17-6605-DC31-8E37-B273E6405F79}"/>
                </a:ext>
              </a:extLst>
            </p:cNvPr>
            <p:cNvSpPr txBox="1"/>
            <p:nvPr/>
          </p:nvSpPr>
          <p:spPr>
            <a:xfrm>
              <a:off x="2702070" y="4186184"/>
              <a:ext cx="625330" cy="437345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kern="1200" dirty="0"/>
                <a:t>AP</a:t>
              </a:r>
            </a:p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dirty="0"/>
                <a:t>A3.2</a:t>
              </a:r>
              <a:endParaRPr lang="de-DE" sz="1000" kern="1200" dirty="0"/>
            </a:p>
          </p:txBody>
        </p: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11C0709E-C25B-2B5D-3732-47861EE0B262}"/>
                </a:ext>
              </a:extLst>
            </p:cNvPr>
            <p:cNvSpPr txBox="1"/>
            <p:nvPr/>
          </p:nvSpPr>
          <p:spPr>
            <a:xfrm>
              <a:off x="6318819" y="4192310"/>
              <a:ext cx="625330" cy="437345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kern="1200" dirty="0"/>
                <a:t>AP</a:t>
              </a:r>
            </a:p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dirty="0"/>
                <a:t>B1.2</a:t>
              </a:r>
              <a:endParaRPr lang="de-DE" sz="1000" kern="1200" dirty="0"/>
            </a:p>
          </p:txBody>
        </p: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51F43269-C03A-FB33-9C5D-D1C105683767}"/>
                </a:ext>
              </a:extLst>
            </p:cNvPr>
            <p:cNvSpPr txBox="1"/>
            <p:nvPr/>
          </p:nvSpPr>
          <p:spPr>
            <a:xfrm>
              <a:off x="6318819" y="3609223"/>
              <a:ext cx="625330" cy="437345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kern="1200" dirty="0"/>
                <a:t>AP</a:t>
              </a:r>
            </a:p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dirty="0"/>
                <a:t>B1.1</a:t>
              </a:r>
              <a:endParaRPr lang="de-DE" sz="1000" kern="1200" dirty="0"/>
            </a:p>
          </p:txBody>
        </p: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070496CD-0A5A-176D-14F6-F0F48EB7E4E3}"/>
                </a:ext>
              </a:extLst>
            </p:cNvPr>
            <p:cNvSpPr txBox="1"/>
            <p:nvPr/>
          </p:nvSpPr>
          <p:spPr>
            <a:xfrm>
              <a:off x="837725" y="3609513"/>
              <a:ext cx="625330" cy="437345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kern="1200" dirty="0"/>
                <a:t>AP</a:t>
              </a:r>
            </a:p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dirty="0"/>
                <a:t>A1.1</a:t>
              </a:r>
              <a:endParaRPr lang="de-DE" sz="1000" kern="1200" dirty="0"/>
            </a:p>
          </p:txBody>
        </p: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CC6F2BF5-24DC-DEC5-6D36-FCD4051D2D22}"/>
                </a:ext>
              </a:extLst>
            </p:cNvPr>
            <p:cNvSpPr txBox="1"/>
            <p:nvPr/>
          </p:nvSpPr>
          <p:spPr>
            <a:xfrm>
              <a:off x="853656" y="5355978"/>
              <a:ext cx="625330" cy="437345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kern="1200" dirty="0"/>
                <a:t>AP</a:t>
              </a:r>
            </a:p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dirty="0"/>
                <a:t>A1.4</a:t>
              </a:r>
              <a:endParaRPr lang="de-DE" sz="1000" kern="1200" dirty="0"/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B9AAC472-B1EE-A353-C598-0E78108AED75}"/>
                </a:ext>
              </a:extLst>
            </p:cNvPr>
            <p:cNvSpPr txBox="1"/>
            <p:nvPr/>
          </p:nvSpPr>
          <p:spPr>
            <a:xfrm>
              <a:off x="8142909" y="4186182"/>
              <a:ext cx="625330" cy="437345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kern="1200" dirty="0"/>
                <a:t>AP</a:t>
              </a:r>
            </a:p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dirty="0"/>
                <a:t>B3.2</a:t>
              </a:r>
              <a:endParaRPr lang="de-DE" sz="1000" kern="1200" dirty="0"/>
            </a:p>
          </p:txBody>
        </p: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562D0184-D6D1-3867-518B-DB1938ECA208}"/>
                </a:ext>
              </a:extLst>
            </p:cNvPr>
            <p:cNvSpPr txBox="1"/>
            <p:nvPr/>
          </p:nvSpPr>
          <p:spPr>
            <a:xfrm>
              <a:off x="8142358" y="3604064"/>
              <a:ext cx="625330" cy="437345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kern="1200" dirty="0"/>
                <a:t>AP</a:t>
              </a:r>
            </a:p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dirty="0"/>
                <a:t>B3.1</a:t>
              </a:r>
              <a:endParaRPr lang="de-DE" sz="1000" kern="1200" dirty="0"/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438C6E7F-C9C3-FB6E-BC8D-5A2764721692}"/>
                </a:ext>
              </a:extLst>
            </p:cNvPr>
            <p:cNvSpPr txBox="1"/>
            <p:nvPr/>
          </p:nvSpPr>
          <p:spPr>
            <a:xfrm>
              <a:off x="8142358" y="4755622"/>
              <a:ext cx="625330" cy="437345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kern="1200" dirty="0"/>
                <a:t>AP</a:t>
              </a:r>
            </a:p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dirty="0"/>
                <a:t>B3.3</a:t>
              </a:r>
              <a:endParaRPr lang="de-DE" sz="1000" kern="1200" dirty="0"/>
            </a:p>
          </p:txBody>
        </p: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E576C197-8E7D-90BB-5E93-A134C7267B3C}"/>
                </a:ext>
              </a:extLst>
            </p:cNvPr>
            <p:cNvSpPr txBox="1"/>
            <p:nvPr/>
          </p:nvSpPr>
          <p:spPr>
            <a:xfrm>
              <a:off x="6327245" y="4755623"/>
              <a:ext cx="625330" cy="437345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kern="1200" dirty="0"/>
                <a:t>AP</a:t>
              </a:r>
            </a:p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dirty="0"/>
                <a:t>B1.3</a:t>
              </a:r>
              <a:endParaRPr lang="de-DE" sz="1000" kern="1200" dirty="0"/>
            </a:p>
          </p:txBody>
        </p: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97575B5F-1489-60CC-F1BB-42E03B419238}"/>
                </a:ext>
              </a:extLst>
            </p:cNvPr>
            <p:cNvSpPr txBox="1"/>
            <p:nvPr/>
          </p:nvSpPr>
          <p:spPr>
            <a:xfrm>
              <a:off x="7234741" y="4185762"/>
              <a:ext cx="625330" cy="437345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kern="1200" dirty="0"/>
                <a:t>AP</a:t>
              </a:r>
            </a:p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dirty="0"/>
                <a:t>B2.2</a:t>
              </a:r>
              <a:endParaRPr lang="de-DE" sz="1000" kern="1200" dirty="0"/>
            </a:p>
          </p:txBody>
        </p: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1274FB45-626D-970B-7659-83BDE338B97D}"/>
                </a:ext>
              </a:extLst>
            </p:cNvPr>
            <p:cNvSpPr txBox="1"/>
            <p:nvPr/>
          </p:nvSpPr>
          <p:spPr>
            <a:xfrm>
              <a:off x="7234741" y="3604064"/>
              <a:ext cx="625330" cy="437345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kern="1200" dirty="0"/>
                <a:t>AP</a:t>
              </a:r>
            </a:p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dirty="0"/>
                <a:t>B2.1</a:t>
              </a:r>
              <a:endParaRPr lang="de-DE" sz="1000" kern="1200" dirty="0"/>
            </a:p>
          </p:txBody>
        </p:sp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4FE2EE54-5B48-9B94-D28F-2012D9CF8AA4}"/>
                </a:ext>
              </a:extLst>
            </p:cNvPr>
            <p:cNvSpPr txBox="1"/>
            <p:nvPr/>
          </p:nvSpPr>
          <p:spPr>
            <a:xfrm>
              <a:off x="8142358" y="5355977"/>
              <a:ext cx="625330" cy="437345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kern="1200" dirty="0"/>
                <a:t>AP</a:t>
              </a:r>
            </a:p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000" dirty="0"/>
                <a:t>B3.4</a:t>
              </a:r>
              <a:endParaRPr lang="de-DE" sz="1000" kern="1200" dirty="0"/>
            </a:p>
          </p:txBody>
        </p:sp>
        <p:cxnSp>
          <p:nvCxnSpPr>
            <p:cNvPr id="46" name="Gerader Verbinder 45">
              <a:extLst>
                <a:ext uri="{FF2B5EF4-FFF2-40B4-BE49-F238E27FC236}">
                  <a16:creationId xmlns:a16="http://schemas.microsoft.com/office/drawing/2014/main" id="{F069E686-B343-7F2B-4275-583E04327FCF}"/>
                </a:ext>
              </a:extLst>
            </p:cNvPr>
            <p:cNvCxnSpPr/>
            <p:nvPr/>
          </p:nvCxnSpPr>
          <p:spPr>
            <a:xfrm>
              <a:off x="701251" y="3824161"/>
              <a:ext cx="14401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90D0C0C5-821C-968D-AD4D-CD5C8CA8C80F}"/>
                </a:ext>
              </a:extLst>
            </p:cNvPr>
            <p:cNvCxnSpPr/>
            <p:nvPr/>
          </p:nvCxnSpPr>
          <p:spPr>
            <a:xfrm>
              <a:off x="1637971" y="4410982"/>
              <a:ext cx="14401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r Verbinder 47">
              <a:extLst>
                <a:ext uri="{FF2B5EF4-FFF2-40B4-BE49-F238E27FC236}">
                  <a16:creationId xmlns:a16="http://schemas.microsoft.com/office/drawing/2014/main" id="{1FA6DC33-876D-FAC5-EE06-85E3F2837634}"/>
                </a:ext>
              </a:extLst>
            </p:cNvPr>
            <p:cNvCxnSpPr/>
            <p:nvPr/>
          </p:nvCxnSpPr>
          <p:spPr>
            <a:xfrm>
              <a:off x="2558054" y="4404434"/>
              <a:ext cx="14401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r Verbinder 48">
              <a:extLst>
                <a:ext uri="{FF2B5EF4-FFF2-40B4-BE49-F238E27FC236}">
                  <a16:creationId xmlns:a16="http://schemas.microsoft.com/office/drawing/2014/main" id="{D45D3125-28D9-5BC4-79FF-6535C3AB01DD}"/>
                </a:ext>
              </a:extLst>
            </p:cNvPr>
            <p:cNvCxnSpPr/>
            <p:nvPr/>
          </p:nvCxnSpPr>
          <p:spPr>
            <a:xfrm>
              <a:off x="2558054" y="3835414"/>
              <a:ext cx="14401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r Verbinder 49">
              <a:extLst>
                <a:ext uri="{FF2B5EF4-FFF2-40B4-BE49-F238E27FC236}">
                  <a16:creationId xmlns:a16="http://schemas.microsoft.com/office/drawing/2014/main" id="{23F12DCC-4083-385D-69A3-27CA5F7B356B}"/>
                </a:ext>
              </a:extLst>
            </p:cNvPr>
            <p:cNvCxnSpPr/>
            <p:nvPr/>
          </p:nvCxnSpPr>
          <p:spPr>
            <a:xfrm>
              <a:off x="1639473" y="3835414"/>
              <a:ext cx="14401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r Verbinder 50">
              <a:extLst>
                <a:ext uri="{FF2B5EF4-FFF2-40B4-BE49-F238E27FC236}">
                  <a16:creationId xmlns:a16="http://schemas.microsoft.com/office/drawing/2014/main" id="{7309861F-1980-372A-B6F0-4617E35C46EB}"/>
                </a:ext>
              </a:extLst>
            </p:cNvPr>
            <p:cNvCxnSpPr/>
            <p:nvPr/>
          </p:nvCxnSpPr>
          <p:spPr>
            <a:xfrm>
              <a:off x="685980" y="5574649"/>
              <a:ext cx="14401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0206C41E-00CD-56FA-2C12-A20CEA8B488F}"/>
                </a:ext>
              </a:extLst>
            </p:cNvPr>
            <p:cNvCxnSpPr/>
            <p:nvPr/>
          </p:nvCxnSpPr>
          <p:spPr>
            <a:xfrm>
              <a:off x="701251" y="4974294"/>
              <a:ext cx="14401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49415EB9-9003-72D9-9FE2-691B23862D8C}"/>
                </a:ext>
              </a:extLst>
            </p:cNvPr>
            <p:cNvCxnSpPr/>
            <p:nvPr/>
          </p:nvCxnSpPr>
          <p:spPr>
            <a:xfrm>
              <a:off x="697047" y="4411009"/>
              <a:ext cx="14401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r Verbinder 53">
              <a:extLst>
                <a:ext uri="{FF2B5EF4-FFF2-40B4-BE49-F238E27FC236}">
                  <a16:creationId xmlns:a16="http://schemas.microsoft.com/office/drawing/2014/main" id="{32386FE5-C07F-2DFE-FEE0-75521181D84F}"/>
                </a:ext>
              </a:extLst>
            </p:cNvPr>
            <p:cNvCxnSpPr/>
            <p:nvPr/>
          </p:nvCxnSpPr>
          <p:spPr>
            <a:xfrm>
              <a:off x="1634807" y="4971147"/>
              <a:ext cx="14401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r Verbinder 54">
              <a:extLst>
                <a:ext uri="{FF2B5EF4-FFF2-40B4-BE49-F238E27FC236}">
                  <a16:creationId xmlns:a16="http://schemas.microsoft.com/office/drawing/2014/main" id="{8D2DBFC9-7659-BFEC-D3A1-94827ECDD216}"/>
                </a:ext>
              </a:extLst>
            </p:cNvPr>
            <p:cNvCxnSpPr/>
            <p:nvPr/>
          </p:nvCxnSpPr>
          <p:spPr>
            <a:xfrm>
              <a:off x="7998342" y="3821109"/>
              <a:ext cx="14401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r Verbinder 55">
              <a:extLst>
                <a:ext uri="{FF2B5EF4-FFF2-40B4-BE49-F238E27FC236}">
                  <a16:creationId xmlns:a16="http://schemas.microsoft.com/office/drawing/2014/main" id="{A5F54848-E23C-1FF7-40D0-749C5F7C9112}"/>
                </a:ext>
              </a:extLst>
            </p:cNvPr>
            <p:cNvCxnSpPr/>
            <p:nvPr/>
          </p:nvCxnSpPr>
          <p:spPr>
            <a:xfrm>
              <a:off x="7998342" y="4398868"/>
              <a:ext cx="14401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r Verbinder 56">
              <a:extLst>
                <a:ext uri="{FF2B5EF4-FFF2-40B4-BE49-F238E27FC236}">
                  <a16:creationId xmlns:a16="http://schemas.microsoft.com/office/drawing/2014/main" id="{AFD28B86-FC36-8258-0CB8-2A0597BD7C0F}"/>
                </a:ext>
              </a:extLst>
            </p:cNvPr>
            <p:cNvCxnSpPr/>
            <p:nvPr/>
          </p:nvCxnSpPr>
          <p:spPr>
            <a:xfrm>
              <a:off x="7998342" y="4983758"/>
              <a:ext cx="14401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502CCE81-8F99-DEBC-22E6-AA57A212D451}"/>
                </a:ext>
              </a:extLst>
            </p:cNvPr>
            <p:cNvCxnSpPr>
              <a:endCxn id="42" idx="1"/>
            </p:cNvCxnSpPr>
            <p:nvPr/>
          </p:nvCxnSpPr>
          <p:spPr>
            <a:xfrm>
              <a:off x="6152061" y="4971147"/>
              <a:ext cx="175184" cy="314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r Verbinder 58">
              <a:extLst>
                <a:ext uri="{FF2B5EF4-FFF2-40B4-BE49-F238E27FC236}">
                  <a16:creationId xmlns:a16="http://schemas.microsoft.com/office/drawing/2014/main" id="{023DE4D2-5B13-5EED-EAF4-3EE46FFF9BEE}"/>
                </a:ext>
              </a:extLst>
            </p:cNvPr>
            <p:cNvCxnSpPr/>
            <p:nvPr/>
          </p:nvCxnSpPr>
          <p:spPr>
            <a:xfrm>
              <a:off x="7988061" y="5574649"/>
              <a:ext cx="14401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r Verbinder 59">
              <a:extLst>
                <a:ext uri="{FF2B5EF4-FFF2-40B4-BE49-F238E27FC236}">
                  <a16:creationId xmlns:a16="http://schemas.microsoft.com/office/drawing/2014/main" id="{2ACA3D7F-273F-D9D8-DBB1-77DF401307DC}"/>
                </a:ext>
              </a:extLst>
            </p:cNvPr>
            <p:cNvCxnSpPr/>
            <p:nvPr/>
          </p:nvCxnSpPr>
          <p:spPr>
            <a:xfrm>
              <a:off x="6143277" y="3835414"/>
              <a:ext cx="175184" cy="314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D53A292A-86CE-DDCC-9336-BF2DDA0FB63A}"/>
                </a:ext>
              </a:extLst>
            </p:cNvPr>
            <p:cNvCxnSpPr/>
            <p:nvPr/>
          </p:nvCxnSpPr>
          <p:spPr>
            <a:xfrm>
              <a:off x="6139975" y="4431390"/>
              <a:ext cx="175184" cy="314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object 4">
            <a:extLst>
              <a:ext uri="{FF2B5EF4-FFF2-40B4-BE49-F238E27FC236}">
                <a16:creationId xmlns:a16="http://schemas.microsoft.com/office/drawing/2014/main" id="{1CE6B166-195F-2BD4-EC49-937EEDA7DF7B}"/>
              </a:ext>
            </a:extLst>
          </p:cNvPr>
          <p:cNvSpPr txBox="1"/>
          <p:nvPr/>
        </p:nvSpPr>
        <p:spPr>
          <a:xfrm>
            <a:off x="377150" y="1763501"/>
            <a:ext cx="3645587" cy="3298339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299085" algn="l"/>
              </a:tabLst>
            </a:pP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Aufgliederung</a:t>
            </a:r>
            <a:r>
              <a:rPr spc="-2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der</a:t>
            </a:r>
            <a:r>
              <a:rPr spc="-3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Gesamtaufgabe</a:t>
            </a:r>
            <a:endParaRPr dirty="0">
              <a:latin typeface="Source Sans Pro"/>
              <a:cs typeface="Source Sans Pro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  <a:tabLst>
                <a:tab pos="299085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	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in</a:t>
            </a:r>
            <a:r>
              <a:rPr spc="-3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Teilprojekte</a:t>
            </a:r>
            <a:r>
              <a:rPr spc="-2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und</a:t>
            </a:r>
            <a:r>
              <a:rPr spc="-3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 err="1">
                <a:solidFill>
                  <a:srgbClr val="0070B1"/>
                </a:solidFill>
                <a:latin typeface="Source Sans Pro"/>
                <a:cs typeface="Source Sans Pro"/>
              </a:rPr>
              <a:t>Arbeitspakete</a:t>
            </a:r>
            <a:endParaRPr lang="de-DE" spc="-10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  <a:tabLst>
                <a:tab pos="299085" algn="l"/>
              </a:tabLst>
            </a:pPr>
            <a:endParaRPr lang="de-DE" spc="-10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299085" indent="-286385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299085" algn="l"/>
              </a:tabLst>
            </a:pPr>
            <a:r>
              <a:rPr dirty="0" err="1">
                <a:solidFill>
                  <a:srgbClr val="0070B1"/>
                </a:solidFill>
                <a:latin typeface="Source Sans Pro"/>
                <a:cs typeface="Source Sans Pro"/>
              </a:rPr>
              <a:t>ermöglicht</a:t>
            </a:r>
            <a:r>
              <a:rPr spc="-4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 err="1">
                <a:solidFill>
                  <a:srgbClr val="0070B1"/>
                </a:solidFill>
                <a:latin typeface="Source Sans Pro"/>
                <a:cs typeface="Source Sans Pro"/>
              </a:rPr>
              <a:t>genaue</a:t>
            </a: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425"/>
              </a:spcBef>
              <a:tabLst>
                <a:tab pos="299085" algn="l"/>
              </a:tabLst>
            </a:pP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	</a:t>
            </a:r>
            <a:r>
              <a:rPr spc="-10" dirty="0" err="1">
                <a:solidFill>
                  <a:srgbClr val="0070B1"/>
                </a:solidFill>
                <a:latin typeface="Source Sans Pro"/>
                <a:cs typeface="Source Sans Pro"/>
              </a:rPr>
              <a:t>Aufwandsschätzung</a:t>
            </a:r>
            <a:endParaRPr lang="de-DE" spc="-10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299085" indent="-286385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299085" algn="l"/>
              </a:tabLst>
            </a:pPr>
            <a:endParaRPr lang="de-DE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299085" indent="-286385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299085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Übersicht über </a:t>
            </a:r>
            <a:r>
              <a:rPr dirty="0" err="1">
                <a:solidFill>
                  <a:srgbClr val="0070B1"/>
                </a:solidFill>
                <a:latin typeface="Source Sans Pro"/>
                <a:cs typeface="Source Sans Pro"/>
              </a:rPr>
              <a:t>Verteilung</a:t>
            </a:r>
            <a:r>
              <a:rPr spc="-2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endParaRPr lang="de-DE" spc="-25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  <a:tabLst>
                <a:tab pos="299085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	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der</a:t>
            </a:r>
            <a:r>
              <a:rPr spc="-2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 err="1">
                <a:solidFill>
                  <a:srgbClr val="0070B1"/>
                </a:solidFill>
                <a:latin typeface="Source Sans Pro"/>
                <a:cs typeface="Source Sans Pro"/>
              </a:rPr>
              <a:t>Aufgaben</a:t>
            </a:r>
            <a:endParaRPr lang="de-DE" spc="-10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299085" indent="-286385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299085" algn="l"/>
              </a:tabLst>
            </a:pPr>
            <a:endParaRPr lang="de-DE" spc="-10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299085" indent="-286385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299085" algn="l"/>
              </a:tabLst>
            </a:pP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z</a:t>
            </a:r>
            <a:r>
              <a:rPr spc="-10" dirty="0" err="1">
                <a:solidFill>
                  <a:srgbClr val="0070B1"/>
                </a:solidFill>
                <a:latin typeface="Source Sans Pro"/>
                <a:cs typeface="Source Sans Pro"/>
              </a:rPr>
              <a:t>entrales</a:t>
            </a: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Element</a:t>
            </a: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 der Planung</a:t>
            </a:r>
            <a:endParaRPr dirty="0">
              <a:latin typeface="Source Sans Pro"/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402822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147" y="492633"/>
            <a:ext cx="48317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Source Sans Pro"/>
                <a:cs typeface="Source Sans Pro"/>
              </a:rPr>
              <a:t>Das</a:t>
            </a:r>
            <a:r>
              <a:rPr sz="4000" b="1" spc="-114" dirty="0">
                <a:latin typeface="Source Sans Pro"/>
                <a:cs typeface="Source Sans Pro"/>
              </a:rPr>
              <a:t> </a:t>
            </a:r>
            <a:r>
              <a:rPr sz="4000" b="1" dirty="0">
                <a:latin typeface="Source Sans Pro"/>
                <a:cs typeface="Source Sans Pro"/>
              </a:rPr>
              <a:t>Magische</a:t>
            </a:r>
            <a:r>
              <a:rPr sz="4000" b="1" spc="-95" dirty="0">
                <a:latin typeface="Source Sans Pro"/>
                <a:cs typeface="Source Sans Pro"/>
              </a:rPr>
              <a:t> </a:t>
            </a:r>
            <a:r>
              <a:rPr sz="4000" b="1" spc="-10" dirty="0">
                <a:latin typeface="Source Sans Pro"/>
                <a:cs typeface="Source Sans Pro"/>
              </a:rPr>
              <a:t>Dreieck</a:t>
            </a:r>
            <a:endParaRPr sz="4000">
              <a:latin typeface="Source Sans Pro"/>
              <a:cs typeface="Source Sans Pr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0842" y="1251414"/>
            <a:ext cx="6950558" cy="3045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de-DE" sz="1900" i="1" spc="-40" dirty="0">
                <a:solidFill>
                  <a:srgbClr val="0070B1"/>
                </a:solidFill>
                <a:latin typeface="Source Sans Pro"/>
                <a:cs typeface="Source Sans Pro"/>
              </a:rPr>
              <a:t>Immer wieder benötigt – begleitet uns während des gesamten Projektes</a:t>
            </a:r>
            <a:endParaRPr sz="1900" dirty="0">
              <a:latin typeface="Source Sans Pro"/>
              <a:cs typeface="Source Sans Pr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40842" y="1875041"/>
            <a:ext cx="6094095" cy="1480534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800" dirty="0"/>
              <a:t>Abhängigkeit</a:t>
            </a:r>
            <a:r>
              <a:rPr sz="1800" spc="-50" dirty="0"/>
              <a:t> </a:t>
            </a:r>
            <a:r>
              <a:rPr sz="1800" dirty="0"/>
              <a:t>der</a:t>
            </a:r>
            <a:r>
              <a:rPr sz="1800" spc="-20" dirty="0"/>
              <a:t> </a:t>
            </a:r>
            <a:r>
              <a:rPr sz="1800" dirty="0"/>
              <a:t>Eckpunkte</a:t>
            </a:r>
            <a:r>
              <a:rPr sz="1800" spc="-25" dirty="0"/>
              <a:t> </a:t>
            </a:r>
            <a:r>
              <a:rPr sz="1800" spc="-10" dirty="0"/>
              <a:t>voneinander:</a:t>
            </a: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029" algn="l"/>
              </a:tabLst>
            </a:pPr>
            <a:r>
              <a:rPr sz="1800" dirty="0"/>
              <a:t>wenn</a:t>
            </a:r>
            <a:r>
              <a:rPr sz="1800" spc="-30" dirty="0"/>
              <a:t> </a:t>
            </a:r>
            <a:r>
              <a:rPr sz="1800" dirty="0"/>
              <a:t>sich</a:t>
            </a:r>
            <a:r>
              <a:rPr sz="1800" spc="-35" dirty="0"/>
              <a:t> </a:t>
            </a:r>
            <a:r>
              <a:rPr sz="1800" dirty="0"/>
              <a:t>der</a:t>
            </a:r>
            <a:r>
              <a:rPr sz="1800" spc="-10" dirty="0"/>
              <a:t> </a:t>
            </a:r>
            <a:r>
              <a:rPr sz="1800" dirty="0" err="1"/>
              <a:t>Zeitfaktor</a:t>
            </a:r>
            <a:r>
              <a:rPr sz="1800" spc="-35" dirty="0"/>
              <a:t> </a:t>
            </a:r>
            <a:r>
              <a:rPr sz="1800" spc="-10" dirty="0" err="1"/>
              <a:t>vergrößert</a:t>
            </a:r>
            <a:endParaRPr sz="1800" spc="-10" dirty="0"/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240029" algn="l"/>
              </a:tabLst>
            </a:pPr>
            <a:r>
              <a:rPr sz="1800" dirty="0"/>
              <a:t>wenn</a:t>
            </a:r>
            <a:r>
              <a:rPr sz="1800" spc="-30" dirty="0"/>
              <a:t> </a:t>
            </a:r>
            <a:r>
              <a:rPr sz="1800" dirty="0"/>
              <a:t>sich</a:t>
            </a:r>
            <a:r>
              <a:rPr sz="1800" spc="-35" dirty="0"/>
              <a:t> </a:t>
            </a:r>
            <a:r>
              <a:rPr sz="1800" dirty="0"/>
              <a:t>der</a:t>
            </a:r>
            <a:r>
              <a:rPr sz="1800" spc="-30" dirty="0"/>
              <a:t> </a:t>
            </a:r>
            <a:r>
              <a:rPr sz="1800" dirty="0" err="1"/>
              <a:t>Kostenfaktor</a:t>
            </a:r>
            <a:r>
              <a:rPr sz="1800" spc="-35" dirty="0"/>
              <a:t> </a:t>
            </a:r>
            <a:r>
              <a:rPr sz="1800" spc="-10" dirty="0" err="1"/>
              <a:t>verkleinert</a:t>
            </a:r>
            <a:endParaRPr sz="1800" spc="-10" dirty="0"/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029" algn="l"/>
              </a:tabLst>
            </a:pPr>
            <a:r>
              <a:rPr sz="1800" dirty="0"/>
              <a:t>wenn</a:t>
            </a:r>
            <a:r>
              <a:rPr sz="1800" spc="-20" dirty="0"/>
              <a:t> </a:t>
            </a:r>
            <a:r>
              <a:rPr sz="1800" dirty="0"/>
              <a:t>die</a:t>
            </a:r>
            <a:r>
              <a:rPr sz="1800" spc="-15" dirty="0"/>
              <a:t> </a:t>
            </a:r>
            <a:r>
              <a:rPr lang="de-DE" sz="1800" dirty="0"/>
              <a:t>Leistung sich ändert</a:t>
            </a:r>
            <a:endParaRPr sz="1800" spc="-10" dirty="0"/>
          </a:p>
        </p:txBody>
      </p:sp>
      <p:grpSp>
        <p:nvGrpSpPr>
          <p:cNvPr id="6" name="object 6"/>
          <p:cNvGrpSpPr/>
          <p:nvPr/>
        </p:nvGrpSpPr>
        <p:grpSpPr>
          <a:xfrm>
            <a:off x="7002526" y="1840738"/>
            <a:ext cx="4137025" cy="3383915"/>
            <a:chOff x="7002526" y="1840738"/>
            <a:chExt cx="4137025" cy="3383915"/>
          </a:xfrm>
        </p:grpSpPr>
        <p:sp>
          <p:nvSpPr>
            <p:cNvPr id="7" name="object 7"/>
            <p:cNvSpPr/>
            <p:nvPr/>
          </p:nvSpPr>
          <p:spPr>
            <a:xfrm>
              <a:off x="7008876" y="1847088"/>
              <a:ext cx="4124325" cy="3371215"/>
            </a:xfrm>
            <a:custGeom>
              <a:avLst/>
              <a:gdLst/>
              <a:ahLst/>
              <a:cxnLst/>
              <a:rect l="l" t="t" r="r" b="b"/>
              <a:pathLst>
                <a:path w="4124325" h="3371215">
                  <a:moveTo>
                    <a:pt x="2061972" y="0"/>
                  </a:moveTo>
                  <a:lnTo>
                    <a:pt x="0" y="3371088"/>
                  </a:lnTo>
                  <a:lnTo>
                    <a:pt x="4123944" y="3371088"/>
                  </a:lnTo>
                  <a:lnTo>
                    <a:pt x="2061972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08876" y="1847088"/>
              <a:ext cx="4124325" cy="3371215"/>
            </a:xfrm>
            <a:custGeom>
              <a:avLst/>
              <a:gdLst/>
              <a:ahLst/>
              <a:cxnLst/>
              <a:rect l="l" t="t" r="r" b="b"/>
              <a:pathLst>
                <a:path w="4124325" h="3371215">
                  <a:moveTo>
                    <a:pt x="0" y="3371088"/>
                  </a:moveTo>
                  <a:lnTo>
                    <a:pt x="2061972" y="0"/>
                  </a:lnTo>
                  <a:lnTo>
                    <a:pt x="4123944" y="3371088"/>
                  </a:lnTo>
                  <a:lnTo>
                    <a:pt x="0" y="3371088"/>
                  </a:lnTo>
                  <a:close/>
                </a:path>
              </a:pathLst>
            </a:custGeom>
            <a:ln w="12700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686800" y="3712999"/>
            <a:ext cx="926466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D2E8F4"/>
                </a:solidFill>
                <a:latin typeface="Source Sans Pro"/>
                <a:cs typeface="Source Sans Pro"/>
              </a:rPr>
              <a:t>Ziele</a:t>
            </a:r>
            <a:endParaRPr sz="2800" dirty="0">
              <a:latin typeface="Source Sans Pro"/>
              <a:cs typeface="Source Sans Pro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10" name="object 10"/>
          <p:cNvSpPr txBox="1"/>
          <p:nvPr/>
        </p:nvSpPr>
        <p:spPr>
          <a:xfrm>
            <a:off x="6376301" y="5093970"/>
            <a:ext cx="395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0070B1"/>
                </a:solidFill>
                <a:latin typeface="Source Sans Pro"/>
                <a:cs typeface="Source Sans Pro"/>
              </a:rPr>
              <a:t>Zeit</a:t>
            </a:r>
            <a:endParaRPr sz="1800" dirty="0">
              <a:latin typeface="Source Sans Pro"/>
              <a:cs typeface="Source Sans Pr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213465" y="5093970"/>
            <a:ext cx="693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70B1"/>
                </a:solidFill>
                <a:latin typeface="Source Sans Pro"/>
                <a:cs typeface="Source Sans Pro"/>
              </a:rPr>
              <a:t>Kosten</a:t>
            </a:r>
            <a:endParaRPr sz="1800" dirty="0">
              <a:latin typeface="Source Sans Pro"/>
              <a:cs typeface="Source Sans Pr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78342" y="930351"/>
            <a:ext cx="85788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70B1"/>
                </a:solidFill>
                <a:latin typeface="Source Sans Pro"/>
                <a:cs typeface="Source Sans Pro"/>
              </a:rPr>
              <a:t>Ergebnis Qualität Leistung</a:t>
            </a:r>
            <a:endParaRPr sz="1800" dirty="0">
              <a:latin typeface="Source Sans Pro"/>
              <a:cs typeface="Source Sans Pro"/>
            </a:endParaRP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CC772072-5247-DA6C-CAA5-ABCBB7C3974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4330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15</a:t>
            </a:fld>
            <a:endParaRPr lang="de-DE" spc="-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0" grpId="0"/>
      <p:bldP spid="11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870C8-B3EB-10B6-F107-45F1776AB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4F01CD5-7232-9A36-B550-CA4179750F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76200"/>
            <a:ext cx="11374121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>
                <a:latin typeface="Source Sans Pro"/>
                <a:cs typeface="Source Sans Pro"/>
              </a:rPr>
              <a:t>Vorgangsliste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F4D3F8A-7108-6D01-81F9-DE64BAA0C9A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DEC764D-4623-4F28-4A9C-FC23AD7FFA6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16</a:t>
            </a:fld>
            <a:endParaRPr lang="de-DE" spc="-50" dirty="0"/>
          </a:p>
        </p:txBody>
      </p:sp>
      <p:graphicFrame>
        <p:nvGraphicFramePr>
          <p:cNvPr id="6" name="Group 147">
            <a:extLst>
              <a:ext uri="{FF2B5EF4-FFF2-40B4-BE49-F238E27FC236}">
                <a16:creationId xmlns:a16="http://schemas.microsoft.com/office/drawing/2014/main" id="{25DB9F45-1C64-809A-6BE4-EE2CA453FA14}"/>
              </a:ext>
            </a:extLst>
          </p:cNvPr>
          <p:cNvGraphicFramePr>
            <a:graphicFrameLocks noGrp="1"/>
          </p:cNvGraphicFramePr>
          <p:nvPr/>
        </p:nvGraphicFramePr>
        <p:xfrm>
          <a:off x="1752600" y="1143000"/>
          <a:ext cx="8382000" cy="47244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Nr.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Vorgang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Dauer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Vorgänger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Netzplan (Aufstellung)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4 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Material ermitteln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2 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Auftrag Elektriker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 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Material beschaffen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4 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Raum ausräumen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 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Kabel verlegen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3 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3,5,4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Serverschrank aufstellen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 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3,5,4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Switch und </a:t>
                      </a:r>
                      <a:r>
                        <a:rPr kumimoji="0" lang="de-DE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Patchfeld</a:t>
                      </a: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 installieren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3 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7,6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Geräte aufstellen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2 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Software installieren u. Rechner </a:t>
                      </a:r>
                      <a:r>
                        <a:rPr kumimoji="0" lang="de-DE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konf</a:t>
                      </a: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8 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Raum einräumen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 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Einbinden ins Schulnetz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 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Testen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3 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6802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05F97-8EF4-C448-0129-812E1EFCE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1706B35B-C5CA-7589-CCB6-D28049FB242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5" dirty="0">
                <a:latin typeface="Source Sans Pro"/>
                <a:cs typeface="Source Sans Pro"/>
              </a:rPr>
              <a:t>Gantt-</a:t>
            </a:r>
            <a:r>
              <a:rPr sz="4000" b="1" spc="-10" dirty="0">
                <a:latin typeface="Source Sans Pro"/>
                <a:cs typeface="Source Sans Pro"/>
              </a:rPr>
              <a:t>Diagramm</a:t>
            </a:r>
            <a:endParaRPr sz="4000">
              <a:latin typeface="Source Sans Pro"/>
              <a:cs typeface="Source Sans Pr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F469392-7F2C-750D-03F1-145E45250AB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573D355-73CB-7384-6324-75D13E3C8F89}"/>
              </a:ext>
            </a:extLst>
          </p:cNvPr>
          <p:cNvSpPr txBox="1"/>
          <p:nvPr/>
        </p:nvSpPr>
        <p:spPr>
          <a:xfrm>
            <a:off x="440842" y="1251414"/>
            <a:ext cx="4512158" cy="3045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de-DE" sz="1900" spc="-55" dirty="0">
                <a:solidFill>
                  <a:srgbClr val="0070B1"/>
                </a:solidFill>
                <a:latin typeface="Source Sans Pro"/>
                <a:cs typeface="Source Sans Pro"/>
              </a:rPr>
              <a:t>Einfache Form – wie bei IHK Prüfungen</a:t>
            </a:r>
            <a:endParaRPr sz="1900" dirty="0">
              <a:latin typeface="Source Sans Pro"/>
              <a:cs typeface="Source Sans Pro"/>
            </a:endParaRP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4FAD41E-FE71-E043-BA4A-A9C4F5F588C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17</a:t>
            </a:fld>
            <a:endParaRPr lang="de-DE" spc="-50" dirty="0"/>
          </a:p>
        </p:txBody>
      </p:sp>
      <p:pic>
        <p:nvPicPr>
          <p:cNvPr id="15" name="Grafik 14" descr="Ein Bild, das Text, Screenshot, Reihe, Zahl enthält.&#10;&#10;Automatisch generierte Beschreibung">
            <a:extLst>
              <a:ext uri="{FF2B5EF4-FFF2-40B4-BE49-F238E27FC236}">
                <a16:creationId xmlns:a16="http://schemas.microsoft.com/office/drawing/2014/main" id="{59483ED8-7F26-E0B1-1407-EF84D3282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5" y="2421481"/>
            <a:ext cx="11990650" cy="201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430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74539-8F2E-FCC1-0A1F-89492A335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8853328-34B4-04CB-0854-CDA4F423E1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>
                <a:latin typeface="Source Sans Pro"/>
                <a:cs typeface="Source Sans Pro"/>
              </a:rPr>
              <a:t>Vorgangsknoten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723DD71-2C15-28E3-0836-2A863455A41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FA8088B-938C-D8DB-4F31-E3981E5B0B6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18</a:t>
            </a:fld>
            <a:endParaRPr lang="de-DE" spc="-50" dirty="0"/>
          </a:p>
        </p:txBody>
      </p:sp>
      <p:sp>
        <p:nvSpPr>
          <p:cNvPr id="6" name="Text Box 15">
            <a:extLst>
              <a:ext uri="{FF2B5EF4-FFF2-40B4-BE49-F238E27FC236}">
                <a16:creationId xmlns:a16="http://schemas.microsoft.com/office/drawing/2014/main" id="{4F8A8E8F-290F-965B-EF4D-78DFC9FA5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752600"/>
            <a:ext cx="30749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dirty="0">
                <a:latin typeface="Arial" charset="0"/>
              </a:rPr>
              <a:t>frühester </a:t>
            </a:r>
            <a:r>
              <a:rPr lang="de-DE" sz="2000" dirty="0" err="1">
                <a:latin typeface="Arial" charset="0"/>
              </a:rPr>
              <a:t>Anfangzeitpunkt</a:t>
            </a:r>
            <a:endParaRPr lang="de-DE" sz="2000" dirty="0">
              <a:latin typeface="Arial" charset="0"/>
            </a:endParaRPr>
          </a:p>
        </p:txBody>
      </p:sp>
      <p:sp>
        <p:nvSpPr>
          <p:cNvPr id="8" name="Text Box 16">
            <a:extLst>
              <a:ext uri="{FF2B5EF4-FFF2-40B4-BE49-F238E27FC236}">
                <a16:creationId xmlns:a16="http://schemas.microsoft.com/office/drawing/2014/main" id="{FD816B76-ECF0-602E-1344-E487F4DD8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1676400"/>
            <a:ext cx="27225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dirty="0">
                <a:latin typeface="Arial" charset="0"/>
              </a:rPr>
              <a:t>frühester Endzeitpunkt</a:t>
            </a:r>
          </a:p>
        </p:txBody>
      </p:sp>
      <p:sp>
        <p:nvSpPr>
          <p:cNvPr id="9" name="Text Box 17">
            <a:extLst>
              <a:ext uri="{FF2B5EF4-FFF2-40B4-BE49-F238E27FC236}">
                <a16:creationId xmlns:a16="http://schemas.microsoft.com/office/drawing/2014/main" id="{1A3F0E1F-D44C-4E6C-9BF6-C61DDE685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495800"/>
            <a:ext cx="220186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dirty="0">
                <a:latin typeface="Arial" charset="0"/>
              </a:rPr>
              <a:t>Spätester</a:t>
            </a:r>
          </a:p>
          <a:p>
            <a:r>
              <a:rPr lang="de-DE" sz="2000" dirty="0">
                <a:latin typeface="Arial" charset="0"/>
              </a:rPr>
              <a:t>Anfangszeitpunkt</a:t>
            </a:r>
          </a:p>
        </p:txBody>
      </p:sp>
      <p:sp>
        <p:nvSpPr>
          <p:cNvPr id="10" name="Text Box 18">
            <a:extLst>
              <a:ext uri="{FF2B5EF4-FFF2-40B4-BE49-F238E27FC236}">
                <a16:creationId xmlns:a16="http://schemas.microsoft.com/office/drawing/2014/main" id="{A048C1D9-12F5-C7D0-2BB5-14FECD82E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5105400"/>
            <a:ext cx="2765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dirty="0">
                <a:latin typeface="Arial" charset="0"/>
              </a:rPr>
              <a:t>spätester Endzeitpunkt</a:t>
            </a:r>
          </a:p>
        </p:txBody>
      </p:sp>
      <p:sp>
        <p:nvSpPr>
          <p:cNvPr id="11" name="Text Box 19">
            <a:extLst>
              <a:ext uri="{FF2B5EF4-FFF2-40B4-BE49-F238E27FC236}">
                <a16:creationId xmlns:a16="http://schemas.microsoft.com/office/drawing/2014/main" id="{0D0C94D1-059B-45B6-F26C-F6F9025CC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2667000"/>
            <a:ext cx="876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dirty="0">
                <a:latin typeface="Arial" charset="0"/>
              </a:rPr>
              <a:t>Dauer</a:t>
            </a:r>
          </a:p>
        </p:txBody>
      </p:sp>
      <p:sp>
        <p:nvSpPr>
          <p:cNvPr id="12" name="Text Box 20">
            <a:extLst>
              <a:ext uri="{FF2B5EF4-FFF2-40B4-BE49-F238E27FC236}">
                <a16:creationId xmlns:a16="http://schemas.microsoft.com/office/drawing/2014/main" id="{43840328-2E74-8441-B05E-8E9BE4FED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724400"/>
            <a:ext cx="21145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dirty="0">
                <a:latin typeface="Arial" charset="0"/>
              </a:rPr>
              <a:t>Gesamtpufferzeit</a:t>
            </a:r>
          </a:p>
        </p:txBody>
      </p:sp>
      <p:sp>
        <p:nvSpPr>
          <p:cNvPr id="13" name="Text Box 21">
            <a:extLst>
              <a:ext uri="{FF2B5EF4-FFF2-40B4-BE49-F238E27FC236}">
                <a16:creationId xmlns:a16="http://schemas.microsoft.com/office/drawing/2014/main" id="{FF39BFF2-85ED-0611-0289-45C187A0A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8287" y="4597361"/>
            <a:ext cx="15081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dirty="0">
                <a:latin typeface="Arial" charset="0"/>
              </a:rPr>
              <a:t>freier Puffer</a:t>
            </a:r>
          </a:p>
        </p:txBody>
      </p:sp>
      <p:sp>
        <p:nvSpPr>
          <p:cNvPr id="14" name="Line 22">
            <a:extLst>
              <a:ext uri="{FF2B5EF4-FFF2-40B4-BE49-F238E27FC236}">
                <a16:creationId xmlns:a16="http://schemas.microsoft.com/office/drawing/2014/main" id="{25E620EB-9763-9D28-F97C-3DFF1000F7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35313" y="3992563"/>
            <a:ext cx="792162" cy="5032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/>
          </a:p>
        </p:txBody>
      </p:sp>
      <p:sp>
        <p:nvSpPr>
          <p:cNvPr id="15" name="Line 23">
            <a:extLst>
              <a:ext uri="{FF2B5EF4-FFF2-40B4-BE49-F238E27FC236}">
                <a16:creationId xmlns:a16="http://schemas.microsoft.com/office/drawing/2014/main" id="{5E9F1321-5A4A-81A7-8DA5-8152E4288A4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47620" y="3034372"/>
            <a:ext cx="1314704" cy="46605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/>
          </a:p>
        </p:txBody>
      </p:sp>
      <p:sp>
        <p:nvSpPr>
          <p:cNvPr id="16" name="Line 24">
            <a:extLst>
              <a:ext uri="{FF2B5EF4-FFF2-40B4-BE49-F238E27FC236}">
                <a16:creationId xmlns:a16="http://schemas.microsoft.com/office/drawing/2014/main" id="{51357408-E1A2-71EF-69ED-9D5BEAD4F4B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2133600"/>
            <a:ext cx="792163" cy="5762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/>
          </a:p>
        </p:txBody>
      </p:sp>
      <p:sp>
        <p:nvSpPr>
          <p:cNvPr id="17" name="Line 26">
            <a:extLst>
              <a:ext uri="{FF2B5EF4-FFF2-40B4-BE49-F238E27FC236}">
                <a16:creationId xmlns:a16="http://schemas.microsoft.com/office/drawing/2014/main" id="{B9B562CC-4350-BDA6-92B2-67E1840CBEF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770687" y="3860440"/>
            <a:ext cx="544513" cy="124495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/>
          </a:p>
        </p:txBody>
      </p:sp>
      <p:sp>
        <p:nvSpPr>
          <p:cNvPr id="18" name="Line 27">
            <a:extLst>
              <a:ext uri="{FF2B5EF4-FFF2-40B4-BE49-F238E27FC236}">
                <a16:creationId xmlns:a16="http://schemas.microsoft.com/office/drawing/2014/main" id="{EB5CE5C5-5742-CC1F-8D14-C510EBD198D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044301" y="3456775"/>
            <a:ext cx="2069843" cy="10715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/>
          </a:p>
        </p:txBody>
      </p:sp>
      <p:sp>
        <p:nvSpPr>
          <p:cNvPr id="19" name="Line 28">
            <a:extLst>
              <a:ext uri="{FF2B5EF4-FFF2-40B4-BE49-F238E27FC236}">
                <a16:creationId xmlns:a16="http://schemas.microsoft.com/office/drawing/2014/main" id="{81A41ACA-2F0C-EEE5-C317-762DB09528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79704" y="2133600"/>
            <a:ext cx="1121296" cy="5762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/>
          </a:p>
        </p:txBody>
      </p:sp>
      <p:sp>
        <p:nvSpPr>
          <p:cNvPr id="21" name="Rectangle 97">
            <a:extLst>
              <a:ext uri="{FF2B5EF4-FFF2-40B4-BE49-F238E27FC236}">
                <a16:creationId xmlns:a16="http://schemas.microsoft.com/office/drawing/2014/main" id="{2029C37F-F708-C987-E713-62F170440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2325" y="2721335"/>
            <a:ext cx="4638675" cy="2869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dist="28398" dir="3806097" algn="ctr" rotWithShape="0">
              <a:schemeClr val="accent6">
                <a:lumMod val="50000"/>
                <a:lumOff val="0"/>
                <a:alpha val="50000"/>
              </a:schemeClr>
            </a:outerShdw>
          </a:effectLst>
        </p:spPr>
        <p:txBody>
          <a:bodyPr rot="0" vert="horz" wrap="square" lIns="91440" tIns="45720" rIns="91440" bIns="45720" anchor="t" anchorCtr="0" upright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1200" dirty="0">
                <a:solidFill>
                  <a:schemeClr val="bg1"/>
                </a:solidFill>
                <a:effectLst/>
                <a:latin typeface="Arial"/>
                <a:ea typeface="Century Gothic"/>
                <a:cs typeface="Times New Roman"/>
              </a:rPr>
              <a:t>FAZ</a:t>
            </a:r>
            <a:r>
              <a:rPr lang="de-DE" sz="1200" dirty="0">
                <a:effectLst/>
                <a:latin typeface="Arial"/>
                <a:ea typeface="Century Gothic"/>
                <a:cs typeface="Times New Roman"/>
              </a:rPr>
              <a:t>		</a:t>
            </a:r>
            <a:r>
              <a:rPr lang="de-DE" sz="1200" baseline="0" dirty="0">
                <a:effectLst/>
                <a:latin typeface="Arial"/>
                <a:ea typeface="Century Gothic"/>
                <a:cs typeface="Times New Roman"/>
              </a:rPr>
              <a:t>                     </a:t>
            </a:r>
            <a:r>
              <a:rPr lang="de-DE" sz="1200" dirty="0">
                <a:effectLst/>
                <a:latin typeface="Arial"/>
                <a:ea typeface="Century Gothic"/>
                <a:cs typeface="Times New Roman"/>
              </a:rPr>
              <a:t>     </a:t>
            </a:r>
            <a:r>
              <a:rPr lang="de-DE" sz="1200" dirty="0">
                <a:solidFill>
                  <a:schemeClr val="bg1"/>
                </a:solidFill>
                <a:effectLst/>
                <a:latin typeface="Arial"/>
                <a:ea typeface="Century Gothic"/>
                <a:cs typeface="Times New Roman"/>
              </a:rPr>
              <a:t>FEZ</a:t>
            </a:r>
          </a:p>
        </p:txBody>
      </p:sp>
      <p:sp>
        <p:nvSpPr>
          <p:cNvPr id="22" name="Rectangle 98">
            <a:extLst>
              <a:ext uri="{FF2B5EF4-FFF2-40B4-BE49-F238E27FC236}">
                <a16:creationId xmlns:a16="http://schemas.microsoft.com/office/drawing/2014/main" id="{C157D2D6-B274-1190-9426-D01ADB189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2325" y="3008285"/>
            <a:ext cx="2319338" cy="304341"/>
          </a:xfrm>
          <a:prstGeom prst="rect">
            <a:avLst/>
          </a:prstGeom>
          <a:gradFill rotWithShape="0">
            <a:gsLst>
              <a:gs pos="0">
                <a:schemeClr val="lt1">
                  <a:lumMod val="100000"/>
                  <a:lumOff val="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5400000" scaled="1"/>
          </a:gradFill>
          <a:ln w="12700">
            <a:solidFill>
              <a:schemeClr val="accent4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dist="28398" dir="3806097" algn="ctr" rotWithShape="0">
              <a:schemeClr val="accent4">
                <a:lumMod val="50000"/>
                <a:lumOff val="0"/>
                <a:alpha val="50000"/>
              </a:schemeClr>
            </a:outerShdw>
          </a:effectLst>
        </p:spPr>
        <p:txBody>
          <a:bodyPr rot="0" vert="horz" wrap="square" lIns="91440" tIns="45720" rIns="91440" bIns="45720" anchor="t" anchorCtr="0" upright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lang="de-DE" sz="1200" dirty="0">
                <a:effectLst/>
                <a:latin typeface="Arial"/>
                <a:ea typeface="Century Gothic"/>
                <a:cs typeface="Times New Roman"/>
              </a:rPr>
              <a:t>Vorgangsnummer</a:t>
            </a:r>
          </a:p>
        </p:txBody>
      </p:sp>
      <p:sp>
        <p:nvSpPr>
          <p:cNvPr id="23" name="Rectangle 99">
            <a:extLst>
              <a:ext uri="{FF2B5EF4-FFF2-40B4-BE49-F238E27FC236}">
                <a16:creationId xmlns:a16="http://schemas.microsoft.com/office/drawing/2014/main" id="{20602A46-111E-BD5D-3A63-69DE37ACC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1663" y="3008285"/>
            <a:ext cx="2319338" cy="304341"/>
          </a:xfrm>
          <a:prstGeom prst="rect">
            <a:avLst/>
          </a:prstGeom>
          <a:gradFill rotWithShape="0">
            <a:gsLst>
              <a:gs pos="0">
                <a:schemeClr val="lt1">
                  <a:lumMod val="100000"/>
                  <a:lumOff val="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5400000" scaled="1"/>
          </a:gradFill>
          <a:ln w="12700">
            <a:solidFill>
              <a:schemeClr val="accent4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dist="28398" dir="3806097" algn="ctr" rotWithShape="0">
              <a:schemeClr val="accent4">
                <a:lumMod val="50000"/>
                <a:lumOff val="0"/>
                <a:alpha val="50000"/>
              </a:schemeClr>
            </a:outerShdw>
          </a:effectLst>
        </p:spPr>
        <p:txBody>
          <a:bodyPr rot="0" vert="horz" wrap="square" lIns="91440" tIns="45720" rIns="91440" bIns="45720" anchor="t" anchorCtr="0" upright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lang="de-DE" sz="1200" dirty="0">
                <a:effectLst/>
                <a:latin typeface="Arial"/>
                <a:ea typeface="Century Gothic"/>
                <a:cs typeface="Times New Roman"/>
              </a:rPr>
              <a:t>Vorgangsbezeichnung</a:t>
            </a:r>
          </a:p>
        </p:txBody>
      </p:sp>
      <p:sp>
        <p:nvSpPr>
          <p:cNvPr id="24" name="Rectangle 100">
            <a:extLst>
              <a:ext uri="{FF2B5EF4-FFF2-40B4-BE49-F238E27FC236}">
                <a16:creationId xmlns:a16="http://schemas.microsoft.com/office/drawing/2014/main" id="{F26E5788-2A24-D2A7-7530-DD583369F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2325" y="3312627"/>
            <a:ext cx="2319338" cy="269559"/>
          </a:xfrm>
          <a:prstGeom prst="rect">
            <a:avLst/>
          </a:prstGeom>
          <a:gradFill rotWithShape="0">
            <a:gsLst>
              <a:gs pos="0">
                <a:schemeClr val="lt1">
                  <a:lumMod val="100000"/>
                  <a:lumOff val="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5400000" scaled="1"/>
          </a:gradFill>
          <a:ln w="12700">
            <a:solidFill>
              <a:schemeClr val="accent4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dist="28398" dir="3806097" algn="ctr" rotWithShape="0">
              <a:schemeClr val="accent4">
                <a:lumMod val="50000"/>
                <a:lumOff val="0"/>
                <a:alpha val="50000"/>
              </a:schemeClr>
            </a:outerShdw>
          </a:effectLst>
        </p:spPr>
        <p:txBody>
          <a:bodyPr rot="0" vert="horz" wrap="square" lIns="91440" tIns="45720" rIns="91440" bIns="45720" anchor="t" anchorCtr="0" upright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lang="de-DE" sz="1200">
                <a:effectLst/>
                <a:latin typeface="Arial"/>
                <a:ea typeface="Century Gothic"/>
                <a:cs typeface="Times New Roman"/>
              </a:rPr>
              <a:t>D</a:t>
            </a:r>
          </a:p>
        </p:txBody>
      </p:sp>
      <p:sp>
        <p:nvSpPr>
          <p:cNvPr id="25" name="Rectangle 101">
            <a:extLst>
              <a:ext uri="{FF2B5EF4-FFF2-40B4-BE49-F238E27FC236}">
                <a16:creationId xmlns:a16="http://schemas.microsoft.com/office/drawing/2014/main" id="{EC5A9670-57FE-B8C9-B6F0-2DD82DF98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1663" y="3312627"/>
            <a:ext cx="1314705" cy="269559"/>
          </a:xfrm>
          <a:prstGeom prst="rect">
            <a:avLst/>
          </a:prstGeom>
          <a:gradFill rotWithShape="0">
            <a:gsLst>
              <a:gs pos="0">
                <a:schemeClr val="lt1">
                  <a:lumMod val="100000"/>
                  <a:lumOff val="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5400000" scaled="1"/>
          </a:gradFill>
          <a:ln w="12700">
            <a:solidFill>
              <a:schemeClr val="accent4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dist="28398" dir="3806097" algn="ctr" rotWithShape="0">
              <a:schemeClr val="accent4">
                <a:lumMod val="50000"/>
                <a:lumOff val="0"/>
                <a:alpha val="50000"/>
              </a:schemeClr>
            </a:outerShdw>
          </a:effectLst>
        </p:spPr>
        <p:txBody>
          <a:bodyPr rot="0" vert="horz" wrap="square" lIns="91440" tIns="45720" rIns="91440" bIns="45720" anchor="t" anchorCtr="0" upright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lang="de-DE" sz="1200" dirty="0">
                <a:effectLst/>
                <a:latin typeface="Arial"/>
                <a:ea typeface="Century Gothic"/>
                <a:cs typeface="Times New Roman"/>
              </a:rPr>
              <a:t>GP</a:t>
            </a:r>
          </a:p>
        </p:txBody>
      </p:sp>
      <p:sp>
        <p:nvSpPr>
          <p:cNvPr id="26" name="Rectangle 102">
            <a:extLst>
              <a:ext uri="{FF2B5EF4-FFF2-40B4-BE49-F238E27FC236}">
                <a16:creationId xmlns:a16="http://schemas.microsoft.com/office/drawing/2014/main" id="{B27824C0-EACA-5A6B-AA3A-FB36A1BB5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6367" y="3312627"/>
            <a:ext cx="1004633" cy="269559"/>
          </a:xfrm>
          <a:prstGeom prst="rect">
            <a:avLst/>
          </a:prstGeom>
          <a:gradFill rotWithShape="0">
            <a:gsLst>
              <a:gs pos="0">
                <a:schemeClr val="lt1">
                  <a:lumMod val="100000"/>
                  <a:lumOff val="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5400000" scaled="1"/>
          </a:gradFill>
          <a:ln w="12700">
            <a:solidFill>
              <a:schemeClr val="accent4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dist="28398" dir="3806097" algn="ctr" rotWithShape="0">
              <a:schemeClr val="accent4">
                <a:lumMod val="50000"/>
                <a:lumOff val="0"/>
                <a:alpha val="50000"/>
              </a:schemeClr>
            </a:outerShdw>
          </a:effectLst>
        </p:spPr>
        <p:txBody>
          <a:bodyPr rot="0" vert="horz" wrap="square" lIns="91440" tIns="45720" rIns="91440" bIns="45720" anchor="t" anchorCtr="0" upright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lang="de-DE" sz="1200" dirty="0">
                <a:effectLst/>
                <a:latin typeface="Arial"/>
                <a:ea typeface="Century Gothic"/>
                <a:cs typeface="Times New Roman"/>
              </a:rPr>
              <a:t>FP</a:t>
            </a:r>
          </a:p>
        </p:txBody>
      </p:sp>
      <p:sp>
        <p:nvSpPr>
          <p:cNvPr id="27" name="Rectangle 103">
            <a:extLst>
              <a:ext uri="{FF2B5EF4-FFF2-40B4-BE49-F238E27FC236}">
                <a16:creationId xmlns:a16="http://schemas.microsoft.com/office/drawing/2014/main" id="{3A4A77E2-7A83-08CF-9C47-BE439DF73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2325" y="3582186"/>
            <a:ext cx="4638675" cy="27825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dist="28398" dir="3806097" algn="ctr" rotWithShape="0">
              <a:schemeClr val="accent6">
                <a:lumMod val="50000"/>
                <a:lumOff val="0"/>
                <a:alpha val="50000"/>
              </a:schemeClr>
            </a:outerShdw>
          </a:effectLst>
        </p:spPr>
        <p:txBody>
          <a:bodyPr rot="0" vert="horz" wrap="square" lIns="91440" tIns="45720" rIns="91440" bIns="45720" anchor="t" anchorCtr="0" upright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1200" dirty="0">
                <a:solidFill>
                  <a:schemeClr val="bg1"/>
                </a:solidFill>
                <a:effectLst/>
                <a:latin typeface="Arial"/>
                <a:ea typeface="Century Gothic"/>
                <a:cs typeface="Times New Roman"/>
              </a:rPr>
              <a:t>SAZ		</a:t>
            </a:r>
            <a:r>
              <a:rPr lang="de-DE" sz="1200" baseline="0" dirty="0">
                <a:solidFill>
                  <a:schemeClr val="bg1"/>
                </a:solidFill>
                <a:effectLst/>
                <a:latin typeface="Arial"/>
                <a:ea typeface="Century Gothic"/>
                <a:cs typeface="Times New Roman"/>
              </a:rPr>
              <a:t>                    </a:t>
            </a:r>
            <a:r>
              <a:rPr lang="de-DE" sz="1200" dirty="0">
                <a:solidFill>
                  <a:schemeClr val="bg1"/>
                </a:solidFill>
                <a:effectLst/>
                <a:latin typeface="Arial"/>
                <a:ea typeface="Century Gothic"/>
                <a:cs typeface="Times New Roman"/>
              </a:rPr>
              <a:t>     SEZ</a:t>
            </a:r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13808C19-C81F-05EF-C3A4-04FEFC34D7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94274" y="3577711"/>
            <a:ext cx="1068389" cy="122075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8100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12D67-E454-4179-0C7E-7EC004005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4B3417A-B1F1-9D80-ACAC-2BD1E571E3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0842" y="253844"/>
            <a:ext cx="9312758" cy="859210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4000" b="1" spc="-10" dirty="0" err="1">
                <a:latin typeface="Source Sans Pro"/>
                <a:cs typeface="Source Sans Pro"/>
              </a:rPr>
              <a:t>Nutzwertanalyse</a:t>
            </a:r>
            <a:r>
              <a:rPr lang="de-DE" sz="4000" b="1" spc="-10" dirty="0">
                <a:latin typeface="Source Sans Pro"/>
                <a:cs typeface="Source Sans Pro"/>
              </a:rPr>
              <a:t> - Beispiel</a:t>
            </a:r>
            <a:endParaRPr sz="4000" b="1" spc="-10" dirty="0">
              <a:latin typeface="Source Sans Pro"/>
              <a:cs typeface="Source Sans Pro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3B73DA1-1F8B-294A-F2A1-CB4A513B9C8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6393EFC-FB13-25D4-0BA6-33BEE5085EA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19</a:t>
            </a:fld>
            <a:endParaRPr lang="de-DE" spc="-50" dirty="0"/>
          </a:p>
        </p:txBody>
      </p:sp>
      <p:graphicFrame>
        <p:nvGraphicFramePr>
          <p:cNvPr id="3" name="Inhaltsplatzhalter 4">
            <a:extLst>
              <a:ext uri="{FF2B5EF4-FFF2-40B4-BE49-F238E27FC236}">
                <a16:creationId xmlns:a16="http://schemas.microsoft.com/office/drawing/2014/main" id="{C52C2FC0-FD48-9B3E-C32C-CCB0F202179D}"/>
              </a:ext>
            </a:extLst>
          </p:cNvPr>
          <p:cNvGraphicFramePr>
            <a:graphicFrameLocks/>
          </p:cNvGraphicFramePr>
          <p:nvPr/>
        </p:nvGraphicFramePr>
        <p:xfrm>
          <a:off x="3886200" y="1295400"/>
          <a:ext cx="7967738" cy="4717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5715">
                  <a:extLst>
                    <a:ext uri="{9D8B030D-6E8A-4147-A177-3AD203B41FA5}">
                      <a16:colId xmlns:a16="http://schemas.microsoft.com/office/drawing/2014/main" val="3413835414"/>
                    </a:ext>
                  </a:extLst>
                </a:gridCol>
                <a:gridCol w="1282878">
                  <a:extLst>
                    <a:ext uri="{9D8B030D-6E8A-4147-A177-3AD203B41FA5}">
                      <a16:colId xmlns:a16="http://schemas.microsoft.com/office/drawing/2014/main" val="580074300"/>
                    </a:ext>
                  </a:extLst>
                </a:gridCol>
                <a:gridCol w="675199">
                  <a:extLst>
                    <a:ext uri="{9D8B030D-6E8A-4147-A177-3AD203B41FA5}">
                      <a16:colId xmlns:a16="http://schemas.microsoft.com/office/drawing/2014/main" val="2012498254"/>
                    </a:ext>
                  </a:extLst>
                </a:gridCol>
                <a:gridCol w="675199">
                  <a:extLst>
                    <a:ext uri="{9D8B030D-6E8A-4147-A177-3AD203B41FA5}">
                      <a16:colId xmlns:a16="http://schemas.microsoft.com/office/drawing/2014/main" val="2271186950"/>
                    </a:ext>
                  </a:extLst>
                </a:gridCol>
                <a:gridCol w="675199">
                  <a:extLst>
                    <a:ext uri="{9D8B030D-6E8A-4147-A177-3AD203B41FA5}">
                      <a16:colId xmlns:a16="http://schemas.microsoft.com/office/drawing/2014/main" val="78412613"/>
                    </a:ext>
                  </a:extLst>
                </a:gridCol>
                <a:gridCol w="675199">
                  <a:extLst>
                    <a:ext uri="{9D8B030D-6E8A-4147-A177-3AD203B41FA5}">
                      <a16:colId xmlns:a16="http://schemas.microsoft.com/office/drawing/2014/main" val="2140275387"/>
                    </a:ext>
                  </a:extLst>
                </a:gridCol>
                <a:gridCol w="675124">
                  <a:extLst>
                    <a:ext uri="{9D8B030D-6E8A-4147-A177-3AD203B41FA5}">
                      <a16:colId xmlns:a16="http://schemas.microsoft.com/office/drawing/2014/main" val="859166100"/>
                    </a:ext>
                  </a:extLst>
                </a:gridCol>
                <a:gridCol w="693225">
                  <a:extLst>
                    <a:ext uri="{9D8B030D-6E8A-4147-A177-3AD203B41FA5}">
                      <a16:colId xmlns:a16="http://schemas.microsoft.com/office/drawing/2014/main" val="735273602"/>
                    </a:ext>
                  </a:extLst>
                </a:gridCol>
              </a:tblGrid>
              <a:tr h="336965">
                <a:tc>
                  <a:txBody>
                    <a:bodyPr/>
                    <a:lstStyle/>
                    <a:p>
                      <a:r>
                        <a:rPr lang="de-DE" sz="1600" dirty="0"/>
                        <a:t>Kriterien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Gewichtung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A *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B *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C * 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358710"/>
                  </a:ext>
                </a:extLst>
              </a:tr>
              <a:tr h="336965">
                <a:tc>
                  <a:txBody>
                    <a:bodyPr/>
                    <a:lstStyle/>
                    <a:p>
                      <a:r>
                        <a:rPr lang="de-DE" sz="1600" dirty="0"/>
                        <a:t>Standort</a:t>
                      </a: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027716"/>
                  </a:ext>
                </a:extLst>
              </a:tr>
              <a:tr h="336965">
                <a:tc>
                  <a:txBody>
                    <a:bodyPr/>
                    <a:lstStyle/>
                    <a:p>
                      <a:pPr algn="r"/>
                      <a:r>
                        <a:rPr lang="de-DE" sz="1600" dirty="0"/>
                        <a:t>Hauptstraße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596915"/>
                  </a:ext>
                </a:extLst>
              </a:tr>
              <a:tr h="336965">
                <a:tc>
                  <a:txBody>
                    <a:bodyPr/>
                    <a:lstStyle/>
                    <a:p>
                      <a:pPr algn="r"/>
                      <a:r>
                        <a:rPr lang="de-DE" sz="1600" dirty="0"/>
                        <a:t>Nähe</a:t>
                      </a:r>
                      <a:r>
                        <a:rPr lang="de-DE" sz="1600" baseline="0" dirty="0"/>
                        <a:t> zu anderen Geschäften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024100"/>
                  </a:ext>
                </a:extLst>
              </a:tr>
              <a:tr h="336965">
                <a:tc>
                  <a:txBody>
                    <a:bodyPr/>
                    <a:lstStyle/>
                    <a:p>
                      <a:pPr algn="r"/>
                      <a:r>
                        <a:rPr lang="de-DE" sz="1600" dirty="0"/>
                        <a:t>Lagernähe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45400"/>
                  </a:ext>
                </a:extLst>
              </a:tr>
              <a:tr h="336965">
                <a:tc>
                  <a:txBody>
                    <a:bodyPr/>
                    <a:lstStyle/>
                    <a:p>
                      <a:r>
                        <a:rPr lang="de-DE" sz="1600" dirty="0"/>
                        <a:t>Kosten</a:t>
                      </a: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896883"/>
                  </a:ext>
                </a:extLst>
              </a:tr>
              <a:tr h="336965">
                <a:tc>
                  <a:txBody>
                    <a:bodyPr/>
                    <a:lstStyle/>
                    <a:p>
                      <a:pPr algn="r"/>
                      <a:r>
                        <a:rPr lang="de-DE" sz="1600" dirty="0"/>
                        <a:t>Steuerliche Belastung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159373"/>
                  </a:ext>
                </a:extLst>
              </a:tr>
              <a:tr h="336965">
                <a:tc>
                  <a:txBody>
                    <a:bodyPr/>
                    <a:lstStyle/>
                    <a:p>
                      <a:pPr algn="r"/>
                      <a:r>
                        <a:rPr lang="de-DE" sz="1600" dirty="0"/>
                        <a:t>Bau / Mietkosten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423523"/>
                  </a:ext>
                </a:extLst>
              </a:tr>
              <a:tr h="336965">
                <a:tc>
                  <a:txBody>
                    <a:bodyPr/>
                    <a:lstStyle/>
                    <a:p>
                      <a:pPr algn="r"/>
                      <a:r>
                        <a:rPr lang="de-DE" sz="1600" dirty="0"/>
                        <a:t>Werbung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001332"/>
                  </a:ext>
                </a:extLst>
              </a:tr>
              <a:tr h="336965">
                <a:tc>
                  <a:txBody>
                    <a:bodyPr/>
                    <a:lstStyle/>
                    <a:p>
                      <a:r>
                        <a:rPr lang="de-DE" sz="1600" dirty="0"/>
                        <a:t>Gewinnpotentiale</a:t>
                      </a: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810738"/>
                  </a:ext>
                </a:extLst>
              </a:tr>
              <a:tr h="336965">
                <a:tc>
                  <a:txBody>
                    <a:bodyPr/>
                    <a:lstStyle/>
                    <a:p>
                      <a:pPr algn="r"/>
                      <a:r>
                        <a:rPr lang="de-DE" sz="1600" dirty="0"/>
                        <a:t>Wenig Konkurrenz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256288"/>
                  </a:ext>
                </a:extLst>
              </a:tr>
              <a:tr h="336965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Kunden sind offen für Neues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923476"/>
                  </a:ext>
                </a:extLst>
              </a:tr>
              <a:tr h="336965">
                <a:tc>
                  <a:txBody>
                    <a:bodyPr/>
                    <a:lstStyle/>
                    <a:p>
                      <a:pPr algn="r"/>
                      <a:r>
                        <a:rPr lang="de-DE" sz="1600" dirty="0"/>
                        <a:t>Arbeitslosenquote gering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528966"/>
                  </a:ext>
                </a:extLst>
              </a:tr>
              <a:tr h="336965">
                <a:tc>
                  <a:txBody>
                    <a:bodyPr/>
                    <a:lstStyle/>
                    <a:p>
                      <a:pPr algn="r"/>
                      <a:r>
                        <a:rPr lang="de-DE" sz="1600" dirty="0">
                          <a:solidFill>
                            <a:schemeClr val="bg1"/>
                          </a:solidFill>
                        </a:rPr>
                        <a:t>Gesamt</a:t>
                      </a: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solidFill>
                            <a:schemeClr val="bg1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solidFill>
                            <a:srgbClr val="FF0000"/>
                          </a:solidFill>
                        </a:rPr>
                        <a:t>579</a:t>
                      </a: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solidFill>
                            <a:schemeClr val="bg1"/>
                          </a:solidFill>
                        </a:rPr>
                        <a:t>525</a:t>
                      </a: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solidFill>
                            <a:schemeClr val="bg1"/>
                          </a:solidFill>
                        </a:rPr>
                        <a:t>554</a:t>
                      </a: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679593"/>
                  </a:ext>
                </a:extLst>
              </a:tr>
            </a:tbl>
          </a:graphicData>
        </a:graphic>
      </p:graphicFrame>
      <p:sp>
        <p:nvSpPr>
          <p:cNvPr id="4" name="object 3">
            <a:extLst>
              <a:ext uri="{FF2B5EF4-FFF2-40B4-BE49-F238E27FC236}">
                <a16:creationId xmlns:a16="http://schemas.microsoft.com/office/drawing/2014/main" id="{8F62ED45-0A17-341C-5537-F517A8EF6D34}"/>
              </a:ext>
            </a:extLst>
          </p:cNvPr>
          <p:cNvSpPr txBox="1"/>
          <p:nvPr/>
        </p:nvSpPr>
        <p:spPr>
          <a:xfrm>
            <a:off x="440842" y="1302774"/>
            <a:ext cx="3064358" cy="27821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Die Firma XYZ möchte eine weitere Filiale in einem anderen Bundesland aufmachen. </a:t>
            </a:r>
          </a:p>
          <a:p>
            <a:pPr marL="12700">
              <a:lnSpc>
                <a:spcPct val="100000"/>
              </a:lnSpc>
            </a:pPr>
            <a:endParaRPr lang="de-DE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12700">
              <a:lnSpc>
                <a:spcPct val="100000"/>
              </a:lnSpc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Ihr wurden drei Angebote aus verschiedenen Bundesländern gemacht.</a:t>
            </a:r>
          </a:p>
          <a:p>
            <a:pPr marL="12700">
              <a:lnSpc>
                <a:spcPct val="100000"/>
              </a:lnSpc>
            </a:pPr>
            <a:endParaRPr lang="de-DE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12700">
              <a:lnSpc>
                <a:spcPct val="100000"/>
              </a:lnSpc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Nun muss sie sich für einen Standort entscheiden.</a:t>
            </a:r>
            <a:endParaRPr lang="de-DE" spc="-10" dirty="0">
              <a:solidFill>
                <a:srgbClr val="0070B1"/>
              </a:solidFill>
              <a:latin typeface="Source Sans Pro"/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814745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Source Sans Pro"/>
                <a:cs typeface="Source Sans Pro"/>
              </a:rPr>
              <a:t>Kickoff-</a:t>
            </a:r>
            <a:r>
              <a:rPr sz="4000" b="1" spc="-10" dirty="0">
                <a:latin typeface="Source Sans Pro"/>
                <a:cs typeface="Source Sans Pro"/>
              </a:rPr>
              <a:t>Meeting</a:t>
            </a:r>
            <a:endParaRPr sz="4000" dirty="0">
              <a:latin typeface="Source Sans Pro"/>
              <a:cs typeface="Source Sans Pr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17542" y="1920231"/>
            <a:ext cx="5194597" cy="345416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B20167F-0CB0-58EC-0555-93F3C7F77E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20</a:t>
            </a:fld>
            <a:endParaRPr lang="de-DE" spc="-50" dirty="0"/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EA512B3F-CA0C-5503-23E5-FBDB711C77B0}"/>
              </a:ext>
            </a:extLst>
          </p:cNvPr>
          <p:cNvSpPr txBox="1">
            <a:spLocks/>
          </p:cNvSpPr>
          <p:nvPr/>
        </p:nvSpPr>
        <p:spPr>
          <a:xfrm>
            <a:off x="457200" y="1264198"/>
            <a:ext cx="5410200" cy="44196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algn="l">
              <a:spcBef>
                <a:spcPts val="735"/>
              </a:spcBef>
              <a:tabLst>
                <a:tab pos="240665" algn="l"/>
              </a:tabLst>
            </a:pPr>
            <a:r>
              <a:rPr lang="de-DE" sz="1800" b="1" spc="-20" dirty="0"/>
              <a:t>„Nach erfolgter Projektplanung und vor dem Start der eigentlichen Durchführung“ 	(DIN 69901-5)</a:t>
            </a:r>
          </a:p>
          <a:p>
            <a:pPr marL="12700" algn="l">
              <a:spcBef>
                <a:spcPts val="735"/>
              </a:spcBef>
              <a:tabLst>
                <a:tab pos="240665" algn="l"/>
              </a:tabLst>
            </a:pPr>
            <a:endParaRPr lang="de-DE" sz="1800" b="1" spc="-2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spc="-20" dirty="0"/>
              <a:t>Kennenlernen</a:t>
            </a: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spc="-20" dirty="0"/>
              <a:t>Motivationsschub</a:t>
            </a: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spc="-20" dirty="0"/>
              <a:t>Begeisterung für das Projekt wecken</a:t>
            </a: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spc="-2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spc="-20" dirty="0"/>
              <a:t>Vorstellung von:</a:t>
            </a:r>
          </a:p>
          <a:p>
            <a:pPr marL="755650" lvl="1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pc="-20" dirty="0">
                <a:solidFill>
                  <a:srgbClr val="0070C0"/>
                </a:solidFill>
              </a:rPr>
              <a:t>Ausgangslage</a:t>
            </a:r>
          </a:p>
          <a:p>
            <a:pPr marL="755650" lvl="1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pc="-20" dirty="0">
                <a:solidFill>
                  <a:srgbClr val="0070C0"/>
                </a:solidFill>
              </a:rPr>
              <a:t>Projektziele</a:t>
            </a:r>
          </a:p>
          <a:p>
            <a:pPr marL="755650" lvl="1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pc="-20" dirty="0">
                <a:solidFill>
                  <a:srgbClr val="0070C0"/>
                </a:solidFill>
              </a:rPr>
              <a:t>Projektorganisation</a:t>
            </a:r>
          </a:p>
          <a:p>
            <a:pPr marL="755650" lvl="1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pc="-20" dirty="0">
                <a:solidFill>
                  <a:srgbClr val="0070C0"/>
                </a:solidFill>
              </a:rPr>
              <a:t>Projektplanung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1584022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>
                <a:latin typeface="Source Sans Pro"/>
                <a:cs typeface="Source Sans Pro"/>
              </a:rPr>
              <a:t>Aufgaben des Projektmanagements in der Durchführungsphase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0ED9932-1036-703C-42B8-2757A8B07BE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21</a:t>
            </a:fld>
            <a:endParaRPr lang="de-DE" spc="-50" dirty="0"/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88E85925-4CDB-DC88-5512-F9262DEE4F27}"/>
              </a:ext>
            </a:extLst>
          </p:cNvPr>
          <p:cNvSpPr txBox="1">
            <a:spLocks/>
          </p:cNvSpPr>
          <p:nvPr/>
        </p:nvSpPr>
        <p:spPr>
          <a:xfrm>
            <a:off x="457200" y="2050932"/>
            <a:ext cx="9144000" cy="307920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algn="l">
              <a:spcBef>
                <a:spcPts val="735"/>
              </a:spcBef>
              <a:tabLst>
                <a:tab pos="240665" algn="l"/>
              </a:tabLst>
            </a:pPr>
            <a:r>
              <a:rPr lang="de-DE" sz="1800" b="1" dirty="0"/>
              <a:t>Zusammenspiel von Projektsteuerung, -controlling und – Dokumentation</a:t>
            </a:r>
          </a:p>
          <a:p>
            <a:pPr marL="12700" algn="l">
              <a:spcBef>
                <a:spcPts val="735"/>
              </a:spcBef>
              <a:tabLst>
                <a:tab pos="240665" algn="l"/>
              </a:tabLst>
            </a:pPr>
            <a:endParaRPr lang="de-DE" sz="1800" b="1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dirty="0"/>
              <a:t>Projektsteuerung = zielgerichtete Lenkung aller Tätigkeiten im Rahmen eines Projektes zur rechtzeitigen Fertigstellung</a:t>
            </a: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dirty="0"/>
              <a:t>Projektcontrolling = hat die Aufgabe, Abweichungen der Projektdurchführung von der Projektplanung zu entdecken und die Projektsteuerung bei der Korrektur zu unterstützen</a:t>
            </a: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dirty="0"/>
              <a:t>Projektdokumentation = Versorgt Projektsteuerung bzw. Projektcontrolling mit Informationen</a:t>
            </a:r>
            <a:endParaRPr lang="de-DE" sz="1800" spc="-2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0680" y="-18689"/>
            <a:ext cx="11470640" cy="1031240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Source Sans Pro"/>
                <a:cs typeface="Source Sans Pro"/>
              </a:rPr>
              <a:t>Teamaufbau</a:t>
            </a:r>
            <a:r>
              <a:rPr sz="4000" b="1" spc="-125" dirty="0">
                <a:latin typeface="Source Sans Pro"/>
                <a:cs typeface="Source Sans Pro"/>
              </a:rPr>
              <a:t> </a:t>
            </a:r>
            <a:r>
              <a:rPr sz="4000" b="1" dirty="0">
                <a:latin typeface="Source Sans Pro"/>
                <a:cs typeface="Source Sans Pro"/>
              </a:rPr>
              <a:t>nach</a:t>
            </a:r>
            <a:r>
              <a:rPr sz="4000" b="1" spc="-165" dirty="0">
                <a:latin typeface="Source Sans Pro"/>
                <a:cs typeface="Source Sans Pro"/>
              </a:rPr>
              <a:t> </a:t>
            </a:r>
            <a:r>
              <a:rPr sz="4000" b="1" spc="-10" dirty="0">
                <a:latin typeface="Source Sans Pro"/>
                <a:cs typeface="Source Sans Pro"/>
              </a:rPr>
              <a:t>Tuckman</a:t>
            </a:r>
            <a:endParaRPr sz="4000">
              <a:latin typeface="Source Sans Pro"/>
              <a:cs typeface="Source Sans Pr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220970" y="4515358"/>
            <a:ext cx="2435860" cy="1305560"/>
            <a:chOff x="5220970" y="4515358"/>
            <a:chExt cx="2435860" cy="1305560"/>
          </a:xfrm>
        </p:grpSpPr>
        <p:sp>
          <p:nvSpPr>
            <p:cNvPr id="4" name="object 4"/>
            <p:cNvSpPr/>
            <p:nvPr/>
          </p:nvSpPr>
          <p:spPr>
            <a:xfrm>
              <a:off x="5227320" y="4521708"/>
              <a:ext cx="2423160" cy="1292860"/>
            </a:xfrm>
            <a:custGeom>
              <a:avLst/>
              <a:gdLst/>
              <a:ahLst/>
              <a:cxnLst/>
              <a:rect l="l" t="t" r="r" b="b"/>
              <a:pathLst>
                <a:path w="2423159" h="1292860">
                  <a:moveTo>
                    <a:pt x="2293874" y="0"/>
                  </a:moveTo>
                  <a:lnTo>
                    <a:pt x="129285" y="0"/>
                  </a:lnTo>
                  <a:lnTo>
                    <a:pt x="78974" y="10163"/>
                  </a:lnTo>
                  <a:lnTo>
                    <a:pt x="37877" y="37877"/>
                  </a:lnTo>
                  <a:lnTo>
                    <a:pt x="10163" y="78974"/>
                  </a:lnTo>
                  <a:lnTo>
                    <a:pt x="0" y="129286"/>
                  </a:lnTo>
                  <a:lnTo>
                    <a:pt x="0" y="1163116"/>
                  </a:lnTo>
                  <a:lnTo>
                    <a:pt x="10163" y="1213420"/>
                  </a:lnTo>
                  <a:lnTo>
                    <a:pt x="37877" y="1254499"/>
                  </a:lnTo>
                  <a:lnTo>
                    <a:pt x="78974" y="1282195"/>
                  </a:lnTo>
                  <a:lnTo>
                    <a:pt x="129285" y="1292352"/>
                  </a:lnTo>
                  <a:lnTo>
                    <a:pt x="2293874" y="1292352"/>
                  </a:lnTo>
                  <a:lnTo>
                    <a:pt x="2344185" y="1282195"/>
                  </a:lnTo>
                  <a:lnTo>
                    <a:pt x="2385282" y="1254499"/>
                  </a:lnTo>
                  <a:lnTo>
                    <a:pt x="2412996" y="1213420"/>
                  </a:lnTo>
                  <a:lnTo>
                    <a:pt x="2423159" y="1163116"/>
                  </a:lnTo>
                  <a:lnTo>
                    <a:pt x="2423159" y="129286"/>
                  </a:lnTo>
                  <a:lnTo>
                    <a:pt x="2412996" y="78974"/>
                  </a:lnTo>
                  <a:lnTo>
                    <a:pt x="2385282" y="37877"/>
                  </a:lnTo>
                  <a:lnTo>
                    <a:pt x="2344185" y="10163"/>
                  </a:lnTo>
                  <a:lnTo>
                    <a:pt x="2293874" y="0"/>
                  </a:lnTo>
                  <a:close/>
                </a:path>
              </a:pathLst>
            </a:custGeom>
            <a:solidFill>
              <a:srgbClr val="D2E8F4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27320" y="4521708"/>
              <a:ext cx="2423160" cy="1292860"/>
            </a:xfrm>
            <a:custGeom>
              <a:avLst/>
              <a:gdLst/>
              <a:ahLst/>
              <a:cxnLst/>
              <a:rect l="l" t="t" r="r" b="b"/>
              <a:pathLst>
                <a:path w="2423159" h="1292860">
                  <a:moveTo>
                    <a:pt x="0" y="129286"/>
                  </a:moveTo>
                  <a:lnTo>
                    <a:pt x="10163" y="78974"/>
                  </a:lnTo>
                  <a:lnTo>
                    <a:pt x="37877" y="37877"/>
                  </a:lnTo>
                  <a:lnTo>
                    <a:pt x="78974" y="10163"/>
                  </a:lnTo>
                  <a:lnTo>
                    <a:pt x="129285" y="0"/>
                  </a:lnTo>
                  <a:lnTo>
                    <a:pt x="2293874" y="0"/>
                  </a:lnTo>
                  <a:lnTo>
                    <a:pt x="2344185" y="10163"/>
                  </a:lnTo>
                  <a:lnTo>
                    <a:pt x="2385282" y="37877"/>
                  </a:lnTo>
                  <a:lnTo>
                    <a:pt x="2412996" y="78974"/>
                  </a:lnTo>
                  <a:lnTo>
                    <a:pt x="2423159" y="129286"/>
                  </a:lnTo>
                  <a:lnTo>
                    <a:pt x="2423159" y="1163116"/>
                  </a:lnTo>
                  <a:lnTo>
                    <a:pt x="2412996" y="1213420"/>
                  </a:lnTo>
                  <a:lnTo>
                    <a:pt x="2385282" y="1254499"/>
                  </a:lnTo>
                  <a:lnTo>
                    <a:pt x="2344185" y="1282195"/>
                  </a:lnTo>
                  <a:lnTo>
                    <a:pt x="2293874" y="1292352"/>
                  </a:lnTo>
                  <a:lnTo>
                    <a:pt x="129285" y="1292352"/>
                  </a:lnTo>
                  <a:lnTo>
                    <a:pt x="78974" y="1282195"/>
                  </a:lnTo>
                  <a:lnTo>
                    <a:pt x="37877" y="1254499"/>
                  </a:lnTo>
                  <a:lnTo>
                    <a:pt x="10163" y="1213420"/>
                  </a:lnTo>
                  <a:lnTo>
                    <a:pt x="0" y="1163116"/>
                  </a:lnTo>
                  <a:lnTo>
                    <a:pt x="0" y="129286"/>
                  </a:lnTo>
                  <a:close/>
                </a:path>
              </a:pathLst>
            </a:custGeom>
            <a:ln w="12700">
              <a:solidFill>
                <a:srgbClr val="007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512179" y="4866613"/>
            <a:ext cx="1077595" cy="80200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13030" marR="5080" indent="-113030" algn="r">
              <a:lnSpc>
                <a:spcPct val="100000"/>
              </a:lnSpc>
              <a:spcBef>
                <a:spcPts val="245"/>
              </a:spcBef>
              <a:buChar char="•"/>
              <a:tabLst>
                <a:tab pos="113030" algn="l"/>
              </a:tabLst>
            </a:pPr>
            <a:r>
              <a:rPr sz="1200" spc="-10" dirty="0">
                <a:solidFill>
                  <a:srgbClr val="0070B1"/>
                </a:solidFill>
                <a:latin typeface="Source Sans Pro"/>
                <a:cs typeface="Source Sans Pro"/>
              </a:rPr>
              <a:t>Positionierung</a:t>
            </a:r>
            <a:endParaRPr sz="1200" dirty="0">
              <a:latin typeface="Source Sans Pro"/>
              <a:cs typeface="Source Sans Pro"/>
            </a:endParaRPr>
          </a:p>
          <a:p>
            <a:pPr marL="113030" marR="5715" lvl="1" indent="-113030" algn="r">
              <a:lnSpc>
                <a:spcPct val="100000"/>
              </a:lnSpc>
              <a:spcBef>
                <a:spcPts val="150"/>
              </a:spcBef>
              <a:buChar char="•"/>
              <a:tabLst>
                <a:tab pos="113030" algn="l"/>
              </a:tabLst>
            </a:pPr>
            <a:r>
              <a:rPr sz="1200" spc="-10" dirty="0">
                <a:solidFill>
                  <a:srgbClr val="0070B1"/>
                </a:solidFill>
                <a:latin typeface="Source Sans Pro"/>
                <a:cs typeface="Source Sans Pro"/>
              </a:rPr>
              <a:t>Machtkämpfe</a:t>
            </a:r>
            <a:endParaRPr sz="1200" dirty="0">
              <a:latin typeface="Source Sans Pro"/>
              <a:cs typeface="Source Sans Pro"/>
            </a:endParaRPr>
          </a:p>
          <a:p>
            <a:pPr marL="27940" marR="5715" lvl="2" indent="440690" algn="r">
              <a:lnSpc>
                <a:spcPts val="1360"/>
              </a:lnSpc>
              <a:spcBef>
                <a:spcPts val="254"/>
              </a:spcBef>
              <a:buChar char="•"/>
              <a:tabLst>
                <a:tab pos="468630" algn="l"/>
              </a:tabLst>
            </a:pPr>
            <a:r>
              <a:rPr sz="1200" spc="-10" dirty="0">
                <a:solidFill>
                  <a:srgbClr val="0070B1"/>
                </a:solidFill>
                <a:latin typeface="Source Sans Pro"/>
                <a:cs typeface="Source Sans Pro"/>
              </a:rPr>
              <a:t>Fehlende Kommunikation</a:t>
            </a:r>
            <a:endParaRPr sz="1200" dirty="0">
              <a:latin typeface="Source Sans Pro"/>
              <a:cs typeface="Source Sans Pr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84145" y="4535550"/>
            <a:ext cx="2481580" cy="1305560"/>
            <a:chOff x="1848357" y="4522978"/>
            <a:chExt cx="2481580" cy="1305560"/>
          </a:xfrm>
        </p:grpSpPr>
        <p:sp>
          <p:nvSpPr>
            <p:cNvPr id="8" name="object 8"/>
            <p:cNvSpPr/>
            <p:nvPr/>
          </p:nvSpPr>
          <p:spPr>
            <a:xfrm>
              <a:off x="1854707" y="4529328"/>
              <a:ext cx="2468880" cy="1292860"/>
            </a:xfrm>
            <a:custGeom>
              <a:avLst/>
              <a:gdLst/>
              <a:ahLst/>
              <a:cxnLst/>
              <a:rect l="l" t="t" r="r" b="b"/>
              <a:pathLst>
                <a:path w="2468879" h="1292860">
                  <a:moveTo>
                    <a:pt x="2339594" y="0"/>
                  </a:moveTo>
                  <a:lnTo>
                    <a:pt x="129286" y="0"/>
                  </a:lnTo>
                  <a:lnTo>
                    <a:pt x="78974" y="10163"/>
                  </a:lnTo>
                  <a:lnTo>
                    <a:pt x="37877" y="37877"/>
                  </a:lnTo>
                  <a:lnTo>
                    <a:pt x="10163" y="78974"/>
                  </a:lnTo>
                  <a:lnTo>
                    <a:pt x="0" y="129286"/>
                  </a:lnTo>
                  <a:lnTo>
                    <a:pt x="0" y="1163116"/>
                  </a:lnTo>
                  <a:lnTo>
                    <a:pt x="10163" y="1213420"/>
                  </a:lnTo>
                  <a:lnTo>
                    <a:pt x="37877" y="1254499"/>
                  </a:lnTo>
                  <a:lnTo>
                    <a:pt x="78974" y="1282195"/>
                  </a:lnTo>
                  <a:lnTo>
                    <a:pt x="129286" y="1292352"/>
                  </a:lnTo>
                  <a:lnTo>
                    <a:pt x="2339594" y="1292352"/>
                  </a:lnTo>
                  <a:lnTo>
                    <a:pt x="2389905" y="1282195"/>
                  </a:lnTo>
                  <a:lnTo>
                    <a:pt x="2431002" y="1254499"/>
                  </a:lnTo>
                  <a:lnTo>
                    <a:pt x="2458716" y="1213420"/>
                  </a:lnTo>
                  <a:lnTo>
                    <a:pt x="2468880" y="1163116"/>
                  </a:lnTo>
                  <a:lnTo>
                    <a:pt x="2468880" y="129286"/>
                  </a:lnTo>
                  <a:lnTo>
                    <a:pt x="2458716" y="78974"/>
                  </a:lnTo>
                  <a:lnTo>
                    <a:pt x="2431002" y="37877"/>
                  </a:lnTo>
                  <a:lnTo>
                    <a:pt x="2389905" y="10163"/>
                  </a:lnTo>
                  <a:lnTo>
                    <a:pt x="2339594" y="0"/>
                  </a:lnTo>
                  <a:close/>
                </a:path>
              </a:pathLst>
            </a:custGeom>
            <a:solidFill>
              <a:srgbClr val="D2E8F4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54707" y="4529328"/>
              <a:ext cx="2468880" cy="1292860"/>
            </a:xfrm>
            <a:custGeom>
              <a:avLst/>
              <a:gdLst/>
              <a:ahLst/>
              <a:cxnLst/>
              <a:rect l="l" t="t" r="r" b="b"/>
              <a:pathLst>
                <a:path w="2468879" h="1292860">
                  <a:moveTo>
                    <a:pt x="0" y="129286"/>
                  </a:moveTo>
                  <a:lnTo>
                    <a:pt x="10163" y="78974"/>
                  </a:lnTo>
                  <a:lnTo>
                    <a:pt x="37877" y="37877"/>
                  </a:lnTo>
                  <a:lnTo>
                    <a:pt x="78974" y="10163"/>
                  </a:lnTo>
                  <a:lnTo>
                    <a:pt x="129286" y="0"/>
                  </a:lnTo>
                  <a:lnTo>
                    <a:pt x="2339594" y="0"/>
                  </a:lnTo>
                  <a:lnTo>
                    <a:pt x="2389905" y="10163"/>
                  </a:lnTo>
                  <a:lnTo>
                    <a:pt x="2431002" y="37877"/>
                  </a:lnTo>
                  <a:lnTo>
                    <a:pt x="2458716" y="78974"/>
                  </a:lnTo>
                  <a:lnTo>
                    <a:pt x="2468880" y="129286"/>
                  </a:lnTo>
                  <a:lnTo>
                    <a:pt x="2468880" y="1163116"/>
                  </a:lnTo>
                  <a:lnTo>
                    <a:pt x="2458716" y="1213420"/>
                  </a:lnTo>
                  <a:lnTo>
                    <a:pt x="2431002" y="1254499"/>
                  </a:lnTo>
                  <a:lnTo>
                    <a:pt x="2389905" y="1282195"/>
                  </a:lnTo>
                  <a:lnTo>
                    <a:pt x="2339594" y="1292352"/>
                  </a:lnTo>
                  <a:lnTo>
                    <a:pt x="129286" y="1292352"/>
                  </a:lnTo>
                  <a:lnTo>
                    <a:pt x="78974" y="1282195"/>
                  </a:lnTo>
                  <a:lnTo>
                    <a:pt x="37877" y="1254499"/>
                  </a:lnTo>
                  <a:lnTo>
                    <a:pt x="10163" y="1213420"/>
                  </a:lnTo>
                  <a:lnTo>
                    <a:pt x="0" y="1163116"/>
                  </a:lnTo>
                  <a:lnTo>
                    <a:pt x="0" y="129286"/>
                  </a:lnTo>
                  <a:close/>
                </a:path>
              </a:pathLst>
            </a:custGeom>
            <a:ln w="12699">
              <a:solidFill>
                <a:srgbClr val="007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26514" y="4983988"/>
            <a:ext cx="1516380" cy="8305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573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125730" algn="l"/>
              </a:tabLst>
            </a:pPr>
            <a:r>
              <a:rPr sz="1200" spc="-10" dirty="0">
                <a:solidFill>
                  <a:srgbClr val="0070B1"/>
                </a:solidFill>
                <a:latin typeface="Source Sans Pro"/>
                <a:cs typeface="Source Sans Pro"/>
              </a:rPr>
              <a:t>Rahmenbedingungen</a:t>
            </a:r>
            <a:endParaRPr sz="1200" dirty="0">
              <a:latin typeface="Source Sans Pro"/>
              <a:cs typeface="Source Sans Pro"/>
            </a:endParaRPr>
          </a:p>
          <a:p>
            <a:pPr marL="125730" indent="-113030">
              <a:lnSpc>
                <a:spcPct val="100000"/>
              </a:lnSpc>
              <a:spcBef>
                <a:spcPts val="145"/>
              </a:spcBef>
              <a:buChar char="•"/>
              <a:tabLst>
                <a:tab pos="125730" algn="l"/>
              </a:tabLst>
            </a:pPr>
            <a:r>
              <a:rPr sz="1200" spc="-10" dirty="0">
                <a:solidFill>
                  <a:srgbClr val="0070B1"/>
                </a:solidFill>
                <a:latin typeface="Source Sans Pro"/>
                <a:cs typeface="Source Sans Pro"/>
              </a:rPr>
              <a:t>Umgangsregeln</a:t>
            </a:r>
            <a:endParaRPr sz="1200" dirty="0">
              <a:latin typeface="Source Sans Pro"/>
              <a:cs typeface="Source Sans Pro"/>
            </a:endParaRPr>
          </a:p>
          <a:p>
            <a:pPr marL="125730" indent="-113030">
              <a:lnSpc>
                <a:spcPct val="100000"/>
              </a:lnSpc>
              <a:spcBef>
                <a:spcPts val="145"/>
              </a:spcBef>
              <a:buChar char="•"/>
              <a:tabLst>
                <a:tab pos="125730" algn="l"/>
              </a:tabLst>
            </a:pPr>
            <a:r>
              <a:rPr sz="1200" spc="-10" dirty="0">
                <a:solidFill>
                  <a:srgbClr val="0070B1"/>
                </a:solidFill>
                <a:latin typeface="Source Sans Pro"/>
                <a:cs typeface="Source Sans Pro"/>
              </a:rPr>
              <a:t>Verhaltensweisen</a:t>
            </a:r>
            <a:endParaRPr sz="1200" dirty="0">
              <a:latin typeface="Source Sans Pro"/>
              <a:cs typeface="Source Sans Pro"/>
            </a:endParaRPr>
          </a:p>
          <a:p>
            <a:pPr marL="125730" indent="-113030">
              <a:lnSpc>
                <a:spcPct val="100000"/>
              </a:lnSpc>
              <a:spcBef>
                <a:spcPts val="145"/>
              </a:spcBef>
              <a:buChar char="•"/>
              <a:tabLst>
                <a:tab pos="125730" algn="l"/>
              </a:tabLst>
            </a:pPr>
            <a:r>
              <a:rPr sz="1200" dirty="0">
                <a:solidFill>
                  <a:srgbClr val="0070B1"/>
                </a:solidFill>
                <a:latin typeface="Source Sans Pro"/>
                <a:cs typeface="Source Sans Pro"/>
              </a:rPr>
              <a:t>Konsens</a:t>
            </a:r>
            <a:r>
              <a:rPr sz="1200" spc="-5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z="1200" spc="-10" dirty="0">
                <a:solidFill>
                  <a:srgbClr val="0070B1"/>
                </a:solidFill>
                <a:latin typeface="Source Sans Pro"/>
                <a:cs typeface="Source Sans Pro"/>
              </a:rPr>
              <a:t>bilden</a:t>
            </a:r>
            <a:endParaRPr sz="1200" dirty="0">
              <a:latin typeface="Source Sans Pro"/>
              <a:cs typeface="Source Sans Pr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50865" y="1778254"/>
            <a:ext cx="2384425" cy="1303655"/>
            <a:chOff x="5150865" y="1778254"/>
            <a:chExt cx="2384425" cy="1303655"/>
          </a:xfrm>
        </p:grpSpPr>
        <p:sp>
          <p:nvSpPr>
            <p:cNvPr id="12" name="object 12"/>
            <p:cNvSpPr/>
            <p:nvPr/>
          </p:nvSpPr>
          <p:spPr>
            <a:xfrm>
              <a:off x="5157215" y="1784604"/>
              <a:ext cx="2371725" cy="1290955"/>
            </a:xfrm>
            <a:custGeom>
              <a:avLst/>
              <a:gdLst/>
              <a:ahLst/>
              <a:cxnLst/>
              <a:rect l="l" t="t" r="r" b="b"/>
              <a:pathLst>
                <a:path w="2371725" h="1290955">
                  <a:moveTo>
                    <a:pt x="2242312" y="0"/>
                  </a:moveTo>
                  <a:lnTo>
                    <a:pt x="129032" y="0"/>
                  </a:lnTo>
                  <a:lnTo>
                    <a:pt x="78813" y="10142"/>
                  </a:lnTo>
                  <a:lnTo>
                    <a:pt x="37798" y="37798"/>
                  </a:lnTo>
                  <a:lnTo>
                    <a:pt x="10142" y="78813"/>
                  </a:lnTo>
                  <a:lnTo>
                    <a:pt x="0" y="129032"/>
                  </a:lnTo>
                  <a:lnTo>
                    <a:pt x="0" y="1161796"/>
                  </a:lnTo>
                  <a:lnTo>
                    <a:pt x="10142" y="1212014"/>
                  </a:lnTo>
                  <a:lnTo>
                    <a:pt x="37798" y="1253029"/>
                  </a:lnTo>
                  <a:lnTo>
                    <a:pt x="78813" y="1280685"/>
                  </a:lnTo>
                  <a:lnTo>
                    <a:pt x="129032" y="1290828"/>
                  </a:lnTo>
                  <a:lnTo>
                    <a:pt x="2242312" y="1290828"/>
                  </a:lnTo>
                  <a:lnTo>
                    <a:pt x="2292530" y="1280685"/>
                  </a:lnTo>
                  <a:lnTo>
                    <a:pt x="2333545" y="1253029"/>
                  </a:lnTo>
                  <a:lnTo>
                    <a:pt x="2361201" y="1212014"/>
                  </a:lnTo>
                  <a:lnTo>
                    <a:pt x="2371343" y="1161796"/>
                  </a:lnTo>
                  <a:lnTo>
                    <a:pt x="2371343" y="129032"/>
                  </a:lnTo>
                  <a:lnTo>
                    <a:pt x="2361201" y="78813"/>
                  </a:lnTo>
                  <a:lnTo>
                    <a:pt x="2333545" y="37798"/>
                  </a:lnTo>
                  <a:lnTo>
                    <a:pt x="2292530" y="10142"/>
                  </a:lnTo>
                  <a:lnTo>
                    <a:pt x="2242312" y="0"/>
                  </a:lnTo>
                  <a:close/>
                </a:path>
              </a:pathLst>
            </a:custGeom>
            <a:solidFill>
              <a:srgbClr val="D2E8F4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57215" y="1784604"/>
              <a:ext cx="2371725" cy="1290955"/>
            </a:xfrm>
            <a:custGeom>
              <a:avLst/>
              <a:gdLst/>
              <a:ahLst/>
              <a:cxnLst/>
              <a:rect l="l" t="t" r="r" b="b"/>
              <a:pathLst>
                <a:path w="2371725" h="1290955">
                  <a:moveTo>
                    <a:pt x="0" y="129032"/>
                  </a:moveTo>
                  <a:lnTo>
                    <a:pt x="10142" y="78813"/>
                  </a:lnTo>
                  <a:lnTo>
                    <a:pt x="37798" y="37798"/>
                  </a:lnTo>
                  <a:lnTo>
                    <a:pt x="78813" y="10142"/>
                  </a:lnTo>
                  <a:lnTo>
                    <a:pt x="129032" y="0"/>
                  </a:lnTo>
                  <a:lnTo>
                    <a:pt x="2242312" y="0"/>
                  </a:lnTo>
                  <a:lnTo>
                    <a:pt x="2292530" y="10142"/>
                  </a:lnTo>
                  <a:lnTo>
                    <a:pt x="2333545" y="37798"/>
                  </a:lnTo>
                  <a:lnTo>
                    <a:pt x="2361201" y="78813"/>
                  </a:lnTo>
                  <a:lnTo>
                    <a:pt x="2371343" y="129032"/>
                  </a:lnTo>
                  <a:lnTo>
                    <a:pt x="2371343" y="1161796"/>
                  </a:lnTo>
                  <a:lnTo>
                    <a:pt x="2361201" y="1212014"/>
                  </a:lnTo>
                  <a:lnTo>
                    <a:pt x="2333545" y="1253029"/>
                  </a:lnTo>
                  <a:lnTo>
                    <a:pt x="2292530" y="1280685"/>
                  </a:lnTo>
                  <a:lnTo>
                    <a:pt x="2242312" y="1290828"/>
                  </a:lnTo>
                  <a:lnTo>
                    <a:pt x="129032" y="1290828"/>
                  </a:lnTo>
                  <a:lnTo>
                    <a:pt x="78813" y="1280685"/>
                  </a:lnTo>
                  <a:lnTo>
                    <a:pt x="37798" y="1253029"/>
                  </a:lnTo>
                  <a:lnTo>
                    <a:pt x="10142" y="1212014"/>
                  </a:lnTo>
                  <a:lnTo>
                    <a:pt x="0" y="1161796"/>
                  </a:lnTo>
                  <a:lnTo>
                    <a:pt x="0" y="129032"/>
                  </a:lnTo>
                  <a:close/>
                </a:path>
              </a:pathLst>
            </a:custGeom>
            <a:ln w="12700">
              <a:solidFill>
                <a:srgbClr val="007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355207" y="1806295"/>
            <a:ext cx="1116965" cy="57912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58419" marR="5715" indent="-58419" algn="r">
              <a:lnSpc>
                <a:spcPct val="100000"/>
              </a:lnSpc>
              <a:spcBef>
                <a:spcPts val="229"/>
              </a:spcBef>
              <a:buChar char="•"/>
              <a:tabLst>
                <a:tab pos="58419" algn="l"/>
              </a:tabLst>
            </a:pPr>
            <a:r>
              <a:rPr sz="1100" spc="-10" dirty="0">
                <a:solidFill>
                  <a:srgbClr val="0070B1"/>
                </a:solidFill>
                <a:latin typeface="Source Sans Pro"/>
                <a:cs typeface="Source Sans Pro"/>
              </a:rPr>
              <a:t>Kennenlernphase</a:t>
            </a:r>
            <a:endParaRPr sz="1100" dirty="0">
              <a:latin typeface="Source Sans Pro"/>
              <a:cs typeface="Source Sans Pro"/>
            </a:endParaRPr>
          </a:p>
          <a:p>
            <a:pPr marL="58419" marR="5080" lvl="1" indent="-58419" algn="r">
              <a:lnSpc>
                <a:spcPct val="100000"/>
              </a:lnSpc>
              <a:spcBef>
                <a:spcPts val="130"/>
              </a:spcBef>
              <a:buChar char="•"/>
              <a:tabLst>
                <a:tab pos="58419" algn="l"/>
              </a:tabLst>
            </a:pPr>
            <a:r>
              <a:rPr sz="1100" spc="-10" dirty="0">
                <a:solidFill>
                  <a:srgbClr val="0070B1"/>
                </a:solidFill>
                <a:latin typeface="Source Sans Pro"/>
                <a:cs typeface="Source Sans Pro"/>
              </a:rPr>
              <a:t>Beschnuppern</a:t>
            </a:r>
            <a:endParaRPr sz="1100" dirty="0">
              <a:latin typeface="Source Sans Pro"/>
              <a:cs typeface="Source Sans Pro"/>
            </a:endParaRPr>
          </a:p>
          <a:p>
            <a:pPr marL="58419" marR="5080" lvl="2" indent="-58419" algn="r">
              <a:lnSpc>
                <a:spcPct val="100000"/>
              </a:lnSpc>
              <a:spcBef>
                <a:spcPts val="135"/>
              </a:spcBef>
              <a:buChar char="•"/>
              <a:tabLst>
                <a:tab pos="58419" algn="l"/>
              </a:tabLst>
            </a:pPr>
            <a:r>
              <a:rPr sz="1100" spc="-10" dirty="0">
                <a:solidFill>
                  <a:srgbClr val="0070B1"/>
                </a:solidFill>
                <a:latin typeface="Source Sans Pro"/>
                <a:cs typeface="Source Sans Pro"/>
              </a:rPr>
              <a:t>Einschätzen</a:t>
            </a:r>
            <a:endParaRPr sz="1100" dirty="0">
              <a:latin typeface="Source Sans Pro"/>
              <a:cs typeface="Source Sans Pr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773682" y="1778254"/>
            <a:ext cx="2631440" cy="1303655"/>
            <a:chOff x="1773682" y="1778254"/>
            <a:chExt cx="2631440" cy="1303655"/>
          </a:xfrm>
        </p:grpSpPr>
        <p:sp>
          <p:nvSpPr>
            <p:cNvPr id="16" name="object 16"/>
            <p:cNvSpPr/>
            <p:nvPr/>
          </p:nvSpPr>
          <p:spPr>
            <a:xfrm>
              <a:off x="1780032" y="1784604"/>
              <a:ext cx="2618740" cy="1290955"/>
            </a:xfrm>
            <a:custGeom>
              <a:avLst/>
              <a:gdLst/>
              <a:ahLst/>
              <a:cxnLst/>
              <a:rect l="l" t="t" r="r" b="b"/>
              <a:pathLst>
                <a:path w="2618740" h="1290955">
                  <a:moveTo>
                    <a:pt x="2489200" y="0"/>
                  </a:moveTo>
                  <a:lnTo>
                    <a:pt x="129031" y="0"/>
                  </a:lnTo>
                  <a:lnTo>
                    <a:pt x="78813" y="10142"/>
                  </a:lnTo>
                  <a:lnTo>
                    <a:pt x="37798" y="37798"/>
                  </a:lnTo>
                  <a:lnTo>
                    <a:pt x="10142" y="78813"/>
                  </a:lnTo>
                  <a:lnTo>
                    <a:pt x="0" y="129032"/>
                  </a:lnTo>
                  <a:lnTo>
                    <a:pt x="0" y="1161796"/>
                  </a:lnTo>
                  <a:lnTo>
                    <a:pt x="10142" y="1212014"/>
                  </a:lnTo>
                  <a:lnTo>
                    <a:pt x="37798" y="1253029"/>
                  </a:lnTo>
                  <a:lnTo>
                    <a:pt x="78813" y="1280685"/>
                  </a:lnTo>
                  <a:lnTo>
                    <a:pt x="129031" y="1290828"/>
                  </a:lnTo>
                  <a:lnTo>
                    <a:pt x="2489200" y="1290828"/>
                  </a:lnTo>
                  <a:lnTo>
                    <a:pt x="2539418" y="1280685"/>
                  </a:lnTo>
                  <a:lnTo>
                    <a:pt x="2580433" y="1253029"/>
                  </a:lnTo>
                  <a:lnTo>
                    <a:pt x="2608089" y="1212014"/>
                  </a:lnTo>
                  <a:lnTo>
                    <a:pt x="2618232" y="1161796"/>
                  </a:lnTo>
                  <a:lnTo>
                    <a:pt x="2618232" y="129032"/>
                  </a:lnTo>
                  <a:lnTo>
                    <a:pt x="2608089" y="78813"/>
                  </a:lnTo>
                  <a:lnTo>
                    <a:pt x="2580433" y="37798"/>
                  </a:lnTo>
                  <a:lnTo>
                    <a:pt x="2539418" y="10142"/>
                  </a:lnTo>
                  <a:lnTo>
                    <a:pt x="2489200" y="0"/>
                  </a:lnTo>
                  <a:close/>
                </a:path>
              </a:pathLst>
            </a:custGeom>
            <a:solidFill>
              <a:srgbClr val="D2E8F4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80032" y="1784604"/>
              <a:ext cx="2618740" cy="1290955"/>
            </a:xfrm>
            <a:custGeom>
              <a:avLst/>
              <a:gdLst/>
              <a:ahLst/>
              <a:cxnLst/>
              <a:rect l="l" t="t" r="r" b="b"/>
              <a:pathLst>
                <a:path w="2618740" h="1290955">
                  <a:moveTo>
                    <a:pt x="0" y="129032"/>
                  </a:moveTo>
                  <a:lnTo>
                    <a:pt x="10142" y="78813"/>
                  </a:lnTo>
                  <a:lnTo>
                    <a:pt x="37798" y="37798"/>
                  </a:lnTo>
                  <a:lnTo>
                    <a:pt x="78813" y="10142"/>
                  </a:lnTo>
                  <a:lnTo>
                    <a:pt x="129031" y="0"/>
                  </a:lnTo>
                  <a:lnTo>
                    <a:pt x="2489200" y="0"/>
                  </a:lnTo>
                  <a:lnTo>
                    <a:pt x="2539418" y="10142"/>
                  </a:lnTo>
                  <a:lnTo>
                    <a:pt x="2580433" y="37798"/>
                  </a:lnTo>
                  <a:lnTo>
                    <a:pt x="2608089" y="78813"/>
                  </a:lnTo>
                  <a:lnTo>
                    <a:pt x="2618232" y="129032"/>
                  </a:lnTo>
                  <a:lnTo>
                    <a:pt x="2618232" y="1161796"/>
                  </a:lnTo>
                  <a:lnTo>
                    <a:pt x="2608089" y="1212014"/>
                  </a:lnTo>
                  <a:lnTo>
                    <a:pt x="2580433" y="1253029"/>
                  </a:lnTo>
                  <a:lnTo>
                    <a:pt x="2539418" y="1280685"/>
                  </a:lnTo>
                  <a:lnTo>
                    <a:pt x="2489200" y="1290828"/>
                  </a:lnTo>
                  <a:lnTo>
                    <a:pt x="129031" y="1290828"/>
                  </a:lnTo>
                  <a:lnTo>
                    <a:pt x="78813" y="1280685"/>
                  </a:lnTo>
                  <a:lnTo>
                    <a:pt x="37798" y="1253029"/>
                  </a:lnTo>
                  <a:lnTo>
                    <a:pt x="10142" y="1212014"/>
                  </a:lnTo>
                  <a:lnTo>
                    <a:pt x="0" y="1161796"/>
                  </a:lnTo>
                  <a:lnTo>
                    <a:pt x="0" y="129032"/>
                  </a:lnTo>
                  <a:close/>
                </a:path>
              </a:pathLst>
            </a:custGeom>
            <a:ln w="12700">
              <a:solidFill>
                <a:srgbClr val="007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841119" y="1806661"/>
            <a:ext cx="1487170" cy="103187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573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125730" algn="l"/>
              </a:tabLst>
            </a:pPr>
            <a:r>
              <a:rPr sz="1200" spc="-10" dirty="0">
                <a:solidFill>
                  <a:srgbClr val="0070B1"/>
                </a:solidFill>
                <a:latin typeface="Source Sans Pro"/>
                <a:cs typeface="Source Sans Pro"/>
              </a:rPr>
              <a:t>Umsetzung</a:t>
            </a:r>
            <a:endParaRPr sz="1200" dirty="0">
              <a:latin typeface="Source Sans Pro"/>
              <a:cs typeface="Source Sans Pro"/>
            </a:endParaRPr>
          </a:p>
          <a:p>
            <a:pPr marL="125730" indent="-113030">
              <a:lnSpc>
                <a:spcPct val="100000"/>
              </a:lnSpc>
              <a:spcBef>
                <a:spcPts val="145"/>
              </a:spcBef>
              <a:buChar char="•"/>
              <a:tabLst>
                <a:tab pos="125730" algn="l"/>
              </a:tabLst>
            </a:pPr>
            <a:r>
              <a:rPr sz="1200" dirty="0">
                <a:solidFill>
                  <a:srgbClr val="0070B1"/>
                </a:solidFill>
                <a:latin typeface="Source Sans Pro"/>
                <a:cs typeface="Source Sans Pro"/>
              </a:rPr>
              <a:t>Ergebnisse</a:t>
            </a:r>
            <a:r>
              <a:rPr sz="1200" spc="-5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z="1200" spc="-10" dirty="0">
                <a:solidFill>
                  <a:srgbClr val="0070B1"/>
                </a:solidFill>
                <a:latin typeface="Source Sans Pro"/>
                <a:cs typeface="Source Sans Pro"/>
              </a:rPr>
              <a:t>erbringen</a:t>
            </a:r>
            <a:endParaRPr sz="1200" dirty="0">
              <a:latin typeface="Source Sans Pro"/>
              <a:cs typeface="Source Sans Pro"/>
            </a:endParaRPr>
          </a:p>
          <a:p>
            <a:pPr marL="125730" indent="-113030">
              <a:lnSpc>
                <a:spcPct val="100000"/>
              </a:lnSpc>
              <a:spcBef>
                <a:spcPts val="145"/>
              </a:spcBef>
              <a:buChar char="•"/>
              <a:tabLst>
                <a:tab pos="125730" algn="l"/>
              </a:tabLst>
            </a:pPr>
            <a:r>
              <a:rPr sz="1200" spc="-10" dirty="0">
                <a:solidFill>
                  <a:srgbClr val="0070B1"/>
                </a:solidFill>
                <a:latin typeface="Source Sans Pro"/>
                <a:cs typeface="Source Sans Pro"/>
              </a:rPr>
              <a:t>Effiziente</a:t>
            </a:r>
            <a:r>
              <a:rPr sz="1200" spc="3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z="1200" spc="-10" dirty="0">
                <a:solidFill>
                  <a:srgbClr val="0070B1"/>
                </a:solidFill>
                <a:latin typeface="Source Sans Pro"/>
                <a:cs typeface="Source Sans Pro"/>
              </a:rPr>
              <a:t>Arbeit</a:t>
            </a:r>
            <a:endParaRPr sz="1200" dirty="0">
              <a:latin typeface="Source Sans Pro"/>
              <a:cs typeface="Source Sans Pro"/>
            </a:endParaRPr>
          </a:p>
          <a:p>
            <a:pPr marL="125730" indent="-113030">
              <a:lnSpc>
                <a:spcPct val="100000"/>
              </a:lnSpc>
              <a:spcBef>
                <a:spcPts val="145"/>
              </a:spcBef>
              <a:buChar char="•"/>
              <a:tabLst>
                <a:tab pos="125730" algn="l"/>
              </a:tabLst>
            </a:pPr>
            <a:r>
              <a:rPr sz="1200" spc="-10" dirty="0">
                <a:solidFill>
                  <a:srgbClr val="0070B1"/>
                </a:solidFill>
                <a:latin typeface="Source Sans Pro"/>
                <a:cs typeface="Source Sans Pro"/>
              </a:rPr>
              <a:t>Teamleistung</a:t>
            </a:r>
            <a:endParaRPr sz="1200" dirty="0">
              <a:latin typeface="Source Sans Pro"/>
              <a:cs typeface="Source Sans Pro"/>
            </a:endParaRPr>
          </a:p>
          <a:p>
            <a:pPr marL="125730" indent="-113030">
              <a:lnSpc>
                <a:spcPct val="100000"/>
              </a:lnSpc>
              <a:spcBef>
                <a:spcPts val="145"/>
              </a:spcBef>
              <a:buChar char="•"/>
              <a:tabLst>
                <a:tab pos="125730" algn="l"/>
              </a:tabLst>
            </a:pPr>
            <a:r>
              <a:rPr sz="1200" spc="-10" dirty="0">
                <a:solidFill>
                  <a:srgbClr val="0070B1"/>
                </a:solidFill>
                <a:latin typeface="Source Sans Pro"/>
                <a:cs typeface="Source Sans Pro"/>
              </a:rPr>
              <a:t>Zielorientierung</a:t>
            </a:r>
            <a:endParaRPr sz="1200" dirty="0">
              <a:latin typeface="Source Sans Pro"/>
              <a:cs typeface="Source Sans Pro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872485" y="2008377"/>
            <a:ext cx="1760855" cy="1760855"/>
            <a:chOff x="2872485" y="2008377"/>
            <a:chExt cx="1760855" cy="1760855"/>
          </a:xfrm>
        </p:grpSpPr>
        <p:sp>
          <p:nvSpPr>
            <p:cNvPr id="20" name="object 20"/>
            <p:cNvSpPr/>
            <p:nvPr/>
          </p:nvSpPr>
          <p:spPr>
            <a:xfrm>
              <a:off x="2878835" y="2014727"/>
              <a:ext cx="1748155" cy="1748155"/>
            </a:xfrm>
            <a:custGeom>
              <a:avLst/>
              <a:gdLst/>
              <a:ahLst/>
              <a:cxnLst/>
              <a:rect l="l" t="t" r="r" b="b"/>
              <a:pathLst>
                <a:path w="1748154" h="1748154">
                  <a:moveTo>
                    <a:pt x="1748027" y="0"/>
                  </a:moveTo>
                  <a:lnTo>
                    <a:pt x="1699910" y="649"/>
                  </a:lnTo>
                  <a:lnTo>
                    <a:pt x="1652114" y="2586"/>
                  </a:lnTo>
                  <a:lnTo>
                    <a:pt x="1604656" y="5794"/>
                  </a:lnTo>
                  <a:lnTo>
                    <a:pt x="1557553" y="10256"/>
                  </a:lnTo>
                  <a:lnTo>
                    <a:pt x="1510821" y="15956"/>
                  </a:lnTo>
                  <a:lnTo>
                    <a:pt x="1464477" y="22877"/>
                  </a:lnTo>
                  <a:lnTo>
                    <a:pt x="1418538" y="31002"/>
                  </a:lnTo>
                  <a:lnTo>
                    <a:pt x="1373021" y="40315"/>
                  </a:lnTo>
                  <a:lnTo>
                    <a:pt x="1327942" y="50799"/>
                  </a:lnTo>
                  <a:lnTo>
                    <a:pt x="1283317" y="62438"/>
                  </a:lnTo>
                  <a:lnTo>
                    <a:pt x="1239164" y="75214"/>
                  </a:lnTo>
                  <a:lnTo>
                    <a:pt x="1195498" y="89111"/>
                  </a:lnTo>
                  <a:lnTo>
                    <a:pt x="1152338" y="104112"/>
                  </a:lnTo>
                  <a:lnTo>
                    <a:pt x="1109698" y="120202"/>
                  </a:lnTo>
                  <a:lnTo>
                    <a:pt x="1067597" y="137362"/>
                  </a:lnTo>
                  <a:lnTo>
                    <a:pt x="1026051" y="155577"/>
                  </a:lnTo>
                  <a:lnTo>
                    <a:pt x="985075" y="174829"/>
                  </a:lnTo>
                  <a:lnTo>
                    <a:pt x="944688" y="195103"/>
                  </a:lnTo>
                  <a:lnTo>
                    <a:pt x="904906" y="216381"/>
                  </a:lnTo>
                  <a:lnTo>
                    <a:pt x="865744" y="238647"/>
                  </a:lnTo>
                  <a:lnTo>
                    <a:pt x="827221" y="261884"/>
                  </a:lnTo>
                  <a:lnTo>
                    <a:pt x="789352" y="286075"/>
                  </a:lnTo>
                  <a:lnTo>
                    <a:pt x="752155" y="311204"/>
                  </a:lnTo>
                  <a:lnTo>
                    <a:pt x="715646" y="337255"/>
                  </a:lnTo>
                  <a:lnTo>
                    <a:pt x="679841" y="364209"/>
                  </a:lnTo>
                  <a:lnTo>
                    <a:pt x="644757" y="392052"/>
                  </a:lnTo>
                  <a:lnTo>
                    <a:pt x="610411" y="420766"/>
                  </a:lnTo>
                  <a:lnTo>
                    <a:pt x="576820" y="450335"/>
                  </a:lnTo>
                  <a:lnTo>
                    <a:pt x="544000" y="480741"/>
                  </a:lnTo>
                  <a:lnTo>
                    <a:pt x="511968" y="511968"/>
                  </a:lnTo>
                  <a:lnTo>
                    <a:pt x="480741" y="544000"/>
                  </a:lnTo>
                  <a:lnTo>
                    <a:pt x="450335" y="576820"/>
                  </a:lnTo>
                  <a:lnTo>
                    <a:pt x="420766" y="610411"/>
                  </a:lnTo>
                  <a:lnTo>
                    <a:pt x="392052" y="644757"/>
                  </a:lnTo>
                  <a:lnTo>
                    <a:pt x="364209" y="679841"/>
                  </a:lnTo>
                  <a:lnTo>
                    <a:pt x="337255" y="715646"/>
                  </a:lnTo>
                  <a:lnTo>
                    <a:pt x="311204" y="752155"/>
                  </a:lnTo>
                  <a:lnTo>
                    <a:pt x="286075" y="789352"/>
                  </a:lnTo>
                  <a:lnTo>
                    <a:pt x="261884" y="827221"/>
                  </a:lnTo>
                  <a:lnTo>
                    <a:pt x="238647" y="865744"/>
                  </a:lnTo>
                  <a:lnTo>
                    <a:pt x="216381" y="904906"/>
                  </a:lnTo>
                  <a:lnTo>
                    <a:pt x="195103" y="944688"/>
                  </a:lnTo>
                  <a:lnTo>
                    <a:pt x="174829" y="985075"/>
                  </a:lnTo>
                  <a:lnTo>
                    <a:pt x="155577" y="1026051"/>
                  </a:lnTo>
                  <a:lnTo>
                    <a:pt x="137362" y="1067597"/>
                  </a:lnTo>
                  <a:lnTo>
                    <a:pt x="120202" y="1109698"/>
                  </a:lnTo>
                  <a:lnTo>
                    <a:pt x="104112" y="1152338"/>
                  </a:lnTo>
                  <a:lnTo>
                    <a:pt x="89111" y="1195498"/>
                  </a:lnTo>
                  <a:lnTo>
                    <a:pt x="75214" y="1239164"/>
                  </a:lnTo>
                  <a:lnTo>
                    <a:pt x="62438" y="1283317"/>
                  </a:lnTo>
                  <a:lnTo>
                    <a:pt x="50799" y="1327942"/>
                  </a:lnTo>
                  <a:lnTo>
                    <a:pt x="40315" y="1373021"/>
                  </a:lnTo>
                  <a:lnTo>
                    <a:pt x="31002" y="1418538"/>
                  </a:lnTo>
                  <a:lnTo>
                    <a:pt x="22877" y="1464477"/>
                  </a:lnTo>
                  <a:lnTo>
                    <a:pt x="15956" y="1510821"/>
                  </a:lnTo>
                  <a:lnTo>
                    <a:pt x="10256" y="1557553"/>
                  </a:lnTo>
                  <a:lnTo>
                    <a:pt x="5794" y="1604656"/>
                  </a:lnTo>
                  <a:lnTo>
                    <a:pt x="2586" y="1652114"/>
                  </a:lnTo>
                  <a:lnTo>
                    <a:pt x="649" y="1699910"/>
                  </a:lnTo>
                  <a:lnTo>
                    <a:pt x="0" y="1748028"/>
                  </a:lnTo>
                  <a:lnTo>
                    <a:pt x="1748027" y="1748028"/>
                  </a:lnTo>
                  <a:lnTo>
                    <a:pt x="1748027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878835" y="2014727"/>
              <a:ext cx="1748155" cy="1748155"/>
            </a:xfrm>
            <a:custGeom>
              <a:avLst/>
              <a:gdLst/>
              <a:ahLst/>
              <a:cxnLst/>
              <a:rect l="l" t="t" r="r" b="b"/>
              <a:pathLst>
                <a:path w="1748154" h="1748154">
                  <a:moveTo>
                    <a:pt x="0" y="1748028"/>
                  </a:moveTo>
                  <a:lnTo>
                    <a:pt x="649" y="1699910"/>
                  </a:lnTo>
                  <a:lnTo>
                    <a:pt x="2586" y="1652114"/>
                  </a:lnTo>
                  <a:lnTo>
                    <a:pt x="5794" y="1604656"/>
                  </a:lnTo>
                  <a:lnTo>
                    <a:pt x="10256" y="1557553"/>
                  </a:lnTo>
                  <a:lnTo>
                    <a:pt x="15956" y="1510821"/>
                  </a:lnTo>
                  <a:lnTo>
                    <a:pt x="22877" y="1464477"/>
                  </a:lnTo>
                  <a:lnTo>
                    <a:pt x="31002" y="1418538"/>
                  </a:lnTo>
                  <a:lnTo>
                    <a:pt x="40315" y="1373021"/>
                  </a:lnTo>
                  <a:lnTo>
                    <a:pt x="50799" y="1327942"/>
                  </a:lnTo>
                  <a:lnTo>
                    <a:pt x="62438" y="1283317"/>
                  </a:lnTo>
                  <a:lnTo>
                    <a:pt x="75214" y="1239164"/>
                  </a:lnTo>
                  <a:lnTo>
                    <a:pt x="89111" y="1195498"/>
                  </a:lnTo>
                  <a:lnTo>
                    <a:pt x="104112" y="1152338"/>
                  </a:lnTo>
                  <a:lnTo>
                    <a:pt x="120202" y="1109698"/>
                  </a:lnTo>
                  <a:lnTo>
                    <a:pt x="137362" y="1067597"/>
                  </a:lnTo>
                  <a:lnTo>
                    <a:pt x="155577" y="1026051"/>
                  </a:lnTo>
                  <a:lnTo>
                    <a:pt x="174829" y="985075"/>
                  </a:lnTo>
                  <a:lnTo>
                    <a:pt x="195103" y="944688"/>
                  </a:lnTo>
                  <a:lnTo>
                    <a:pt x="216381" y="904906"/>
                  </a:lnTo>
                  <a:lnTo>
                    <a:pt x="238647" y="865744"/>
                  </a:lnTo>
                  <a:lnTo>
                    <a:pt x="261884" y="827221"/>
                  </a:lnTo>
                  <a:lnTo>
                    <a:pt x="286075" y="789352"/>
                  </a:lnTo>
                  <a:lnTo>
                    <a:pt x="311204" y="752155"/>
                  </a:lnTo>
                  <a:lnTo>
                    <a:pt x="337255" y="715646"/>
                  </a:lnTo>
                  <a:lnTo>
                    <a:pt x="364209" y="679841"/>
                  </a:lnTo>
                  <a:lnTo>
                    <a:pt x="392052" y="644757"/>
                  </a:lnTo>
                  <a:lnTo>
                    <a:pt x="420766" y="610411"/>
                  </a:lnTo>
                  <a:lnTo>
                    <a:pt x="450335" y="576820"/>
                  </a:lnTo>
                  <a:lnTo>
                    <a:pt x="480741" y="544000"/>
                  </a:lnTo>
                  <a:lnTo>
                    <a:pt x="511968" y="511968"/>
                  </a:lnTo>
                  <a:lnTo>
                    <a:pt x="544000" y="480741"/>
                  </a:lnTo>
                  <a:lnTo>
                    <a:pt x="576820" y="450335"/>
                  </a:lnTo>
                  <a:lnTo>
                    <a:pt x="610411" y="420766"/>
                  </a:lnTo>
                  <a:lnTo>
                    <a:pt x="644757" y="392052"/>
                  </a:lnTo>
                  <a:lnTo>
                    <a:pt x="679841" y="364209"/>
                  </a:lnTo>
                  <a:lnTo>
                    <a:pt x="715646" y="337255"/>
                  </a:lnTo>
                  <a:lnTo>
                    <a:pt x="752155" y="311204"/>
                  </a:lnTo>
                  <a:lnTo>
                    <a:pt x="789352" y="286075"/>
                  </a:lnTo>
                  <a:lnTo>
                    <a:pt x="827221" y="261884"/>
                  </a:lnTo>
                  <a:lnTo>
                    <a:pt x="865744" y="238647"/>
                  </a:lnTo>
                  <a:lnTo>
                    <a:pt x="904906" y="216381"/>
                  </a:lnTo>
                  <a:lnTo>
                    <a:pt x="944688" y="195103"/>
                  </a:lnTo>
                  <a:lnTo>
                    <a:pt x="985075" y="174829"/>
                  </a:lnTo>
                  <a:lnTo>
                    <a:pt x="1026051" y="155577"/>
                  </a:lnTo>
                  <a:lnTo>
                    <a:pt x="1067597" y="137362"/>
                  </a:lnTo>
                  <a:lnTo>
                    <a:pt x="1109698" y="120202"/>
                  </a:lnTo>
                  <a:lnTo>
                    <a:pt x="1152338" y="104112"/>
                  </a:lnTo>
                  <a:lnTo>
                    <a:pt x="1195498" y="89111"/>
                  </a:lnTo>
                  <a:lnTo>
                    <a:pt x="1239164" y="75214"/>
                  </a:lnTo>
                  <a:lnTo>
                    <a:pt x="1283317" y="62438"/>
                  </a:lnTo>
                  <a:lnTo>
                    <a:pt x="1327942" y="50799"/>
                  </a:lnTo>
                  <a:lnTo>
                    <a:pt x="1373021" y="40315"/>
                  </a:lnTo>
                  <a:lnTo>
                    <a:pt x="1418538" y="31002"/>
                  </a:lnTo>
                  <a:lnTo>
                    <a:pt x="1464477" y="22877"/>
                  </a:lnTo>
                  <a:lnTo>
                    <a:pt x="1510821" y="15956"/>
                  </a:lnTo>
                  <a:lnTo>
                    <a:pt x="1557553" y="10256"/>
                  </a:lnTo>
                  <a:lnTo>
                    <a:pt x="1604656" y="5794"/>
                  </a:lnTo>
                  <a:lnTo>
                    <a:pt x="1652114" y="2586"/>
                  </a:lnTo>
                  <a:lnTo>
                    <a:pt x="1699910" y="649"/>
                  </a:lnTo>
                  <a:lnTo>
                    <a:pt x="1748027" y="0"/>
                  </a:lnTo>
                  <a:lnTo>
                    <a:pt x="1748027" y="1748028"/>
                  </a:lnTo>
                  <a:lnTo>
                    <a:pt x="0" y="1748028"/>
                  </a:lnTo>
                  <a:close/>
                </a:path>
              </a:pathLst>
            </a:custGeom>
            <a:ln w="12700">
              <a:solidFill>
                <a:srgbClr val="D2E8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515359" y="2889250"/>
            <a:ext cx="984885" cy="4705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750"/>
              </a:lnSpc>
              <a:spcBef>
                <a:spcPts val="100"/>
              </a:spcBef>
            </a:pPr>
            <a:r>
              <a:rPr sz="1500" b="1" spc="-25" dirty="0">
                <a:solidFill>
                  <a:srgbClr val="D2E8F4"/>
                </a:solidFill>
                <a:latin typeface="Source Sans Pro"/>
                <a:cs typeface="Source Sans Pro"/>
              </a:rPr>
              <a:t>4.</a:t>
            </a:r>
            <a:endParaRPr sz="1500" dirty="0">
              <a:latin typeface="Source Sans Pro"/>
              <a:cs typeface="Source Sans Pro"/>
            </a:endParaRPr>
          </a:p>
          <a:p>
            <a:pPr algn="ctr">
              <a:lnSpc>
                <a:spcPts val="1750"/>
              </a:lnSpc>
            </a:pPr>
            <a:r>
              <a:rPr sz="1500" b="1" spc="-10" dirty="0">
                <a:solidFill>
                  <a:srgbClr val="D2E8F4"/>
                </a:solidFill>
                <a:latin typeface="Source Sans Pro"/>
                <a:cs typeface="Source Sans Pro"/>
              </a:rPr>
              <a:t>performing</a:t>
            </a:r>
            <a:endParaRPr sz="1500" dirty="0">
              <a:latin typeface="Source Sans Pro"/>
              <a:cs typeface="Source Sans Pro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707635" y="1999884"/>
            <a:ext cx="1760855" cy="1760855"/>
            <a:chOff x="4701285" y="2008377"/>
            <a:chExt cx="1760855" cy="1760855"/>
          </a:xfrm>
        </p:grpSpPr>
        <p:sp>
          <p:nvSpPr>
            <p:cNvPr id="24" name="object 24"/>
            <p:cNvSpPr/>
            <p:nvPr/>
          </p:nvSpPr>
          <p:spPr>
            <a:xfrm>
              <a:off x="4707635" y="2014727"/>
              <a:ext cx="1748155" cy="1748155"/>
            </a:xfrm>
            <a:custGeom>
              <a:avLst/>
              <a:gdLst/>
              <a:ahLst/>
              <a:cxnLst/>
              <a:rect l="l" t="t" r="r" b="b"/>
              <a:pathLst>
                <a:path w="1748154" h="1748154">
                  <a:moveTo>
                    <a:pt x="0" y="0"/>
                  </a:moveTo>
                  <a:lnTo>
                    <a:pt x="0" y="1748028"/>
                  </a:lnTo>
                  <a:lnTo>
                    <a:pt x="1748027" y="1748028"/>
                  </a:lnTo>
                  <a:lnTo>
                    <a:pt x="1747378" y="1699910"/>
                  </a:lnTo>
                  <a:lnTo>
                    <a:pt x="1745441" y="1652114"/>
                  </a:lnTo>
                  <a:lnTo>
                    <a:pt x="1742233" y="1604656"/>
                  </a:lnTo>
                  <a:lnTo>
                    <a:pt x="1737771" y="1557553"/>
                  </a:lnTo>
                  <a:lnTo>
                    <a:pt x="1732071" y="1510821"/>
                  </a:lnTo>
                  <a:lnTo>
                    <a:pt x="1725150" y="1464477"/>
                  </a:lnTo>
                  <a:lnTo>
                    <a:pt x="1717025" y="1418538"/>
                  </a:lnTo>
                  <a:lnTo>
                    <a:pt x="1707712" y="1373021"/>
                  </a:lnTo>
                  <a:lnTo>
                    <a:pt x="1697228" y="1327942"/>
                  </a:lnTo>
                  <a:lnTo>
                    <a:pt x="1685589" y="1283317"/>
                  </a:lnTo>
                  <a:lnTo>
                    <a:pt x="1672813" y="1239164"/>
                  </a:lnTo>
                  <a:lnTo>
                    <a:pt x="1658916" y="1195498"/>
                  </a:lnTo>
                  <a:lnTo>
                    <a:pt x="1643915" y="1152338"/>
                  </a:lnTo>
                  <a:lnTo>
                    <a:pt x="1627825" y="1109698"/>
                  </a:lnTo>
                  <a:lnTo>
                    <a:pt x="1610665" y="1067597"/>
                  </a:lnTo>
                  <a:lnTo>
                    <a:pt x="1592450" y="1026051"/>
                  </a:lnTo>
                  <a:lnTo>
                    <a:pt x="1573198" y="985075"/>
                  </a:lnTo>
                  <a:lnTo>
                    <a:pt x="1552924" y="944688"/>
                  </a:lnTo>
                  <a:lnTo>
                    <a:pt x="1531646" y="904906"/>
                  </a:lnTo>
                  <a:lnTo>
                    <a:pt x="1509380" y="865744"/>
                  </a:lnTo>
                  <a:lnTo>
                    <a:pt x="1486143" y="827221"/>
                  </a:lnTo>
                  <a:lnTo>
                    <a:pt x="1461952" y="789352"/>
                  </a:lnTo>
                  <a:lnTo>
                    <a:pt x="1436823" y="752155"/>
                  </a:lnTo>
                  <a:lnTo>
                    <a:pt x="1410772" y="715646"/>
                  </a:lnTo>
                  <a:lnTo>
                    <a:pt x="1383818" y="679841"/>
                  </a:lnTo>
                  <a:lnTo>
                    <a:pt x="1355975" y="644757"/>
                  </a:lnTo>
                  <a:lnTo>
                    <a:pt x="1327261" y="610411"/>
                  </a:lnTo>
                  <a:lnTo>
                    <a:pt x="1297692" y="576820"/>
                  </a:lnTo>
                  <a:lnTo>
                    <a:pt x="1267286" y="544000"/>
                  </a:lnTo>
                  <a:lnTo>
                    <a:pt x="1236059" y="511968"/>
                  </a:lnTo>
                  <a:lnTo>
                    <a:pt x="1204027" y="480741"/>
                  </a:lnTo>
                  <a:lnTo>
                    <a:pt x="1171207" y="450335"/>
                  </a:lnTo>
                  <a:lnTo>
                    <a:pt x="1137616" y="420766"/>
                  </a:lnTo>
                  <a:lnTo>
                    <a:pt x="1103270" y="392052"/>
                  </a:lnTo>
                  <a:lnTo>
                    <a:pt x="1068186" y="364209"/>
                  </a:lnTo>
                  <a:lnTo>
                    <a:pt x="1032381" y="337255"/>
                  </a:lnTo>
                  <a:lnTo>
                    <a:pt x="995872" y="311204"/>
                  </a:lnTo>
                  <a:lnTo>
                    <a:pt x="958675" y="286075"/>
                  </a:lnTo>
                  <a:lnTo>
                    <a:pt x="920806" y="261884"/>
                  </a:lnTo>
                  <a:lnTo>
                    <a:pt x="882283" y="238647"/>
                  </a:lnTo>
                  <a:lnTo>
                    <a:pt x="843121" y="216381"/>
                  </a:lnTo>
                  <a:lnTo>
                    <a:pt x="803339" y="195103"/>
                  </a:lnTo>
                  <a:lnTo>
                    <a:pt x="762952" y="174829"/>
                  </a:lnTo>
                  <a:lnTo>
                    <a:pt x="721976" y="155577"/>
                  </a:lnTo>
                  <a:lnTo>
                    <a:pt x="680430" y="137362"/>
                  </a:lnTo>
                  <a:lnTo>
                    <a:pt x="638329" y="120202"/>
                  </a:lnTo>
                  <a:lnTo>
                    <a:pt x="595689" y="104112"/>
                  </a:lnTo>
                  <a:lnTo>
                    <a:pt x="552529" y="89111"/>
                  </a:lnTo>
                  <a:lnTo>
                    <a:pt x="508863" y="75214"/>
                  </a:lnTo>
                  <a:lnTo>
                    <a:pt x="464710" y="62438"/>
                  </a:lnTo>
                  <a:lnTo>
                    <a:pt x="420085" y="50799"/>
                  </a:lnTo>
                  <a:lnTo>
                    <a:pt x="375006" y="40315"/>
                  </a:lnTo>
                  <a:lnTo>
                    <a:pt x="329489" y="31002"/>
                  </a:lnTo>
                  <a:lnTo>
                    <a:pt x="283550" y="22877"/>
                  </a:lnTo>
                  <a:lnTo>
                    <a:pt x="237206" y="15956"/>
                  </a:lnTo>
                  <a:lnTo>
                    <a:pt x="190474" y="10256"/>
                  </a:lnTo>
                  <a:lnTo>
                    <a:pt x="143371" y="5794"/>
                  </a:lnTo>
                  <a:lnTo>
                    <a:pt x="95913" y="2586"/>
                  </a:lnTo>
                  <a:lnTo>
                    <a:pt x="48117" y="6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707635" y="2014727"/>
              <a:ext cx="1748155" cy="1748155"/>
            </a:xfrm>
            <a:custGeom>
              <a:avLst/>
              <a:gdLst/>
              <a:ahLst/>
              <a:cxnLst/>
              <a:rect l="l" t="t" r="r" b="b"/>
              <a:pathLst>
                <a:path w="1748154" h="1748154">
                  <a:moveTo>
                    <a:pt x="0" y="0"/>
                  </a:moveTo>
                  <a:lnTo>
                    <a:pt x="48117" y="649"/>
                  </a:lnTo>
                  <a:lnTo>
                    <a:pt x="95913" y="2586"/>
                  </a:lnTo>
                  <a:lnTo>
                    <a:pt x="143371" y="5794"/>
                  </a:lnTo>
                  <a:lnTo>
                    <a:pt x="190474" y="10256"/>
                  </a:lnTo>
                  <a:lnTo>
                    <a:pt x="237206" y="15956"/>
                  </a:lnTo>
                  <a:lnTo>
                    <a:pt x="283550" y="22877"/>
                  </a:lnTo>
                  <a:lnTo>
                    <a:pt x="329489" y="31002"/>
                  </a:lnTo>
                  <a:lnTo>
                    <a:pt x="375006" y="40315"/>
                  </a:lnTo>
                  <a:lnTo>
                    <a:pt x="420085" y="50799"/>
                  </a:lnTo>
                  <a:lnTo>
                    <a:pt x="464710" y="62438"/>
                  </a:lnTo>
                  <a:lnTo>
                    <a:pt x="508863" y="75214"/>
                  </a:lnTo>
                  <a:lnTo>
                    <a:pt x="552529" y="89111"/>
                  </a:lnTo>
                  <a:lnTo>
                    <a:pt x="595689" y="104112"/>
                  </a:lnTo>
                  <a:lnTo>
                    <a:pt x="638329" y="120202"/>
                  </a:lnTo>
                  <a:lnTo>
                    <a:pt x="680430" y="137362"/>
                  </a:lnTo>
                  <a:lnTo>
                    <a:pt x="721976" y="155577"/>
                  </a:lnTo>
                  <a:lnTo>
                    <a:pt x="762952" y="174829"/>
                  </a:lnTo>
                  <a:lnTo>
                    <a:pt x="803339" y="195103"/>
                  </a:lnTo>
                  <a:lnTo>
                    <a:pt x="843121" y="216381"/>
                  </a:lnTo>
                  <a:lnTo>
                    <a:pt x="882283" y="238647"/>
                  </a:lnTo>
                  <a:lnTo>
                    <a:pt x="920806" y="261884"/>
                  </a:lnTo>
                  <a:lnTo>
                    <a:pt x="958675" y="286075"/>
                  </a:lnTo>
                  <a:lnTo>
                    <a:pt x="995872" y="311204"/>
                  </a:lnTo>
                  <a:lnTo>
                    <a:pt x="1032381" y="337255"/>
                  </a:lnTo>
                  <a:lnTo>
                    <a:pt x="1068186" y="364209"/>
                  </a:lnTo>
                  <a:lnTo>
                    <a:pt x="1103270" y="392052"/>
                  </a:lnTo>
                  <a:lnTo>
                    <a:pt x="1137616" y="420766"/>
                  </a:lnTo>
                  <a:lnTo>
                    <a:pt x="1171207" y="450335"/>
                  </a:lnTo>
                  <a:lnTo>
                    <a:pt x="1204027" y="480741"/>
                  </a:lnTo>
                  <a:lnTo>
                    <a:pt x="1236059" y="511968"/>
                  </a:lnTo>
                  <a:lnTo>
                    <a:pt x="1267286" y="544000"/>
                  </a:lnTo>
                  <a:lnTo>
                    <a:pt x="1297692" y="576820"/>
                  </a:lnTo>
                  <a:lnTo>
                    <a:pt x="1327261" y="610411"/>
                  </a:lnTo>
                  <a:lnTo>
                    <a:pt x="1355975" y="644757"/>
                  </a:lnTo>
                  <a:lnTo>
                    <a:pt x="1383818" y="679841"/>
                  </a:lnTo>
                  <a:lnTo>
                    <a:pt x="1410772" y="715646"/>
                  </a:lnTo>
                  <a:lnTo>
                    <a:pt x="1436823" y="752155"/>
                  </a:lnTo>
                  <a:lnTo>
                    <a:pt x="1461952" y="789352"/>
                  </a:lnTo>
                  <a:lnTo>
                    <a:pt x="1486143" y="827221"/>
                  </a:lnTo>
                  <a:lnTo>
                    <a:pt x="1509380" y="865744"/>
                  </a:lnTo>
                  <a:lnTo>
                    <a:pt x="1531646" y="904906"/>
                  </a:lnTo>
                  <a:lnTo>
                    <a:pt x="1552924" y="944688"/>
                  </a:lnTo>
                  <a:lnTo>
                    <a:pt x="1573198" y="985075"/>
                  </a:lnTo>
                  <a:lnTo>
                    <a:pt x="1592450" y="1026051"/>
                  </a:lnTo>
                  <a:lnTo>
                    <a:pt x="1610665" y="1067597"/>
                  </a:lnTo>
                  <a:lnTo>
                    <a:pt x="1627825" y="1109698"/>
                  </a:lnTo>
                  <a:lnTo>
                    <a:pt x="1643915" y="1152338"/>
                  </a:lnTo>
                  <a:lnTo>
                    <a:pt x="1658916" y="1195498"/>
                  </a:lnTo>
                  <a:lnTo>
                    <a:pt x="1672813" y="1239164"/>
                  </a:lnTo>
                  <a:lnTo>
                    <a:pt x="1685589" y="1283317"/>
                  </a:lnTo>
                  <a:lnTo>
                    <a:pt x="1697228" y="1327942"/>
                  </a:lnTo>
                  <a:lnTo>
                    <a:pt x="1707712" y="1373021"/>
                  </a:lnTo>
                  <a:lnTo>
                    <a:pt x="1717025" y="1418538"/>
                  </a:lnTo>
                  <a:lnTo>
                    <a:pt x="1725150" y="1464477"/>
                  </a:lnTo>
                  <a:lnTo>
                    <a:pt x="1732071" y="1510821"/>
                  </a:lnTo>
                  <a:lnTo>
                    <a:pt x="1737771" y="1557553"/>
                  </a:lnTo>
                  <a:lnTo>
                    <a:pt x="1742233" y="1604656"/>
                  </a:lnTo>
                  <a:lnTo>
                    <a:pt x="1745441" y="1652114"/>
                  </a:lnTo>
                  <a:lnTo>
                    <a:pt x="1747378" y="1699910"/>
                  </a:lnTo>
                  <a:lnTo>
                    <a:pt x="1748027" y="1748028"/>
                  </a:lnTo>
                  <a:lnTo>
                    <a:pt x="0" y="174802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2E8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975605" y="2775966"/>
            <a:ext cx="699770" cy="62611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60"/>
              </a:spcBef>
            </a:pPr>
            <a:r>
              <a:rPr sz="1500" b="1" spc="-25" dirty="0">
                <a:solidFill>
                  <a:srgbClr val="D2E8F4"/>
                </a:solidFill>
                <a:latin typeface="Source Sans Pro"/>
                <a:cs typeface="Source Sans Pro"/>
              </a:rPr>
              <a:t>1.</a:t>
            </a:r>
            <a:endParaRPr sz="1500" dirty="0">
              <a:latin typeface="Source Sans Pro"/>
              <a:cs typeface="Source Sans Pro"/>
            </a:endParaRPr>
          </a:p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sz="1500" b="1" spc="-10" dirty="0">
                <a:solidFill>
                  <a:srgbClr val="D2E8F4"/>
                </a:solidFill>
                <a:latin typeface="Source Sans Pro"/>
                <a:cs typeface="Source Sans Pro"/>
              </a:rPr>
              <a:t>forming</a:t>
            </a:r>
            <a:endParaRPr sz="1500" dirty="0">
              <a:latin typeface="Source Sans Pro"/>
              <a:cs typeface="Source Sans Pr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701285" y="3837178"/>
            <a:ext cx="1760855" cy="1760855"/>
            <a:chOff x="4701285" y="3837178"/>
            <a:chExt cx="1760855" cy="1760855"/>
          </a:xfrm>
        </p:grpSpPr>
        <p:sp>
          <p:nvSpPr>
            <p:cNvPr id="28" name="object 28"/>
            <p:cNvSpPr/>
            <p:nvPr/>
          </p:nvSpPr>
          <p:spPr>
            <a:xfrm>
              <a:off x="4707635" y="3843528"/>
              <a:ext cx="1748155" cy="1748155"/>
            </a:xfrm>
            <a:custGeom>
              <a:avLst/>
              <a:gdLst/>
              <a:ahLst/>
              <a:cxnLst/>
              <a:rect l="l" t="t" r="r" b="b"/>
              <a:pathLst>
                <a:path w="1748154" h="1748154">
                  <a:moveTo>
                    <a:pt x="1748027" y="0"/>
                  </a:moveTo>
                  <a:lnTo>
                    <a:pt x="0" y="0"/>
                  </a:lnTo>
                  <a:lnTo>
                    <a:pt x="0" y="1748028"/>
                  </a:lnTo>
                  <a:lnTo>
                    <a:pt x="48117" y="1747378"/>
                  </a:lnTo>
                  <a:lnTo>
                    <a:pt x="95913" y="1745441"/>
                  </a:lnTo>
                  <a:lnTo>
                    <a:pt x="143371" y="1742233"/>
                  </a:lnTo>
                  <a:lnTo>
                    <a:pt x="190474" y="1737771"/>
                  </a:lnTo>
                  <a:lnTo>
                    <a:pt x="237206" y="1732071"/>
                  </a:lnTo>
                  <a:lnTo>
                    <a:pt x="283550" y="1725150"/>
                  </a:lnTo>
                  <a:lnTo>
                    <a:pt x="329489" y="1717025"/>
                  </a:lnTo>
                  <a:lnTo>
                    <a:pt x="375006" y="1707712"/>
                  </a:lnTo>
                  <a:lnTo>
                    <a:pt x="420085" y="1697228"/>
                  </a:lnTo>
                  <a:lnTo>
                    <a:pt x="464710" y="1685589"/>
                  </a:lnTo>
                  <a:lnTo>
                    <a:pt x="508863" y="1672813"/>
                  </a:lnTo>
                  <a:lnTo>
                    <a:pt x="552529" y="1658916"/>
                  </a:lnTo>
                  <a:lnTo>
                    <a:pt x="595689" y="1643915"/>
                  </a:lnTo>
                  <a:lnTo>
                    <a:pt x="638329" y="1627825"/>
                  </a:lnTo>
                  <a:lnTo>
                    <a:pt x="680430" y="1610665"/>
                  </a:lnTo>
                  <a:lnTo>
                    <a:pt x="721976" y="1592450"/>
                  </a:lnTo>
                  <a:lnTo>
                    <a:pt x="762952" y="1573198"/>
                  </a:lnTo>
                  <a:lnTo>
                    <a:pt x="803339" y="1552924"/>
                  </a:lnTo>
                  <a:lnTo>
                    <a:pt x="843121" y="1531646"/>
                  </a:lnTo>
                  <a:lnTo>
                    <a:pt x="882283" y="1509380"/>
                  </a:lnTo>
                  <a:lnTo>
                    <a:pt x="920806" y="1486143"/>
                  </a:lnTo>
                  <a:lnTo>
                    <a:pt x="958675" y="1461952"/>
                  </a:lnTo>
                  <a:lnTo>
                    <a:pt x="995872" y="1436823"/>
                  </a:lnTo>
                  <a:lnTo>
                    <a:pt x="1032381" y="1410772"/>
                  </a:lnTo>
                  <a:lnTo>
                    <a:pt x="1068186" y="1383818"/>
                  </a:lnTo>
                  <a:lnTo>
                    <a:pt x="1103270" y="1355975"/>
                  </a:lnTo>
                  <a:lnTo>
                    <a:pt x="1137616" y="1327261"/>
                  </a:lnTo>
                  <a:lnTo>
                    <a:pt x="1171207" y="1297692"/>
                  </a:lnTo>
                  <a:lnTo>
                    <a:pt x="1204027" y="1267286"/>
                  </a:lnTo>
                  <a:lnTo>
                    <a:pt x="1236059" y="1236059"/>
                  </a:lnTo>
                  <a:lnTo>
                    <a:pt x="1267286" y="1204027"/>
                  </a:lnTo>
                  <a:lnTo>
                    <a:pt x="1297692" y="1171207"/>
                  </a:lnTo>
                  <a:lnTo>
                    <a:pt x="1327261" y="1137616"/>
                  </a:lnTo>
                  <a:lnTo>
                    <a:pt x="1355975" y="1103270"/>
                  </a:lnTo>
                  <a:lnTo>
                    <a:pt x="1383818" y="1068186"/>
                  </a:lnTo>
                  <a:lnTo>
                    <a:pt x="1410772" y="1032381"/>
                  </a:lnTo>
                  <a:lnTo>
                    <a:pt x="1436823" y="995872"/>
                  </a:lnTo>
                  <a:lnTo>
                    <a:pt x="1461952" y="958675"/>
                  </a:lnTo>
                  <a:lnTo>
                    <a:pt x="1486143" y="920806"/>
                  </a:lnTo>
                  <a:lnTo>
                    <a:pt x="1509380" y="882283"/>
                  </a:lnTo>
                  <a:lnTo>
                    <a:pt x="1531646" y="843121"/>
                  </a:lnTo>
                  <a:lnTo>
                    <a:pt x="1552924" y="803339"/>
                  </a:lnTo>
                  <a:lnTo>
                    <a:pt x="1573198" y="762952"/>
                  </a:lnTo>
                  <a:lnTo>
                    <a:pt x="1592450" y="721976"/>
                  </a:lnTo>
                  <a:lnTo>
                    <a:pt x="1610665" y="680430"/>
                  </a:lnTo>
                  <a:lnTo>
                    <a:pt x="1627825" y="638329"/>
                  </a:lnTo>
                  <a:lnTo>
                    <a:pt x="1643915" y="595689"/>
                  </a:lnTo>
                  <a:lnTo>
                    <a:pt x="1658916" y="552529"/>
                  </a:lnTo>
                  <a:lnTo>
                    <a:pt x="1672813" y="508863"/>
                  </a:lnTo>
                  <a:lnTo>
                    <a:pt x="1685589" y="464710"/>
                  </a:lnTo>
                  <a:lnTo>
                    <a:pt x="1697228" y="420085"/>
                  </a:lnTo>
                  <a:lnTo>
                    <a:pt x="1707712" y="375006"/>
                  </a:lnTo>
                  <a:lnTo>
                    <a:pt x="1717025" y="329489"/>
                  </a:lnTo>
                  <a:lnTo>
                    <a:pt x="1725150" y="283550"/>
                  </a:lnTo>
                  <a:lnTo>
                    <a:pt x="1732071" y="237206"/>
                  </a:lnTo>
                  <a:lnTo>
                    <a:pt x="1737771" y="190474"/>
                  </a:lnTo>
                  <a:lnTo>
                    <a:pt x="1742233" y="143371"/>
                  </a:lnTo>
                  <a:lnTo>
                    <a:pt x="1745441" y="95913"/>
                  </a:lnTo>
                  <a:lnTo>
                    <a:pt x="1747378" y="48117"/>
                  </a:lnTo>
                  <a:lnTo>
                    <a:pt x="1748027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707635" y="3843528"/>
              <a:ext cx="1748155" cy="1748155"/>
            </a:xfrm>
            <a:custGeom>
              <a:avLst/>
              <a:gdLst/>
              <a:ahLst/>
              <a:cxnLst/>
              <a:rect l="l" t="t" r="r" b="b"/>
              <a:pathLst>
                <a:path w="1748154" h="1748154">
                  <a:moveTo>
                    <a:pt x="1748027" y="0"/>
                  </a:moveTo>
                  <a:lnTo>
                    <a:pt x="1747378" y="48117"/>
                  </a:lnTo>
                  <a:lnTo>
                    <a:pt x="1745441" y="95913"/>
                  </a:lnTo>
                  <a:lnTo>
                    <a:pt x="1742233" y="143371"/>
                  </a:lnTo>
                  <a:lnTo>
                    <a:pt x="1737771" y="190474"/>
                  </a:lnTo>
                  <a:lnTo>
                    <a:pt x="1732071" y="237206"/>
                  </a:lnTo>
                  <a:lnTo>
                    <a:pt x="1725150" y="283550"/>
                  </a:lnTo>
                  <a:lnTo>
                    <a:pt x="1717025" y="329489"/>
                  </a:lnTo>
                  <a:lnTo>
                    <a:pt x="1707712" y="375006"/>
                  </a:lnTo>
                  <a:lnTo>
                    <a:pt x="1697228" y="420085"/>
                  </a:lnTo>
                  <a:lnTo>
                    <a:pt x="1685589" y="464710"/>
                  </a:lnTo>
                  <a:lnTo>
                    <a:pt x="1672813" y="508863"/>
                  </a:lnTo>
                  <a:lnTo>
                    <a:pt x="1658916" y="552529"/>
                  </a:lnTo>
                  <a:lnTo>
                    <a:pt x="1643915" y="595689"/>
                  </a:lnTo>
                  <a:lnTo>
                    <a:pt x="1627825" y="638329"/>
                  </a:lnTo>
                  <a:lnTo>
                    <a:pt x="1610665" y="680430"/>
                  </a:lnTo>
                  <a:lnTo>
                    <a:pt x="1592450" y="721976"/>
                  </a:lnTo>
                  <a:lnTo>
                    <a:pt x="1573198" y="762952"/>
                  </a:lnTo>
                  <a:lnTo>
                    <a:pt x="1552924" y="803339"/>
                  </a:lnTo>
                  <a:lnTo>
                    <a:pt x="1531646" y="843121"/>
                  </a:lnTo>
                  <a:lnTo>
                    <a:pt x="1509380" y="882283"/>
                  </a:lnTo>
                  <a:lnTo>
                    <a:pt x="1486143" y="920806"/>
                  </a:lnTo>
                  <a:lnTo>
                    <a:pt x="1461952" y="958675"/>
                  </a:lnTo>
                  <a:lnTo>
                    <a:pt x="1436823" y="995872"/>
                  </a:lnTo>
                  <a:lnTo>
                    <a:pt x="1410772" y="1032381"/>
                  </a:lnTo>
                  <a:lnTo>
                    <a:pt x="1383818" y="1068186"/>
                  </a:lnTo>
                  <a:lnTo>
                    <a:pt x="1355975" y="1103270"/>
                  </a:lnTo>
                  <a:lnTo>
                    <a:pt x="1327261" y="1137616"/>
                  </a:lnTo>
                  <a:lnTo>
                    <a:pt x="1297692" y="1171207"/>
                  </a:lnTo>
                  <a:lnTo>
                    <a:pt x="1267286" y="1204027"/>
                  </a:lnTo>
                  <a:lnTo>
                    <a:pt x="1236059" y="1236059"/>
                  </a:lnTo>
                  <a:lnTo>
                    <a:pt x="1204027" y="1267286"/>
                  </a:lnTo>
                  <a:lnTo>
                    <a:pt x="1171207" y="1297692"/>
                  </a:lnTo>
                  <a:lnTo>
                    <a:pt x="1137616" y="1327261"/>
                  </a:lnTo>
                  <a:lnTo>
                    <a:pt x="1103270" y="1355975"/>
                  </a:lnTo>
                  <a:lnTo>
                    <a:pt x="1068186" y="1383818"/>
                  </a:lnTo>
                  <a:lnTo>
                    <a:pt x="1032381" y="1410772"/>
                  </a:lnTo>
                  <a:lnTo>
                    <a:pt x="995872" y="1436823"/>
                  </a:lnTo>
                  <a:lnTo>
                    <a:pt x="958675" y="1461952"/>
                  </a:lnTo>
                  <a:lnTo>
                    <a:pt x="920806" y="1486143"/>
                  </a:lnTo>
                  <a:lnTo>
                    <a:pt x="882283" y="1509380"/>
                  </a:lnTo>
                  <a:lnTo>
                    <a:pt x="843121" y="1531646"/>
                  </a:lnTo>
                  <a:lnTo>
                    <a:pt x="803339" y="1552924"/>
                  </a:lnTo>
                  <a:lnTo>
                    <a:pt x="762952" y="1573198"/>
                  </a:lnTo>
                  <a:lnTo>
                    <a:pt x="721976" y="1592450"/>
                  </a:lnTo>
                  <a:lnTo>
                    <a:pt x="680430" y="1610665"/>
                  </a:lnTo>
                  <a:lnTo>
                    <a:pt x="638329" y="1627825"/>
                  </a:lnTo>
                  <a:lnTo>
                    <a:pt x="595689" y="1643915"/>
                  </a:lnTo>
                  <a:lnTo>
                    <a:pt x="552529" y="1658916"/>
                  </a:lnTo>
                  <a:lnTo>
                    <a:pt x="508863" y="1672813"/>
                  </a:lnTo>
                  <a:lnTo>
                    <a:pt x="464710" y="1685589"/>
                  </a:lnTo>
                  <a:lnTo>
                    <a:pt x="420085" y="1697228"/>
                  </a:lnTo>
                  <a:lnTo>
                    <a:pt x="375006" y="1707712"/>
                  </a:lnTo>
                  <a:lnTo>
                    <a:pt x="329489" y="1717025"/>
                  </a:lnTo>
                  <a:lnTo>
                    <a:pt x="283550" y="1725150"/>
                  </a:lnTo>
                  <a:lnTo>
                    <a:pt x="237206" y="1732071"/>
                  </a:lnTo>
                  <a:lnTo>
                    <a:pt x="190474" y="1737771"/>
                  </a:lnTo>
                  <a:lnTo>
                    <a:pt x="143371" y="1742233"/>
                  </a:lnTo>
                  <a:lnTo>
                    <a:pt x="95913" y="1745441"/>
                  </a:lnTo>
                  <a:lnTo>
                    <a:pt x="48117" y="1747378"/>
                  </a:lnTo>
                  <a:lnTo>
                    <a:pt x="0" y="1748028"/>
                  </a:lnTo>
                  <a:lnTo>
                    <a:pt x="0" y="0"/>
                  </a:lnTo>
                  <a:lnTo>
                    <a:pt x="1748027" y="0"/>
                  </a:lnTo>
                  <a:close/>
                </a:path>
              </a:pathLst>
            </a:custGeom>
            <a:ln w="12700">
              <a:solidFill>
                <a:srgbClr val="D2E8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929885" y="4092955"/>
            <a:ext cx="791210" cy="62611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60"/>
              </a:spcBef>
            </a:pPr>
            <a:r>
              <a:rPr sz="1500" b="1" spc="-25" dirty="0">
                <a:solidFill>
                  <a:srgbClr val="D2E8F4"/>
                </a:solidFill>
                <a:latin typeface="Source Sans Pro"/>
                <a:cs typeface="Source Sans Pro"/>
              </a:rPr>
              <a:t>2.</a:t>
            </a:r>
            <a:endParaRPr sz="1500" dirty="0">
              <a:latin typeface="Source Sans Pro"/>
              <a:cs typeface="Source Sans Pro"/>
            </a:endParaRPr>
          </a:p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sz="1500" b="1" spc="-10" dirty="0">
                <a:solidFill>
                  <a:srgbClr val="D2E8F4"/>
                </a:solidFill>
                <a:latin typeface="Source Sans Pro"/>
                <a:cs typeface="Source Sans Pro"/>
              </a:rPr>
              <a:t>storming</a:t>
            </a:r>
            <a:endParaRPr sz="1500" dirty="0">
              <a:latin typeface="Source Sans Pro"/>
              <a:cs typeface="Source Sans Pro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872485" y="3837178"/>
            <a:ext cx="1760855" cy="1760855"/>
            <a:chOff x="2872485" y="3837178"/>
            <a:chExt cx="1760855" cy="1760855"/>
          </a:xfrm>
        </p:grpSpPr>
        <p:sp>
          <p:nvSpPr>
            <p:cNvPr id="32" name="object 32"/>
            <p:cNvSpPr/>
            <p:nvPr/>
          </p:nvSpPr>
          <p:spPr>
            <a:xfrm>
              <a:off x="2878835" y="3843528"/>
              <a:ext cx="1748155" cy="1748155"/>
            </a:xfrm>
            <a:custGeom>
              <a:avLst/>
              <a:gdLst/>
              <a:ahLst/>
              <a:cxnLst/>
              <a:rect l="l" t="t" r="r" b="b"/>
              <a:pathLst>
                <a:path w="1748154" h="1748154">
                  <a:moveTo>
                    <a:pt x="1748027" y="0"/>
                  </a:moveTo>
                  <a:lnTo>
                    <a:pt x="0" y="0"/>
                  </a:lnTo>
                  <a:lnTo>
                    <a:pt x="649" y="48117"/>
                  </a:lnTo>
                  <a:lnTo>
                    <a:pt x="2586" y="95913"/>
                  </a:lnTo>
                  <a:lnTo>
                    <a:pt x="5794" y="143371"/>
                  </a:lnTo>
                  <a:lnTo>
                    <a:pt x="10256" y="190474"/>
                  </a:lnTo>
                  <a:lnTo>
                    <a:pt x="15956" y="237206"/>
                  </a:lnTo>
                  <a:lnTo>
                    <a:pt x="22877" y="283550"/>
                  </a:lnTo>
                  <a:lnTo>
                    <a:pt x="31002" y="329489"/>
                  </a:lnTo>
                  <a:lnTo>
                    <a:pt x="40315" y="375006"/>
                  </a:lnTo>
                  <a:lnTo>
                    <a:pt x="50799" y="420085"/>
                  </a:lnTo>
                  <a:lnTo>
                    <a:pt x="62438" y="464710"/>
                  </a:lnTo>
                  <a:lnTo>
                    <a:pt x="75214" y="508863"/>
                  </a:lnTo>
                  <a:lnTo>
                    <a:pt x="89111" y="552529"/>
                  </a:lnTo>
                  <a:lnTo>
                    <a:pt x="104112" y="595689"/>
                  </a:lnTo>
                  <a:lnTo>
                    <a:pt x="120202" y="638329"/>
                  </a:lnTo>
                  <a:lnTo>
                    <a:pt x="137362" y="680430"/>
                  </a:lnTo>
                  <a:lnTo>
                    <a:pt x="155577" y="721976"/>
                  </a:lnTo>
                  <a:lnTo>
                    <a:pt x="174829" y="762952"/>
                  </a:lnTo>
                  <a:lnTo>
                    <a:pt x="195103" y="803339"/>
                  </a:lnTo>
                  <a:lnTo>
                    <a:pt x="216381" y="843121"/>
                  </a:lnTo>
                  <a:lnTo>
                    <a:pt x="238647" y="882283"/>
                  </a:lnTo>
                  <a:lnTo>
                    <a:pt x="261884" y="920806"/>
                  </a:lnTo>
                  <a:lnTo>
                    <a:pt x="286075" y="958675"/>
                  </a:lnTo>
                  <a:lnTo>
                    <a:pt x="311204" y="995872"/>
                  </a:lnTo>
                  <a:lnTo>
                    <a:pt x="337255" y="1032381"/>
                  </a:lnTo>
                  <a:lnTo>
                    <a:pt x="364209" y="1068186"/>
                  </a:lnTo>
                  <a:lnTo>
                    <a:pt x="392052" y="1103270"/>
                  </a:lnTo>
                  <a:lnTo>
                    <a:pt x="420766" y="1137616"/>
                  </a:lnTo>
                  <a:lnTo>
                    <a:pt x="450335" y="1171207"/>
                  </a:lnTo>
                  <a:lnTo>
                    <a:pt x="480741" y="1204027"/>
                  </a:lnTo>
                  <a:lnTo>
                    <a:pt x="511968" y="1236059"/>
                  </a:lnTo>
                  <a:lnTo>
                    <a:pt x="544000" y="1267286"/>
                  </a:lnTo>
                  <a:lnTo>
                    <a:pt x="576820" y="1297692"/>
                  </a:lnTo>
                  <a:lnTo>
                    <a:pt x="610411" y="1327261"/>
                  </a:lnTo>
                  <a:lnTo>
                    <a:pt x="644757" y="1355975"/>
                  </a:lnTo>
                  <a:lnTo>
                    <a:pt x="679841" y="1383818"/>
                  </a:lnTo>
                  <a:lnTo>
                    <a:pt x="715646" y="1410772"/>
                  </a:lnTo>
                  <a:lnTo>
                    <a:pt x="752155" y="1436823"/>
                  </a:lnTo>
                  <a:lnTo>
                    <a:pt x="789352" y="1461952"/>
                  </a:lnTo>
                  <a:lnTo>
                    <a:pt x="827221" y="1486143"/>
                  </a:lnTo>
                  <a:lnTo>
                    <a:pt x="865744" y="1509380"/>
                  </a:lnTo>
                  <a:lnTo>
                    <a:pt x="904906" y="1531646"/>
                  </a:lnTo>
                  <a:lnTo>
                    <a:pt x="944688" y="1552924"/>
                  </a:lnTo>
                  <a:lnTo>
                    <a:pt x="985075" y="1573198"/>
                  </a:lnTo>
                  <a:lnTo>
                    <a:pt x="1026051" y="1592450"/>
                  </a:lnTo>
                  <a:lnTo>
                    <a:pt x="1067597" y="1610665"/>
                  </a:lnTo>
                  <a:lnTo>
                    <a:pt x="1109698" y="1627825"/>
                  </a:lnTo>
                  <a:lnTo>
                    <a:pt x="1152338" y="1643915"/>
                  </a:lnTo>
                  <a:lnTo>
                    <a:pt x="1195498" y="1658916"/>
                  </a:lnTo>
                  <a:lnTo>
                    <a:pt x="1239164" y="1672813"/>
                  </a:lnTo>
                  <a:lnTo>
                    <a:pt x="1283317" y="1685589"/>
                  </a:lnTo>
                  <a:lnTo>
                    <a:pt x="1327942" y="1697228"/>
                  </a:lnTo>
                  <a:lnTo>
                    <a:pt x="1373021" y="1707712"/>
                  </a:lnTo>
                  <a:lnTo>
                    <a:pt x="1418538" y="1717025"/>
                  </a:lnTo>
                  <a:lnTo>
                    <a:pt x="1464477" y="1725150"/>
                  </a:lnTo>
                  <a:lnTo>
                    <a:pt x="1510821" y="1732071"/>
                  </a:lnTo>
                  <a:lnTo>
                    <a:pt x="1557553" y="1737771"/>
                  </a:lnTo>
                  <a:lnTo>
                    <a:pt x="1604656" y="1742233"/>
                  </a:lnTo>
                  <a:lnTo>
                    <a:pt x="1652114" y="1745441"/>
                  </a:lnTo>
                  <a:lnTo>
                    <a:pt x="1699910" y="1747378"/>
                  </a:lnTo>
                  <a:lnTo>
                    <a:pt x="1748027" y="1748028"/>
                  </a:lnTo>
                  <a:lnTo>
                    <a:pt x="1748027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878835" y="3843528"/>
              <a:ext cx="1748155" cy="1748155"/>
            </a:xfrm>
            <a:custGeom>
              <a:avLst/>
              <a:gdLst/>
              <a:ahLst/>
              <a:cxnLst/>
              <a:rect l="l" t="t" r="r" b="b"/>
              <a:pathLst>
                <a:path w="1748154" h="1748154">
                  <a:moveTo>
                    <a:pt x="1748027" y="1748028"/>
                  </a:moveTo>
                  <a:lnTo>
                    <a:pt x="1699910" y="1747378"/>
                  </a:lnTo>
                  <a:lnTo>
                    <a:pt x="1652114" y="1745441"/>
                  </a:lnTo>
                  <a:lnTo>
                    <a:pt x="1604656" y="1742233"/>
                  </a:lnTo>
                  <a:lnTo>
                    <a:pt x="1557553" y="1737771"/>
                  </a:lnTo>
                  <a:lnTo>
                    <a:pt x="1510821" y="1732071"/>
                  </a:lnTo>
                  <a:lnTo>
                    <a:pt x="1464477" y="1725150"/>
                  </a:lnTo>
                  <a:lnTo>
                    <a:pt x="1418538" y="1717025"/>
                  </a:lnTo>
                  <a:lnTo>
                    <a:pt x="1373021" y="1707712"/>
                  </a:lnTo>
                  <a:lnTo>
                    <a:pt x="1327942" y="1697228"/>
                  </a:lnTo>
                  <a:lnTo>
                    <a:pt x="1283317" y="1685589"/>
                  </a:lnTo>
                  <a:lnTo>
                    <a:pt x="1239164" y="1672813"/>
                  </a:lnTo>
                  <a:lnTo>
                    <a:pt x="1195498" y="1658916"/>
                  </a:lnTo>
                  <a:lnTo>
                    <a:pt x="1152338" y="1643915"/>
                  </a:lnTo>
                  <a:lnTo>
                    <a:pt x="1109698" y="1627825"/>
                  </a:lnTo>
                  <a:lnTo>
                    <a:pt x="1067597" y="1610665"/>
                  </a:lnTo>
                  <a:lnTo>
                    <a:pt x="1026051" y="1592450"/>
                  </a:lnTo>
                  <a:lnTo>
                    <a:pt x="985075" y="1573198"/>
                  </a:lnTo>
                  <a:lnTo>
                    <a:pt x="944688" y="1552924"/>
                  </a:lnTo>
                  <a:lnTo>
                    <a:pt x="904906" y="1531646"/>
                  </a:lnTo>
                  <a:lnTo>
                    <a:pt x="865744" y="1509380"/>
                  </a:lnTo>
                  <a:lnTo>
                    <a:pt x="827221" y="1486143"/>
                  </a:lnTo>
                  <a:lnTo>
                    <a:pt x="789352" y="1461952"/>
                  </a:lnTo>
                  <a:lnTo>
                    <a:pt x="752155" y="1436823"/>
                  </a:lnTo>
                  <a:lnTo>
                    <a:pt x="715646" y="1410772"/>
                  </a:lnTo>
                  <a:lnTo>
                    <a:pt x="679841" y="1383818"/>
                  </a:lnTo>
                  <a:lnTo>
                    <a:pt x="644757" y="1355975"/>
                  </a:lnTo>
                  <a:lnTo>
                    <a:pt x="610411" y="1327261"/>
                  </a:lnTo>
                  <a:lnTo>
                    <a:pt x="576820" y="1297692"/>
                  </a:lnTo>
                  <a:lnTo>
                    <a:pt x="544000" y="1267286"/>
                  </a:lnTo>
                  <a:lnTo>
                    <a:pt x="511968" y="1236059"/>
                  </a:lnTo>
                  <a:lnTo>
                    <a:pt x="480741" y="1204027"/>
                  </a:lnTo>
                  <a:lnTo>
                    <a:pt x="450335" y="1171207"/>
                  </a:lnTo>
                  <a:lnTo>
                    <a:pt x="420766" y="1137616"/>
                  </a:lnTo>
                  <a:lnTo>
                    <a:pt x="392052" y="1103270"/>
                  </a:lnTo>
                  <a:lnTo>
                    <a:pt x="364209" y="1068186"/>
                  </a:lnTo>
                  <a:lnTo>
                    <a:pt x="337255" y="1032381"/>
                  </a:lnTo>
                  <a:lnTo>
                    <a:pt x="311204" y="995872"/>
                  </a:lnTo>
                  <a:lnTo>
                    <a:pt x="286075" y="958675"/>
                  </a:lnTo>
                  <a:lnTo>
                    <a:pt x="261884" y="920806"/>
                  </a:lnTo>
                  <a:lnTo>
                    <a:pt x="238647" y="882283"/>
                  </a:lnTo>
                  <a:lnTo>
                    <a:pt x="216381" y="843121"/>
                  </a:lnTo>
                  <a:lnTo>
                    <a:pt x="195103" y="803339"/>
                  </a:lnTo>
                  <a:lnTo>
                    <a:pt x="174829" y="762952"/>
                  </a:lnTo>
                  <a:lnTo>
                    <a:pt x="155577" y="721976"/>
                  </a:lnTo>
                  <a:lnTo>
                    <a:pt x="137362" y="680430"/>
                  </a:lnTo>
                  <a:lnTo>
                    <a:pt x="120202" y="638329"/>
                  </a:lnTo>
                  <a:lnTo>
                    <a:pt x="104112" y="595689"/>
                  </a:lnTo>
                  <a:lnTo>
                    <a:pt x="89111" y="552529"/>
                  </a:lnTo>
                  <a:lnTo>
                    <a:pt x="75214" y="508863"/>
                  </a:lnTo>
                  <a:lnTo>
                    <a:pt x="62438" y="464710"/>
                  </a:lnTo>
                  <a:lnTo>
                    <a:pt x="50799" y="420085"/>
                  </a:lnTo>
                  <a:lnTo>
                    <a:pt x="40315" y="375006"/>
                  </a:lnTo>
                  <a:lnTo>
                    <a:pt x="31002" y="329489"/>
                  </a:lnTo>
                  <a:lnTo>
                    <a:pt x="22877" y="283550"/>
                  </a:lnTo>
                  <a:lnTo>
                    <a:pt x="15956" y="237206"/>
                  </a:lnTo>
                  <a:lnTo>
                    <a:pt x="10256" y="190474"/>
                  </a:lnTo>
                  <a:lnTo>
                    <a:pt x="5794" y="143371"/>
                  </a:lnTo>
                  <a:lnTo>
                    <a:pt x="2586" y="95913"/>
                  </a:lnTo>
                  <a:lnTo>
                    <a:pt x="649" y="48117"/>
                  </a:lnTo>
                  <a:lnTo>
                    <a:pt x="0" y="0"/>
                  </a:lnTo>
                  <a:lnTo>
                    <a:pt x="1748027" y="0"/>
                  </a:lnTo>
                  <a:lnTo>
                    <a:pt x="1748027" y="1748028"/>
                  </a:lnTo>
                  <a:close/>
                </a:path>
              </a:pathLst>
            </a:custGeom>
            <a:ln w="12700">
              <a:solidFill>
                <a:srgbClr val="D2E8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635755" y="4092955"/>
            <a:ext cx="744220" cy="62611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60"/>
              </a:spcBef>
            </a:pPr>
            <a:r>
              <a:rPr sz="1500" b="1" spc="-25" dirty="0">
                <a:solidFill>
                  <a:srgbClr val="D2E8F4"/>
                </a:solidFill>
                <a:latin typeface="Source Sans Pro"/>
                <a:cs typeface="Source Sans Pro"/>
              </a:rPr>
              <a:t>3.</a:t>
            </a:r>
            <a:endParaRPr sz="1500" dirty="0">
              <a:latin typeface="Source Sans Pro"/>
              <a:cs typeface="Source Sans Pro"/>
            </a:endParaRPr>
          </a:p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sz="1500" b="1" spc="-10" dirty="0">
                <a:solidFill>
                  <a:srgbClr val="D2E8F4"/>
                </a:solidFill>
                <a:latin typeface="Source Sans Pro"/>
                <a:cs typeface="Source Sans Pro"/>
              </a:rPr>
              <a:t>norming</a:t>
            </a:r>
            <a:endParaRPr sz="1500" dirty="0">
              <a:latin typeface="Source Sans Pro"/>
              <a:cs typeface="Source Sans Pro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613767" y="1199312"/>
            <a:ext cx="2657888" cy="744220"/>
          </a:xfrm>
          <a:custGeom>
            <a:avLst/>
            <a:gdLst/>
            <a:ahLst/>
            <a:cxnLst/>
            <a:rect l="l" t="t" r="r" b="b"/>
            <a:pathLst>
              <a:path w="3472179" h="744219">
                <a:moveTo>
                  <a:pt x="3285744" y="0"/>
                </a:moveTo>
                <a:lnTo>
                  <a:pt x="3285744" y="92963"/>
                </a:lnTo>
                <a:lnTo>
                  <a:pt x="325374" y="92963"/>
                </a:lnTo>
                <a:lnTo>
                  <a:pt x="277291" y="96491"/>
                </a:lnTo>
                <a:lnTo>
                  <a:pt x="231399" y="106739"/>
                </a:lnTo>
                <a:lnTo>
                  <a:pt x="188201" y="123204"/>
                </a:lnTo>
                <a:lnTo>
                  <a:pt x="148201" y="145382"/>
                </a:lnTo>
                <a:lnTo>
                  <a:pt x="111902" y="172770"/>
                </a:lnTo>
                <a:lnTo>
                  <a:pt x="79806" y="204866"/>
                </a:lnTo>
                <a:lnTo>
                  <a:pt x="52418" y="241165"/>
                </a:lnTo>
                <a:lnTo>
                  <a:pt x="30240" y="281165"/>
                </a:lnTo>
                <a:lnTo>
                  <a:pt x="13775" y="324363"/>
                </a:lnTo>
                <a:lnTo>
                  <a:pt x="3527" y="370255"/>
                </a:lnTo>
                <a:lnTo>
                  <a:pt x="0" y="418338"/>
                </a:lnTo>
                <a:lnTo>
                  <a:pt x="0" y="743712"/>
                </a:lnTo>
                <a:lnTo>
                  <a:pt x="185927" y="743712"/>
                </a:lnTo>
                <a:lnTo>
                  <a:pt x="185927" y="418338"/>
                </a:lnTo>
                <a:lnTo>
                  <a:pt x="193042" y="374282"/>
                </a:lnTo>
                <a:lnTo>
                  <a:pt x="212847" y="336005"/>
                </a:lnTo>
                <a:lnTo>
                  <a:pt x="243041" y="305811"/>
                </a:lnTo>
                <a:lnTo>
                  <a:pt x="281318" y="286006"/>
                </a:lnTo>
                <a:lnTo>
                  <a:pt x="325374" y="278891"/>
                </a:lnTo>
                <a:lnTo>
                  <a:pt x="3285744" y="278891"/>
                </a:lnTo>
                <a:lnTo>
                  <a:pt x="3285744" y="371855"/>
                </a:lnTo>
                <a:lnTo>
                  <a:pt x="3471672" y="185927"/>
                </a:lnTo>
                <a:lnTo>
                  <a:pt x="3285744" y="0"/>
                </a:lnTo>
                <a:close/>
              </a:path>
            </a:pathLst>
          </a:custGeom>
          <a:solidFill>
            <a:srgbClr val="0070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314725" y="1043432"/>
            <a:ext cx="2220595" cy="744220"/>
          </a:xfrm>
          <a:custGeom>
            <a:avLst/>
            <a:gdLst/>
            <a:ahLst/>
            <a:cxnLst/>
            <a:rect l="l" t="t" r="r" b="b"/>
            <a:pathLst>
              <a:path w="2220595" h="744219">
                <a:moveTo>
                  <a:pt x="2096515" y="0"/>
                </a:moveTo>
                <a:lnTo>
                  <a:pt x="123951" y="0"/>
                </a:lnTo>
                <a:lnTo>
                  <a:pt x="75705" y="9741"/>
                </a:lnTo>
                <a:lnTo>
                  <a:pt x="36306" y="36306"/>
                </a:lnTo>
                <a:lnTo>
                  <a:pt x="9741" y="75705"/>
                </a:lnTo>
                <a:lnTo>
                  <a:pt x="0" y="123951"/>
                </a:lnTo>
                <a:lnTo>
                  <a:pt x="0" y="619759"/>
                </a:lnTo>
                <a:lnTo>
                  <a:pt x="9741" y="668006"/>
                </a:lnTo>
                <a:lnTo>
                  <a:pt x="36306" y="707405"/>
                </a:lnTo>
                <a:lnTo>
                  <a:pt x="75705" y="733970"/>
                </a:lnTo>
                <a:lnTo>
                  <a:pt x="123951" y="743712"/>
                </a:lnTo>
                <a:lnTo>
                  <a:pt x="2096515" y="743712"/>
                </a:lnTo>
                <a:lnTo>
                  <a:pt x="2144762" y="733970"/>
                </a:lnTo>
                <a:lnTo>
                  <a:pt x="2184161" y="707405"/>
                </a:lnTo>
                <a:lnTo>
                  <a:pt x="2210726" y="668006"/>
                </a:lnTo>
                <a:lnTo>
                  <a:pt x="2220468" y="619759"/>
                </a:lnTo>
                <a:lnTo>
                  <a:pt x="2220468" y="123951"/>
                </a:lnTo>
                <a:lnTo>
                  <a:pt x="2210726" y="75705"/>
                </a:lnTo>
                <a:lnTo>
                  <a:pt x="2184161" y="36306"/>
                </a:lnTo>
                <a:lnTo>
                  <a:pt x="2144762" y="9741"/>
                </a:lnTo>
                <a:lnTo>
                  <a:pt x="2096515" y="0"/>
                </a:lnTo>
                <a:close/>
              </a:path>
            </a:pathLst>
          </a:custGeom>
          <a:solidFill>
            <a:srgbClr val="0070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7712709" y="1283589"/>
            <a:ext cx="1135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D2E8F4"/>
                </a:solidFill>
                <a:latin typeface="Source Sans Pro"/>
                <a:cs typeface="Source Sans Pro"/>
              </a:rPr>
              <a:t>adjourning</a:t>
            </a:r>
            <a:endParaRPr sz="1800" dirty="0">
              <a:latin typeface="Source Sans Pro"/>
              <a:cs typeface="Source Sans Pro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9147047" y="1649999"/>
            <a:ext cx="1253490" cy="712470"/>
            <a:chOff x="8851138" y="1625854"/>
            <a:chExt cx="1253490" cy="712470"/>
          </a:xfrm>
        </p:grpSpPr>
        <p:sp>
          <p:nvSpPr>
            <p:cNvPr id="47" name="object 47"/>
            <p:cNvSpPr/>
            <p:nvPr/>
          </p:nvSpPr>
          <p:spPr>
            <a:xfrm>
              <a:off x="8857488" y="1632204"/>
              <a:ext cx="1240790" cy="699770"/>
            </a:xfrm>
            <a:custGeom>
              <a:avLst/>
              <a:gdLst/>
              <a:ahLst/>
              <a:cxnLst/>
              <a:rect l="l" t="t" r="r" b="b"/>
              <a:pathLst>
                <a:path w="1240790" h="699769">
                  <a:moveTo>
                    <a:pt x="1240535" y="0"/>
                  </a:moveTo>
                  <a:lnTo>
                    <a:pt x="116585" y="0"/>
                  </a:lnTo>
                  <a:lnTo>
                    <a:pt x="71205" y="9161"/>
                  </a:lnTo>
                  <a:lnTo>
                    <a:pt x="34147" y="34147"/>
                  </a:lnTo>
                  <a:lnTo>
                    <a:pt x="9161" y="71205"/>
                  </a:lnTo>
                  <a:lnTo>
                    <a:pt x="0" y="116586"/>
                  </a:lnTo>
                  <a:lnTo>
                    <a:pt x="0" y="699516"/>
                  </a:lnTo>
                  <a:lnTo>
                    <a:pt x="1123950" y="699516"/>
                  </a:lnTo>
                  <a:lnTo>
                    <a:pt x="1169330" y="690354"/>
                  </a:lnTo>
                  <a:lnTo>
                    <a:pt x="1206388" y="665368"/>
                  </a:lnTo>
                  <a:lnTo>
                    <a:pt x="1231374" y="628310"/>
                  </a:lnTo>
                  <a:lnTo>
                    <a:pt x="1240535" y="582930"/>
                  </a:lnTo>
                  <a:lnTo>
                    <a:pt x="1240535" y="0"/>
                  </a:lnTo>
                  <a:close/>
                </a:path>
              </a:pathLst>
            </a:custGeom>
            <a:solidFill>
              <a:srgbClr val="ADD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857488" y="1632204"/>
              <a:ext cx="1240790" cy="699770"/>
            </a:xfrm>
            <a:custGeom>
              <a:avLst/>
              <a:gdLst/>
              <a:ahLst/>
              <a:cxnLst/>
              <a:rect l="l" t="t" r="r" b="b"/>
              <a:pathLst>
                <a:path w="1240790" h="699769">
                  <a:moveTo>
                    <a:pt x="116585" y="0"/>
                  </a:moveTo>
                  <a:lnTo>
                    <a:pt x="1240535" y="0"/>
                  </a:lnTo>
                  <a:lnTo>
                    <a:pt x="1240535" y="582930"/>
                  </a:lnTo>
                  <a:lnTo>
                    <a:pt x="1231374" y="628310"/>
                  </a:lnTo>
                  <a:lnTo>
                    <a:pt x="1206388" y="665368"/>
                  </a:lnTo>
                  <a:lnTo>
                    <a:pt x="1169330" y="690354"/>
                  </a:lnTo>
                  <a:lnTo>
                    <a:pt x="1123950" y="699516"/>
                  </a:lnTo>
                  <a:lnTo>
                    <a:pt x="0" y="699516"/>
                  </a:lnTo>
                  <a:lnTo>
                    <a:pt x="0" y="116586"/>
                  </a:lnTo>
                  <a:lnTo>
                    <a:pt x="9161" y="71205"/>
                  </a:lnTo>
                  <a:lnTo>
                    <a:pt x="34147" y="34147"/>
                  </a:lnTo>
                  <a:lnTo>
                    <a:pt x="71205" y="9161"/>
                  </a:lnTo>
                  <a:lnTo>
                    <a:pt x="116585" y="0"/>
                  </a:lnTo>
                  <a:close/>
                </a:path>
              </a:pathLst>
            </a:custGeom>
            <a:ln w="12700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9389743" y="1757949"/>
            <a:ext cx="77089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0960" marR="5080" indent="-48895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0070B1"/>
                </a:solidFill>
                <a:latin typeface="Source Sans Pro"/>
                <a:cs typeface="Source Sans Pro"/>
              </a:rPr>
              <a:t>Auflösung</a:t>
            </a:r>
            <a:r>
              <a:rPr sz="1000" spc="-1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z="1000" spc="-25" dirty="0">
                <a:solidFill>
                  <a:srgbClr val="0070B1"/>
                </a:solidFill>
                <a:latin typeface="Source Sans Pro"/>
                <a:cs typeface="Source Sans Pro"/>
              </a:rPr>
              <a:t>des</a:t>
            </a:r>
            <a:r>
              <a:rPr sz="1000" spc="50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z="1000" dirty="0">
                <a:solidFill>
                  <a:srgbClr val="0070B1"/>
                </a:solidFill>
                <a:latin typeface="Source Sans Pro"/>
                <a:cs typeface="Source Sans Pro"/>
              </a:rPr>
              <a:t>Teams</a:t>
            </a:r>
            <a:r>
              <a:rPr sz="1000" spc="-2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z="1000" spc="-20" dirty="0">
                <a:solidFill>
                  <a:srgbClr val="0070B1"/>
                </a:solidFill>
                <a:latin typeface="Source Sans Pro"/>
                <a:cs typeface="Source Sans Pro"/>
              </a:rPr>
              <a:t>nach</a:t>
            </a:r>
            <a:r>
              <a:rPr sz="1000" spc="50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z="1000" spc="-10" dirty="0">
                <a:solidFill>
                  <a:srgbClr val="0070B1"/>
                </a:solidFill>
                <a:latin typeface="Source Sans Pro"/>
                <a:cs typeface="Source Sans Pro"/>
              </a:rPr>
              <a:t>Projektende</a:t>
            </a:r>
            <a:endParaRPr sz="1000" dirty="0">
              <a:latin typeface="Source Sans Pro"/>
              <a:cs typeface="Source Sans Pro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53" name="Foliennummernplatzhalter 52">
            <a:extLst>
              <a:ext uri="{FF2B5EF4-FFF2-40B4-BE49-F238E27FC236}">
                <a16:creationId xmlns:a16="http://schemas.microsoft.com/office/drawing/2014/main" id="{3770E565-4150-A6C6-79D5-A3F40A480F0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4330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22</a:t>
            </a:fld>
            <a:endParaRPr lang="de-DE" spc="-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4" grpId="0"/>
      <p:bldP spid="18" grpId="0"/>
      <p:bldP spid="22" grpId="0"/>
      <p:bldP spid="26" grpId="0"/>
      <p:bldP spid="30" grpId="0"/>
      <p:bldP spid="34" grpId="0"/>
      <p:bldP spid="38" grpId="0" animBg="1"/>
      <p:bldP spid="40" grpId="0" animBg="1"/>
      <p:bldP spid="45" grpId="0"/>
      <p:bldP spid="4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EA8E0-D22F-2ADC-2D11-980FB1DC3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86D22AC-F71A-B2DE-5F33-330D542CFA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1147" y="492633"/>
            <a:ext cx="69754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latin typeface="Source Sans Pro"/>
                <a:cs typeface="Source Sans Pro"/>
              </a:rPr>
              <a:t>Projektmanagementmethoden</a:t>
            </a:r>
            <a:endParaRPr sz="4000" dirty="0">
              <a:latin typeface="Source Sans Pro"/>
              <a:cs typeface="Source Sans Pro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375C0FC-EBE6-99D4-0D69-7045CD7C0D64}"/>
              </a:ext>
            </a:extLst>
          </p:cNvPr>
          <p:cNvGrpSpPr/>
          <p:nvPr/>
        </p:nvGrpSpPr>
        <p:grpSpPr>
          <a:xfrm>
            <a:off x="863853" y="2212594"/>
            <a:ext cx="4629150" cy="3352165"/>
            <a:chOff x="863853" y="2212594"/>
            <a:chExt cx="4629150" cy="335216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C07E2F2-E704-1E74-0470-9E5C5201F3D9}"/>
                </a:ext>
              </a:extLst>
            </p:cNvPr>
            <p:cNvSpPr/>
            <p:nvPr/>
          </p:nvSpPr>
          <p:spPr>
            <a:xfrm>
              <a:off x="870203" y="2218944"/>
              <a:ext cx="4616450" cy="3339465"/>
            </a:xfrm>
            <a:custGeom>
              <a:avLst/>
              <a:gdLst/>
              <a:ahLst/>
              <a:cxnLst/>
              <a:rect l="l" t="t" r="r" b="b"/>
              <a:pathLst>
                <a:path w="4616450" h="3339465">
                  <a:moveTo>
                    <a:pt x="2308098" y="0"/>
                  </a:moveTo>
                  <a:lnTo>
                    <a:pt x="0" y="3339083"/>
                  </a:lnTo>
                  <a:lnTo>
                    <a:pt x="4616196" y="3339083"/>
                  </a:lnTo>
                  <a:lnTo>
                    <a:pt x="2308098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CE7A262-3995-B9AF-DDAC-FE9405538D11}"/>
                </a:ext>
              </a:extLst>
            </p:cNvPr>
            <p:cNvSpPr/>
            <p:nvPr/>
          </p:nvSpPr>
          <p:spPr>
            <a:xfrm>
              <a:off x="870203" y="2218944"/>
              <a:ext cx="4616450" cy="3339465"/>
            </a:xfrm>
            <a:custGeom>
              <a:avLst/>
              <a:gdLst/>
              <a:ahLst/>
              <a:cxnLst/>
              <a:rect l="l" t="t" r="r" b="b"/>
              <a:pathLst>
                <a:path w="4616450" h="3339465">
                  <a:moveTo>
                    <a:pt x="0" y="3339083"/>
                  </a:moveTo>
                  <a:lnTo>
                    <a:pt x="2308098" y="0"/>
                  </a:lnTo>
                  <a:lnTo>
                    <a:pt x="4616196" y="3339083"/>
                  </a:lnTo>
                  <a:lnTo>
                    <a:pt x="0" y="3339083"/>
                  </a:lnTo>
                  <a:close/>
                </a:path>
              </a:pathLst>
            </a:custGeom>
            <a:ln w="12700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E938ABF-1662-85C1-D37B-A3C4A5F732A9}"/>
              </a:ext>
            </a:extLst>
          </p:cNvPr>
          <p:cNvSpPr txBox="1"/>
          <p:nvPr/>
        </p:nvSpPr>
        <p:spPr>
          <a:xfrm>
            <a:off x="2282189" y="4510278"/>
            <a:ext cx="1791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D2E8F4"/>
                </a:solidFill>
                <a:latin typeface="Source Sans Pro"/>
                <a:cs typeface="Source Sans Pro"/>
              </a:rPr>
              <a:t>planorientiert</a:t>
            </a:r>
            <a:endParaRPr sz="2400" dirty="0">
              <a:latin typeface="Source Sans Pro"/>
              <a:cs typeface="Source Sans Pro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E766ACC1-CE4C-F2CB-0841-EBD5BDCECB1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A0C86C18-174F-E16E-E855-E316831C0708}"/>
              </a:ext>
            </a:extLst>
          </p:cNvPr>
          <p:cNvSpPr txBox="1"/>
          <p:nvPr/>
        </p:nvSpPr>
        <p:spPr>
          <a:xfrm>
            <a:off x="2494533" y="1222711"/>
            <a:ext cx="165353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0070B1"/>
                </a:solidFill>
                <a:latin typeface="Source Sans Pro"/>
                <a:cs typeface="Source Sans Pro"/>
              </a:rPr>
              <a:t>klassisch</a:t>
            </a:r>
            <a:endParaRPr sz="3200" dirty="0">
              <a:latin typeface="Source Sans Pro"/>
              <a:cs typeface="Source Sans Pro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0A81C5B8-668F-8221-DAD8-2A7D901C9D55}"/>
              </a:ext>
            </a:extLst>
          </p:cNvPr>
          <p:cNvSpPr txBox="1"/>
          <p:nvPr/>
        </p:nvSpPr>
        <p:spPr>
          <a:xfrm>
            <a:off x="292100" y="5653227"/>
            <a:ext cx="1350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70B1"/>
                </a:solidFill>
                <a:latin typeface="Source Sans Pro"/>
                <a:cs typeface="Source Sans Pro"/>
              </a:rPr>
              <a:t>Zeit </a:t>
            </a:r>
            <a:r>
              <a:rPr sz="1800" spc="-10" dirty="0">
                <a:solidFill>
                  <a:srgbClr val="0070B1"/>
                </a:solidFill>
                <a:latin typeface="Source Sans Pro"/>
                <a:cs typeface="Source Sans Pro"/>
              </a:rPr>
              <a:t>(variabel)</a:t>
            </a:r>
            <a:endParaRPr sz="1800">
              <a:latin typeface="Source Sans Pro"/>
              <a:cs typeface="Source Sans Pro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A3954D7A-556A-BC7F-3F60-974F33C1FB16}"/>
              </a:ext>
            </a:extLst>
          </p:cNvPr>
          <p:cNvSpPr txBox="1"/>
          <p:nvPr/>
        </p:nvSpPr>
        <p:spPr>
          <a:xfrm>
            <a:off x="2215133" y="1873758"/>
            <a:ext cx="2212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70B1"/>
                </a:solidFill>
                <a:latin typeface="Source Sans Pro"/>
                <a:cs typeface="Source Sans Pro"/>
              </a:rPr>
              <a:t>Leistungsumfang</a:t>
            </a:r>
            <a:r>
              <a:rPr sz="1800" spc="-7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z="1800" spc="-10" dirty="0">
                <a:solidFill>
                  <a:srgbClr val="0070B1"/>
                </a:solidFill>
                <a:latin typeface="Source Sans Pro"/>
                <a:cs typeface="Source Sans Pro"/>
              </a:rPr>
              <a:t>(fest)</a:t>
            </a:r>
            <a:endParaRPr sz="1800">
              <a:latin typeface="Source Sans Pro"/>
              <a:cs typeface="Source Sans Pro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E4F9C48E-4A95-7059-7ADE-D52E92A39CF5}"/>
              </a:ext>
            </a:extLst>
          </p:cNvPr>
          <p:cNvSpPr txBox="1"/>
          <p:nvPr/>
        </p:nvSpPr>
        <p:spPr>
          <a:xfrm>
            <a:off x="4735829" y="5653227"/>
            <a:ext cx="1647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70B1"/>
                </a:solidFill>
                <a:latin typeface="Source Sans Pro"/>
                <a:cs typeface="Source Sans Pro"/>
              </a:rPr>
              <a:t>Kosten </a:t>
            </a:r>
            <a:r>
              <a:rPr sz="1800" spc="-10" dirty="0">
                <a:solidFill>
                  <a:srgbClr val="0070B1"/>
                </a:solidFill>
                <a:latin typeface="Source Sans Pro"/>
                <a:cs typeface="Source Sans Pro"/>
              </a:rPr>
              <a:t>(variabel)</a:t>
            </a:r>
            <a:endParaRPr sz="1800">
              <a:latin typeface="Source Sans Pro"/>
              <a:cs typeface="Source Sans Pro"/>
            </a:endParaRPr>
          </a:p>
        </p:txBody>
      </p:sp>
      <p:sp>
        <p:nvSpPr>
          <p:cNvPr id="22" name="Foliennummernplatzhalter 21">
            <a:extLst>
              <a:ext uri="{FF2B5EF4-FFF2-40B4-BE49-F238E27FC236}">
                <a16:creationId xmlns:a16="http://schemas.microsoft.com/office/drawing/2014/main" id="{6622C567-9F1F-9069-AB1C-391F6ED86BD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23</a:t>
            </a:fld>
            <a:endParaRPr lang="de-DE" spc="-50" dirty="0"/>
          </a:p>
        </p:txBody>
      </p:sp>
      <p:sp>
        <p:nvSpPr>
          <p:cNvPr id="21" name="Untertitel 2">
            <a:extLst>
              <a:ext uri="{FF2B5EF4-FFF2-40B4-BE49-F238E27FC236}">
                <a16:creationId xmlns:a16="http://schemas.microsoft.com/office/drawing/2014/main" id="{945B7188-5AA2-DB51-5F87-27AC45C6BE28}"/>
              </a:ext>
            </a:extLst>
          </p:cNvPr>
          <p:cNvSpPr txBox="1">
            <a:spLocks/>
          </p:cNvSpPr>
          <p:nvPr/>
        </p:nvSpPr>
        <p:spPr>
          <a:xfrm>
            <a:off x="7241156" y="1452529"/>
            <a:ext cx="4616450" cy="44196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dirty="0"/>
              <a:t>Im klassischen Projektmanagement hat man einen fest definierten Umfang</a:t>
            </a: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spc="-20" dirty="0"/>
              <a:t>Man passt Aufwand und Zeit an, um diesen Umfang zu erzielen</a:t>
            </a:r>
          </a:p>
          <a:p>
            <a:pPr marL="12700" algn="l">
              <a:spcBef>
                <a:spcPts val="735"/>
              </a:spcBef>
              <a:tabLst>
                <a:tab pos="240665" algn="l"/>
              </a:tabLst>
            </a:pPr>
            <a:endParaRPr lang="de-DE" sz="1800" spc="-2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spc="-20" dirty="0"/>
              <a:t>Man verschiebt lieber einen Meilenstein und ändert den Einsatz der Mitarbeiter als den Leistungsumfang anzupassen</a:t>
            </a: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spc="-2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b="1" spc="-20" dirty="0"/>
              <a:t>Der Projektplan steuert das Projekt</a:t>
            </a: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spc="-2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spc="-20" dirty="0"/>
          </a:p>
          <a:p>
            <a:pPr marL="12700" algn="l">
              <a:spcBef>
                <a:spcPts val="735"/>
              </a:spcBef>
              <a:tabLst>
                <a:tab pos="240665" algn="l"/>
              </a:tabLst>
            </a:pPr>
            <a:endParaRPr lang="de-DE" sz="1800" spc="-2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spc="-20" dirty="0"/>
          </a:p>
        </p:txBody>
      </p:sp>
    </p:spTree>
    <p:extLst>
      <p:ext uri="{BB962C8B-B14F-4D97-AF65-F5344CB8AC3E}">
        <p14:creationId xmlns:p14="http://schemas.microsoft.com/office/powerpoint/2010/main" val="1368286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4E53F-73A0-3A52-88AF-DFBBFA4D1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5AA7420-831E-8603-9F58-796782C327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1147" y="492633"/>
            <a:ext cx="69754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latin typeface="Source Sans Pro"/>
                <a:cs typeface="Source Sans Pro"/>
              </a:rPr>
              <a:t>Projektmanagementmethoden</a:t>
            </a:r>
            <a:endParaRPr sz="4000" dirty="0">
              <a:latin typeface="Source Sans Pro"/>
              <a:cs typeface="Source Sans Pro"/>
            </a:endParaRPr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8FA9817C-DFCC-1775-C003-B67D703505F0}"/>
              </a:ext>
            </a:extLst>
          </p:cNvPr>
          <p:cNvGrpSpPr/>
          <p:nvPr/>
        </p:nvGrpSpPr>
        <p:grpSpPr>
          <a:xfrm>
            <a:off x="6511797" y="2236977"/>
            <a:ext cx="4518025" cy="3383915"/>
            <a:chOff x="6511797" y="2236977"/>
            <a:chExt cx="4518025" cy="3383915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A99FA0D3-E798-D629-DE03-B4AF772ED384}"/>
                </a:ext>
              </a:extLst>
            </p:cNvPr>
            <p:cNvSpPr/>
            <p:nvPr/>
          </p:nvSpPr>
          <p:spPr>
            <a:xfrm>
              <a:off x="6518147" y="2243327"/>
              <a:ext cx="4505325" cy="3371215"/>
            </a:xfrm>
            <a:custGeom>
              <a:avLst/>
              <a:gdLst/>
              <a:ahLst/>
              <a:cxnLst/>
              <a:rect l="l" t="t" r="r" b="b"/>
              <a:pathLst>
                <a:path w="4505325" h="3371215">
                  <a:moveTo>
                    <a:pt x="4504944" y="0"/>
                  </a:moveTo>
                  <a:lnTo>
                    <a:pt x="0" y="0"/>
                  </a:lnTo>
                  <a:lnTo>
                    <a:pt x="2252472" y="3371088"/>
                  </a:lnTo>
                  <a:lnTo>
                    <a:pt x="4504944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6F39CF97-89E7-3141-A3AD-DD4937005682}"/>
                </a:ext>
              </a:extLst>
            </p:cNvPr>
            <p:cNvSpPr/>
            <p:nvPr/>
          </p:nvSpPr>
          <p:spPr>
            <a:xfrm>
              <a:off x="6518147" y="2243327"/>
              <a:ext cx="4505325" cy="3371215"/>
            </a:xfrm>
            <a:custGeom>
              <a:avLst/>
              <a:gdLst/>
              <a:ahLst/>
              <a:cxnLst/>
              <a:rect l="l" t="t" r="r" b="b"/>
              <a:pathLst>
                <a:path w="4505325" h="3371215">
                  <a:moveTo>
                    <a:pt x="0" y="0"/>
                  </a:moveTo>
                  <a:lnTo>
                    <a:pt x="4504944" y="0"/>
                  </a:lnTo>
                  <a:lnTo>
                    <a:pt x="2252472" y="337108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640140B4-F659-71BE-1D80-2A4B687B2B7D}"/>
              </a:ext>
            </a:extLst>
          </p:cNvPr>
          <p:cNvSpPr txBox="1"/>
          <p:nvPr/>
        </p:nvSpPr>
        <p:spPr>
          <a:xfrm>
            <a:off x="7734045" y="2906395"/>
            <a:ext cx="20764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D2E8F4"/>
                </a:solidFill>
                <a:latin typeface="Source Sans Pro"/>
                <a:cs typeface="Source Sans Pro"/>
              </a:rPr>
              <a:t>mehrwertorientiert</a:t>
            </a:r>
            <a:endParaRPr sz="2000" dirty="0">
              <a:latin typeface="Source Sans Pro"/>
              <a:cs typeface="Source Sans Pro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0DB82360-B376-BD54-2A7B-4121542DCB3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5037D04F-E26A-67AE-BDE3-CF8AB635FB54}"/>
              </a:ext>
            </a:extLst>
          </p:cNvPr>
          <p:cNvSpPr txBox="1"/>
          <p:nvPr/>
        </p:nvSpPr>
        <p:spPr>
          <a:xfrm>
            <a:off x="8557370" y="1191220"/>
            <a:ext cx="6870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0" dirty="0">
                <a:solidFill>
                  <a:srgbClr val="0070B1"/>
                </a:solidFill>
                <a:latin typeface="Source Sans Pro"/>
                <a:cs typeface="Source Sans Pro"/>
              </a:rPr>
              <a:t>agil</a:t>
            </a:r>
            <a:endParaRPr sz="3200" dirty="0">
              <a:latin typeface="Source Sans Pro"/>
              <a:cs typeface="Source Sans Pro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7761BAF6-0E76-4ACB-75BF-F826EBD9DFE2}"/>
              </a:ext>
            </a:extLst>
          </p:cNvPr>
          <p:cNvSpPr txBox="1"/>
          <p:nvPr/>
        </p:nvSpPr>
        <p:spPr>
          <a:xfrm>
            <a:off x="10774426" y="1848992"/>
            <a:ext cx="1229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70B1"/>
                </a:solidFill>
                <a:latin typeface="Source Sans Pro"/>
                <a:cs typeface="Source Sans Pro"/>
              </a:rPr>
              <a:t>Kosten </a:t>
            </a:r>
            <a:r>
              <a:rPr sz="1800" spc="-10" dirty="0">
                <a:solidFill>
                  <a:srgbClr val="0070B1"/>
                </a:solidFill>
                <a:latin typeface="Source Sans Pro"/>
                <a:cs typeface="Source Sans Pro"/>
              </a:rPr>
              <a:t>(fest)</a:t>
            </a:r>
            <a:endParaRPr sz="1800" dirty="0">
              <a:latin typeface="Source Sans Pro"/>
              <a:cs typeface="Source Sans Pro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6D0D75B2-96BC-5D9E-F50A-7655D98CDB7D}"/>
              </a:ext>
            </a:extLst>
          </p:cNvPr>
          <p:cNvSpPr txBox="1"/>
          <p:nvPr/>
        </p:nvSpPr>
        <p:spPr>
          <a:xfrm>
            <a:off x="7406131" y="5653227"/>
            <a:ext cx="262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70B1"/>
                </a:solidFill>
                <a:latin typeface="Source Sans Pro"/>
                <a:cs typeface="Source Sans Pro"/>
              </a:rPr>
              <a:t>Leistungsumfang</a:t>
            </a:r>
            <a:r>
              <a:rPr sz="1800" spc="-6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z="1800" spc="-10" dirty="0">
                <a:solidFill>
                  <a:srgbClr val="0070B1"/>
                </a:solidFill>
                <a:latin typeface="Source Sans Pro"/>
                <a:cs typeface="Source Sans Pro"/>
              </a:rPr>
              <a:t>(variabel)</a:t>
            </a:r>
            <a:endParaRPr sz="1800">
              <a:latin typeface="Source Sans Pro"/>
              <a:cs typeface="Source Sans Pro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2829AD71-1A8F-42DB-CF05-C09DE6905E34}"/>
              </a:ext>
            </a:extLst>
          </p:cNvPr>
          <p:cNvSpPr txBox="1"/>
          <p:nvPr/>
        </p:nvSpPr>
        <p:spPr>
          <a:xfrm>
            <a:off x="6015290" y="1842262"/>
            <a:ext cx="932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70B1"/>
                </a:solidFill>
                <a:latin typeface="Source Sans Pro"/>
                <a:cs typeface="Source Sans Pro"/>
              </a:rPr>
              <a:t>Zeit </a:t>
            </a:r>
            <a:r>
              <a:rPr sz="1800" spc="-10" dirty="0">
                <a:solidFill>
                  <a:srgbClr val="0070B1"/>
                </a:solidFill>
                <a:latin typeface="Source Sans Pro"/>
                <a:cs typeface="Source Sans Pro"/>
              </a:rPr>
              <a:t>(fest)</a:t>
            </a:r>
            <a:endParaRPr sz="1800" dirty="0">
              <a:latin typeface="Source Sans Pro"/>
              <a:cs typeface="Source Sans Pro"/>
            </a:endParaRPr>
          </a:p>
        </p:txBody>
      </p:sp>
      <p:sp>
        <p:nvSpPr>
          <p:cNvPr id="22" name="Foliennummernplatzhalter 21">
            <a:extLst>
              <a:ext uri="{FF2B5EF4-FFF2-40B4-BE49-F238E27FC236}">
                <a16:creationId xmlns:a16="http://schemas.microsoft.com/office/drawing/2014/main" id="{80BC897D-6630-DF57-69A6-95AF3D681EF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24</a:t>
            </a:fld>
            <a:endParaRPr lang="de-DE" spc="-50" dirty="0"/>
          </a:p>
        </p:txBody>
      </p:sp>
      <p:sp>
        <p:nvSpPr>
          <p:cNvPr id="24" name="Untertitel 2">
            <a:extLst>
              <a:ext uri="{FF2B5EF4-FFF2-40B4-BE49-F238E27FC236}">
                <a16:creationId xmlns:a16="http://schemas.microsoft.com/office/drawing/2014/main" id="{6FCE6BCF-C8B3-5EC3-77C5-81439E86E08E}"/>
              </a:ext>
            </a:extLst>
          </p:cNvPr>
          <p:cNvSpPr txBox="1">
            <a:spLocks/>
          </p:cNvSpPr>
          <p:nvPr/>
        </p:nvSpPr>
        <p:spPr>
          <a:xfrm>
            <a:off x="304800" y="1560125"/>
            <a:ext cx="4616450" cy="44196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dirty="0"/>
              <a:t>Agiles Projektmanagement stellt die Idee des klassischen Ansatzes auf den Kopf</a:t>
            </a: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spc="-20" dirty="0"/>
              <a:t>Termine und Aufwand sind fix</a:t>
            </a:r>
          </a:p>
          <a:p>
            <a:pPr marL="12700" algn="l">
              <a:spcBef>
                <a:spcPts val="735"/>
              </a:spcBef>
              <a:tabLst>
                <a:tab pos="240665" algn="l"/>
              </a:tabLst>
            </a:pPr>
            <a:endParaRPr lang="de-DE" sz="1800" spc="-2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spc="-20" dirty="0"/>
              <a:t>Stattdessen ändert sich der Umfang ständig</a:t>
            </a: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spc="-2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spc="-20" dirty="0"/>
              <a:t>Weil sich die Anforderungen im Verlauf des Projektes ständig ändern</a:t>
            </a: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spc="-2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b="1" spc="-20" dirty="0"/>
              <a:t>Ziel ist ein möglichst hoher Wert für die Stakeholder</a:t>
            </a: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spc="-2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spc="-20" dirty="0"/>
          </a:p>
          <a:p>
            <a:pPr marL="12700" algn="l">
              <a:spcBef>
                <a:spcPts val="735"/>
              </a:spcBef>
              <a:tabLst>
                <a:tab pos="240665" algn="l"/>
              </a:tabLst>
            </a:pPr>
            <a:endParaRPr lang="de-DE" sz="1800" spc="-2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spc="-20" dirty="0"/>
          </a:p>
        </p:txBody>
      </p:sp>
    </p:spTree>
    <p:extLst>
      <p:ext uri="{BB962C8B-B14F-4D97-AF65-F5344CB8AC3E}">
        <p14:creationId xmlns:p14="http://schemas.microsoft.com/office/powerpoint/2010/main" val="2708402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884E6-1B17-7E77-0196-D2ED4CF56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8ACB6AB-3431-FDAB-0858-3CF43839B1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>
                <a:latin typeface="Source Sans Pro"/>
                <a:cs typeface="Source Sans Pro"/>
              </a:rPr>
              <a:t>SCRUM – die Grundidee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DC8ACB4-D9C2-1586-432D-27D83F1F106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4ACB3DD-7B66-C290-7B87-564DC8A82BC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25</a:t>
            </a:fld>
            <a:endParaRPr lang="de-DE" spc="-50" dirty="0"/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6DF64699-9F83-6329-CF2B-90886C3ECD54}"/>
              </a:ext>
            </a:extLst>
          </p:cNvPr>
          <p:cNvSpPr txBox="1">
            <a:spLocks/>
          </p:cNvSpPr>
          <p:nvPr/>
        </p:nvSpPr>
        <p:spPr>
          <a:xfrm>
            <a:off x="360679" y="1676400"/>
            <a:ext cx="9906000" cy="44196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dirty="0"/>
              <a:t>Projekte werden nicht klassisch durchgeplant</a:t>
            </a: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spc="-20" dirty="0"/>
              <a:t>Schritt für Schritt werden die Aufgaben abgearbeitet</a:t>
            </a: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spc="-2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spc="-20" dirty="0"/>
              <a:t>Schnelle Reaktionen auf Probleme und kurzfristige Veränderungen sind möglich</a:t>
            </a: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spc="-2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spc="-20" dirty="0"/>
              <a:t>Selbstorganisation des Teams und Selbstmotivation stehen im Fokus</a:t>
            </a: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spc="-2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spc="-20" dirty="0"/>
              <a:t>3 Zentrale Rollen</a:t>
            </a: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spc="-20" dirty="0"/>
              <a:t>3 Artefakte</a:t>
            </a: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spc="-20" dirty="0"/>
              <a:t>5 Aktivitäten</a:t>
            </a: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spc="-20" dirty="0"/>
          </a:p>
          <a:p>
            <a:pPr marL="12700" algn="l">
              <a:spcBef>
                <a:spcPts val="735"/>
              </a:spcBef>
              <a:tabLst>
                <a:tab pos="240665" algn="l"/>
              </a:tabLst>
            </a:pPr>
            <a:endParaRPr lang="de-DE" sz="1800" spc="-2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spc="-20" dirty="0"/>
          </a:p>
        </p:txBody>
      </p:sp>
      <p:grpSp>
        <p:nvGrpSpPr>
          <p:cNvPr id="23" name="object 5">
            <a:extLst>
              <a:ext uri="{FF2B5EF4-FFF2-40B4-BE49-F238E27FC236}">
                <a16:creationId xmlns:a16="http://schemas.microsoft.com/office/drawing/2014/main" id="{A77012A9-0ADC-4A2F-33B7-FC0454B23CB1}"/>
              </a:ext>
            </a:extLst>
          </p:cNvPr>
          <p:cNvGrpSpPr/>
          <p:nvPr/>
        </p:nvGrpSpPr>
        <p:grpSpPr>
          <a:xfrm>
            <a:off x="9592945" y="1901062"/>
            <a:ext cx="1146810" cy="750570"/>
            <a:chOff x="9555226" y="2224785"/>
            <a:chExt cx="1146810" cy="750570"/>
          </a:xfrm>
        </p:grpSpPr>
        <p:sp>
          <p:nvSpPr>
            <p:cNvPr id="24" name="object 6">
              <a:extLst>
                <a:ext uri="{FF2B5EF4-FFF2-40B4-BE49-F238E27FC236}">
                  <a16:creationId xmlns:a16="http://schemas.microsoft.com/office/drawing/2014/main" id="{8006245C-6AFA-EDD6-D695-96BE8DC48A9B}"/>
                </a:ext>
              </a:extLst>
            </p:cNvPr>
            <p:cNvSpPr/>
            <p:nvPr/>
          </p:nvSpPr>
          <p:spPr>
            <a:xfrm>
              <a:off x="9561576" y="2231135"/>
              <a:ext cx="1134110" cy="737870"/>
            </a:xfrm>
            <a:custGeom>
              <a:avLst/>
              <a:gdLst/>
              <a:ahLst/>
              <a:cxnLst/>
              <a:rect l="l" t="t" r="r" b="b"/>
              <a:pathLst>
                <a:path w="1134109" h="737869">
                  <a:moveTo>
                    <a:pt x="1010920" y="0"/>
                  </a:moveTo>
                  <a:lnTo>
                    <a:pt x="122935" y="0"/>
                  </a:lnTo>
                  <a:lnTo>
                    <a:pt x="75062" y="9653"/>
                  </a:lnTo>
                  <a:lnTo>
                    <a:pt x="35988" y="35988"/>
                  </a:lnTo>
                  <a:lnTo>
                    <a:pt x="9653" y="75062"/>
                  </a:lnTo>
                  <a:lnTo>
                    <a:pt x="0" y="122936"/>
                  </a:lnTo>
                  <a:lnTo>
                    <a:pt x="0" y="614679"/>
                  </a:lnTo>
                  <a:lnTo>
                    <a:pt x="9653" y="662553"/>
                  </a:lnTo>
                  <a:lnTo>
                    <a:pt x="35988" y="701627"/>
                  </a:lnTo>
                  <a:lnTo>
                    <a:pt x="75062" y="727962"/>
                  </a:lnTo>
                  <a:lnTo>
                    <a:pt x="122935" y="737615"/>
                  </a:lnTo>
                  <a:lnTo>
                    <a:pt x="1010920" y="737615"/>
                  </a:lnTo>
                  <a:lnTo>
                    <a:pt x="1058793" y="727962"/>
                  </a:lnTo>
                  <a:lnTo>
                    <a:pt x="1097867" y="701627"/>
                  </a:lnTo>
                  <a:lnTo>
                    <a:pt x="1124202" y="662553"/>
                  </a:lnTo>
                  <a:lnTo>
                    <a:pt x="1133855" y="614679"/>
                  </a:lnTo>
                  <a:lnTo>
                    <a:pt x="1133855" y="122936"/>
                  </a:lnTo>
                  <a:lnTo>
                    <a:pt x="1124202" y="75062"/>
                  </a:lnTo>
                  <a:lnTo>
                    <a:pt x="1097867" y="35988"/>
                  </a:lnTo>
                  <a:lnTo>
                    <a:pt x="1058793" y="9653"/>
                  </a:lnTo>
                  <a:lnTo>
                    <a:pt x="1010920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7">
              <a:extLst>
                <a:ext uri="{FF2B5EF4-FFF2-40B4-BE49-F238E27FC236}">
                  <a16:creationId xmlns:a16="http://schemas.microsoft.com/office/drawing/2014/main" id="{008684C0-CBA0-3E12-E56A-B671A824181F}"/>
                </a:ext>
              </a:extLst>
            </p:cNvPr>
            <p:cNvSpPr/>
            <p:nvPr/>
          </p:nvSpPr>
          <p:spPr>
            <a:xfrm>
              <a:off x="9561576" y="2231135"/>
              <a:ext cx="1134110" cy="737870"/>
            </a:xfrm>
            <a:custGeom>
              <a:avLst/>
              <a:gdLst/>
              <a:ahLst/>
              <a:cxnLst/>
              <a:rect l="l" t="t" r="r" b="b"/>
              <a:pathLst>
                <a:path w="1134109" h="737869">
                  <a:moveTo>
                    <a:pt x="0" y="122936"/>
                  </a:moveTo>
                  <a:lnTo>
                    <a:pt x="9653" y="75062"/>
                  </a:lnTo>
                  <a:lnTo>
                    <a:pt x="35988" y="35988"/>
                  </a:lnTo>
                  <a:lnTo>
                    <a:pt x="75062" y="9653"/>
                  </a:lnTo>
                  <a:lnTo>
                    <a:pt x="122935" y="0"/>
                  </a:lnTo>
                  <a:lnTo>
                    <a:pt x="1010920" y="0"/>
                  </a:lnTo>
                  <a:lnTo>
                    <a:pt x="1058793" y="9653"/>
                  </a:lnTo>
                  <a:lnTo>
                    <a:pt x="1097867" y="35988"/>
                  </a:lnTo>
                  <a:lnTo>
                    <a:pt x="1124202" y="75062"/>
                  </a:lnTo>
                  <a:lnTo>
                    <a:pt x="1133855" y="122936"/>
                  </a:lnTo>
                  <a:lnTo>
                    <a:pt x="1133855" y="614679"/>
                  </a:lnTo>
                  <a:lnTo>
                    <a:pt x="1124202" y="662553"/>
                  </a:lnTo>
                  <a:lnTo>
                    <a:pt x="1097867" y="701627"/>
                  </a:lnTo>
                  <a:lnTo>
                    <a:pt x="1058793" y="727962"/>
                  </a:lnTo>
                  <a:lnTo>
                    <a:pt x="1010920" y="737615"/>
                  </a:lnTo>
                  <a:lnTo>
                    <a:pt x="122935" y="737615"/>
                  </a:lnTo>
                  <a:lnTo>
                    <a:pt x="75062" y="727962"/>
                  </a:lnTo>
                  <a:lnTo>
                    <a:pt x="35988" y="701627"/>
                  </a:lnTo>
                  <a:lnTo>
                    <a:pt x="9653" y="662553"/>
                  </a:lnTo>
                  <a:lnTo>
                    <a:pt x="0" y="614679"/>
                  </a:lnTo>
                  <a:lnTo>
                    <a:pt x="0" y="122936"/>
                  </a:lnTo>
                  <a:close/>
                </a:path>
              </a:pathLst>
            </a:custGeom>
            <a:ln w="12700">
              <a:solidFill>
                <a:srgbClr val="D2E8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8">
            <a:extLst>
              <a:ext uri="{FF2B5EF4-FFF2-40B4-BE49-F238E27FC236}">
                <a16:creationId xmlns:a16="http://schemas.microsoft.com/office/drawing/2014/main" id="{FAA2B936-D616-454C-13FD-36D73FB5A72A}"/>
              </a:ext>
            </a:extLst>
          </p:cNvPr>
          <p:cNvSpPr txBox="1"/>
          <p:nvPr/>
        </p:nvSpPr>
        <p:spPr>
          <a:xfrm>
            <a:off x="9844404" y="2030349"/>
            <a:ext cx="64452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20" dirty="0">
                <a:solidFill>
                  <a:srgbClr val="D2E8F4"/>
                </a:solidFill>
                <a:latin typeface="Source Sans Pro"/>
                <a:cs typeface="Source Sans Pro"/>
              </a:rPr>
              <a:t>Plan</a:t>
            </a:r>
            <a:endParaRPr sz="2600">
              <a:latin typeface="Source Sans Pro"/>
              <a:cs typeface="Source Sans Pro"/>
            </a:endParaRPr>
          </a:p>
        </p:txBody>
      </p:sp>
      <p:sp>
        <p:nvSpPr>
          <p:cNvPr id="27" name="object 9">
            <a:extLst>
              <a:ext uri="{FF2B5EF4-FFF2-40B4-BE49-F238E27FC236}">
                <a16:creationId xmlns:a16="http://schemas.microsoft.com/office/drawing/2014/main" id="{D469C58E-410F-E144-04CF-F75BC6B214A8}"/>
              </a:ext>
            </a:extLst>
          </p:cNvPr>
          <p:cNvSpPr/>
          <p:nvPr/>
        </p:nvSpPr>
        <p:spPr>
          <a:xfrm>
            <a:off x="10886694" y="2509519"/>
            <a:ext cx="378460" cy="445770"/>
          </a:xfrm>
          <a:custGeom>
            <a:avLst/>
            <a:gdLst/>
            <a:ahLst/>
            <a:cxnLst/>
            <a:rect l="l" t="t" r="r" b="b"/>
            <a:pathLst>
              <a:path w="378459" h="445770">
                <a:moveTo>
                  <a:pt x="292989" y="379476"/>
                </a:moveTo>
                <a:lnTo>
                  <a:pt x="289051" y="380365"/>
                </a:lnTo>
                <a:lnTo>
                  <a:pt x="287147" y="383286"/>
                </a:lnTo>
                <a:lnTo>
                  <a:pt x="285242" y="386334"/>
                </a:lnTo>
                <a:lnTo>
                  <a:pt x="286130" y="390271"/>
                </a:lnTo>
                <a:lnTo>
                  <a:pt x="289051" y="392176"/>
                </a:lnTo>
                <a:lnTo>
                  <a:pt x="372491" y="445516"/>
                </a:lnTo>
                <a:lnTo>
                  <a:pt x="372946" y="437261"/>
                </a:lnTo>
                <a:lnTo>
                  <a:pt x="361188" y="437261"/>
                </a:lnTo>
                <a:lnTo>
                  <a:pt x="350403" y="416319"/>
                </a:lnTo>
                <a:lnTo>
                  <a:pt x="295909" y="381381"/>
                </a:lnTo>
                <a:lnTo>
                  <a:pt x="292989" y="379476"/>
                </a:lnTo>
                <a:close/>
              </a:path>
              <a:path w="378459" h="445770">
                <a:moveTo>
                  <a:pt x="350414" y="416319"/>
                </a:moveTo>
                <a:lnTo>
                  <a:pt x="361188" y="437261"/>
                </a:lnTo>
                <a:lnTo>
                  <a:pt x="367576" y="433959"/>
                </a:lnTo>
                <a:lnTo>
                  <a:pt x="360425" y="433959"/>
                </a:lnTo>
                <a:lnTo>
                  <a:pt x="361020" y="423118"/>
                </a:lnTo>
                <a:lnTo>
                  <a:pt x="350414" y="416319"/>
                </a:lnTo>
                <a:close/>
              </a:path>
              <a:path w="378459" h="445770">
                <a:moveTo>
                  <a:pt x="368553" y="339725"/>
                </a:moveTo>
                <a:lnTo>
                  <a:pt x="365505" y="342392"/>
                </a:lnTo>
                <a:lnTo>
                  <a:pt x="365251" y="345948"/>
                </a:lnTo>
                <a:lnTo>
                  <a:pt x="361728" y="410210"/>
                </a:lnTo>
                <a:lnTo>
                  <a:pt x="361712" y="410489"/>
                </a:lnTo>
                <a:lnTo>
                  <a:pt x="372491" y="431419"/>
                </a:lnTo>
                <a:lnTo>
                  <a:pt x="361188" y="437261"/>
                </a:lnTo>
                <a:lnTo>
                  <a:pt x="372946" y="437261"/>
                </a:lnTo>
                <a:lnTo>
                  <a:pt x="377937" y="346837"/>
                </a:lnTo>
                <a:lnTo>
                  <a:pt x="378205" y="343154"/>
                </a:lnTo>
                <a:lnTo>
                  <a:pt x="375539" y="340106"/>
                </a:lnTo>
                <a:lnTo>
                  <a:pt x="373697" y="340106"/>
                </a:lnTo>
                <a:lnTo>
                  <a:pt x="368553" y="339725"/>
                </a:lnTo>
                <a:close/>
              </a:path>
              <a:path w="378459" h="445770">
                <a:moveTo>
                  <a:pt x="361020" y="423118"/>
                </a:moveTo>
                <a:lnTo>
                  <a:pt x="360425" y="433959"/>
                </a:lnTo>
                <a:lnTo>
                  <a:pt x="370204" y="429006"/>
                </a:lnTo>
                <a:lnTo>
                  <a:pt x="361020" y="423118"/>
                </a:lnTo>
                <a:close/>
              </a:path>
              <a:path w="378459" h="445770">
                <a:moveTo>
                  <a:pt x="361712" y="410489"/>
                </a:moveTo>
                <a:lnTo>
                  <a:pt x="361020" y="423118"/>
                </a:lnTo>
                <a:lnTo>
                  <a:pt x="370204" y="429006"/>
                </a:lnTo>
                <a:lnTo>
                  <a:pt x="360425" y="433959"/>
                </a:lnTo>
                <a:lnTo>
                  <a:pt x="367576" y="433959"/>
                </a:lnTo>
                <a:lnTo>
                  <a:pt x="372491" y="431419"/>
                </a:lnTo>
                <a:lnTo>
                  <a:pt x="361712" y="410489"/>
                </a:lnTo>
                <a:close/>
              </a:path>
              <a:path w="378459" h="445770">
                <a:moveTo>
                  <a:pt x="7620" y="0"/>
                </a:moveTo>
                <a:lnTo>
                  <a:pt x="0" y="10160"/>
                </a:lnTo>
                <a:lnTo>
                  <a:pt x="28828" y="32004"/>
                </a:lnTo>
                <a:lnTo>
                  <a:pt x="55199" y="53385"/>
                </a:lnTo>
                <a:lnTo>
                  <a:pt x="84200" y="78359"/>
                </a:lnTo>
                <a:lnTo>
                  <a:pt x="136648" y="127762"/>
                </a:lnTo>
                <a:lnTo>
                  <a:pt x="186054" y="180086"/>
                </a:lnTo>
                <a:lnTo>
                  <a:pt x="232299" y="235195"/>
                </a:lnTo>
                <a:lnTo>
                  <a:pt x="232139" y="235195"/>
                </a:lnTo>
                <a:lnTo>
                  <a:pt x="254000" y="263779"/>
                </a:lnTo>
                <a:lnTo>
                  <a:pt x="295148" y="322961"/>
                </a:lnTo>
                <a:lnTo>
                  <a:pt x="332740" y="384429"/>
                </a:lnTo>
                <a:lnTo>
                  <a:pt x="350414" y="416319"/>
                </a:lnTo>
                <a:lnTo>
                  <a:pt x="361020" y="423118"/>
                </a:lnTo>
                <a:lnTo>
                  <a:pt x="343789" y="378206"/>
                </a:lnTo>
                <a:lnTo>
                  <a:pt x="305816" y="316103"/>
                </a:lnTo>
                <a:lnTo>
                  <a:pt x="264286" y="256286"/>
                </a:lnTo>
                <a:lnTo>
                  <a:pt x="248213" y="235195"/>
                </a:lnTo>
                <a:lnTo>
                  <a:pt x="232299" y="235195"/>
                </a:lnTo>
                <a:lnTo>
                  <a:pt x="230020" y="232410"/>
                </a:lnTo>
                <a:lnTo>
                  <a:pt x="246091" y="232410"/>
                </a:lnTo>
                <a:lnTo>
                  <a:pt x="242316" y="227457"/>
                </a:lnTo>
                <a:lnTo>
                  <a:pt x="195579" y="171704"/>
                </a:lnTo>
                <a:lnTo>
                  <a:pt x="145669" y="118872"/>
                </a:lnTo>
                <a:lnTo>
                  <a:pt x="92709" y="68961"/>
                </a:lnTo>
                <a:lnTo>
                  <a:pt x="36702" y="22098"/>
                </a:lnTo>
                <a:lnTo>
                  <a:pt x="7620" y="0"/>
                </a:lnTo>
                <a:close/>
              </a:path>
            </a:pathLst>
          </a:custGeom>
          <a:solidFill>
            <a:srgbClr val="0070B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10">
            <a:extLst>
              <a:ext uri="{FF2B5EF4-FFF2-40B4-BE49-F238E27FC236}">
                <a16:creationId xmlns:a16="http://schemas.microsoft.com/office/drawing/2014/main" id="{04DEF562-E601-BA34-E684-59C089EF84C7}"/>
              </a:ext>
            </a:extLst>
          </p:cNvPr>
          <p:cNvGrpSpPr/>
          <p:nvPr/>
        </p:nvGrpSpPr>
        <p:grpSpPr>
          <a:xfrm>
            <a:off x="10812145" y="3120262"/>
            <a:ext cx="1146810" cy="750570"/>
            <a:chOff x="10774426" y="3443985"/>
            <a:chExt cx="1146810" cy="750570"/>
          </a:xfrm>
        </p:grpSpPr>
        <p:sp>
          <p:nvSpPr>
            <p:cNvPr id="29" name="object 11">
              <a:extLst>
                <a:ext uri="{FF2B5EF4-FFF2-40B4-BE49-F238E27FC236}">
                  <a16:creationId xmlns:a16="http://schemas.microsoft.com/office/drawing/2014/main" id="{AFF16750-85C3-AE6E-E407-E824F29EF450}"/>
                </a:ext>
              </a:extLst>
            </p:cNvPr>
            <p:cNvSpPr/>
            <p:nvPr/>
          </p:nvSpPr>
          <p:spPr>
            <a:xfrm>
              <a:off x="10780776" y="3450335"/>
              <a:ext cx="1134110" cy="737870"/>
            </a:xfrm>
            <a:custGeom>
              <a:avLst/>
              <a:gdLst/>
              <a:ahLst/>
              <a:cxnLst/>
              <a:rect l="l" t="t" r="r" b="b"/>
              <a:pathLst>
                <a:path w="1134109" h="737870">
                  <a:moveTo>
                    <a:pt x="1010920" y="0"/>
                  </a:moveTo>
                  <a:lnTo>
                    <a:pt x="122935" y="0"/>
                  </a:lnTo>
                  <a:lnTo>
                    <a:pt x="75062" y="9653"/>
                  </a:lnTo>
                  <a:lnTo>
                    <a:pt x="35988" y="35988"/>
                  </a:lnTo>
                  <a:lnTo>
                    <a:pt x="9653" y="75062"/>
                  </a:lnTo>
                  <a:lnTo>
                    <a:pt x="0" y="122936"/>
                  </a:lnTo>
                  <a:lnTo>
                    <a:pt x="0" y="614680"/>
                  </a:lnTo>
                  <a:lnTo>
                    <a:pt x="9653" y="662553"/>
                  </a:lnTo>
                  <a:lnTo>
                    <a:pt x="35988" y="701627"/>
                  </a:lnTo>
                  <a:lnTo>
                    <a:pt x="75062" y="727962"/>
                  </a:lnTo>
                  <a:lnTo>
                    <a:pt x="122935" y="737615"/>
                  </a:lnTo>
                  <a:lnTo>
                    <a:pt x="1010920" y="737615"/>
                  </a:lnTo>
                  <a:lnTo>
                    <a:pt x="1058793" y="727962"/>
                  </a:lnTo>
                  <a:lnTo>
                    <a:pt x="1097867" y="701627"/>
                  </a:lnTo>
                  <a:lnTo>
                    <a:pt x="1124202" y="662553"/>
                  </a:lnTo>
                  <a:lnTo>
                    <a:pt x="1133855" y="614680"/>
                  </a:lnTo>
                  <a:lnTo>
                    <a:pt x="1133855" y="122936"/>
                  </a:lnTo>
                  <a:lnTo>
                    <a:pt x="1124202" y="75062"/>
                  </a:lnTo>
                  <a:lnTo>
                    <a:pt x="1097867" y="35988"/>
                  </a:lnTo>
                  <a:lnTo>
                    <a:pt x="1058793" y="9653"/>
                  </a:lnTo>
                  <a:lnTo>
                    <a:pt x="1010920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12">
              <a:extLst>
                <a:ext uri="{FF2B5EF4-FFF2-40B4-BE49-F238E27FC236}">
                  <a16:creationId xmlns:a16="http://schemas.microsoft.com/office/drawing/2014/main" id="{433E5E2C-1C3E-7C57-188D-ECB40883E484}"/>
                </a:ext>
              </a:extLst>
            </p:cNvPr>
            <p:cNvSpPr/>
            <p:nvPr/>
          </p:nvSpPr>
          <p:spPr>
            <a:xfrm>
              <a:off x="10780776" y="3450335"/>
              <a:ext cx="1134110" cy="737870"/>
            </a:xfrm>
            <a:custGeom>
              <a:avLst/>
              <a:gdLst/>
              <a:ahLst/>
              <a:cxnLst/>
              <a:rect l="l" t="t" r="r" b="b"/>
              <a:pathLst>
                <a:path w="1134109" h="737870">
                  <a:moveTo>
                    <a:pt x="0" y="122936"/>
                  </a:moveTo>
                  <a:lnTo>
                    <a:pt x="9653" y="75062"/>
                  </a:lnTo>
                  <a:lnTo>
                    <a:pt x="35988" y="35988"/>
                  </a:lnTo>
                  <a:lnTo>
                    <a:pt x="75062" y="9653"/>
                  </a:lnTo>
                  <a:lnTo>
                    <a:pt x="122935" y="0"/>
                  </a:lnTo>
                  <a:lnTo>
                    <a:pt x="1010920" y="0"/>
                  </a:lnTo>
                  <a:lnTo>
                    <a:pt x="1058793" y="9653"/>
                  </a:lnTo>
                  <a:lnTo>
                    <a:pt x="1097867" y="35988"/>
                  </a:lnTo>
                  <a:lnTo>
                    <a:pt x="1124202" y="75062"/>
                  </a:lnTo>
                  <a:lnTo>
                    <a:pt x="1133855" y="122936"/>
                  </a:lnTo>
                  <a:lnTo>
                    <a:pt x="1133855" y="614680"/>
                  </a:lnTo>
                  <a:lnTo>
                    <a:pt x="1124202" y="662553"/>
                  </a:lnTo>
                  <a:lnTo>
                    <a:pt x="1097867" y="701627"/>
                  </a:lnTo>
                  <a:lnTo>
                    <a:pt x="1058793" y="727962"/>
                  </a:lnTo>
                  <a:lnTo>
                    <a:pt x="1010920" y="737615"/>
                  </a:lnTo>
                  <a:lnTo>
                    <a:pt x="122935" y="737615"/>
                  </a:lnTo>
                  <a:lnTo>
                    <a:pt x="75062" y="727962"/>
                  </a:lnTo>
                  <a:lnTo>
                    <a:pt x="35988" y="701627"/>
                  </a:lnTo>
                  <a:lnTo>
                    <a:pt x="9653" y="662553"/>
                  </a:lnTo>
                  <a:lnTo>
                    <a:pt x="0" y="614680"/>
                  </a:lnTo>
                  <a:lnTo>
                    <a:pt x="0" y="122936"/>
                  </a:lnTo>
                  <a:close/>
                </a:path>
              </a:pathLst>
            </a:custGeom>
            <a:ln w="12700">
              <a:solidFill>
                <a:srgbClr val="D2E8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13">
            <a:extLst>
              <a:ext uri="{FF2B5EF4-FFF2-40B4-BE49-F238E27FC236}">
                <a16:creationId xmlns:a16="http://schemas.microsoft.com/office/drawing/2014/main" id="{AEFB95C4-CCDD-F524-F94C-266CF60AFBEB}"/>
              </a:ext>
            </a:extLst>
          </p:cNvPr>
          <p:cNvSpPr txBox="1"/>
          <p:nvPr/>
        </p:nvSpPr>
        <p:spPr>
          <a:xfrm>
            <a:off x="11182858" y="3249803"/>
            <a:ext cx="407034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25" dirty="0">
                <a:solidFill>
                  <a:srgbClr val="D2E8F4"/>
                </a:solidFill>
                <a:latin typeface="Source Sans Pro"/>
                <a:cs typeface="Source Sans Pro"/>
              </a:rPr>
              <a:t>Do</a:t>
            </a:r>
            <a:endParaRPr sz="2600">
              <a:latin typeface="Source Sans Pro"/>
              <a:cs typeface="Source Sans Pro"/>
            </a:endParaRPr>
          </a:p>
        </p:txBody>
      </p:sp>
      <p:sp>
        <p:nvSpPr>
          <p:cNvPr id="32" name="object 14">
            <a:extLst>
              <a:ext uri="{FF2B5EF4-FFF2-40B4-BE49-F238E27FC236}">
                <a16:creationId xmlns:a16="http://schemas.microsoft.com/office/drawing/2014/main" id="{2B1073B8-12B8-5634-AE0F-CC3DBDC3B861}"/>
              </a:ext>
            </a:extLst>
          </p:cNvPr>
          <p:cNvSpPr/>
          <p:nvPr/>
        </p:nvSpPr>
        <p:spPr>
          <a:xfrm>
            <a:off x="10890503" y="4033011"/>
            <a:ext cx="374650" cy="443865"/>
          </a:xfrm>
          <a:custGeom>
            <a:avLst/>
            <a:gdLst/>
            <a:ahLst/>
            <a:cxnLst/>
            <a:rect l="l" t="t" r="r" b="b"/>
            <a:pathLst>
              <a:path w="374650" h="443864">
                <a:moveTo>
                  <a:pt x="42925" y="347090"/>
                </a:moveTo>
                <a:lnTo>
                  <a:pt x="39243" y="348614"/>
                </a:lnTo>
                <a:lnTo>
                  <a:pt x="37973" y="351916"/>
                </a:lnTo>
                <a:lnTo>
                  <a:pt x="0" y="443356"/>
                </a:lnTo>
                <a:lnTo>
                  <a:pt x="20914" y="440816"/>
                </a:lnTo>
                <a:lnTo>
                  <a:pt x="13843" y="440816"/>
                </a:lnTo>
                <a:lnTo>
                  <a:pt x="6319" y="430910"/>
                </a:lnTo>
                <a:lnTo>
                  <a:pt x="6057" y="430910"/>
                </a:lnTo>
                <a:lnTo>
                  <a:pt x="24843" y="416537"/>
                </a:lnTo>
                <a:lnTo>
                  <a:pt x="49657" y="356742"/>
                </a:lnTo>
                <a:lnTo>
                  <a:pt x="51054" y="353440"/>
                </a:lnTo>
                <a:lnTo>
                  <a:pt x="49403" y="349757"/>
                </a:lnTo>
                <a:lnTo>
                  <a:pt x="46228" y="348360"/>
                </a:lnTo>
                <a:lnTo>
                  <a:pt x="42925" y="347090"/>
                </a:lnTo>
                <a:close/>
              </a:path>
              <a:path w="374650" h="443864">
                <a:moveTo>
                  <a:pt x="24843" y="416537"/>
                </a:moveTo>
                <a:lnTo>
                  <a:pt x="6057" y="430910"/>
                </a:lnTo>
                <a:lnTo>
                  <a:pt x="6319" y="430910"/>
                </a:lnTo>
                <a:lnTo>
                  <a:pt x="13843" y="440816"/>
                </a:lnTo>
                <a:lnTo>
                  <a:pt x="17352" y="438150"/>
                </a:lnTo>
                <a:lnTo>
                  <a:pt x="15875" y="438150"/>
                </a:lnTo>
                <a:lnTo>
                  <a:pt x="9271" y="429513"/>
                </a:lnTo>
                <a:lnTo>
                  <a:pt x="20008" y="428189"/>
                </a:lnTo>
                <a:lnTo>
                  <a:pt x="24843" y="416537"/>
                </a:lnTo>
                <a:close/>
              </a:path>
              <a:path w="374650" h="443864">
                <a:moveTo>
                  <a:pt x="100330" y="418338"/>
                </a:moveTo>
                <a:lnTo>
                  <a:pt x="96774" y="418719"/>
                </a:lnTo>
                <a:lnTo>
                  <a:pt x="32483" y="426650"/>
                </a:lnTo>
                <a:lnTo>
                  <a:pt x="13843" y="440816"/>
                </a:lnTo>
                <a:lnTo>
                  <a:pt x="20914" y="440816"/>
                </a:lnTo>
                <a:lnTo>
                  <a:pt x="98298" y="431419"/>
                </a:lnTo>
                <a:lnTo>
                  <a:pt x="101854" y="430910"/>
                </a:lnTo>
                <a:lnTo>
                  <a:pt x="104267" y="427735"/>
                </a:lnTo>
                <a:lnTo>
                  <a:pt x="103505" y="420877"/>
                </a:lnTo>
                <a:lnTo>
                  <a:pt x="100330" y="418338"/>
                </a:lnTo>
                <a:close/>
              </a:path>
              <a:path w="374650" h="443864">
                <a:moveTo>
                  <a:pt x="20008" y="428189"/>
                </a:moveTo>
                <a:lnTo>
                  <a:pt x="9271" y="429513"/>
                </a:lnTo>
                <a:lnTo>
                  <a:pt x="15875" y="438150"/>
                </a:lnTo>
                <a:lnTo>
                  <a:pt x="20008" y="428189"/>
                </a:lnTo>
                <a:close/>
              </a:path>
              <a:path w="374650" h="443864">
                <a:moveTo>
                  <a:pt x="32483" y="426650"/>
                </a:moveTo>
                <a:lnTo>
                  <a:pt x="20008" y="428189"/>
                </a:lnTo>
                <a:lnTo>
                  <a:pt x="15875" y="438150"/>
                </a:lnTo>
                <a:lnTo>
                  <a:pt x="17352" y="438150"/>
                </a:lnTo>
                <a:lnTo>
                  <a:pt x="32483" y="426650"/>
                </a:lnTo>
                <a:close/>
              </a:path>
              <a:path w="374650" h="443864">
                <a:moveTo>
                  <a:pt x="363093" y="0"/>
                </a:moveTo>
                <a:lnTo>
                  <a:pt x="329293" y="63478"/>
                </a:lnTo>
                <a:lnTo>
                  <a:pt x="291465" y="125475"/>
                </a:lnTo>
                <a:lnTo>
                  <a:pt x="250317" y="184531"/>
                </a:lnTo>
                <a:lnTo>
                  <a:pt x="228502" y="213172"/>
                </a:lnTo>
                <a:lnTo>
                  <a:pt x="228364" y="213382"/>
                </a:lnTo>
                <a:lnTo>
                  <a:pt x="182372" y="268350"/>
                </a:lnTo>
                <a:lnTo>
                  <a:pt x="132969" y="320675"/>
                </a:lnTo>
                <a:lnTo>
                  <a:pt x="80518" y="369950"/>
                </a:lnTo>
                <a:lnTo>
                  <a:pt x="53116" y="393589"/>
                </a:lnTo>
                <a:lnTo>
                  <a:pt x="52986" y="393747"/>
                </a:lnTo>
                <a:lnTo>
                  <a:pt x="24843" y="416537"/>
                </a:lnTo>
                <a:lnTo>
                  <a:pt x="20008" y="428189"/>
                </a:lnTo>
                <a:lnTo>
                  <a:pt x="32483" y="426650"/>
                </a:lnTo>
                <a:lnTo>
                  <a:pt x="88900" y="379602"/>
                </a:lnTo>
                <a:lnTo>
                  <a:pt x="141859" y="329691"/>
                </a:lnTo>
                <a:lnTo>
                  <a:pt x="191770" y="276859"/>
                </a:lnTo>
                <a:lnTo>
                  <a:pt x="238506" y="221106"/>
                </a:lnTo>
                <a:lnTo>
                  <a:pt x="281686" y="162687"/>
                </a:lnTo>
                <a:lnTo>
                  <a:pt x="321564" y="101726"/>
                </a:lnTo>
                <a:lnTo>
                  <a:pt x="357759" y="38353"/>
                </a:lnTo>
                <a:lnTo>
                  <a:pt x="374396" y="5841"/>
                </a:lnTo>
                <a:lnTo>
                  <a:pt x="363093" y="0"/>
                </a:lnTo>
                <a:close/>
              </a:path>
            </a:pathLst>
          </a:custGeom>
          <a:solidFill>
            <a:srgbClr val="0070B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15">
            <a:extLst>
              <a:ext uri="{FF2B5EF4-FFF2-40B4-BE49-F238E27FC236}">
                <a16:creationId xmlns:a16="http://schemas.microsoft.com/office/drawing/2014/main" id="{EE88AF93-90D6-C0CB-B4EB-094DEA8980DC}"/>
              </a:ext>
            </a:extLst>
          </p:cNvPr>
          <p:cNvGrpSpPr/>
          <p:nvPr/>
        </p:nvGrpSpPr>
        <p:grpSpPr>
          <a:xfrm>
            <a:off x="9592945" y="4339462"/>
            <a:ext cx="1146810" cy="750570"/>
            <a:chOff x="9555226" y="4663185"/>
            <a:chExt cx="1146810" cy="750570"/>
          </a:xfrm>
        </p:grpSpPr>
        <p:sp>
          <p:nvSpPr>
            <p:cNvPr id="34" name="object 16">
              <a:extLst>
                <a:ext uri="{FF2B5EF4-FFF2-40B4-BE49-F238E27FC236}">
                  <a16:creationId xmlns:a16="http://schemas.microsoft.com/office/drawing/2014/main" id="{BC85BB36-BDE0-6499-ED37-129831809DEC}"/>
                </a:ext>
              </a:extLst>
            </p:cNvPr>
            <p:cNvSpPr/>
            <p:nvPr/>
          </p:nvSpPr>
          <p:spPr>
            <a:xfrm>
              <a:off x="9561576" y="4669535"/>
              <a:ext cx="1134110" cy="737870"/>
            </a:xfrm>
            <a:custGeom>
              <a:avLst/>
              <a:gdLst/>
              <a:ahLst/>
              <a:cxnLst/>
              <a:rect l="l" t="t" r="r" b="b"/>
              <a:pathLst>
                <a:path w="1134109" h="737870">
                  <a:moveTo>
                    <a:pt x="1010920" y="0"/>
                  </a:moveTo>
                  <a:lnTo>
                    <a:pt x="122935" y="0"/>
                  </a:lnTo>
                  <a:lnTo>
                    <a:pt x="75062" y="9653"/>
                  </a:lnTo>
                  <a:lnTo>
                    <a:pt x="35988" y="35988"/>
                  </a:lnTo>
                  <a:lnTo>
                    <a:pt x="9653" y="75062"/>
                  </a:lnTo>
                  <a:lnTo>
                    <a:pt x="0" y="122936"/>
                  </a:lnTo>
                  <a:lnTo>
                    <a:pt x="0" y="614679"/>
                  </a:lnTo>
                  <a:lnTo>
                    <a:pt x="9653" y="662553"/>
                  </a:lnTo>
                  <a:lnTo>
                    <a:pt x="35988" y="701627"/>
                  </a:lnTo>
                  <a:lnTo>
                    <a:pt x="75062" y="727962"/>
                  </a:lnTo>
                  <a:lnTo>
                    <a:pt x="122935" y="737616"/>
                  </a:lnTo>
                  <a:lnTo>
                    <a:pt x="1010920" y="737616"/>
                  </a:lnTo>
                  <a:lnTo>
                    <a:pt x="1058793" y="727962"/>
                  </a:lnTo>
                  <a:lnTo>
                    <a:pt x="1097867" y="701627"/>
                  </a:lnTo>
                  <a:lnTo>
                    <a:pt x="1124202" y="662553"/>
                  </a:lnTo>
                  <a:lnTo>
                    <a:pt x="1133855" y="614679"/>
                  </a:lnTo>
                  <a:lnTo>
                    <a:pt x="1133855" y="122936"/>
                  </a:lnTo>
                  <a:lnTo>
                    <a:pt x="1124202" y="75062"/>
                  </a:lnTo>
                  <a:lnTo>
                    <a:pt x="1097867" y="35988"/>
                  </a:lnTo>
                  <a:lnTo>
                    <a:pt x="1058793" y="9653"/>
                  </a:lnTo>
                  <a:lnTo>
                    <a:pt x="1010920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17">
              <a:extLst>
                <a:ext uri="{FF2B5EF4-FFF2-40B4-BE49-F238E27FC236}">
                  <a16:creationId xmlns:a16="http://schemas.microsoft.com/office/drawing/2014/main" id="{0D08191D-36CC-8F31-EE42-4E290ADF536F}"/>
                </a:ext>
              </a:extLst>
            </p:cNvPr>
            <p:cNvSpPr/>
            <p:nvPr/>
          </p:nvSpPr>
          <p:spPr>
            <a:xfrm>
              <a:off x="9561576" y="4669535"/>
              <a:ext cx="1134110" cy="737870"/>
            </a:xfrm>
            <a:custGeom>
              <a:avLst/>
              <a:gdLst/>
              <a:ahLst/>
              <a:cxnLst/>
              <a:rect l="l" t="t" r="r" b="b"/>
              <a:pathLst>
                <a:path w="1134109" h="737870">
                  <a:moveTo>
                    <a:pt x="0" y="122936"/>
                  </a:moveTo>
                  <a:lnTo>
                    <a:pt x="9653" y="75062"/>
                  </a:lnTo>
                  <a:lnTo>
                    <a:pt x="35988" y="35988"/>
                  </a:lnTo>
                  <a:lnTo>
                    <a:pt x="75062" y="9653"/>
                  </a:lnTo>
                  <a:lnTo>
                    <a:pt x="122935" y="0"/>
                  </a:lnTo>
                  <a:lnTo>
                    <a:pt x="1010920" y="0"/>
                  </a:lnTo>
                  <a:lnTo>
                    <a:pt x="1058793" y="9653"/>
                  </a:lnTo>
                  <a:lnTo>
                    <a:pt x="1097867" y="35988"/>
                  </a:lnTo>
                  <a:lnTo>
                    <a:pt x="1124202" y="75062"/>
                  </a:lnTo>
                  <a:lnTo>
                    <a:pt x="1133855" y="122936"/>
                  </a:lnTo>
                  <a:lnTo>
                    <a:pt x="1133855" y="614679"/>
                  </a:lnTo>
                  <a:lnTo>
                    <a:pt x="1124202" y="662553"/>
                  </a:lnTo>
                  <a:lnTo>
                    <a:pt x="1097867" y="701627"/>
                  </a:lnTo>
                  <a:lnTo>
                    <a:pt x="1058793" y="727962"/>
                  </a:lnTo>
                  <a:lnTo>
                    <a:pt x="1010920" y="737616"/>
                  </a:lnTo>
                  <a:lnTo>
                    <a:pt x="122935" y="737616"/>
                  </a:lnTo>
                  <a:lnTo>
                    <a:pt x="75062" y="727962"/>
                  </a:lnTo>
                  <a:lnTo>
                    <a:pt x="35988" y="701627"/>
                  </a:lnTo>
                  <a:lnTo>
                    <a:pt x="9653" y="662553"/>
                  </a:lnTo>
                  <a:lnTo>
                    <a:pt x="0" y="614679"/>
                  </a:lnTo>
                  <a:lnTo>
                    <a:pt x="0" y="122936"/>
                  </a:lnTo>
                  <a:close/>
                </a:path>
              </a:pathLst>
            </a:custGeom>
            <a:ln w="12699">
              <a:solidFill>
                <a:srgbClr val="D2E8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18">
            <a:extLst>
              <a:ext uri="{FF2B5EF4-FFF2-40B4-BE49-F238E27FC236}">
                <a16:creationId xmlns:a16="http://schemas.microsoft.com/office/drawing/2014/main" id="{8F144F70-DE31-96C9-53A9-F2E0558264A7}"/>
              </a:ext>
            </a:extLst>
          </p:cNvPr>
          <p:cNvSpPr txBox="1"/>
          <p:nvPr/>
        </p:nvSpPr>
        <p:spPr>
          <a:xfrm>
            <a:off x="9730104" y="4469384"/>
            <a:ext cx="87312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0" dirty="0">
                <a:solidFill>
                  <a:srgbClr val="D2E8F4"/>
                </a:solidFill>
                <a:latin typeface="Source Sans Pro"/>
                <a:cs typeface="Source Sans Pro"/>
              </a:rPr>
              <a:t>Check</a:t>
            </a:r>
            <a:endParaRPr sz="2600">
              <a:latin typeface="Source Sans Pro"/>
              <a:cs typeface="Source Sans Pro"/>
            </a:endParaRPr>
          </a:p>
        </p:txBody>
      </p:sp>
      <p:sp>
        <p:nvSpPr>
          <p:cNvPr id="37" name="object 19">
            <a:extLst>
              <a:ext uri="{FF2B5EF4-FFF2-40B4-BE49-F238E27FC236}">
                <a16:creationId xmlns:a16="http://schemas.microsoft.com/office/drawing/2014/main" id="{68FD7913-A41A-8EAF-318A-AE5E4EDEF4A7}"/>
              </a:ext>
            </a:extLst>
          </p:cNvPr>
          <p:cNvSpPr/>
          <p:nvPr/>
        </p:nvSpPr>
        <p:spPr>
          <a:xfrm>
            <a:off x="9067800" y="4035932"/>
            <a:ext cx="378460" cy="445770"/>
          </a:xfrm>
          <a:custGeom>
            <a:avLst/>
            <a:gdLst/>
            <a:ahLst/>
            <a:cxnLst/>
            <a:rect l="l" t="t" r="r" b="b"/>
            <a:pathLst>
              <a:path w="378459" h="445770">
                <a:moveTo>
                  <a:pt x="17059" y="22398"/>
                </a:moveTo>
                <a:lnTo>
                  <a:pt x="16373" y="34918"/>
                </a:lnTo>
                <a:lnTo>
                  <a:pt x="16637" y="35433"/>
                </a:lnTo>
                <a:lnTo>
                  <a:pt x="34290" y="67437"/>
                </a:lnTo>
                <a:lnTo>
                  <a:pt x="72263" y="129540"/>
                </a:lnTo>
                <a:lnTo>
                  <a:pt x="113919" y="189230"/>
                </a:lnTo>
                <a:lnTo>
                  <a:pt x="158750" y="246380"/>
                </a:lnTo>
                <a:lnTo>
                  <a:pt x="207137" y="300736"/>
                </a:lnTo>
                <a:lnTo>
                  <a:pt x="258572" y="352171"/>
                </a:lnTo>
                <a:lnTo>
                  <a:pt x="313054" y="400431"/>
                </a:lnTo>
                <a:lnTo>
                  <a:pt x="370459" y="445516"/>
                </a:lnTo>
                <a:lnTo>
                  <a:pt x="378205" y="435356"/>
                </a:lnTo>
                <a:lnTo>
                  <a:pt x="349376" y="413512"/>
                </a:lnTo>
                <a:lnTo>
                  <a:pt x="320832" y="390367"/>
                </a:lnTo>
                <a:lnTo>
                  <a:pt x="267335" y="342900"/>
                </a:lnTo>
                <a:lnTo>
                  <a:pt x="216458" y="292154"/>
                </a:lnTo>
                <a:lnTo>
                  <a:pt x="168528" y="238252"/>
                </a:lnTo>
                <a:lnTo>
                  <a:pt x="124078" y="181737"/>
                </a:lnTo>
                <a:lnTo>
                  <a:pt x="82930" y="122682"/>
                </a:lnTo>
                <a:lnTo>
                  <a:pt x="45339" y="61201"/>
                </a:lnTo>
                <a:lnTo>
                  <a:pt x="27669" y="29207"/>
                </a:lnTo>
                <a:lnTo>
                  <a:pt x="17059" y="22398"/>
                </a:lnTo>
                <a:close/>
              </a:path>
              <a:path w="378459" h="445770">
                <a:moveTo>
                  <a:pt x="5588" y="0"/>
                </a:moveTo>
                <a:lnTo>
                  <a:pt x="126" y="98933"/>
                </a:lnTo>
                <a:lnTo>
                  <a:pt x="0" y="102489"/>
                </a:lnTo>
                <a:lnTo>
                  <a:pt x="2667" y="105410"/>
                </a:lnTo>
                <a:lnTo>
                  <a:pt x="6096" y="105664"/>
                </a:lnTo>
                <a:lnTo>
                  <a:pt x="9651" y="105791"/>
                </a:lnTo>
                <a:lnTo>
                  <a:pt x="12700" y="103124"/>
                </a:lnTo>
                <a:lnTo>
                  <a:pt x="12826" y="99695"/>
                </a:lnTo>
                <a:lnTo>
                  <a:pt x="16345" y="35433"/>
                </a:lnTo>
                <a:lnTo>
                  <a:pt x="16373" y="34918"/>
                </a:lnTo>
                <a:lnTo>
                  <a:pt x="5715" y="14097"/>
                </a:lnTo>
                <a:lnTo>
                  <a:pt x="17018" y="8382"/>
                </a:lnTo>
                <a:lnTo>
                  <a:pt x="18668" y="8382"/>
                </a:lnTo>
                <a:lnTo>
                  <a:pt x="5588" y="0"/>
                </a:lnTo>
                <a:close/>
              </a:path>
              <a:path w="378459" h="445770">
                <a:moveTo>
                  <a:pt x="18668" y="8382"/>
                </a:moveTo>
                <a:lnTo>
                  <a:pt x="17018" y="8382"/>
                </a:lnTo>
                <a:lnTo>
                  <a:pt x="27681" y="29207"/>
                </a:lnTo>
                <a:lnTo>
                  <a:pt x="82169" y="64135"/>
                </a:lnTo>
                <a:lnTo>
                  <a:pt x="85217" y="66040"/>
                </a:lnTo>
                <a:lnTo>
                  <a:pt x="89026" y="65151"/>
                </a:lnTo>
                <a:lnTo>
                  <a:pt x="92837" y="59309"/>
                </a:lnTo>
                <a:lnTo>
                  <a:pt x="91948" y="55372"/>
                </a:lnTo>
                <a:lnTo>
                  <a:pt x="89026" y="53467"/>
                </a:lnTo>
                <a:lnTo>
                  <a:pt x="18668" y="8382"/>
                </a:lnTo>
                <a:close/>
              </a:path>
              <a:path w="378459" h="445770">
                <a:moveTo>
                  <a:pt x="44372" y="59309"/>
                </a:moveTo>
                <a:lnTo>
                  <a:pt x="45231" y="61019"/>
                </a:lnTo>
                <a:lnTo>
                  <a:pt x="45537" y="61201"/>
                </a:lnTo>
                <a:lnTo>
                  <a:pt x="45373" y="61019"/>
                </a:lnTo>
                <a:lnTo>
                  <a:pt x="44372" y="59309"/>
                </a:lnTo>
                <a:close/>
              </a:path>
              <a:path w="378459" h="445770">
                <a:moveTo>
                  <a:pt x="17018" y="8382"/>
                </a:moveTo>
                <a:lnTo>
                  <a:pt x="5715" y="14097"/>
                </a:lnTo>
                <a:lnTo>
                  <a:pt x="16373" y="34918"/>
                </a:lnTo>
                <a:lnTo>
                  <a:pt x="17059" y="22398"/>
                </a:lnTo>
                <a:lnTo>
                  <a:pt x="7874" y="16510"/>
                </a:lnTo>
                <a:lnTo>
                  <a:pt x="17652" y="11557"/>
                </a:lnTo>
                <a:lnTo>
                  <a:pt x="18643" y="11557"/>
                </a:lnTo>
                <a:lnTo>
                  <a:pt x="17018" y="8382"/>
                </a:lnTo>
                <a:close/>
              </a:path>
              <a:path w="378459" h="445770">
                <a:moveTo>
                  <a:pt x="18643" y="11557"/>
                </a:moveTo>
                <a:lnTo>
                  <a:pt x="17652" y="11557"/>
                </a:lnTo>
                <a:lnTo>
                  <a:pt x="17059" y="22398"/>
                </a:lnTo>
                <a:lnTo>
                  <a:pt x="27681" y="29207"/>
                </a:lnTo>
                <a:lnTo>
                  <a:pt x="18643" y="11557"/>
                </a:lnTo>
                <a:close/>
              </a:path>
              <a:path w="378459" h="445770">
                <a:moveTo>
                  <a:pt x="17652" y="11557"/>
                </a:moveTo>
                <a:lnTo>
                  <a:pt x="7874" y="16510"/>
                </a:lnTo>
                <a:lnTo>
                  <a:pt x="17059" y="22398"/>
                </a:lnTo>
                <a:lnTo>
                  <a:pt x="17652" y="11557"/>
                </a:lnTo>
                <a:close/>
              </a:path>
            </a:pathLst>
          </a:custGeom>
          <a:solidFill>
            <a:srgbClr val="0070B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8" name="object 20">
            <a:extLst>
              <a:ext uri="{FF2B5EF4-FFF2-40B4-BE49-F238E27FC236}">
                <a16:creationId xmlns:a16="http://schemas.microsoft.com/office/drawing/2014/main" id="{42BBDEAD-DF99-13E7-BD80-D271317D8811}"/>
              </a:ext>
            </a:extLst>
          </p:cNvPr>
          <p:cNvGrpSpPr/>
          <p:nvPr/>
        </p:nvGrpSpPr>
        <p:grpSpPr>
          <a:xfrm>
            <a:off x="8373745" y="3120262"/>
            <a:ext cx="1146810" cy="750570"/>
            <a:chOff x="8336026" y="3443985"/>
            <a:chExt cx="1146810" cy="750570"/>
          </a:xfrm>
        </p:grpSpPr>
        <p:sp>
          <p:nvSpPr>
            <p:cNvPr id="39" name="object 21">
              <a:extLst>
                <a:ext uri="{FF2B5EF4-FFF2-40B4-BE49-F238E27FC236}">
                  <a16:creationId xmlns:a16="http://schemas.microsoft.com/office/drawing/2014/main" id="{E23B3B7E-0F0C-8135-AA1C-3F3AE88DE336}"/>
                </a:ext>
              </a:extLst>
            </p:cNvPr>
            <p:cNvSpPr/>
            <p:nvPr/>
          </p:nvSpPr>
          <p:spPr>
            <a:xfrm>
              <a:off x="8342376" y="3450335"/>
              <a:ext cx="1134110" cy="737870"/>
            </a:xfrm>
            <a:custGeom>
              <a:avLst/>
              <a:gdLst/>
              <a:ahLst/>
              <a:cxnLst/>
              <a:rect l="l" t="t" r="r" b="b"/>
              <a:pathLst>
                <a:path w="1134109" h="737870">
                  <a:moveTo>
                    <a:pt x="1010920" y="0"/>
                  </a:moveTo>
                  <a:lnTo>
                    <a:pt x="122935" y="0"/>
                  </a:lnTo>
                  <a:lnTo>
                    <a:pt x="75062" y="9653"/>
                  </a:lnTo>
                  <a:lnTo>
                    <a:pt x="35988" y="35988"/>
                  </a:lnTo>
                  <a:lnTo>
                    <a:pt x="9653" y="75062"/>
                  </a:lnTo>
                  <a:lnTo>
                    <a:pt x="0" y="122936"/>
                  </a:lnTo>
                  <a:lnTo>
                    <a:pt x="0" y="614680"/>
                  </a:lnTo>
                  <a:lnTo>
                    <a:pt x="9653" y="662553"/>
                  </a:lnTo>
                  <a:lnTo>
                    <a:pt x="35988" y="701627"/>
                  </a:lnTo>
                  <a:lnTo>
                    <a:pt x="75062" y="727962"/>
                  </a:lnTo>
                  <a:lnTo>
                    <a:pt x="122935" y="737615"/>
                  </a:lnTo>
                  <a:lnTo>
                    <a:pt x="1010920" y="737615"/>
                  </a:lnTo>
                  <a:lnTo>
                    <a:pt x="1058793" y="727962"/>
                  </a:lnTo>
                  <a:lnTo>
                    <a:pt x="1097867" y="701627"/>
                  </a:lnTo>
                  <a:lnTo>
                    <a:pt x="1124202" y="662553"/>
                  </a:lnTo>
                  <a:lnTo>
                    <a:pt x="1133855" y="614680"/>
                  </a:lnTo>
                  <a:lnTo>
                    <a:pt x="1133855" y="122936"/>
                  </a:lnTo>
                  <a:lnTo>
                    <a:pt x="1124202" y="75062"/>
                  </a:lnTo>
                  <a:lnTo>
                    <a:pt x="1097867" y="35988"/>
                  </a:lnTo>
                  <a:lnTo>
                    <a:pt x="1058793" y="9653"/>
                  </a:lnTo>
                  <a:lnTo>
                    <a:pt x="1010920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22">
              <a:extLst>
                <a:ext uri="{FF2B5EF4-FFF2-40B4-BE49-F238E27FC236}">
                  <a16:creationId xmlns:a16="http://schemas.microsoft.com/office/drawing/2014/main" id="{F6816F3C-743A-FD28-BF2F-F1B27EA8912A}"/>
                </a:ext>
              </a:extLst>
            </p:cNvPr>
            <p:cNvSpPr/>
            <p:nvPr/>
          </p:nvSpPr>
          <p:spPr>
            <a:xfrm>
              <a:off x="8342376" y="3450335"/>
              <a:ext cx="1134110" cy="737870"/>
            </a:xfrm>
            <a:custGeom>
              <a:avLst/>
              <a:gdLst/>
              <a:ahLst/>
              <a:cxnLst/>
              <a:rect l="l" t="t" r="r" b="b"/>
              <a:pathLst>
                <a:path w="1134109" h="737870">
                  <a:moveTo>
                    <a:pt x="0" y="122936"/>
                  </a:moveTo>
                  <a:lnTo>
                    <a:pt x="9653" y="75062"/>
                  </a:lnTo>
                  <a:lnTo>
                    <a:pt x="35988" y="35988"/>
                  </a:lnTo>
                  <a:lnTo>
                    <a:pt x="75062" y="9653"/>
                  </a:lnTo>
                  <a:lnTo>
                    <a:pt x="122935" y="0"/>
                  </a:lnTo>
                  <a:lnTo>
                    <a:pt x="1010920" y="0"/>
                  </a:lnTo>
                  <a:lnTo>
                    <a:pt x="1058793" y="9653"/>
                  </a:lnTo>
                  <a:lnTo>
                    <a:pt x="1097867" y="35988"/>
                  </a:lnTo>
                  <a:lnTo>
                    <a:pt x="1124202" y="75062"/>
                  </a:lnTo>
                  <a:lnTo>
                    <a:pt x="1133855" y="122936"/>
                  </a:lnTo>
                  <a:lnTo>
                    <a:pt x="1133855" y="614680"/>
                  </a:lnTo>
                  <a:lnTo>
                    <a:pt x="1124202" y="662553"/>
                  </a:lnTo>
                  <a:lnTo>
                    <a:pt x="1097867" y="701627"/>
                  </a:lnTo>
                  <a:lnTo>
                    <a:pt x="1058793" y="727962"/>
                  </a:lnTo>
                  <a:lnTo>
                    <a:pt x="1010920" y="737615"/>
                  </a:lnTo>
                  <a:lnTo>
                    <a:pt x="122935" y="737615"/>
                  </a:lnTo>
                  <a:lnTo>
                    <a:pt x="75062" y="727962"/>
                  </a:lnTo>
                  <a:lnTo>
                    <a:pt x="35988" y="701627"/>
                  </a:lnTo>
                  <a:lnTo>
                    <a:pt x="9653" y="662553"/>
                  </a:lnTo>
                  <a:lnTo>
                    <a:pt x="0" y="614680"/>
                  </a:lnTo>
                  <a:lnTo>
                    <a:pt x="0" y="122936"/>
                  </a:lnTo>
                  <a:close/>
                </a:path>
              </a:pathLst>
            </a:custGeom>
            <a:ln w="12700">
              <a:solidFill>
                <a:srgbClr val="D2E8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23">
            <a:extLst>
              <a:ext uri="{FF2B5EF4-FFF2-40B4-BE49-F238E27FC236}">
                <a16:creationId xmlns:a16="http://schemas.microsoft.com/office/drawing/2014/main" id="{5D039684-47AB-1826-24B0-7710E299E151}"/>
              </a:ext>
            </a:extLst>
          </p:cNvPr>
          <p:cNvSpPr txBox="1"/>
          <p:nvPr/>
        </p:nvSpPr>
        <p:spPr>
          <a:xfrm>
            <a:off x="8713597" y="3249803"/>
            <a:ext cx="46799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25" dirty="0">
                <a:solidFill>
                  <a:srgbClr val="D2E8F4"/>
                </a:solidFill>
                <a:latin typeface="Source Sans Pro"/>
                <a:cs typeface="Source Sans Pro"/>
              </a:rPr>
              <a:t>Act</a:t>
            </a:r>
            <a:endParaRPr sz="2600">
              <a:latin typeface="Source Sans Pro"/>
              <a:cs typeface="Source Sans Pro"/>
            </a:endParaRPr>
          </a:p>
        </p:txBody>
      </p:sp>
      <p:sp>
        <p:nvSpPr>
          <p:cNvPr id="42" name="object 24">
            <a:extLst>
              <a:ext uri="{FF2B5EF4-FFF2-40B4-BE49-F238E27FC236}">
                <a16:creationId xmlns:a16="http://schemas.microsoft.com/office/drawing/2014/main" id="{1E74C4E7-EB71-4C5A-E9EA-DDDD97AA5F80}"/>
              </a:ext>
            </a:extLst>
          </p:cNvPr>
          <p:cNvSpPr/>
          <p:nvPr/>
        </p:nvSpPr>
        <p:spPr>
          <a:xfrm>
            <a:off x="9067800" y="2514600"/>
            <a:ext cx="374650" cy="443865"/>
          </a:xfrm>
          <a:custGeom>
            <a:avLst/>
            <a:gdLst/>
            <a:ahLst/>
            <a:cxnLst/>
            <a:rect l="l" t="t" r="r" b="b"/>
            <a:pathLst>
              <a:path w="374650" h="443864">
                <a:moveTo>
                  <a:pt x="354229" y="15296"/>
                </a:moveTo>
                <a:lnTo>
                  <a:pt x="313054" y="40004"/>
                </a:lnTo>
                <a:lnTo>
                  <a:pt x="258572" y="88391"/>
                </a:lnTo>
                <a:lnTo>
                  <a:pt x="207137" y="139826"/>
                </a:lnTo>
                <a:lnTo>
                  <a:pt x="158750" y="194182"/>
                </a:lnTo>
                <a:lnTo>
                  <a:pt x="113919" y="251205"/>
                </a:lnTo>
                <a:lnTo>
                  <a:pt x="72263" y="311023"/>
                </a:lnTo>
                <a:lnTo>
                  <a:pt x="34290" y="373125"/>
                </a:lnTo>
                <a:lnTo>
                  <a:pt x="0" y="437514"/>
                </a:lnTo>
                <a:lnTo>
                  <a:pt x="11302" y="443356"/>
                </a:lnTo>
                <a:lnTo>
                  <a:pt x="27686" y="411099"/>
                </a:lnTo>
                <a:lnTo>
                  <a:pt x="45339" y="379475"/>
                </a:lnTo>
                <a:lnTo>
                  <a:pt x="82930" y="318007"/>
                </a:lnTo>
                <a:lnTo>
                  <a:pt x="124078" y="258825"/>
                </a:lnTo>
                <a:lnTo>
                  <a:pt x="168401" y="202437"/>
                </a:lnTo>
                <a:lnTo>
                  <a:pt x="216291" y="148589"/>
                </a:lnTo>
                <a:lnTo>
                  <a:pt x="267208" y="97662"/>
                </a:lnTo>
                <a:lnTo>
                  <a:pt x="320844" y="50058"/>
                </a:lnTo>
                <a:lnTo>
                  <a:pt x="349423" y="26910"/>
                </a:lnTo>
                <a:lnTo>
                  <a:pt x="354229" y="15296"/>
                </a:lnTo>
                <a:close/>
              </a:path>
              <a:path w="374650" h="443864">
                <a:moveTo>
                  <a:pt x="373342" y="2539"/>
                </a:moveTo>
                <a:lnTo>
                  <a:pt x="360425" y="2539"/>
                </a:lnTo>
                <a:lnTo>
                  <a:pt x="368173" y="12700"/>
                </a:lnTo>
                <a:lnTo>
                  <a:pt x="349435" y="26910"/>
                </a:lnTo>
                <a:lnTo>
                  <a:pt x="324739" y="86740"/>
                </a:lnTo>
                <a:lnTo>
                  <a:pt x="323342" y="89915"/>
                </a:lnTo>
                <a:lnTo>
                  <a:pt x="324866" y="93599"/>
                </a:lnTo>
                <a:lnTo>
                  <a:pt x="328168" y="94996"/>
                </a:lnTo>
                <a:lnTo>
                  <a:pt x="331343" y="96392"/>
                </a:lnTo>
                <a:lnTo>
                  <a:pt x="335025" y="94741"/>
                </a:lnTo>
                <a:lnTo>
                  <a:pt x="336423" y="91566"/>
                </a:lnTo>
                <a:lnTo>
                  <a:pt x="373342" y="2539"/>
                </a:lnTo>
                <a:close/>
              </a:path>
              <a:path w="374650" h="443864">
                <a:moveTo>
                  <a:pt x="362459" y="5206"/>
                </a:moveTo>
                <a:lnTo>
                  <a:pt x="358394" y="5206"/>
                </a:lnTo>
                <a:lnTo>
                  <a:pt x="365125" y="13969"/>
                </a:lnTo>
                <a:lnTo>
                  <a:pt x="354229" y="15296"/>
                </a:lnTo>
                <a:lnTo>
                  <a:pt x="349435" y="26910"/>
                </a:lnTo>
                <a:lnTo>
                  <a:pt x="368173" y="12700"/>
                </a:lnTo>
                <a:lnTo>
                  <a:pt x="362459" y="5206"/>
                </a:lnTo>
                <a:close/>
              </a:path>
              <a:path w="374650" h="443864">
                <a:moveTo>
                  <a:pt x="374396" y="0"/>
                </a:moveTo>
                <a:lnTo>
                  <a:pt x="275971" y="12064"/>
                </a:lnTo>
                <a:lnTo>
                  <a:pt x="272542" y="12446"/>
                </a:lnTo>
                <a:lnTo>
                  <a:pt x="270001" y="15621"/>
                </a:lnTo>
                <a:lnTo>
                  <a:pt x="270510" y="19176"/>
                </a:lnTo>
                <a:lnTo>
                  <a:pt x="270891" y="22605"/>
                </a:lnTo>
                <a:lnTo>
                  <a:pt x="274066" y="25018"/>
                </a:lnTo>
                <a:lnTo>
                  <a:pt x="277495" y="24637"/>
                </a:lnTo>
                <a:lnTo>
                  <a:pt x="341770" y="16813"/>
                </a:lnTo>
                <a:lnTo>
                  <a:pt x="360425" y="2539"/>
                </a:lnTo>
                <a:lnTo>
                  <a:pt x="373342" y="2539"/>
                </a:lnTo>
                <a:lnTo>
                  <a:pt x="374396" y="0"/>
                </a:lnTo>
                <a:close/>
              </a:path>
              <a:path w="374650" h="443864">
                <a:moveTo>
                  <a:pt x="360425" y="2539"/>
                </a:moveTo>
                <a:lnTo>
                  <a:pt x="341770" y="16813"/>
                </a:lnTo>
                <a:lnTo>
                  <a:pt x="354229" y="15296"/>
                </a:lnTo>
                <a:lnTo>
                  <a:pt x="358394" y="5206"/>
                </a:lnTo>
                <a:lnTo>
                  <a:pt x="362459" y="5206"/>
                </a:lnTo>
                <a:lnTo>
                  <a:pt x="360425" y="2539"/>
                </a:lnTo>
                <a:close/>
              </a:path>
              <a:path w="374650" h="443864">
                <a:moveTo>
                  <a:pt x="358394" y="5206"/>
                </a:moveTo>
                <a:lnTo>
                  <a:pt x="354229" y="15296"/>
                </a:lnTo>
                <a:lnTo>
                  <a:pt x="365125" y="13969"/>
                </a:lnTo>
                <a:lnTo>
                  <a:pt x="358394" y="5206"/>
                </a:lnTo>
                <a:close/>
              </a:path>
            </a:pathLst>
          </a:custGeom>
          <a:solidFill>
            <a:srgbClr val="0070B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38726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CC0EE-8C7A-B472-18D3-CAC00B1C2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54F7C26-F73E-C7F1-06DC-8244E13787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>
                <a:latin typeface="Source Sans Pro"/>
                <a:cs typeface="Source Sans Pro"/>
              </a:rPr>
              <a:t>Der SCRUM Prozess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0F0D5DE-2655-2AEA-CFCF-96FFE6248BA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6708D05A-2BE2-3141-C383-9CE8075D565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4330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26</a:t>
            </a:fld>
            <a:endParaRPr lang="de-DE" spc="-50" dirty="0"/>
          </a:p>
        </p:txBody>
      </p: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213C7CF1-07B3-A79B-FEDE-82B17D94DA52}"/>
              </a:ext>
            </a:extLst>
          </p:cNvPr>
          <p:cNvGrpSpPr/>
          <p:nvPr/>
        </p:nvGrpSpPr>
        <p:grpSpPr>
          <a:xfrm>
            <a:off x="3435986" y="1351280"/>
            <a:ext cx="7777479" cy="4155440"/>
            <a:chOff x="3435986" y="1351280"/>
            <a:chExt cx="7777479" cy="4155440"/>
          </a:xfrm>
        </p:grpSpPr>
        <p:pic>
          <p:nvPicPr>
            <p:cNvPr id="5" name="Picture 320">
              <a:extLst>
                <a:ext uri="{FF2B5EF4-FFF2-40B4-BE49-F238E27FC236}">
                  <a16:creationId xmlns:a16="http://schemas.microsoft.com/office/drawing/2014/main" id="{8512F39A-9C50-A1CF-D489-19DF5AA063FB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442082" y="1857185"/>
              <a:ext cx="7771383" cy="2918866"/>
            </a:xfrm>
            <a:prstGeom prst="rect">
              <a:avLst/>
            </a:prstGeom>
          </p:spPr>
        </p:pic>
        <p:pic>
          <p:nvPicPr>
            <p:cNvPr id="6" name="Picture 323">
              <a:extLst>
                <a:ext uri="{FF2B5EF4-FFF2-40B4-BE49-F238E27FC236}">
                  <a16:creationId xmlns:a16="http://schemas.microsoft.com/office/drawing/2014/main" id="{78D4F6E4-376D-198B-F65A-C470B098DAB6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441320" y="2392045"/>
              <a:ext cx="1216112" cy="608764"/>
            </a:xfrm>
            <a:prstGeom prst="rect">
              <a:avLst/>
            </a:prstGeom>
          </p:spPr>
        </p:pic>
        <p:sp>
          <p:nvSpPr>
            <p:cNvPr id="9" name="Shape 324">
              <a:extLst>
                <a:ext uri="{FF2B5EF4-FFF2-40B4-BE49-F238E27FC236}">
                  <a16:creationId xmlns:a16="http://schemas.microsoft.com/office/drawing/2014/main" id="{2FB5DB23-4CBF-7FBA-9771-77C9811C571B}"/>
                </a:ext>
              </a:extLst>
            </p:cNvPr>
            <p:cNvSpPr/>
            <p:nvPr/>
          </p:nvSpPr>
          <p:spPr>
            <a:xfrm>
              <a:off x="3435986" y="2386711"/>
              <a:ext cx="613771" cy="620192"/>
            </a:xfrm>
            <a:custGeom>
              <a:avLst/>
              <a:gdLst/>
              <a:ahLst/>
              <a:cxnLst/>
              <a:rect l="0" t="0" r="0" b="0"/>
              <a:pathLst>
                <a:path w="613791" h="620268">
                  <a:moveTo>
                    <a:pt x="107442" y="0"/>
                  </a:moveTo>
                  <a:lnTo>
                    <a:pt x="613791" y="0"/>
                  </a:lnTo>
                  <a:lnTo>
                    <a:pt x="613791" y="12954"/>
                  </a:lnTo>
                  <a:lnTo>
                    <a:pt x="98298" y="12954"/>
                  </a:lnTo>
                  <a:lnTo>
                    <a:pt x="88392" y="14478"/>
                  </a:lnTo>
                  <a:lnTo>
                    <a:pt x="79248" y="16764"/>
                  </a:lnTo>
                  <a:lnTo>
                    <a:pt x="70866" y="19812"/>
                  </a:lnTo>
                  <a:lnTo>
                    <a:pt x="62484" y="24384"/>
                  </a:lnTo>
                  <a:lnTo>
                    <a:pt x="54864" y="28956"/>
                  </a:lnTo>
                  <a:lnTo>
                    <a:pt x="47244" y="34290"/>
                  </a:lnTo>
                  <a:lnTo>
                    <a:pt x="40386" y="40386"/>
                  </a:lnTo>
                  <a:lnTo>
                    <a:pt x="34290" y="47244"/>
                  </a:lnTo>
                  <a:lnTo>
                    <a:pt x="28956" y="54102"/>
                  </a:lnTo>
                  <a:lnTo>
                    <a:pt x="24384" y="61722"/>
                  </a:lnTo>
                  <a:lnTo>
                    <a:pt x="19812" y="70104"/>
                  </a:lnTo>
                  <a:lnTo>
                    <a:pt x="16764" y="79248"/>
                  </a:lnTo>
                  <a:lnTo>
                    <a:pt x="14478" y="88392"/>
                  </a:lnTo>
                  <a:lnTo>
                    <a:pt x="12954" y="97536"/>
                  </a:lnTo>
                  <a:lnTo>
                    <a:pt x="12954" y="107442"/>
                  </a:lnTo>
                  <a:lnTo>
                    <a:pt x="12954" y="512064"/>
                  </a:lnTo>
                  <a:lnTo>
                    <a:pt x="12954" y="521970"/>
                  </a:lnTo>
                  <a:lnTo>
                    <a:pt x="14478" y="531114"/>
                  </a:lnTo>
                  <a:lnTo>
                    <a:pt x="16764" y="540258"/>
                  </a:lnTo>
                  <a:lnTo>
                    <a:pt x="19812" y="548640"/>
                  </a:lnTo>
                  <a:lnTo>
                    <a:pt x="23622" y="557022"/>
                  </a:lnTo>
                  <a:lnTo>
                    <a:pt x="28956" y="565404"/>
                  </a:lnTo>
                  <a:lnTo>
                    <a:pt x="34290" y="572262"/>
                  </a:lnTo>
                  <a:lnTo>
                    <a:pt x="40386" y="579120"/>
                  </a:lnTo>
                  <a:lnTo>
                    <a:pt x="47244" y="585216"/>
                  </a:lnTo>
                  <a:lnTo>
                    <a:pt x="54102" y="590550"/>
                  </a:lnTo>
                  <a:lnTo>
                    <a:pt x="61722" y="595884"/>
                  </a:lnTo>
                  <a:lnTo>
                    <a:pt x="70104" y="599694"/>
                  </a:lnTo>
                  <a:lnTo>
                    <a:pt x="79248" y="602742"/>
                  </a:lnTo>
                  <a:lnTo>
                    <a:pt x="88392" y="605028"/>
                  </a:lnTo>
                  <a:lnTo>
                    <a:pt x="97536" y="606552"/>
                  </a:lnTo>
                  <a:lnTo>
                    <a:pt x="107442" y="607314"/>
                  </a:lnTo>
                  <a:lnTo>
                    <a:pt x="613791" y="607314"/>
                  </a:lnTo>
                  <a:lnTo>
                    <a:pt x="613791" y="620268"/>
                  </a:lnTo>
                  <a:lnTo>
                    <a:pt x="107442" y="620268"/>
                  </a:lnTo>
                  <a:lnTo>
                    <a:pt x="96774" y="619506"/>
                  </a:lnTo>
                  <a:lnTo>
                    <a:pt x="86106" y="617982"/>
                  </a:lnTo>
                  <a:lnTo>
                    <a:pt x="75438" y="614934"/>
                  </a:lnTo>
                  <a:lnTo>
                    <a:pt x="65532" y="611886"/>
                  </a:lnTo>
                  <a:lnTo>
                    <a:pt x="56388" y="607314"/>
                  </a:lnTo>
                  <a:lnTo>
                    <a:pt x="47244" y="601980"/>
                  </a:lnTo>
                  <a:lnTo>
                    <a:pt x="39624" y="595884"/>
                  </a:lnTo>
                  <a:lnTo>
                    <a:pt x="31242" y="589026"/>
                  </a:lnTo>
                  <a:lnTo>
                    <a:pt x="24384" y="581406"/>
                  </a:lnTo>
                  <a:lnTo>
                    <a:pt x="18288" y="573024"/>
                  </a:lnTo>
                  <a:lnTo>
                    <a:pt x="12954" y="563880"/>
                  </a:lnTo>
                  <a:lnTo>
                    <a:pt x="8382" y="554736"/>
                  </a:lnTo>
                  <a:lnTo>
                    <a:pt x="4572" y="544830"/>
                  </a:lnTo>
                  <a:lnTo>
                    <a:pt x="2286" y="534162"/>
                  </a:lnTo>
                  <a:lnTo>
                    <a:pt x="762" y="523494"/>
                  </a:lnTo>
                  <a:lnTo>
                    <a:pt x="0" y="512826"/>
                  </a:lnTo>
                  <a:lnTo>
                    <a:pt x="0" y="107442"/>
                  </a:lnTo>
                  <a:lnTo>
                    <a:pt x="762" y="96774"/>
                  </a:lnTo>
                  <a:lnTo>
                    <a:pt x="2286" y="86106"/>
                  </a:lnTo>
                  <a:lnTo>
                    <a:pt x="4572" y="76200"/>
                  </a:lnTo>
                  <a:lnTo>
                    <a:pt x="8382" y="66294"/>
                  </a:lnTo>
                  <a:lnTo>
                    <a:pt x="12954" y="56388"/>
                  </a:lnTo>
                  <a:lnTo>
                    <a:pt x="18288" y="48006"/>
                  </a:lnTo>
                  <a:lnTo>
                    <a:pt x="24384" y="39624"/>
                  </a:lnTo>
                  <a:lnTo>
                    <a:pt x="31242" y="32004"/>
                  </a:lnTo>
                  <a:lnTo>
                    <a:pt x="38862" y="25146"/>
                  </a:lnTo>
                  <a:lnTo>
                    <a:pt x="47244" y="18288"/>
                  </a:lnTo>
                  <a:lnTo>
                    <a:pt x="55626" y="12954"/>
                  </a:lnTo>
                  <a:lnTo>
                    <a:pt x="65532" y="8382"/>
                  </a:lnTo>
                  <a:lnTo>
                    <a:pt x="85344" y="2286"/>
                  </a:lnTo>
                  <a:lnTo>
                    <a:pt x="96012" y="762"/>
                  </a:lnTo>
                  <a:lnTo>
                    <a:pt x="107442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6A6A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de-DE"/>
            </a:p>
          </p:txBody>
        </p:sp>
        <p:sp>
          <p:nvSpPr>
            <p:cNvPr id="11" name="Shape 325">
              <a:extLst>
                <a:ext uri="{FF2B5EF4-FFF2-40B4-BE49-F238E27FC236}">
                  <a16:creationId xmlns:a16="http://schemas.microsoft.com/office/drawing/2014/main" id="{01782B27-041F-D0AD-755A-6B0783151F07}"/>
                </a:ext>
              </a:extLst>
            </p:cNvPr>
            <p:cNvSpPr/>
            <p:nvPr/>
          </p:nvSpPr>
          <p:spPr>
            <a:xfrm>
              <a:off x="4049757" y="2386711"/>
              <a:ext cx="613009" cy="620192"/>
            </a:xfrm>
            <a:custGeom>
              <a:avLst/>
              <a:gdLst/>
              <a:ahLst/>
              <a:cxnLst/>
              <a:rect l="0" t="0" r="0" b="0"/>
              <a:pathLst>
                <a:path w="613029" h="620268">
                  <a:moveTo>
                    <a:pt x="0" y="0"/>
                  </a:moveTo>
                  <a:lnTo>
                    <a:pt x="505587" y="0"/>
                  </a:lnTo>
                  <a:lnTo>
                    <a:pt x="516255" y="762"/>
                  </a:lnTo>
                  <a:lnTo>
                    <a:pt x="526923" y="2286"/>
                  </a:lnTo>
                  <a:lnTo>
                    <a:pt x="537591" y="4572"/>
                  </a:lnTo>
                  <a:lnTo>
                    <a:pt x="547497" y="8382"/>
                  </a:lnTo>
                  <a:lnTo>
                    <a:pt x="556641" y="12954"/>
                  </a:lnTo>
                  <a:lnTo>
                    <a:pt x="565785" y="18288"/>
                  </a:lnTo>
                  <a:lnTo>
                    <a:pt x="574167" y="24384"/>
                  </a:lnTo>
                  <a:lnTo>
                    <a:pt x="581787" y="31242"/>
                  </a:lnTo>
                  <a:lnTo>
                    <a:pt x="588645" y="38862"/>
                  </a:lnTo>
                  <a:lnTo>
                    <a:pt x="594741" y="47244"/>
                  </a:lnTo>
                  <a:lnTo>
                    <a:pt x="600075" y="55626"/>
                  </a:lnTo>
                  <a:lnTo>
                    <a:pt x="604647" y="65532"/>
                  </a:lnTo>
                  <a:lnTo>
                    <a:pt x="608457" y="75438"/>
                  </a:lnTo>
                  <a:lnTo>
                    <a:pt x="610743" y="85344"/>
                  </a:lnTo>
                  <a:lnTo>
                    <a:pt x="613029" y="96012"/>
                  </a:lnTo>
                  <a:lnTo>
                    <a:pt x="613029" y="522732"/>
                  </a:lnTo>
                  <a:lnTo>
                    <a:pt x="611505" y="533400"/>
                  </a:lnTo>
                  <a:lnTo>
                    <a:pt x="608457" y="544068"/>
                  </a:lnTo>
                  <a:lnTo>
                    <a:pt x="604647" y="553974"/>
                  </a:lnTo>
                  <a:lnTo>
                    <a:pt x="600075" y="563118"/>
                  </a:lnTo>
                  <a:lnTo>
                    <a:pt x="594741" y="572262"/>
                  </a:lnTo>
                  <a:lnTo>
                    <a:pt x="588645" y="580644"/>
                  </a:lnTo>
                  <a:lnTo>
                    <a:pt x="581787" y="588264"/>
                  </a:lnTo>
                  <a:lnTo>
                    <a:pt x="574167" y="595122"/>
                  </a:lnTo>
                  <a:lnTo>
                    <a:pt x="565785" y="601218"/>
                  </a:lnTo>
                  <a:lnTo>
                    <a:pt x="557403" y="606552"/>
                  </a:lnTo>
                  <a:lnTo>
                    <a:pt x="547497" y="611124"/>
                  </a:lnTo>
                  <a:lnTo>
                    <a:pt x="538353" y="614934"/>
                  </a:lnTo>
                  <a:lnTo>
                    <a:pt x="527685" y="617982"/>
                  </a:lnTo>
                  <a:lnTo>
                    <a:pt x="517017" y="619506"/>
                  </a:lnTo>
                  <a:lnTo>
                    <a:pt x="506349" y="620268"/>
                  </a:lnTo>
                  <a:lnTo>
                    <a:pt x="0" y="620268"/>
                  </a:lnTo>
                  <a:lnTo>
                    <a:pt x="0" y="607314"/>
                  </a:lnTo>
                  <a:lnTo>
                    <a:pt x="505587" y="607314"/>
                  </a:lnTo>
                  <a:lnTo>
                    <a:pt x="514731" y="606552"/>
                  </a:lnTo>
                  <a:lnTo>
                    <a:pt x="524637" y="605028"/>
                  </a:lnTo>
                  <a:lnTo>
                    <a:pt x="533781" y="602742"/>
                  </a:lnTo>
                  <a:lnTo>
                    <a:pt x="542163" y="599694"/>
                  </a:lnTo>
                  <a:lnTo>
                    <a:pt x="550545" y="595884"/>
                  </a:lnTo>
                  <a:lnTo>
                    <a:pt x="558165" y="591312"/>
                  </a:lnTo>
                  <a:lnTo>
                    <a:pt x="565785" y="585978"/>
                  </a:lnTo>
                  <a:lnTo>
                    <a:pt x="572643" y="579882"/>
                  </a:lnTo>
                  <a:lnTo>
                    <a:pt x="578739" y="573024"/>
                  </a:lnTo>
                  <a:lnTo>
                    <a:pt x="584073" y="565404"/>
                  </a:lnTo>
                  <a:lnTo>
                    <a:pt x="588645" y="557784"/>
                  </a:lnTo>
                  <a:lnTo>
                    <a:pt x="593217" y="549402"/>
                  </a:lnTo>
                  <a:lnTo>
                    <a:pt x="596265" y="541020"/>
                  </a:lnTo>
                  <a:lnTo>
                    <a:pt x="598551" y="531876"/>
                  </a:lnTo>
                  <a:lnTo>
                    <a:pt x="600075" y="522732"/>
                  </a:lnTo>
                  <a:lnTo>
                    <a:pt x="600837" y="512064"/>
                  </a:lnTo>
                  <a:lnTo>
                    <a:pt x="600837" y="108204"/>
                  </a:lnTo>
                  <a:lnTo>
                    <a:pt x="600075" y="98298"/>
                  </a:lnTo>
                  <a:lnTo>
                    <a:pt x="598551" y="89154"/>
                  </a:lnTo>
                  <a:lnTo>
                    <a:pt x="596265" y="80010"/>
                  </a:lnTo>
                  <a:lnTo>
                    <a:pt x="593217" y="70866"/>
                  </a:lnTo>
                  <a:lnTo>
                    <a:pt x="589407" y="62484"/>
                  </a:lnTo>
                  <a:lnTo>
                    <a:pt x="584835" y="54864"/>
                  </a:lnTo>
                  <a:lnTo>
                    <a:pt x="578739" y="47244"/>
                  </a:lnTo>
                  <a:lnTo>
                    <a:pt x="572643" y="40386"/>
                  </a:lnTo>
                  <a:lnTo>
                    <a:pt x="566547" y="34290"/>
                  </a:lnTo>
                  <a:lnTo>
                    <a:pt x="558927" y="28956"/>
                  </a:lnTo>
                  <a:lnTo>
                    <a:pt x="551307" y="24384"/>
                  </a:lnTo>
                  <a:lnTo>
                    <a:pt x="534543" y="16764"/>
                  </a:lnTo>
                  <a:lnTo>
                    <a:pt x="525399" y="14478"/>
                  </a:lnTo>
                  <a:lnTo>
                    <a:pt x="515493" y="12954"/>
                  </a:lnTo>
                  <a:lnTo>
                    <a:pt x="0" y="12954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6A6A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de-DE"/>
            </a:p>
          </p:txBody>
        </p:sp>
        <p:sp>
          <p:nvSpPr>
            <p:cNvPr id="12" name="Rectangle 326">
              <a:extLst>
                <a:ext uri="{FF2B5EF4-FFF2-40B4-BE49-F238E27FC236}">
                  <a16:creationId xmlns:a16="http://schemas.microsoft.com/office/drawing/2014/main" id="{32211143-F2B4-538B-73FB-9A9C3AB11971}"/>
                </a:ext>
              </a:extLst>
            </p:cNvPr>
            <p:cNvSpPr/>
            <p:nvPr/>
          </p:nvSpPr>
          <p:spPr>
            <a:xfrm>
              <a:off x="3745342" y="2503664"/>
              <a:ext cx="806333" cy="25803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de-DE" sz="1500">
                  <a:solidFill>
                    <a:srgbClr val="2D201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Product</a:t>
              </a:r>
              <a:endParaRPr lang="de-DE"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3" name="Rectangle 327">
              <a:extLst>
                <a:ext uri="{FF2B5EF4-FFF2-40B4-BE49-F238E27FC236}">
                  <a16:creationId xmlns:a16="http://schemas.microsoft.com/office/drawing/2014/main" id="{C36E6002-2143-AF4C-C7AA-F57504231706}"/>
                </a:ext>
              </a:extLst>
            </p:cNvPr>
            <p:cNvSpPr/>
            <p:nvPr/>
          </p:nvSpPr>
          <p:spPr>
            <a:xfrm>
              <a:off x="4351874" y="2503664"/>
              <a:ext cx="57258" cy="25803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de-DE" sz="1500">
                  <a:solidFill>
                    <a:srgbClr val="2D201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de-DE"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4" name="Rectangle 328">
              <a:extLst>
                <a:ext uri="{FF2B5EF4-FFF2-40B4-BE49-F238E27FC236}">
                  <a16:creationId xmlns:a16="http://schemas.microsoft.com/office/drawing/2014/main" id="{599C679E-8401-7044-63F1-279EAAA84AF0}"/>
                </a:ext>
              </a:extLst>
            </p:cNvPr>
            <p:cNvSpPr/>
            <p:nvPr/>
          </p:nvSpPr>
          <p:spPr>
            <a:xfrm>
              <a:off x="3750676" y="2732236"/>
              <a:ext cx="793260" cy="25803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de-DE" sz="1500">
                  <a:solidFill>
                    <a:srgbClr val="2D201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Backlog</a:t>
              </a:r>
              <a:endParaRPr lang="de-DE"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pic>
          <p:nvPicPr>
            <p:cNvPr id="15" name="Picture 330">
              <a:extLst>
                <a:ext uri="{FF2B5EF4-FFF2-40B4-BE49-F238E27FC236}">
                  <a16:creationId xmlns:a16="http://schemas.microsoft.com/office/drawing/2014/main" id="{99055908-4C63-C643-8B9B-18E4A60F4859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5155764" y="2213759"/>
              <a:ext cx="1216112" cy="608764"/>
            </a:xfrm>
            <a:prstGeom prst="rect">
              <a:avLst/>
            </a:prstGeom>
          </p:spPr>
        </p:pic>
        <p:sp>
          <p:nvSpPr>
            <p:cNvPr id="16" name="Shape 331">
              <a:extLst>
                <a:ext uri="{FF2B5EF4-FFF2-40B4-BE49-F238E27FC236}">
                  <a16:creationId xmlns:a16="http://schemas.microsoft.com/office/drawing/2014/main" id="{98C2887E-23BD-1F7C-E0D9-EE715A19D6AC}"/>
                </a:ext>
              </a:extLst>
            </p:cNvPr>
            <p:cNvSpPr/>
            <p:nvPr/>
          </p:nvSpPr>
          <p:spPr>
            <a:xfrm>
              <a:off x="5150430" y="2208425"/>
              <a:ext cx="613771" cy="619430"/>
            </a:xfrm>
            <a:custGeom>
              <a:avLst/>
              <a:gdLst/>
              <a:ahLst/>
              <a:cxnLst/>
              <a:rect l="0" t="0" r="0" b="0"/>
              <a:pathLst>
                <a:path w="613791" h="619506">
                  <a:moveTo>
                    <a:pt x="96012" y="0"/>
                  </a:moveTo>
                  <a:lnTo>
                    <a:pt x="613791" y="0"/>
                  </a:lnTo>
                  <a:lnTo>
                    <a:pt x="613791" y="12192"/>
                  </a:lnTo>
                  <a:lnTo>
                    <a:pt x="107442" y="12192"/>
                  </a:lnTo>
                  <a:lnTo>
                    <a:pt x="98298" y="12954"/>
                  </a:lnTo>
                  <a:lnTo>
                    <a:pt x="88392" y="14478"/>
                  </a:lnTo>
                  <a:lnTo>
                    <a:pt x="79248" y="16764"/>
                  </a:lnTo>
                  <a:lnTo>
                    <a:pt x="70866" y="19812"/>
                  </a:lnTo>
                  <a:lnTo>
                    <a:pt x="62484" y="23622"/>
                  </a:lnTo>
                  <a:lnTo>
                    <a:pt x="54864" y="28194"/>
                  </a:lnTo>
                  <a:lnTo>
                    <a:pt x="47244" y="33528"/>
                  </a:lnTo>
                  <a:lnTo>
                    <a:pt x="34290" y="46482"/>
                  </a:lnTo>
                  <a:lnTo>
                    <a:pt x="28956" y="54102"/>
                  </a:lnTo>
                  <a:lnTo>
                    <a:pt x="24384" y="61722"/>
                  </a:lnTo>
                  <a:lnTo>
                    <a:pt x="19812" y="70104"/>
                  </a:lnTo>
                  <a:lnTo>
                    <a:pt x="16764" y="78486"/>
                  </a:lnTo>
                  <a:lnTo>
                    <a:pt x="14478" y="87630"/>
                  </a:lnTo>
                  <a:lnTo>
                    <a:pt x="12954" y="97536"/>
                  </a:lnTo>
                  <a:lnTo>
                    <a:pt x="12954" y="107442"/>
                  </a:lnTo>
                  <a:lnTo>
                    <a:pt x="12954" y="512064"/>
                  </a:lnTo>
                  <a:lnTo>
                    <a:pt x="12954" y="521208"/>
                  </a:lnTo>
                  <a:lnTo>
                    <a:pt x="14478" y="531114"/>
                  </a:lnTo>
                  <a:lnTo>
                    <a:pt x="16764" y="540258"/>
                  </a:lnTo>
                  <a:lnTo>
                    <a:pt x="19812" y="548640"/>
                  </a:lnTo>
                  <a:lnTo>
                    <a:pt x="23622" y="557022"/>
                  </a:lnTo>
                  <a:lnTo>
                    <a:pt x="34290" y="572262"/>
                  </a:lnTo>
                  <a:lnTo>
                    <a:pt x="40386" y="579120"/>
                  </a:lnTo>
                  <a:lnTo>
                    <a:pt x="47244" y="585216"/>
                  </a:lnTo>
                  <a:lnTo>
                    <a:pt x="54102" y="590550"/>
                  </a:lnTo>
                  <a:lnTo>
                    <a:pt x="61722" y="595122"/>
                  </a:lnTo>
                  <a:lnTo>
                    <a:pt x="70104" y="599694"/>
                  </a:lnTo>
                  <a:lnTo>
                    <a:pt x="79248" y="602742"/>
                  </a:lnTo>
                  <a:lnTo>
                    <a:pt x="88392" y="605028"/>
                  </a:lnTo>
                  <a:lnTo>
                    <a:pt x="97536" y="606552"/>
                  </a:lnTo>
                  <a:lnTo>
                    <a:pt x="107442" y="607314"/>
                  </a:lnTo>
                  <a:lnTo>
                    <a:pt x="613791" y="607314"/>
                  </a:lnTo>
                  <a:lnTo>
                    <a:pt x="613791" y="619506"/>
                  </a:lnTo>
                  <a:lnTo>
                    <a:pt x="107442" y="619506"/>
                  </a:lnTo>
                  <a:lnTo>
                    <a:pt x="96774" y="618744"/>
                  </a:lnTo>
                  <a:lnTo>
                    <a:pt x="86106" y="617220"/>
                  </a:lnTo>
                  <a:lnTo>
                    <a:pt x="75438" y="614934"/>
                  </a:lnTo>
                  <a:lnTo>
                    <a:pt x="65532" y="611124"/>
                  </a:lnTo>
                  <a:lnTo>
                    <a:pt x="56388" y="606552"/>
                  </a:lnTo>
                  <a:lnTo>
                    <a:pt x="47244" y="601218"/>
                  </a:lnTo>
                  <a:lnTo>
                    <a:pt x="39624" y="595122"/>
                  </a:lnTo>
                  <a:lnTo>
                    <a:pt x="32004" y="588264"/>
                  </a:lnTo>
                  <a:lnTo>
                    <a:pt x="24384" y="580644"/>
                  </a:lnTo>
                  <a:lnTo>
                    <a:pt x="18288" y="572262"/>
                  </a:lnTo>
                  <a:lnTo>
                    <a:pt x="12954" y="563880"/>
                  </a:lnTo>
                  <a:lnTo>
                    <a:pt x="8382" y="553974"/>
                  </a:lnTo>
                  <a:lnTo>
                    <a:pt x="4572" y="544068"/>
                  </a:lnTo>
                  <a:lnTo>
                    <a:pt x="2286" y="534162"/>
                  </a:lnTo>
                  <a:lnTo>
                    <a:pt x="762" y="523494"/>
                  </a:lnTo>
                  <a:lnTo>
                    <a:pt x="0" y="512064"/>
                  </a:lnTo>
                  <a:lnTo>
                    <a:pt x="0" y="107442"/>
                  </a:lnTo>
                  <a:lnTo>
                    <a:pt x="762" y="96774"/>
                  </a:lnTo>
                  <a:lnTo>
                    <a:pt x="2286" y="86106"/>
                  </a:lnTo>
                  <a:lnTo>
                    <a:pt x="4572" y="75438"/>
                  </a:lnTo>
                  <a:lnTo>
                    <a:pt x="8382" y="65532"/>
                  </a:lnTo>
                  <a:lnTo>
                    <a:pt x="12954" y="56388"/>
                  </a:lnTo>
                  <a:lnTo>
                    <a:pt x="18288" y="47244"/>
                  </a:lnTo>
                  <a:lnTo>
                    <a:pt x="24384" y="38862"/>
                  </a:lnTo>
                  <a:lnTo>
                    <a:pt x="31242" y="31242"/>
                  </a:lnTo>
                  <a:lnTo>
                    <a:pt x="38862" y="24384"/>
                  </a:lnTo>
                  <a:lnTo>
                    <a:pt x="47244" y="18288"/>
                  </a:lnTo>
                  <a:lnTo>
                    <a:pt x="55626" y="12954"/>
                  </a:lnTo>
                  <a:lnTo>
                    <a:pt x="65532" y="8382"/>
                  </a:lnTo>
                  <a:lnTo>
                    <a:pt x="75438" y="4572"/>
                  </a:lnTo>
                  <a:lnTo>
                    <a:pt x="85344" y="2286"/>
                  </a:lnTo>
                  <a:lnTo>
                    <a:pt x="96012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6A6A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de-DE"/>
            </a:p>
          </p:txBody>
        </p:sp>
        <p:sp>
          <p:nvSpPr>
            <p:cNvPr id="17" name="Shape 332">
              <a:extLst>
                <a:ext uri="{FF2B5EF4-FFF2-40B4-BE49-F238E27FC236}">
                  <a16:creationId xmlns:a16="http://schemas.microsoft.com/office/drawing/2014/main" id="{31411DD2-6EAF-22C2-E705-7ABF2681E487}"/>
                </a:ext>
              </a:extLst>
            </p:cNvPr>
            <p:cNvSpPr/>
            <p:nvPr/>
          </p:nvSpPr>
          <p:spPr>
            <a:xfrm>
              <a:off x="5764201" y="2208425"/>
              <a:ext cx="613009" cy="619430"/>
            </a:xfrm>
            <a:custGeom>
              <a:avLst/>
              <a:gdLst/>
              <a:ahLst/>
              <a:cxnLst/>
              <a:rect l="0" t="0" r="0" b="0"/>
              <a:pathLst>
                <a:path w="613029" h="619506">
                  <a:moveTo>
                    <a:pt x="0" y="0"/>
                  </a:moveTo>
                  <a:lnTo>
                    <a:pt x="516255" y="0"/>
                  </a:lnTo>
                  <a:lnTo>
                    <a:pt x="526923" y="1524"/>
                  </a:lnTo>
                  <a:lnTo>
                    <a:pt x="537591" y="4572"/>
                  </a:lnTo>
                  <a:lnTo>
                    <a:pt x="547497" y="8382"/>
                  </a:lnTo>
                  <a:lnTo>
                    <a:pt x="556641" y="12954"/>
                  </a:lnTo>
                  <a:lnTo>
                    <a:pt x="565785" y="18288"/>
                  </a:lnTo>
                  <a:lnTo>
                    <a:pt x="574167" y="24384"/>
                  </a:lnTo>
                  <a:lnTo>
                    <a:pt x="581787" y="31242"/>
                  </a:lnTo>
                  <a:lnTo>
                    <a:pt x="588645" y="38862"/>
                  </a:lnTo>
                  <a:lnTo>
                    <a:pt x="594741" y="47244"/>
                  </a:lnTo>
                  <a:lnTo>
                    <a:pt x="600075" y="55626"/>
                  </a:lnTo>
                  <a:lnTo>
                    <a:pt x="604647" y="64770"/>
                  </a:lnTo>
                  <a:lnTo>
                    <a:pt x="608457" y="74676"/>
                  </a:lnTo>
                  <a:lnTo>
                    <a:pt x="613029" y="96012"/>
                  </a:lnTo>
                  <a:lnTo>
                    <a:pt x="613029" y="522732"/>
                  </a:lnTo>
                  <a:lnTo>
                    <a:pt x="611505" y="533400"/>
                  </a:lnTo>
                  <a:lnTo>
                    <a:pt x="608457" y="544068"/>
                  </a:lnTo>
                  <a:lnTo>
                    <a:pt x="604647" y="553974"/>
                  </a:lnTo>
                  <a:lnTo>
                    <a:pt x="600075" y="563118"/>
                  </a:lnTo>
                  <a:lnTo>
                    <a:pt x="594741" y="572262"/>
                  </a:lnTo>
                  <a:lnTo>
                    <a:pt x="588645" y="580644"/>
                  </a:lnTo>
                  <a:lnTo>
                    <a:pt x="581787" y="588264"/>
                  </a:lnTo>
                  <a:lnTo>
                    <a:pt x="574167" y="595122"/>
                  </a:lnTo>
                  <a:lnTo>
                    <a:pt x="565785" y="601218"/>
                  </a:lnTo>
                  <a:lnTo>
                    <a:pt x="557403" y="606552"/>
                  </a:lnTo>
                  <a:lnTo>
                    <a:pt x="547497" y="611124"/>
                  </a:lnTo>
                  <a:lnTo>
                    <a:pt x="538353" y="614934"/>
                  </a:lnTo>
                  <a:lnTo>
                    <a:pt x="527685" y="617220"/>
                  </a:lnTo>
                  <a:lnTo>
                    <a:pt x="517017" y="618744"/>
                  </a:lnTo>
                  <a:lnTo>
                    <a:pt x="506349" y="619506"/>
                  </a:lnTo>
                  <a:lnTo>
                    <a:pt x="0" y="619506"/>
                  </a:lnTo>
                  <a:lnTo>
                    <a:pt x="0" y="607314"/>
                  </a:lnTo>
                  <a:lnTo>
                    <a:pt x="505587" y="607314"/>
                  </a:lnTo>
                  <a:lnTo>
                    <a:pt x="514731" y="606552"/>
                  </a:lnTo>
                  <a:lnTo>
                    <a:pt x="524637" y="605028"/>
                  </a:lnTo>
                  <a:lnTo>
                    <a:pt x="533781" y="602742"/>
                  </a:lnTo>
                  <a:lnTo>
                    <a:pt x="542163" y="599694"/>
                  </a:lnTo>
                  <a:lnTo>
                    <a:pt x="550545" y="595884"/>
                  </a:lnTo>
                  <a:lnTo>
                    <a:pt x="565785" y="585216"/>
                  </a:lnTo>
                  <a:lnTo>
                    <a:pt x="572643" y="579120"/>
                  </a:lnTo>
                  <a:lnTo>
                    <a:pt x="578739" y="573024"/>
                  </a:lnTo>
                  <a:lnTo>
                    <a:pt x="584073" y="565404"/>
                  </a:lnTo>
                  <a:lnTo>
                    <a:pt x="588645" y="557784"/>
                  </a:lnTo>
                  <a:lnTo>
                    <a:pt x="593217" y="549402"/>
                  </a:lnTo>
                  <a:lnTo>
                    <a:pt x="596265" y="540258"/>
                  </a:lnTo>
                  <a:lnTo>
                    <a:pt x="598551" y="531876"/>
                  </a:lnTo>
                  <a:lnTo>
                    <a:pt x="600075" y="521970"/>
                  </a:lnTo>
                  <a:lnTo>
                    <a:pt x="600837" y="512064"/>
                  </a:lnTo>
                  <a:lnTo>
                    <a:pt x="600837" y="107442"/>
                  </a:lnTo>
                  <a:lnTo>
                    <a:pt x="600075" y="97536"/>
                  </a:lnTo>
                  <a:lnTo>
                    <a:pt x="598551" y="88392"/>
                  </a:lnTo>
                  <a:lnTo>
                    <a:pt x="596265" y="79248"/>
                  </a:lnTo>
                  <a:lnTo>
                    <a:pt x="593217" y="70866"/>
                  </a:lnTo>
                  <a:lnTo>
                    <a:pt x="589407" y="62484"/>
                  </a:lnTo>
                  <a:lnTo>
                    <a:pt x="584835" y="54864"/>
                  </a:lnTo>
                  <a:lnTo>
                    <a:pt x="578739" y="47244"/>
                  </a:lnTo>
                  <a:lnTo>
                    <a:pt x="572643" y="40386"/>
                  </a:lnTo>
                  <a:lnTo>
                    <a:pt x="566547" y="34290"/>
                  </a:lnTo>
                  <a:lnTo>
                    <a:pt x="558927" y="28956"/>
                  </a:lnTo>
                  <a:lnTo>
                    <a:pt x="551307" y="24384"/>
                  </a:lnTo>
                  <a:lnTo>
                    <a:pt x="542925" y="19812"/>
                  </a:lnTo>
                  <a:lnTo>
                    <a:pt x="534543" y="16764"/>
                  </a:lnTo>
                  <a:lnTo>
                    <a:pt x="525399" y="14478"/>
                  </a:lnTo>
                  <a:lnTo>
                    <a:pt x="515493" y="12954"/>
                  </a:lnTo>
                  <a:lnTo>
                    <a:pt x="505587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6A6A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de-DE"/>
            </a:p>
          </p:txBody>
        </p:sp>
        <p:sp>
          <p:nvSpPr>
            <p:cNvPr id="18" name="Rectangle 333">
              <a:extLst>
                <a:ext uri="{FF2B5EF4-FFF2-40B4-BE49-F238E27FC236}">
                  <a16:creationId xmlns:a16="http://schemas.microsoft.com/office/drawing/2014/main" id="{5EBE685F-255D-D93D-82BE-6405293E3204}"/>
                </a:ext>
              </a:extLst>
            </p:cNvPr>
            <p:cNvSpPr/>
            <p:nvPr/>
          </p:nvSpPr>
          <p:spPr>
            <a:xfrm>
              <a:off x="5533697" y="2324616"/>
              <a:ext cx="610337" cy="25803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de-DE" sz="1500" dirty="0">
                  <a:solidFill>
                    <a:srgbClr val="2D201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Sprint</a:t>
              </a:r>
              <a:endParaRPr lang="de-DE" sz="1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9" name="Rectangle 334">
              <a:extLst>
                <a:ext uri="{FF2B5EF4-FFF2-40B4-BE49-F238E27FC236}">
                  <a16:creationId xmlns:a16="http://schemas.microsoft.com/office/drawing/2014/main" id="{605F3A7F-CD19-A94E-C872-852C303B435E}"/>
                </a:ext>
              </a:extLst>
            </p:cNvPr>
            <p:cNvSpPr/>
            <p:nvPr/>
          </p:nvSpPr>
          <p:spPr>
            <a:xfrm>
              <a:off x="5993168" y="2324616"/>
              <a:ext cx="57259" cy="25803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de-DE" sz="1500">
                  <a:solidFill>
                    <a:srgbClr val="2D201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de-DE"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0" name="Rectangle 335">
              <a:extLst>
                <a:ext uri="{FF2B5EF4-FFF2-40B4-BE49-F238E27FC236}">
                  <a16:creationId xmlns:a16="http://schemas.microsoft.com/office/drawing/2014/main" id="{21921652-7D3C-9157-232C-35FA7FED819C}"/>
                </a:ext>
              </a:extLst>
            </p:cNvPr>
            <p:cNvSpPr/>
            <p:nvPr/>
          </p:nvSpPr>
          <p:spPr>
            <a:xfrm>
              <a:off x="5465118" y="2553188"/>
              <a:ext cx="793260" cy="25803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de-DE" sz="1500" dirty="0">
                  <a:solidFill>
                    <a:srgbClr val="2D201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Backlog</a:t>
              </a:r>
              <a:endParaRPr lang="de-DE" sz="1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pic>
          <p:nvPicPr>
            <p:cNvPr id="21" name="Picture 337">
              <a:extLst>
                <a:ext uri="{FF2B5EF4-FFF2-40B4-BE49-F238E27FC236}">
                  <a16:creationId xmlns:a16="http://schemas.microsoft.com/office/drawing/2014/main" id="{EB0043F6-279B-8CE0-960C-2D0008E16AAE}"/>
                </a:ext>
              </a:extLst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9942479" y="2213759"/>
              <a:ext cx="1215350" cy="608764"/>
            </a:xfrm>
            <a:prstGeom prst="rect">
              <a:avLst/>
            </a:prstGeom>
          </p:spPr>
        </p:pic>
        <p:sp>
          <p:nvSpPr>
            <p:cNvPr id="22" name="Shape 338">
              <a:extLst>
                <a:ext uri="{FF2B5EF4-FFF2-40B4-BE49-F238E27FC236}">
                  <a16:creationId xmlns:a16="http://schemas.microsoft.com/office/drawing/2014/main" id="{A3C8E79B-6108-AE6E-15BF-2FDA046A4A16}"/>
                </a:ext>
              </a:extLst>
            </p:cNvPr>
            <p:cNvSpPr/>
            <p:nvPr/>
          </p:nvSpPr>
          <p:spPr>
            <a:xfrm>
              <a:off x="9936395" y="2208425"/>
              <a:ext cx="613771" cy="619430"/>
            </a:xfrm>
            <a:custGeom>
              <a:avLst/>
              <a:gdLst/>
              <a:ahLst/>
              <a:cxnLst/>
              <a:rect l="0" t="0" r="0" b="0"/>
              <a:pathLst>
                <a:path w="613791" h="619506">
                  <a:moveTo>
                    <a:pt x="96774" y="0"/>
                  </a:moveTo>
                  <a:lnTo>
                    <a:pt x="613791" y="0"/>
                  </a:lnTo>
                  <a:lnTo>
                    <a:pt x="613791" y="12192"/>
                  </a:lnTo>
                  <a:lnTo>
                    <a:pt x="108204" y="12192"/>
                  </a:lnTo>
                  <a:lnTo>
                    <a:pt x="98298" y="12954"/>
                  </a:lnTo>
                  <a:lnTo>
                    <a:pt x="89154" y="14478"/>
                  </a:lnTo>
                  <a:lnTo>
                    <a:pt x="80010" y="16764"/>
                  </a:lnTo>
                  <a:lnTo>
                    <a:pt x="70866" y="19812"/>
                  </a:lnTo>
                  <a:lnTo>
                    <a:pt x="62484" y="23622"/>
                  </a:lnTo>
                  <a:lnTo>
                    <a:pt x="54864" y="28194"/>
                  </a:lnTo>
                  <a:lnTo>
                    <a:pt x="47244" y="33528"/>
                  </a:lnTo>
                  <a:lnTo>
                    <a:pt x="41148" y="40386"/>
                  </a:lnTo>
                  <a:lnTo>
                    <a:pt x="35052" y="46482"/>
                  </a:lnTo>
                  <a:lnTo>
                    <a:pt x="28956" y="54102"/>
                  </a:lnTo>
                  <a:lnTo>
                    <a:pt x="24384" y="61722"/>
                  </a:lnTo>
                  <a:lnTo>
                    <a:pt x="20574" y="70104"/>
                  </a:lnTo>
                  <a:lnTo>
                    <a:pt x="17526" y="78486"/>
                  </a:lnTo>
                  <a:lnTo>
                    <a:pt x="14478" y="87630"/>
                  </a:lnTo>
                  <a:lnTo>
                    <a:pt x="12954" y="107442"/>
                  </a:lnTo>
                  <a:lnTo>
                    <a:pt x="12954" y="512064"/>
                  </a:lnTo>
                  <a:lnTo>
                    <a:pt x="12954" y="521208"/>
                  </a:lnTo>
                  <a:lnTo>
                    <a:pt x="14478" y="531114"/>
                  </a:lnTo>
                  <a:lnTo>
                    <a:pt x="16764" y="540258"/>
                  </a:lnTo>
                  <a:lnTo>
                    <a:pt x="19812" y="548640"/>
                  </a:lnTo>
                  <a:lnTo>
                    <a:pt x="24384" y="557022"/>
                  </a:lnTo>
                  <a:lnTo>
                    <a:pt x="28956" y="564642"/>
                  </a:lnTo>
                  <a:lnTo>
                    <a:pt x="34290" y="572262"/>
                  </a:lnTo>
                  <a:lnTo>
                    <a:pt x="40386" y="579120"/>
                  </a:lnTo>
                  <a:lnTo>
                    <a:pt x="47244" y="585216"/>
                  </a:lnTo>
                  <a:lnTo>
                    <a:pt x="54102" y="590550"/>
                  </a:lnTo>
                  <a:lnTo>
                    <a:pt x="70866" y="599694"/>
                  </a:lnTo>
                  <a:lnTo>
                    <a:pt x="79248" y="602742"/>
                  </a:lnTo>
                  <a:lnTo>
                    <a:pt x="88392" y="605028"/>
                  </a:lnTo>
                  <a:lnTo>
                    <a:pt x="97536" y="606552"/>
                  </a:lnTo>
                  <a:lnTo>
                    <a:pt x="107442" y="607314"/>
                  </a:lnTo>
                  <a:lnTo>
                    <a:pt x="613791" y="607314"/>
                  </a:lnTo>
                  <a:lnTo>
                    <a:pt x="613791" y="619506"/>
                  </a:lnTo>
                  <a:lnTo>
                    <a:pt x="107442" y="619506"/>
                  </a:lnTo>
                  <a:lnTo>
                    <a:pt x="96774" y="618744"/>
                  </a:lnTo>
                  <a:lnTo>
                    <a:pt x="86106" y="617220"/>
                  </a:lnTo>
                  <a:lnTo>
                    <a:pt x="76200" y="614934"/>
                  </a:lnTo>
                  <a:lnTo>
                    <a:pt x="66294" y="611124"/>
                  </a:lnTo>
                  <a:lnTo>
                    <a:pt x="56388" y="606552"/>
                  </a:lnTo>
                  <a:lnTo>
                    <a:pt x="48006" y="601218"/>
                  </a:lnTo>
                  <a:lnTo>
                    <a:pt x="39624" y="595122"/>
                  </a:lnTo>
                  <a:lnTo>
                    <a:pt x="32004" y="588264"/>
                  </a:lnTo>
                  <a:lnTo>
                    <a:pt x="25146" y="580644"/>
                  </a:lnTo>
                  <a:lnTo>
                    <a:pt x="12954" y="563880"/>
                  </a:lnTo>
                  <a:lnTo>
                    <a:pt x="8382" y="553974"/>
                  </a:lnTo>
                  <a:lnTo>
                    <a:pt x="2286" y="534162"/>
                  </a:lnTo>
                  <a:lnTo>
                    <a:pt x="762" y="523494"/>
                  </a:lnTo>
                  <a:lnTo>
                    <a:pt x="0" y="512064"/>
                  </a:lnTo>
                  <a:lnTo>
                    <a:pt x="0" y="107442"/>
                  </a:lnTo>
                  <a:lnTo>
                    <a:pt x="762" y="96774"/>
                  </a:lnTo>
                  <a:lnTo>
                    <a:pt x="2286" y="86106"/>
                  </a:lnTo>
                  <a:lnTo>
                    <a:pt x="4572" y="75438"/>
                  </a:lnTo>
                  <a:lnTo>
                    <a:pt x="8382" y="65532"/>
                  </a:lnTo>
                  <a:lnTo>
                    <a:pt x="12954" y="56388"/>
                  </a:lnTo>
                  <a:lnTo>
                    <a:pt x="18288" y="47244"/>
                  </a:lnTo>
                  <a:lnTo>
                    <a:pt x="24384" y="38862"/>
                  </a:lnTo>
                  <a:lnTo>
                    <a:pt x="31242" y="31242"/>
                  </a:lnTo>
                  <a:lnTo>
                    <a:pt x="38862" y="24384"/>
                  </a:lnTo>
                  <a:lnTo>
                    <a:pt x="47244" y="18288"/>
                  </a:lnTo>
                  <a:lnTo>
                    <a:pt x="56388" y="12954"/>
                  </a:lnTo>
                  <a:lnTo>
                    <a:pt x="65532" y="8382"/>
                  </a:lnTo>
                  <a:lnTo>
                    <a:pt x="75438" y="4572"/>
                  </a:lnTo>
                  <a:lnTo>
                    <a:pt x="85344" y="2286"/>
                  </a:lnTo>
                  <a:lnTo>
                    <a:pt x="96774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6A6A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de-DE"/>
            </a:p>
          </p:txBody>
        </p:sp>
        <p:sp>
          <p:nvSpPr>
            <p:cNvPr id="23" name="Shape 339">
              <a:extLst>
                <a:ext uri="{FF2B5EF4-FFF2-40B4-BE49-F238E27FC236}">
                  <a16:creationId xmlns:a16="http://schemas.microsoft.com/office/drawing/2014/main" id="{302E6710-5CF0-FE6D-97F6-DEDD110CE5DD}"/>
                </a:ext>
              </a:extLst>
            </p:cNvPr>
            <p:cNvSpPr/>
            <p:nvPr/>
          </p:nvSpPr>
          <p:spPr>
            <a:xfrm>
              <a:off x="10550167" y="2208425"/>
              <a:ext cx="613771" cy="619430"/>
            </a:xfrm>
            <a:custGeom>
              <a:avLst/>
              <a:gdLst/>
              <a:ahLst/>
              <a:cxnLst/>
              <a:rect l="0" t="0" r="0" b="0"/>
              <a:pathLst>
                <a:path w="613791" h="619506">
                  <a:moveTo>
                    <a:pt x="0" y="0"/>
                  </a:moveTo>
                  <a:lnTo>
                    <a:pt x="516255" y="0"/>
                  </a:lnTo>
                  <a:lnTo>
                    <a:pt x="526923" y="1524"/>
                  </a:lnTo>
                  <a:lnTo>
                    <a:pt x="537591" y="4572"/>
                  </a:lnTo>
                  <a:lnTo>
                    <a:pt x="547497" y="8382"/>
                  </a:lnTo>
                  <a:lnTo>
                    <a:pt x="556641" y="12954"/>
                  </a:lnTo>
                  <a:lnTo>
                    <a:pt x="565785" y="18288"/>
                  </a:lnTo>
                  <a:lnTo>
                    <a:pt x="574167" y="24384"/>
                  </a:lnTo>
                  <a:lnTo>
                    <a:pt x="581787" y="31242"/>
                  </a:lnTo>
                  <a:lnTo>
                    <a:pt x="588645" y="38862"/>
                  </a:lnTo>
                  <a:lnTo>
                    <a:pt x="594741" y="47244"/>
                  </a:lnTo>
                  <a:lnTo>
                    <a:pt x="600075" y="55626"/>
                  </a:lnTo>
                  <a:lnTo>
                    <a:pt x="604647" y="64770"/>
                  </a:lnTo>
                  <a:lnTo>
                    <a:pt x="608457" y="74676"/>
                  </a:lnTo>
                  <a:lnTo>
                    <a:pt x="611505" y="85344"/>
                  </a:lnTo>
                  <a:lnTo>
                    <a:pt x="613029" y="96012"/>
                  </a:lnTo>
                  <a:lnTo>
                    <a:pt x="613791" y="106680"/>
                  </a:lnTo>
                  <a:lnTo>
                    <a:pt x="613791" y="512064"/>
                  </a:lnTo>
                  <a:lnTo>
                    <a:pt x="613029" y="522732"/>
                  </a:lnTo>
                  <a:lnTo>
                    <a:pt x="611505" y="533400"/>
                  </a:lnTo>
                  <a:lnTo>
                    <a:pt x="608457" y="544068"/>
                  </a:lnTo>
                  <a:lnTo>
                    <a:pt x="605409" y="553974"/>
                  </a:lnTo>
                  <a:lnTo>
                    <a:pt x="600837" y="563118"/>
                  </a:lnTo>
                  <a:lnTo>
                    <a:pt x="595502" y="572262"/>
                  </a:lnTo>
                  <a:lnTo>
                    <a:pt x="589407" y="580644"/>
                  </a:lnTo>
                  <a:lnTo>
                    <a:pt x="582549" y="588264"/>
                  </a:lnTo>
                  <a:lnTo>
                    <a:pt x="574929" y="595122"/>
                  </a:lnTo>
                  <a:lnTo>
                    <a:pt x="566547" y="601218"/>
                  </a:lnTo>
                  <a:lnTo>
                    <a:pt x="557402" y="606552"/>
                  </a:lnTo>
                  <a:lnTo>
                    <a:pt x="548259" y="611124"/>
                  </a:lnTo>
                  <a:lnTo>
                    <a:pt x="538352" y="614934"/>
                  </a:lnTo>
                  <a:lnTo>
                    <a:pt x="527685" y="617220"/>
                  </a:lnTo>
                  <a:lnTo>
                    <a:pt x="517017" y="618744"/>
                  </a:lnTo>
                  <a:lnTo>
                    <a:pt x="506349" y="619506"/>
                  </a:lnTo>
                  <a:lnTo>
                    <a:pt x="0" y="619506"/>
                  </a:lnTo>
                  <a:lnTo>
                    <a:pt x="0" y="607314"/>
                  </a:lnTo>
                  <a:lnTo>
                    <a:pt x="505587" y="607314"/>
                  </a:lnTo>
                  <a:lnTo>
                    <a:pt x="515493" y="606552"/>
                  </a:lnTo>
                  <a:lnTo>
                    <a:pt x="524637" y="605028"/>
                  </a:lnTo>
                  <a:lnTo>
                    <a:pt x="533781" y="602742"/>
                  </a:lnTo>
                  <a:lnTo>
                    <a:pt x="542925" y="599694"/>
                  </a:lnTo>
                  <a:lnTo>
                    <a:pt x="550545" y="595884"/>
                  </a:lnTo>
                  <a:lnTo>
                    <a:pt x="558926" y="590550"/>
                  </a:lnTo>
                  <a:lnTo>
                    <a:pt x="565785" y="585216"/>
                  </a:lnTo>
                  <a:lnTo>
                    <a:pt x="572643" y="579120"/>
                  </a:lnTo>
                  <a:lnTo>
                    <a:pt x="578739" y="573024"/>
                  </a:lnTo>
                  <a:lnTo>
                    <a:pt x="589407" y="557784"/>
                  </a:lnTo>
                  <a:lnTo>
                    <a:pt x="593217" y="549402"/>
                  </a:lnTo>
                  <a:lnTo>
                    <a:pt x="596265" y="540258"/>
                  </a:lnTo>
                  <a:lnTo>
                    <a:pt x="598551" y="531876"/>
                  </a:lnTo>
                  <a:lnTo>
                    <a:pt x="600075" y="521970"/>
                  </a:lnTo>
                  <a:lnTo>
                    <a:pt x="600837" y="512064"/>
                  </a:lnTo>
                  <a:lnTo>
                    <a:pt x="600837" y="107442"/>
                  </a:lnTo>
                  <a:lnTo>
                    <a:pt x="600075" y="97536"/>
                  </a:lnTo>
                  <a:lnTo>
                    <a:pt x="599313" y="88392"/>
                  </a:lnTo>
                  <a:lnTo>
                    <a:pt x="596265" y="79248"/>
                  </a:lnTo>
                  <a:lnTo>
                    <a:pt x="593217" y="70866"/>
                  </a:lnTo>
                  <a:lnTo>
                    <a:pt x="589407" y="62484"/>
                  </a:lnTo>
                  <a:lnTo>
                    <a:pt x="584835" y="54864"/>
                  </a:lnTo>
                  <a:lnTo>
                    <a:pt x="579501" y="47244"/>
                  </a:lnTo>
                  <a:lnTo>
                    <a:pt x="573405" y="40386"/>
                  </a:lnTo>
                  <a:lnTo>
                    <a:pt x="566547" y="34290"/>
                  </a:lnTo>
                  <a:lnTo>
                    <a:pt x="558926" y="28956"/>
                  </a:lnTo>
                  <a:lnTo>
                    <a:pt x="551307" y="24384"/>
                  </a:lnTo>
                  <a:lnTo>
                    <a:pt x="542925" y="19812"/>
                  </a:lnTo>
                  <a:lnTo>
                    <a:pt x="534543" y="16764"/>
                  </a:lnTo>
                  <a:lnTo>
                    <a:pt x="525399" y="14478"/>
                  </a:lnTo>
                  <a:lnTo>
                    <a:pt x="516255" y="12954"/>
                  </a:lnTo>
                  <a:lnTo>
                    <a:pt x="505587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6A6A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de-DE"/>
            </a:p>
          </p:txBody>
        </p:sp>
        <p:sp>
          <p:nvSpPr>
            <p:cNvPr id="24" name="Rectangle 340">
              <a:extLst>
                <a:ext uri="{FF2B5EF4-FFF2-40B4-BE49-F238E27FC236}">
                  <a16:creationId xmlns:a16="http://schemas.microsoft.com/office/drawing/2014/main" id="{A7425FD7-1F1A-EBE1-ED3C-DD5D4C7E2B97}"/>
                </a:ext>
              </a:extLst>
            </p:cNvPr>
            <p:cNvSpPr/>
            <p:nvPr/>
          </p:nvSpPr>
          <p:spPr>
            <a:xfrm>
              <a:off x="10213749" y="2324616"/>
              <a:ext cx="813528" cy="25803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de-DE" sz="1500" dirty="0">
                  <a:solidFill>
                    <a:srgbClr val="2D201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Produkt</a:t>
              </a:r>
              <a:endParaRPr lang="de-DE" sz="1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5" name="Rectangle 341">
              <a:extLst>
                <a:ext uri="{FF2B5EF4-FFF2-40B4-BE49-F238E27FC236}">
                  <a16:creationId xmlns:a16="http://schemas.microsoft.com/office/drawing/2014/main" id="{E8E32D56-86C6-7CC0-45AA-57453446CAEE}"/>
                </a:ext>
              </a:extLst>
            </p:cNvPr>
            <p:cNvSpPr/>
            <p:nvPr/>
          </p:nvSpPr>
          <p:spPr>
            <a:xfrm>
              <a:off x="10825614" y="2324616"/>
              <a:ext cx="77527" cy="25803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de-DE" sz="1500">
                  <a:solidFill>
                    <a:srgbClr val="2D201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‐</a:t>
              </a:r>
              <a:endParaRPr lang="de-DE"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6" name="Rectangle 342">
              <a:extLst>
                <a:ext uri="{FF2B5EF4-FFF2-40B4-BE49-F238E27FC236}">
                  <a16:creationId xmlns:a16="http://schemas.microsoft.com/office/drawing/2014/main" id="{D66FC799-4923-4E9C-B6C2-F41B535E1A90}"/>
                </a:ext>
              </a:extLst>
            </p:cNvPr>
            <p:cNvSpPr/>
            <p:nvPr/>
          </p:nvSpPr>
          <p:spPr>
            <a:xfrm>
              <a:off x="10150505" y="2553188"/>
              <a:ext cx="1061058" cy="25803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de-DE" sz="1500" dirty="0" err="1">
                  <a:solidFill>
                    <a:srgbClr val="2D201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inkrement</a:t>
              </a:r>
              <a:endParaRPr lang="de-DE" sz="1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pic>
          <p:nvPicPr>
            <p:cNvPr id="27" name="Picture 344">
              <a:extLst>
                <a:ext uri="{FF2B5EF4-FFF2-40B4-BE49-F238E27FC236}">
                  <a16:creationId xmlns:a16="http://schemas.microsoft.com/office/drawing/2014/main" id="{4CF279D6-4758-FDC3-9334-0F5453114286}"/>
                </a:ext>
              </a:extLst>
            </p:cNvPr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8584652" y="1428233"/>
              <a:ext cx="1216112" cy="608764"/>
            </a:xfrm>
            <a:prstGeom prst="rect">
              <a:avLst/>
            </a:prstGeom>
          </p:spPr>
        </p:pic>
        <p:sp>
          <p:nvSpPr>
            <p:cNvPr id="28" name="Shape 345">
              <a:extLst>
                <a:ext uri="{FF2B5EF4-FFF2-40B4-BE49-F238E27FC236}">
                  <a16:creationId xmlns:a16="http://schemas.microsoft.com/office/drawing/2014/main" id="{62B92C69-F66C-56D6-72CA-AB1BE6B6CEF7}"/>
                </a:ext>
              </a:extLst>
            </p:cNvPr>
            <p:cNvSpPr/>
            <p:nvPr/>
          </p:nvSpPr>
          <p:spPr>
            <a:xfrm>
              <a:off x="8579317" y="1422137"/>
              <a:ext cx="613771" cy="620192"/>
            </a:xfrm>
            <a:custGeom>
              <a:avLst/>
              <a:gdLst/>
              <a:ahLst/>
              <a:cxnLst/>
              <a:rect l="0" t="0" r="0" b="0"/>
              <a:pathLst>
                <a:path w="613791" h="620268">
                  <a:moveTo>
                    <a:pt x="107442" y="0"/>
                  </a:moveTo>
                  <a:lnTo>
                    <a:pt x="613791" y="0"/>
                  </a:lnTo>
                  <a:lnTo>
                    <a:pt x="613791" y="12954"/>
                  </a:lnTo>
                  <a:lnTo>
                    <a:pt x="108204" y="12954"/>
                  </a:lnTo>
                  <a:lnTo>
                    <a:pt x="88392" y="14478"/>
                  </a:lnTo>
                  <a:lnTo>
                    <a:pt x="79248" y="17526"/>
                  </a:lnTo>
                  <a:lnTo>
                    <a:pt x="70866" y="20574"/>
                  </a:lnTo>
                  <a:lnTo>
                    <a:pt x="62484" y="24384"/>
                  </a:lnTo>
                  <a:lnTo>
                    <a:pt x="54864" y="28956"/>
                  </a:lnTo>
                  <a:lnTo>
                    <a:pt x="47244" y="34290"/>
                  </a:lnTo>
                  <a:lnTo>
                    <a:pt x="40386" y="40386"/>
                  </a:lnTo>
                  <a:lnTo>
                    <a:pt x="34290" y="47244"/>
                  </a:lnTo>
                  <a:lnTo>
                    <a:pt x="28956" y="54864"/>
                  </a:lnTo>
                  <a:lnTo>
                    <a:pt x="24384" y="62484"/>
                  </a:lnTo>
                  <a:lnTo>
                    <a:pt x="16764" y="79248"/>
                  </a:lnTo>
                  <a:lnTo>
                    <a:pt x="14478" y="88392"/>
                  </a:lnTo>
                  <a:lnTo>
                    <a:pt x="12954" y="97536"/>
                  </a:lnTo>
                  <a:lnTo>
                    <a:pt x="12954" y="108204"/>
                  </a:lnTo>
                  <a:lnTo>
                    <a:pt x="12954" y="512064"/>
                  </a:lnTo>
                  <a:lnTo>
                    <a:pt x="12954" y="521970"/>
                  </a:lnTo>
                  <a:lnTo>
                    <a:pt x="14478" y="531114"/>
                  </a:lnTo>
                  <a:lnTo>
                    <a:pt x="16764" y="540258"/>
                  </a:lnTo>
                  <a:lnTo>
                    <a:pt x="19812" y="549402"/>
                  </a:lnTo>
                  <a:lnTo>
                    <a:pt x="23622" y="557784"/>
                  </a:lnTo>
                  <a:lnTo>
                    <a:pt x="34290" y="573024"/>
                  </a:lnTo>
                  <a:lnTo>
                    <a:pt x="40386" y="579882"/>
                  </a:lnTo>
                  <a:lnTo>
                    <a:pt x="47244" y="585978"/>
                  </a:lnTo>
                  <a:lnTo>
                    <a:pt x="54102" y="591312"/>
                  </a:lnTo>
                  <a:lnTo>
                    <a:pt x="61722" y="595884"/>
                  </a:lnTo>
                  <a:lnTo>
                    <a:pt x="70104" y="599694"/>
                  </a:lnTo>
                  <a:lnTo>
                    <a:pt x="79248" y="603504"/>
                  </a:lnTo>
                  <a:lnTo>
                    <a:pt x="88392" y="605790"/>
                  </a:lnTo>
                  <a:lnTo>
                    <a:pt x="97536" y="607314"/>
                  </a:lnTo>
                  <a:lnTo>
                    <a:pt x="613791" y="607314"/>
                  </a:lnTo>
                  <a:lnTo>
                    <a:pt x="613791" y="620268"/>
                  </a:lnTo>
                  <a:lnTo>
                    <a:pt x="107442" y="620268"/>
                  </a:lnTo>
                  <a:lnTo>
                    <a:pt x="96774" y="619506"/>
                  </a:lnTo>
                  <a:lnTo>
                    <a:pt x="86106" y="617982"/>
                  </a:lnTo>
                  <a:lnTo>
                    <a:pt x="75438" y="615696"/>
                  </a:lnTo>
                  <a:lnTo>
                    <a:pt x="66294" y="611886"/>
                  </a:lnTo>
                  <a:lnTo>
                    <a:pt x="56388" y="607314"/>
                  </a:lnTo>
                  <a:lnTo>
                    <a:pt x="47244" y="601980"/>
                  </a:lnTo>
                  <a:lnTo>
                    <a:pt x="39624" y="595884"/>
                  </a:lnTo>
                  <a:lnTo>
                    <a:pt x="32004" y="589026"/>
                  </a:lnTo>
                  <a:lnTo>
                    <a:pt x="24384" y="581406"/>
                  </a:lnTo>
                  <a:lnTo>
                    <a:pt x="18288" y="573024"/>
                  </a:lnTo>
                  <a:lnTo>
                    <a:pt x="12954" y="563880"/>
                  </a:lnTo>
                  <a:lnTo>
                    <a:pt x="8382" y="554736"/>
                  </a:lnTo>
                  <a:lnTo>
                    <a:pt x="4572" y="544830"/>
                  </a:lnTo>
                  <a:lnTo>
                    <a:pt x="2286" y="534924"/>
                  </a:lnTo>
                  <a:lnTo>
                    <a:pt x="762" y="524256"/>
                  </a:lnTo>
                  <a:lnTo>
                    <a:pt x="0" y="512826"/>
                  </a:lnTo>
                  <a:lnTo>
                    <a:pt x="0" y="108204"/>
                  </a:lnTo>
                  <a:lnTo>
                    <a:pt x="762" y="97536"/>
                  </a:lnTo>
                  <a:lnTo>
                    <a:pt x="2286" y="86868"/>
                  </a:lnTo>
                  <a:lnTo>
                    <a:pt x="4572" y="76200"/>
                  </a:lnTo>
                  <a:lnTo>
                    <a:pt x="8382" y="66294"/>
                  </a:lnTo>
                  <a:lnTo>
                    <a:pt x="12954" y="57150"/>
                  </a:lnTo>
                  <a:lnTo>
                    <a:pt x="18288" y="48006"/>
                  </a:lnTo>
                  <a:lnTo>
                    <a:pt x="24384" y="39624"/>
                  </a:lnTo>
                  <a:lnTo>
                    <a:pt x="31242" y="32004"/>
                  </a:lnTo>
                  <a:lnTo>
                    <a:pt x="38862" y="25146"/>
                  </a:lnTo>
                  <a:lnTo>
                    <a:pt x="47244" y="19050"/>
                  </a:lnTo>
                  <a:lnTo>
                    <a:pt x="55626" y="13716"/>
                  </a:lnTo>
                  <a:lnTo>
                    <a:pt x="65532" y="9144"/>
                  </a:lnTo>
                  <a:lnTo>
                    <a:pt x="75438" y="5334"/>
                  </a:lnTo>
                  <a:lnTo>
                    <a:pt x="85344" y="2286"/>
                  </a:lnTo>
                  <a:lnTo>
                    <a:pt x="96012" y="762"/>
                  </a:lnTo>
                  <a:lnTo>
                    <a:pt x="107442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6A6A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de-DE"/>
            </a:p>
          </p:txBody>
        </p:sp>
        <p:sp>
          <p:nvSpPr>
            <p:cNvPr id="29" name="Shape 346">
              <a:extLst>
                <a:ext uri="{FF2B5EF4-FFF2-40B4-BE49-F238E27FC236}">
                  <a16:creationId xmlns:a16="http://schemas.microsoft.com/office/drawing/2014/main" id="{06C5338A-F46B-13B1-1C89-47560AD96A0A}"/>
                </a:ext>
              </a:extLst>
            </p:cNvPr>
            <p:cNvSpPr/>
            <p:nvPr/>
          </p:nvSpPr>
          <p:spPr>
            <a:xfrm>
              <a:off x="9193089" y="1422137"/>
              <a:ext cx="613009" cy="620192"/>
            </a:xfrm>
            <a:custGeom>
              <a:avLst/>
              <a:gdLst/>
              <a:ahLst/>
              <a:cxnLst/>
              <a:rect l="0" t="0" r="0" b="0"/>
              <a:pathLst>
                <a:path w="613029" h="620268">
                  <a:moveTo>
                    <a:pt x="0" y="0"/>
                  </a:moveTo>
                  <a:lnTo>
                    <a:pt x="505587" y="0"/>
                  </a:lnTo>
                  <a:lnTo>
                    <a:pt x="516255" y="762"/>
                  </a:lnTo>
                  <a:lnTo>
                    <a:pt x="526923" y="2286"/>
                  </a:lnTo>
                  <a:lnTo>
                    <a:pt x="537591" y="5334"/>
                  </a:lnTo>
                  <a:lnTo>
                    <a:pt x="547497" y="8382"/>
                  </a:lnTo>
                  <a:lnTo>
                    <a:pt x="556641" y="12954"/>
                  </a:lnTo>
                  <a:lnTo>
                    <a:pt x="565785" y="18288"/>
                  </a:lnTo>
                  <a:lnTo>
                    <a:pt x="574167" y="24384"/>
                  </a:lnTo>
                  <a:lnTo>
                    <a:pt x="588645" y="38862"/>
                  </a:lnTo>
                  <a:lnTo>
                    <a:pt x="594741" y="47244"/>
                  </a:lnTo>
                  <a:lnTo>
                    <a:pt x="600075" y="56388"/>
                  </a:lnTo>
                  <a:lnTo>
                    <a:pt x="604647" y="65532"/>
                  </a:lnTo>
                  <a:lnTo>
                    <a:pt x="608457" y="75438"/>
                  </a:lnTo>
                  <a:lnTo>
                    <a:pt x="613029" y="96774"/>
                  </a:lnTo>
                  <a:lnTo>
                    <a:pt x="613029" y="523494"/>
                  </a:lnTo>
                  <a:lnTo>
                    <a:pt x="611505" y="534162"/>
                  </a:lnTo>
                  <a:lnTo>
                    <a:pt x="608457" y="544068"/>
                  </a:lnTo>
                  <a:lnTo>
                    <a:pt x="604647" y="553974"/>
                  </a:lnTo>
                  <a:lnTo>
                    <a:pt x="600075" y="563880"/>
                  </a:lnTo>
                  <a:lnTo>
                    <a:pt x="594741" y="572262"/>
                  </a:lnTo>
                  <a:lnTo>
                    <a:pt x="588645" y="580644"/>
                  </a:lnTo>
                  <a:lnTo>
                    <a:pt x="581787" y="588264"/>
                  </a:lnTo>
                  <a:lnTo>
                    <a:pt x="574167" y="595122"/>
                  </a:lnTo>
                  <a:lnTo>
                    <a:pt x="565785" y="601980"/>
                  </a:lnTo>
                  <a:lnTo>
                    <a:pt x="557403" y="607314"/>
                  </a:lnTo>
                  <a:lnTo>
                    <a:pt x="548260" y="611886"/>
                  </a:lnTo>
                  <a:lnTo>
                    <a:pt x="538353" y="614934"/>
                  </a:lnTo>
                  <a:lnTo>
                    <a:pt x="527685" y="617982"/>
                  </a:lnTo>
                  <a:lnTo>
                    <a:pt x="517017" y="619506"/>
                  </a:lnTo>
                  <a:lnTo>
                    <a:pt x="506349" y="620268"/>
                  </a:lnTo>
                  <a:lnTo>
                    <a:pt x="0" y="620268"/>
                  </a:lnTo>
                  <a:lnTo>
                    <a:pt x="0" y="607314"/>
                  </a:lnTo>
                  <a:lnTo>
                    <a:pt x="515493" y="607314"/>
                  </a:lnTo>
                  <a:lnTo>
                    <a:pt x="524637" y="605790"/>
                  </a:lnTo>
                  <a:lnTo>
                    <a:pt x="533781" y="603504"/>
                  </a:lnTo>
                  <a:lnTo>
                    <a:pt x="542163" y="600456"/>
                  </a:lnTo>
                  <a:lnTo>
                    <a:pt x="550545" y="595884"/>
                  </a:lnTo>
                  <a:lnTo>
                    <a:pt x="558165" y="591312"/>
                  </a:lnTo>
                  <a:lnTo>
                    <a:pt x="565785" y="585978"/>
                  </a:lnTo>
                  <a:lnTo>
                    <a:pt x="572643" y="579882"/>
                  </a:lnTo>
                  <a:lnTo>
                    <a:pt x="578739" y="573024"/>
                  </a:lnTo>
                  <a:lnTo>
                    <a:pt x="584073" y="566166"/>
                  </a:lnTo>
                  <a:lnTo>
                    <a:pt x="588645" y="557784"/>
                  </a:lnTo>
                  <a:lnTo>
                    <a:pt x="593217" y="550164"/>
                  </a:lnTo>
                  <a:lnTo>
                    <a:pt x="596265" y="541020"/>
                  </a:lnTo>
                  <a:lnTo>
                    <a:pt x="598551" y="531876"/>
                  </a:lnTo>
                  <a:lnTo>
                    <a:pt x="600075" y="522732"/>
                  </a:lnTo>
                  <a:lnTo>
                    <a:pt x="600837" y="512826"/>
                  </a:lnTo>
                  <a:lnTo>
                    <a:pt x="600837" y="108204"/>
                  </a:lnTo>
                  <a:lnTo>
                    <a:pt x="600075" y="98298"/>
                  </a:lnTo>
                  <a:lnTo>
                    <a:pt x="598551" y="89154"/>
                  </a:lnTo>
                  <a:lnTo>
                    <a:pt x="596265" y="80010"/>
                  </a:lnTo>
                  <a:lnTo>
                    <a:pt x="593217" y="70866"/>
                  </a:lnTo>
                  <a:lnTo>
                    <a:pt x="589407" y="63246"/>
                  </a:lnTo>
                  <a:lnTo>
                    <a:pt x="584835" y="54864"/>
                  </a:lnTo>
                  <a:lnTo>
                    <a:pt x="579501" y="48006"/>
                  </a:lnTo>
                  <a:lnTo>
                    <a:pt x="566547" y="35052"/>
                  </a:lnTo>
                  <a:lnTo>
                    <a:pt x="551307" y="24384"/>
                  </a:lnTo>
                  <a:lnTo>
                    <a:pt x="542925" y="20574"/>
                  </a:lnTo>
                  <a:lnTo>
                    <a:pt x="534543" y="17526"/>
                  </a:lnTo>
                  <a:lnTo>
                    <a:pt x="525399" y="15240"/>
                  </a:lnTo>
                  <a:lnTo>
                    <a:pt x="515493" y="13716"/>
                  </a:lnTo>
                  <a:lnTo>
                    <a:pt x="505587" y="12954"/>
                  </a:lnTo>
                  <a:lnTo>
                    <a:pt x="0" y="12954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6A6A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de-DE"/>
            </a:p>
          </p:txBody>
        </p:sp>
        <p:sp>
          <p:nvSpPr>
            <p:cNvPr id="30" name="Rectangle 347">
              <a:extLst>
                <a:ext uri="{FF2B5EF4-FFF2-40B4-BE49-F238E27FC236}">
                  <a16:creationId xmlns:a16="http://schemas.microsoft.com/office/drawing/2014/main" id="{604848A3-FE24-5DC7-AA26-78BD3C60E86A}"/>
                </a:ext>
              </a:extLst>
            </p:cNvPr>
            <p:cNvSpPr/>
            <p:nvPr/>
          </p:nvSpPr>
          <p:spPr>
            <a:xfrm>
              <a:off x="8736279" y="1645757"/>
              <a:ext cx="507473" cy="25803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de-DE" sz="1500">
                  <a:solidFill>
                    <a:srgbClr val="2D201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Daily</a:t>
              </a:r>
              <a:endParaRPr lang="de-DE"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1" name="Rectangle 348">
              <a:extLst>
                <a:ext uri="{FF2B5EF4-FFF2-40B4-BE49-F238E27FC236}">
                  <a16:creationId xmlns:a16="http://schemas.microsoft.com/office/drawing/2014/main" id="{A2946C79-E33C-85B2-37C0-11CFF09681AD}"/>
                </a:ext>
              </a:extLst>
            </p:cNvPr>
            <p:cNvSpPr/>
            <p:nvPr/>
          </p:nvSpPr>
          <p:spPr>
            <a:xfrm>
              <a:off x="9118028" y="1645757"/>
              <a:ext cx="57259" cy="25803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de-DE" sz="1500">
                  <a:solidFill>
                    <a:srgbClr val="2D201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de-DE"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2" name="Rectangle 349">
              <a:extLst>
                <a:ext uri="{FF2B5EF4-FFF2-40B4-BE49-F238E27FC236}">
                  <a16:creationId xmlns:a16="http://schemas.microsoft.com/office/drawing/2014/main" id="{224446F4-3EE9-1A16-1462-DF68BAF2F389}"/>
                </a:ext>
              </a:extLst>
            </p:cNvPr>
            <p:cNvSpPr/>
            <p:nvPr/>
          </p:nvSpPr>
          <p:spPr>
            <a:xfrm>
              <a:off x="9160698" y="1645757"/>
              <a:ext cx="647226" cy="25803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de-DE" sz="1500">
                  <a:solidFill>
                    <a:srgbClr val="2D201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Scrum</a:t>
              </a:r>
              <a:endParaRPr lang="de-DE"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pic>
          <p:nvPicPr>
            <p:cNvPr id="33" name="Picture 351">
              <a:extLst>
                <a:ext uri="{FF2B5EF4-FFF2-40B4-BE49-F238E27FC236}">
                  <a16:creationId xmlns:a16="http://schemas.microsoft.com/office/drawing/2014/main" id="{91BC3502-6080-41B1-25A8-6024E3AD4C3D}"/>
                </a:ext>
              </a:extLst>
            </p:cNvPr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6084611" y="1356613"/>
              <a:ext cx="1216112" cy="608764"/>
            </a:xfrm>
            <a:prstGeom prst="rect">
              <a:avLst/>
            </a:prstGeom>
          </p:spPr>
        </p:pic>
        <p:sp>
          <p:nvSpPr>
            <p:cNvPr id="34" name="Shape 352">
              <a:extLst>
                <a:ext uri="{FF2B5EF4-FFF2-40B4-BE49-F238E27FC236}">
                  <a16:creationId xmlns:a16="http://schemas.microsoft.com/office/drawing/2014/main" id="{530A7534-3889-4EA9-9954-655B2409A044}"/>
                </a:ext>
              </a:extLst>
            </p:cNvPr>
            <p:cNvSpPr/>
            <p:nvPr/>
          </p:nvSpPr>
          <p:spPr>
            <a:xfrm>
              <a:off x="6079277" y="1351280"/>
              <a:ext cx="613009" cy="619430"/>
            </a:xfrm>
            <a:custGeom>
              <a:avLst/>
              <a:gdLst/>
              <a:ahLst/>
              <a:cxnLst/>
              <a:rect l="0" t="0" r="0" b="0"/>
              <a:pathLst>
                <a:path w="613029" h="619506">
                  <a:moveTo>
                    <a:pt x="96012" y="0"/>
                  </a:moveTo>
                  <a:lnTo>
                    <a:pt x="613029" y="0"/>
                  </a:lnTo>
                  <a:lnTo>
                    <a:pt x="613029" y="12192"/>
                  </a:lnTo>
                  <a:lnTo>
                    <a:pt x="107442" y="12192"/>
                  </a:lnTo>
                  <a:lnTo>
                    <a:pt x="97536" y="12954"/>
                  </a:lnTo>
                  <a:lnTo>
                    <a:pt x="88392" y="14478"/>
                  </a:lnTo>
                  <a:lnTo>
                    <a:pt x="79248" y="16764"/>
                  </a:lnTo>
                  <a:lnTo>
                    <a:pt x="70866" y="19812"/>
                  </a:lnTo>
                  <a:lnTo>
                    <a:pt x="62484" y="23622"/>
                  </a:lnTo>
                  <a:lnTo>
                    <a:pt x="54864" y="28194"/>
                  </a:lnTo>
                  <a:lnTo>
                    <a:pt x="47244" y="33528"/>
                  </a:lnTo>
                  <a:lnTo>
                    <a:pt x="34290" y="46482"/>
                  </a:lnTo>
                  <a:lnTo>
                    <a:pt x="28956" y="54102"/>
                  </a:lnTo>
                  <a:lnTo>
                    <a:pt x="24384" y="61722"/>
                  </a:lnTo>
                  <a:lnTo>
                    <a:pt x="19812" y="70104"/>
                  </a:lnTo>
                  <a:lnTo>
                    <a:pt x="16764" y="78486"/>
                  </a:lnTo>
                  <a:lnTo>
                    <a:pt x="14478" y="87630"/>
                  </a:lnTo>
                  <a:lnTo>
                    <a:pt x="12954" y="97536"/>
                  </a:lnTo>
                  <a:lnTo>
                    <a:pt x="12192" y="107442"/>
                  </a:lnTo>
                  <a:lnTo>
                    <a:pt x="12192" y="512064"/>
                  </a:lnTo>
                  <a:lnTo>
                    <a:pt x="12954" y="521208"/>
                  </a:lnTo>
                  <a:lnTo>
                    <a:pt x="14478" y="531114"/>
                  </a:lnTo>
                  <a:lnTo>
                    <a:pt x="16764" y="540258"/>
                  </a:lnTo>
                  <a:lnTo>
                    <a:pt x="19812" y="548640"/>
                  </a:lnTo>
                  <a:lnTo>
                    <a:pt x="23622" y="557022"/>
                  </a:lnTo>
                  <a:lnTo>
                    <a:pt x="28194" y="564642"/>
                  </a:lnTo>
                  <a:lnTo>
                    <a:pt x="33528" y="572262"/>
                  </a:lnTo>
                  <a:lnTo>
                    <a:pt x="46482" y="585216"/>
                  </a:lnTo>
                  <a:lnTo>
                    <a:pt x="54102" y="590550"/>
                  </a:lnTo>
                  <a:lnTo>
                    <a:pt x="61722" y="595122"/>
                  </a:lnTo>
                  <a:lnTo>
                    <a:pt x="70104" y="599694"/>
                  </a:lnTo>
                  <a:lnTo>
                    <a:pt x="78486" y="602742"/>
                  </a:lnTo>
                  <a:lnTo>
                    <a:pt x="87630" y="605028"/>
                  </a:lnTo>
                  <a:lnTo>
                    <a:pt x="97536" y="606552"/>
                  </a:lnTo>
                  <a:lnTo>
                    <a:pt x="107442" y="607314"/>
                  </a:lnTo>
                  <a:lnTo>
                    <a:pt x="613029" y="607314"/>
                  </a:lnTo>
                  <a:lnTo>
                    <a:pt x="613029" y="619506"/>
                  </a:lnTo>
                  <a:lnTo>
                    <a:pt x="107442" y="619506"/>
                  </a:lnTo>
                  <a:lnTo>
                    <a:pt x="96774" y="618744"/>
                  </a:lnTo>
                  <a:lnTo>
                    <a:pt x="86106" y="617220"/>
                  </a:lnTo>
                  <a:lnTo>
                    <a:pt x="75438" y="614934"/>
                  </a:lnTo>
                  <a:lnTo>
                    <a:pt x="65532" y="611124"/>
                  </a:lnTo>
                  <a:lnTo>
                    <a:pt x="56388" y="606552"/>
                  </a:lnTo>
                  <a:lnTo>
                    <a:pt x="47244" y="601218"/>
                  </a:lnTo>
                  <a:lnTo>
                    <a:pt x="38862" y="595122"/>
                  </a:lnTo>
                  <a:lnTo>
                    <a:pt x="31242" y="588264"/>
                  </a:lnTo>
                  <a:lnTo>
                    <a:pt x="24384" y="580644"/>
                  </a:lnTo>
                  <a:lnTo>
                    <a:pt x="18288" y="572262"/>
                  </a:lnTo>
                  <a:lnTo>
                    <a:pt x="12954" y="563880"/>
                  </a:lnTo>
                  <a:lnTo>
                    <a:pt x="8382" y="553974"/>
                  </a:lnTo>
                  <a:lnTo>
                    <a:pt x="4572" y="544068"/>
                  </a:lnTo>
                  <a:lnTo>
                    <a:pt x="2286" y="534162"/>
                  </a:lnTo>
                  <a:lnTo>
                    <a:pt x="0" y="523494"/>
                  </a:lnTo>
                  <a:lnTo>
                    <a:pt x="0" y="107442"/>
                  </a:lnTo>
                  <a:lnTo>
                    <a:pt x="0" y="96774"/>
                  </a:lnTo>
                  <a:lnTo>
                    <a:pt x="1524" y="86106"/>
                  </a:lnTo>
                  <a:lnTo>
                    <a:pt x="4572" y="75438"/>
                  </a:lnTo>
                  <a:lnTo>
                    <a:pt x="8382" y="65532"/>
                  </a:lnTo>
                  <a:lnTo>
                    <a:pt x="12954" y="56388"/>
                  </a:lnTo>
                  <a:lnTo>
                    <a:pt x="18288" y="47244"/>
                  </a:lnTo>
                  <a:lnTo>
                    <a:pt x="24384" y="38862"/>
                  </a:lnTo>
                  <a:lnTo>
                    <a:pt x="31242" y="31242"/>
                  </a:lnTo>
                  <a:lnTo>
                    <a:pt x="38862" y="24384"/>
                  </a:lnTo>
                  <a:lnTo>
                    <a:pt x="47244" y="18288"/>
                  </a:lnTo>
                  <a:lnTo>
                    <a:pt x="55626" y="12954"/>
                  </a:lnTo>
                  <a:lnTo>
                    <a:pt x="64770" y="8382"/>
                  </a:lnTo>
                  <a:lnTo>
                    <a:pt x="74676" y="4572"/>
                  </a:lnTo>
                  <a:lnTo>
                    <a:pt x="96012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6A6A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de-DE"/>
            </a:p>
          </p:txBody>
        </p:sp>
        <p:sp>
          <p:nvSpPr>
            <p:cNvPr id="35" name="Shape 353">
              <a:extLst>
                <a:ext uri="{FF2B5EF4-FFF2-40B4-BE49-F238E27FC236}">
                  <a16:creationId xmlns:a16="http://schemas.microsoft.com/office/drawing/2014/main" id="{F8364D3C-58EB-B204-B1DD-A93B5C8DAA88}"/>
                </a:ext>
              </a:extLst>
            </p:cNvPr>
            <p:cNvSpPr/>
            <p:nvPr/>
          </p:nvSpPr>
          <p:spPr>
            <a:xfrm>
              <a:off x="6692286" y="1351280"/>
              <a:ext cx="613771" cy="619430"/>
            </a:xfrm>
            <a:custGeom>
              <a:avLst/>
              <a:gdLst/>
              <a:ahLst/>
              <a:cxnLst/>
              <a:rect l="0" t="0" r="0" b="0"/>
              <a:pathLst>
                <a:path w="613791" h="619506">
                  <a:moveTo>
                    <a:pt x="0" y="0"/>
                  </a:moveTo>
                  <a:lnTo>
                    <a:pt x="517017" y="0"/>
                  </a:lnTo>
                  <a:lnTo>
                    <a:pt x="527685" y="1524"/>
                  </a:lnTo>
                  <a:lnTo>
                    <a:pt x="538353" y="4572"/>
                  </a:lnTo>
                  <a:lnTo>
                    <a:pt x="547497" y="8382"/>
                  </a:lnTo>
                  <a:lnTo>
                    <a:pt x="557403" y="12954"/>
                  </a:lnTo>
                  <a:lnTo>
                    <a:pt x="565785" y="18288"/>
                  </a:lnTo>
                  <a:lnTo>
                    <a:pt x="574167" y="24384"/>
                  </a:lnTo>
                  <a:lnTo>
                    <a:pt x="581787" y="31242"/>
                  </a:lnTo>
                  <a:lnTo>
                    <a:pt x="589407" y="38862"/>
                  </a:lnTo>
                  <a:lnTo>
                    <a:pt x="595503" y="47244"/>
                  </a:lnTo>
                  <a:lnTo>
                    <a:pt x="600837" y="55626"/>
                  </a:lnTo>
                  <a:lnTo>
                    <a:pt x="605409" y="64770"/>
                  </a:lnTo>
                  <a:lnTo>
                    <a:pt x="609219" y="74676"/>
                  </a:lnTo>
                  <a:lnTo>
                    <a:pt x="611505" y="85344"/>
                  </a:lnTo>
                  <a:lnTo>
                    <a:pt x="613029" y="96012"/>
                  </a:lnTo>
                  <a:lnTo>
                    <a:pt x="613791" y="106680"/>
                  </a:lnTo>
                  <a:lnTo>
                    <a:pt x="613791" y="512064"/>
                  </a:lnTo>
                  <a:lnTo>
                    <a:pt x="613029" y="522732"/>
                  </a:lnTo>
                  <a:lnTo>
                    <a:pt x="611505" y="533400"/>
                  </a:lnTo>
                  <a:lnTo>
                    <a:pt x="609219" y="544068"/>
                  </a:lnTo>
                  <a:lnTo>
                    <a:pt x="605409" y="553974"/>
                  </a:lnTo>
                  <a:lnTo>
                    <a:pt x="600837" y="563118"/>
                  </a:lnTo>
                  <a:lnTo>
                    <a:pt x="595503" y="572262"/>
                  </a:lnTo>
                  <a:lnTo>
                    <a:pt x="589407" y="580644"/>
                  </a:lnTo>
                  <a:lnTo>
                    <a:pt x="582549" y="588264"/>
                  </a:lnTo>
                  <a:lnTo>
                    <a:pt x="574929" y="595122"/>
                  </a:lnTo>
                  <a:lnTo>
                    <a:pt x="566547" y="601218"/>
                  </a:lnTo>
                  <a:lnTo>
                    <a:pt x="558165" y="606552"/>
                  </a:lnTo>
                  <a:lnTo>
                    <a:pt x="548259" y="611124"/>
                  </a:lnTo>
                  <a:lnTo>
                    <a:pt x="538353" y="614934"/>
                  </a:lnTo>
                  <a:lnTo>
                    <a:pt x="528447" y="617220"/>
                  </a:lnTo>
                  <a:lnTo>
                    <a:pt x="517779" y="618744"/>
                  </a:lnTo>
                  <a:lnTo>
                    <a:pt x="506349" y="619506"/>
                  </a:lnTo>
                  <a:lnTo>
                    <a:pt x="0" y="619506"/>
                  </a:lnTo>
                  <a:lnTo>
                    <a:pt x="0" y="607314"/>
                  </a:lnTo>
                  <a:lnTo>
                    <a:pt x="505587" y="607314"/>
                  </a:lnTo>
                  <a:lnTo>
                    <a:pt x="515493" y="606552"/>
                  </a:lnTo>
                  <a:lnTo>
                    <a:pt x="525399" y="605028"/>
                  </a:lnTo>
                  <a:lnTo>
                    <a:pt x="534543" y="602742"/>
                  </a:lnTo>
                  <a:lnTo>
                    <a:pt x="542925" y="599694"/>
                  </a:lnTo>
                  <a:lnTo>
                    <a:pt x="551307" y="595884"/>
                  </a:lnTo>
                  <a:lnTo>
                    <a:pt x="566547" y="585216"/>
                  </a:lnTo>
                  <a:lnTo>
                    <a:pt x="573405" y="579120"/>
                  </a:lnTo>
                  <a:lnTo>
                    <a:pt x="579501" y="573024"/>
                  </a:lnTo>
                  <a:lnTo>
                    <a:pt x="584835" y="565404"/>
                  </a:lnTo>
                  <a:lnTo>
                    <a:pt x="589407" y="557784"/>
                  </a:lnTo>
                  <a:lnTo>
                    <a:pt x="593217" y="549402"/>
                  </a:lnTo>
                  <a:lnTo>
                    <a:pt x="597027" y="540258"/>
                  </a:lnTo>
                  <a:lnTo>
                    <a:pt x="599313" y="531876"/>
                  </a:lnTo>
                  <a:lnTo>
                    <a:pt x="600837" y="521970"/>
                  </a:lnTo>
                  <a:lnTo>
                    <a:pt x="600837" y="97536"/>
                  </a:lnTo>
                  <a:lnTo>
                    <a:pt x="599313" y="88392"/>
                  </a:lnTo>
                  <a:lnTo>
                    <a:pt x="597027" y="79248"/>
                  </a:lnTo>
                  <a:lnTo>
                    <a:pt x="593979" y="70866"/>
                  </a:lnTo>
                  <a:lnTo>
                    <a:pt x="590169" y="62484"/>
                  </a:lnTo>
                  <a:lnTo>
                    <a:pt x="579501" y="47244"/>
                  </a:lnTo>
                  <a:lnTo>
                    <a:pt x="573405" y="40386"/>
                  </a:lnTo>
                  <a:lnTo>
                    <a:pt x="566547" y="34290"/>
                  </a:lnTo>
                  <a:lnTo>
                    <a:pt x="559689" y="28956"/>
                  </a:lnTo>
                  <a:lnTo>
                    <a:pt x="552069" y="24384"/>
                  </a:lnTo>
                  <a:lnTo>
                    <a:pt x="543687" y="19812"/>
                  </a:lnTo>
                  <a:lnTo>
                    <a:pt x="534543" y="16764"/>
                  </a:lnTo>
                  <a:lnTo>
                    <a:pt x="525399" y="14478"/>
                  </a:lnTo>
                  <a:lnTo>
                    <a:pt x="516255" y="12954"/>
                  </a:lnTo>
                  <a:lnTo>
                    <a:pt x="506349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6A6A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de-DE"/>
            </a:p>
          </p:txBody>
        </p:sp>
        <p:sp>
          <p:nvSpPr>
            <p:cNvPr id="36" name="Rectangle 354">
              <a:extLst>
                <a:ext uri="{FF2B5EF4-FFF2-40B4-BE49-F238E27FC236}">
                  <a16:creationId xmlns:a16="http://schemas.microsoft.com/office/drawing/2014/main" id="{6E2B8500-4139-C7BC-83FD-4D7B9C80D04F}"/>
                </a:ext>
              </a:extLst>
            </p:cNvPr>
            <p:cNvSpPr/>
            <p:nvPr/>
          </p:nvSpPr>
          <p:spPr>
            <a:xfrm>
              <a:off x="6462546" y="1574138"/>
              <a:ext cx="610336" cy="25803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de-DE" sz="1500">
                  <a:solidFill>
                    <a:srgbClr val="2D201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Sprint</a:t>
              </a:r>
              <a:endParaRPr lang="de-DE"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pic>
          <p:nvPicPr>
            <p:cNvPr id="37" name="Picture 356">
              <a:extLst>
                <a:ext uri="{FF2B5EF4-FFF2-40B4-BE49-F238E27FC236}">
                  <a16:creationId xmlns:a16="http://schemas.microsoft.com/office/drawing/2014/main" id="{5531351A-5257-84A7-35D3-F0BA7134876E}"/>
                </a:ext>
              </a:extLst>
            </p:cNvPr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5369879" y="4856813"/>
              <a:ext cx="1216112" cy="608764"/>
            </a:xfrm>
            <a:prstGeom prst="rect">
              <a:avLst/>
            </a:prstGeom>
          </p:spPr>
        </p:pic>
        <p:sp>
          <p:nvSpPr>
            <p:cNvPr id="38" name="Shape 357">
              <a:extLst>
                <a:ext uri="{FF2B5EF4-FFF2-40B4-BE49-F238E27FC236}">
                  <a16:creationId xmlns:a16="http://schemas.microsoft.com/office/drawing/2014/main" id="{F8D1D994-02F2-DE84-F927-1A5C56441475}"/>
                </a:ext>
              </a:extLst>
            </p:cNvPr>
            <p:cNvSpPr/>
            <p:nvPr/>
          </p:nvSpPr>
          <p:spPr>
            <a:xfrm>
              <a:off x="5364545" y="4850718"/>
              <a:ext cx="613771" cy="620192"/>
            </a:xfrm>
            <a:custGeom>
              <a:avLst/>
              <a:gdLst/>
              <a:ahLst/>
              <a:cxnLst/>
              <a:rect l="0" t="0" r="0" b="0"/>
              <a:pathLst>
                <a:path w="613791" h="620268">
                  <a:moveTo>
                    <a:pt x="107442" y="0"/>
                  </a:moveTo>
                  <a:lnTo>
                    <a:pt x="613791" y="0"/>
                  </a:lnTo>
                  <a:lnTo>
                    <a:pt x="613791" y="12954"/>
                  </a:lnTo>
                  <a:lnTo>
                    <a:pt x="108204" y="12954"/>
                  </a:lnTo>
                  <a:lnTo>
                    <a:pt x="98298" y="13716"/>
                  </a:lnTo>
                  <a:lnTo>
                    <a:pt x="89154" y="15240"/>
                  </a:lnTo>
                  <a:lnTo>
                    <a:pt x="80010" y="17526"/>
                  </a:lnTo>
                  <a:lnTo>
                    <a:pt x="70866" y="20574"/>
                  </a:lnTo>
                  <a:lnTo>
                    <a:pt x="62484" y="24384"/>
                  </a:lnTo>
                  <a:lnTo>
                    <a:pt x="54864" y="28956"/>
                  </a:lnTo>
                  <a:lnTo>
                    <a:pt x="47244" y="34290"/>
                  </a:lnTo>
                  <a:lnTo>
                    <a:pt x="34290" y="47244"/>
                  </a:lnTo>
                  <a:lnTo>
                    <a:pt x="28956" y="54864"/>
                  </a:lnTo>
                  <a:lnTo>
                    <a:pt x="24384" y="62484"/>
                  </a:lnTo>
                  <a:lnTo>
                    <a:pt x="20574" y="70866"/>
                  </a:lnTo>
                  <a:lnTo>
                    <a:pt x="17526" y="79248"/>
                  </a:lnTo>
                  <a:lnTo>
                    <a:pt x="14478" y="88392"/>
                  </a:lnTo>
                  <a:lnTo>
                    <a:pt x="12954" y="97536"/>
                  </a:lnTo>
                  <a:lnTo>
                    <a:pt x="12954" y="108204"/>
                  </a:lnTo>
                  <a:lnTo>
                    <a:pt x="12954" y="512064"/>
                  </a:lnTo>
                  <a:lnTo>
                    <a:pt x="12954" y="521970"/>
                  </a:lnTo>
                  <a:lnTo>
                    <a:pt x="14478" y="531114"/>
                  </a:lnTo>
                  <a:lnTo>
                    <a:pt x="16764" y="540258"/>
                  </a:lnTo>
                  <a:lnTo>
                    <a:pt x="19812" y="549402"/>
                  </a:lnTo>
                  <a:lnTo>
                    <a:pt x="24384" y="557784"/>
                  </a:lnTo>
                  <a:lnTo>
                    <a:pt x="28956" y="565404"/>
                  </a:lnTo>
                  <a:lnTo>
                    <a:pt x="34290" y="573024"/>
                  </a:lnTo>
                  <a:lnTo>
                    <a:pt x="40386" y="579882"/>
                  </a:lnTo>
                  <a:lnTo>
                    <a:pt x="47244" y="585978"/>
                  </a:lnTo>
                  <a:lnTo>
                    <a:pt x="54102" y="591312"/>
                  </a:lnTo>
                  <a:lnTo>
                    <a:pt x="62484" y="595884"/>
                  </a:lnTo>
                  <a:lnTo>
                    <a:pt x="70104" y="599694"/>
                  </a:lnTo>
                  <a:lnTo>
                    <a:pt x="79248" y="603504"/>
                  </a:lnTo>
                  <a:lnTo>
                    <a:pt x="88392" y="605790"/>
                  </a:lnTo>
                  <a:lnTo>
                    <a:pt x="97536" y="607314"/>
                  </a:lnTo>
                  <a:lnTo>
                    <a:pt x="613791" y="607314"/>
                  </a:lnTo>
                  <a:lnTo>
                    <a:pt x="613791" y="620268"/>
                  </a:lnTo>
                  <a:lnTo>
                    <a:pt x="107442" y="620268"/>
                  </a:lnTo>
                  <a:lnTo>
                    <a:pt x="96774" y="619506"/>
                  </a:lnTo>
                  <a:lnTo>
                    <a:pt x="86106" y="617982"/>
                  </a:lnTo>
                  <a:lnTo>
                    <a:pt x="76200" y="615696"/>
                  </a:lnTo>
                  <a:lnTo>
                    <a:pt x="66294" y="611886"/>
                  </a:lnTo>
                  <a:lnTo>
                    <a:pt x="56388" y="607314"/>
                  </a:lnTo>
                  <a:lnTo>
                    <a:pt x="48006" y="601980"/>
                  </a:lnTo>
                  <a:lnTo>
                    <a:pt x="39624" y="595884"/>
                  </a:lnTo>
                  <a:lnTo>
                    <a:pt x="32004" y="589026"/>
                  </a:lnTo>
                  <a:lnTo>
                    <a:pt x="25146" y="581406"/>
                  </a:lnTo>
                  <a:lnTo>
                    <a:pt x="18288" y="573024"/>
                  </a:lnTo>
                  <a:lnTo>
                    <a:pt x="12954" y="563880"/>
                  </a:lnTo>
                  <a:lnTo>
                    <a:pt x="8382" y="554736"/>
                  </a:lnTo>
                  <a:lnTo>
                    <a:pt x="2286" y="534924"/>
                  </a:lnTo>
                  <a:lnTo>
                    <a:pt x="762" y="524256"/>
                  </a:lnTo>
                  <a:lnTo>
                    <a:pt x="0" y="512826"/>
                  </a:lnTo>
                  <a:lnTo>
                    <a:pt x="0" y="108204"/>
                  </a:lnTo>
                  <a:lnTo>
                    <a:pt x="762" y="97536"/>
                  </a:lnTo>
                  <a:lnTo>
                    <a:pt x="2286" y="86868"/>
                  </a:lnTo>
                  <a:lnTo>
                    <a:pt x="4572" y="76200"/>
                  </a:lnTo>
                  <a:lnTo>
                    <a:pt x="8382" y="66294"/>
                  </a:lnTo>
                  <a:lnTo>
                    <a:pt x="12954" y="57150"/>
                  </a:lnTo>
                  <a:lnTo>
                    <a:pt x="18288" y="48006"/>
                  </a:lnTo>
                  <a:lnTo>
                    <a:pt x="24384" y="39624"/>
                  </a:lnTo>
                  <a:lnTo>
                    <a:pt x="31242" y="32004"/>
                  </a:lnTo>
                  <a:lnTo>
                    <a:pt x="38862" y="25146"/>
                  </a:lnTo>
                  <a:lnTo>
                    <a:pt x="47244" y="19050"/>
                  </a:lnTo>
                  <a:lnTo>
                    <a:pt x="56388" y="13716"/>
                  </a:lnTo>
                  <a:lnTo>
                    <a:pt x="65532" y="9144"/>
                  </a:lnTo>
                  <a:lnTo>
                    <a:pt x="75438" y="5334"/>
                  </a:lnTo>
                  <a:lnTo>
                    <a:pt x="85344" y="2286"/>
                  </a:lnTo>
                  <a:lnTo>
                    <a:pt x="96012" y="762"/>
                  </a:lnTo>
                  <a:lnTo>
                    <a:pt x="107442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6A6A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de-DE"/>
            </a:p>
          </p:txBody>
        </p:sp>
        <p:sp>
          <p:nvSpPr>
            <p:cNvPr id="39" name="Shape 358">
              <a:extLst>
                <a:ext uri="{FF2B5EF4-FFF2-40B4-BE49-F238E27FC236}">
                  <a16:creationId xmlns:a16="http://schemas.microsoft.com/office/drawing/2014/main" id="{C4416020-648A-8A3E-A8AE-2819F61048F2}"/>
                </a:ext>
              </a:extLst>
            </p:cNvPr>
            <p:cNvSpPr/>
            <p:nvPr/>
          </p:nvSpPr>
          <p:spPr>
            <a:xfrm>
              <a:off x="5978316" y="4850718"/>
              <a:ext cx="613771" cy="620192"/>
            </a:xfrm>
            <a:custGeom>
              <a:avLst/>
              <a:gdLst/>
              <a:ahLst/>
              <a:cxnLst/>
              <a:rect l="0" t="0" r="0" b="0"/>
              <a:pathLst>
                <a:path w="613791" h="620268">
                  <a:moveTo>
                    <a:pt x="0" y="0"/>
                  </a:moveTo>
                  <a:lnTo>
                    <a:pt x="505587" y="0"/>
                  </a:lnTo>
                  <a:lnTo>
                    <a:pt x="516255" y="762"/>
                  </a:lnTo>
                  <a:lnTo>
                    <a:pt x="526923" y="2286"/>
                  </a:lnTo>
                  <a:lnTo>
                    <a:pt x="537591" y="5334"/>
                  </a:lnTo>
                  <a:lnTo>
                    <a:pt x="547497" y="8382"/>
                  </a:lnTo>
                  <a:lnTo>
                    <a:pt x="556641" y="12954"/>
                  </a:lnTo>
                  <a:lnTo>
                    <a:pt x="565785" y="18288"/>
                  </a:lnTo>
                  <a:lnTo>
                    <a:pt x="574167" y="24384"/>
                  </a:lnTo>
                  <a:lnTo>
                    <a:pt x="581787" y="31242"/>
                  </a:lnTo>
                  <a:lnTo>
                    <a:pt x="588645" y="38862"/>
                  </a:lnTo>
                  <a:lnTo>
                    <a:pt x="594741" y="47244"/>
                  </a:lnTo>
                  <a:lnTo>
                    <a:pt x="600075" y="56388"/>
                  </a:lnTo>
                  <a:lnTo>
                    <a:pt x="604647" y="65532"/>
                  </a:lnTo>
                  <a:lnTo>
                    <a:pt x="608457" y="75438"/>
                  </a:lnTo>
                  <a:lnTo>
                    <a:pt x="611505" y="86106"/>
                  </a:lnTo>
                  <a:lnTo>
                    <a:pt x="613029" y="96774"/>
                  </a:lnTo>
                  <a:lnTo>
                    <a:pt x="613791" y="107442"/>
                  </a:lnTo>
                  <a:lnTo>
                    <a:pt x="613791" y="512826"/>
                  </a:lnTo>
                  <a:lnTo>
                    <a:pt x="613029" y="523494"/>
                  </a:lnTo>
                  <a:lnTo>
                    <a:pt x="611505" y="534162"/>
                  </a:lnTo>
                  <a:lnTo>
                    <a:pt x="605409" y="553974"/>
                  </a:lnTo>
                  <a:lnTo>
                    <a:pt x="600837" y="563880"/>
                  </a:lnTo>
                  <a:lnTo>
                    <a:pt x="595503" y="572262"/>
                  </a:lnTo>
                  <a:lnTo>
                    <a:pt x="589407" y="580644"/>
                  </a:lnTo>
                  <a:lnTo>
                    <a:pt x="582549" y="588264"/>
                  </a:lnTo>
                  <a:lnTo>
                    <a:pt x="574929" y="595122"/>
                  </a:lnTo>
                  <a:lnTo>
                    <a:pt x="566547" y="601980"/>
                  </a:lnTo>
                  <a:lnTo>
                    <a:pt x="557403" y="607314"/>
                  </a:lnTo>
                  <a:lnTo>
                    <a:pt x="548259" y="611886"/>
                  </a:lnTo>
                  <a:lnTo>
                    <a:pt x="538353" y="614934"/>
                  </a:lnTo>
                  <a:lnTo>
                    <a:pt x="527685" y="617982"/>
                  </a:lnTo>
                  <a:lnTo>
                    <a:pt x="517017" y="619506"/>
                  </a:lnTo>
                  <a:lnTo>
                    <a:pt x="506349" y="620268"/>
                  </a:lnTo>
                  <a:lnTo>
                    <a:pt x="0" y="620268"/>
                  </a:lnTo>
                  <a:lnTo>
                    <a:pt x="0" y="607314"/>
                  </a:lnTo>
                  <a:lnTo>
                    <a:pt x="515493" y="607314"/>
                  </a:lnTo>
                  <a:lnTo>
                    <a:pt x="524637" y="605790"/>
                  </a:lnTo>
                  <a:lnTo>
                    <a:pt x="533781" y="603504"/>
                  </a:lnTo>
                  <a:lnTo>
                    <a:pt x="542163" y="600456"/>
                  </a:lnTo>
                  <a:lnTo>
                    <a:pt x="558927" y="591312"/>
                  </a:lnTo>
                  <a:lnTo>
                    <a:pt x="565785" y="585978"/>
                  </a:lnTo>
                  <a:lnTo>
                    <a:pt x="572643" y="579882"/>
                  </a:lnTo>
                  <a:lnTo>
                    <a:pt x="578739" y="573024"/>
                  </a:lnTo>
                  <a:lnTo>
                    <a:pt x="584073" y="566166"/>
                  </a:lnTo>
                  <a:lnTo>
                    <a:pt x="589407" y="558546"/>
                  </a:lnTo>
                  <a:lnTo>
                    <a:pt x="593217" y="550164"/>
                  </a:lnTo>
                  <a:lnTo>
                    <a:pt x="596265" y="541020"/>
                  </a:lnTo>
                  <a:lnTo>
                    <a:pt x="598551" y="531876"/>
                  </a:lnTo>
                  <a:lnTo>
                    <a:pt x="600075" y="522732"/>
                  </a:lnTo>
                  <a:lnTo>
                    <a:pt x="600837" y="512826"/>
                  </a:lnTo>
                  <a:lnTo>
                    <a:pt x="600837" y="108204"/>
                  </a:lnTo>
                  <a:lnTo>
                    <a:pt x="600075" y="98298"/>
                  </a:lnTo>
                  <a:lnTo>
                    <a:pt x="598551" y="89154"/>
                  </a:lnTo>
                  <a:lnTo>
                    <a:pt x="596265" y="80010"/>
                  </a:lnTo>
                  <a:lnTo>
                    <a:pt x="593217" y="71628"/>
                  </a:lnTo>
                  <a:lnTo>
                    <a:pt x="589407" y="63246"/>
                  </a:lnTo>
                  <a:lnTo>
                    <a:pt x="584835" y="54864"/>
                  </a:lnTo>
                  <a:lnTo>
                    <a:pt x="579501" y="48006"/>
                  </a:lnTo>
                  <a:lnTo>
                    <a:pt x="573405" y="41148"/>
                  </a:lnTo>
                  <a:lnTo>
                    <a:pt x="566547" y="35052"/>
                  </a:lnTo>
                  <a:lnTo>
                    <a:pt x="551307" y="24384"/>
                  </a:lnTo>
                  <a:lnTo>
                    <a:pt x="542925" y="20574"/>
                  </a:lnTo>
                  <a:lnTo>
                    <a:pt x="534543" y="17526"/>
                  </a:lnTo>
                  <a:lnTo>
                    <a:pt x="525399" y="15240"/>
                  </a:lnTo>
                  <a:lnTo>
                    <a:pt x="516255" y="13716"/>
                  </a:lnTo>
                  <a:lnTo>
                    <a:pt x="505587" y="12954"/>
                  </a:lnTo>
                  <a:lnTo>
                    <a:pt x="0" y="12954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6A6A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de-DE"/>
            </a:p>
          </p:txBody>
        </p:sp>
        <p:sp>
          <p:nvSpPr>
            <p:cNvPr id="40" name="Rectangle 359">
              <a:extLst>
                <a:ext uri="{FF2B5EF4-FFF2-40B4-BE49-F238E27FC236}">
                  <a16:creationId xmlns:a16="http://schemas.microsoft.com/office/drawing/2014/main" id="{AE600614-889C-00AE-E7C2-5C9BA2FE9B7D}"/>
                </a:ext>
              </a:extLst>
            </p:cNvPr>
            <p:cNvSpPr/>
            <p:nvPr/>
          </p:nvSpPr>
          <p:spPr>
            <a:xfrm>
              <a:off x="5747812" y="4967671"/>
              <a:ext cx="610336" cy="25803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de-DE" sz="1500">
                  <a:solidFill>
                    <a:srgbClr val="2D201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Sprint</a:t>
              </a:r>
              <a:endParaRPr lang="de-DE"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1" name="Rectangle 360">
              <a:extLst>
                <a:ext uri="{FF2B5EF4-FFF2-40B4-BE49-F238E27FC236}">
                  <a16:creationId xmlns:a16="http://schemas.microsoft.com/office/drawing/2014/main" id="{98533ACB-B29F-2A01-2B67-99202FDA2988}"/>
                </a:ext>
              </a:extLst>
            </p:cNvPr>
            <p:cNvSpPr/>
            <p:nvPr/>
          </p:nvSpPr>
          <p:spPr>
            <a:xfrm>
              <a:off x="6207283" y="4967671"/>
              <a:ext cx="57259" cy="25803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de-DE" sz="1500">
                  <a:solidFill>
                    <a:srgbClr val="2D201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de-DE"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2" name="Rectangle 361">
              <a:extLst>
                <a:ext uri="{FF2B5EF4-FFF2-40B4-BE49-F238E27FC236}">
                  <a16:creationId xmlns:a16="http://schemas.microsoft.com/office/drawing/2014/main" id="{B8A5193A-FBC2-67C3-2077-E27536711127}"/>
                </a:ext>
              </a:extLst>
            </p:cNvPr>
            <p:cNvSpPr/>
            <p:nvPr/>
          </p:nvSpPr>
          <p:spPr>
            <a:xfrm>
              <a:off x="5644184" y="5196243"/>
              <a:ext cx="884975" cy="25803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de-DE" sz="1500">
                  <a:solidFill>
                    <a:srgbClr val="2D201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Planning</a:t>
              </a:r>
              <a:endParaRPr lang="de-DE"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pic>
          <p:nvPicPr>
            <p:cNvPr id="43" name="Picture 18344">
              <a:extLst>
                <a:ext uri="{FF2B5EF4-FFF2-40B4-BE49-F238E27FC236}">
                  <a16:creationId xmlns:a16="http://schemas.microsoft.com/office/drawing/2014/main" id="{61A6A7C3-215E-DCCF-4071-2DA9D5EC01AD}"/>
                </a:ext>
              </a:extLst>
            </p:cNvPr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7226673" y="4783035"/>
              <a:ext cx="1216112" cy="716192"/>
            </a:xfrm>
            <a:prstGeom prst="rect">
              <a:avLst/>
            </a:prstGeom>
          </p:spPr>
        </p:pic>
        <p:sp>
          <p:nvSpPr>
            <p:cNvPr id="44" name="Shape 364">
              <a:extLst>
                <a:ext uri="{FF2B5EF4-FFF2-40B4-BE49-F238E27FC236}">
                  <a16:creationId xmlns:a16="http://schemas.microsoft.com/office/drawing/2014/main" id="{5647CA2A-74C0-D1B5-DB15-C6A94A3548A1}"/>
                </a:ext>
              </a:extLst>
            </p:cNvPr>
            <p:cNvSpPr/>
            <p:nvPr/>
          </p:nvSpPr>
          <p:spPr>
            <a:xfrm>
              <a:off x="7222240" y="4779861"/>
              <a:ext cx="613009" cy="726859"/>
            </a:xfrm>
            <a:custGeom>
              <a:avLst/>
              <a:gdLst/>
              <a:ahLst/>
              <a:cxnLst/>
              <a:rect l="0" t="0" r="0" b="0"/>
              <a:pathLst>
                <a:path w="613029" h="726948">
                  <a:moveTo>
                    <a:pt x="118110" y="0"/>
                  </a:moveTo>
                  <a:lnTo>
                    <a:pt x="613029" y="0"/>
                  </a:lnTo>
                  <a:lnTo>
                    <a:pt x="613029" y="12192"/>
                  </a:lnTo>
                  <a:lnTo>
                    <a:pt x="124968" y="12192"/>
                  </a:lnTo>
                  <a:lnTo>
                    <a:pt x="119634" y="12954"/>
                  </a:lnTo>
                  <a:lnTo>
                    <a:pt x="113538" y="12954"/>
                  </a:lnTo>
                  <a:lnTo>
                    <a:pt x="108204" y="13716"/>
                  </a:lnTo>
                  <a:lnTo>
                    <a:pt x="102870" y="14478"/>
                  </a:lnTo>
                  <a:lnTo>
                    <a:pt x="92202" y="17526"/>
                  </a:lnTo>
                  <a:lnTo>
                    <a:pt x="81534" y="21336"/>
                  </a:lnTo>
                  <a:lnTo>
                    <a:pt x="71628" y="25908"/>
                  </a:lnTo>
                  <a:lnTo>
                    <a:pt x="62484" y="31242"/>
                  </a:lnTo>
                  <a:lnTo>
                    <a:pt x="53340" y="38100"/>
                  </a:lnTo>
                  <a:lnTo>
                    <a:pt x="45720" y="44958"/>
                  </a:lnTo>
                  <a:lnTo>
                    <a:pt x="38100" y="53340"/>
                  </a:lnTo>
                  <a:lnTo>
                    <a:pt x="32004" y="61722"/>
                  </a:lnTo>
                  <a:lnTo>
                    <a:pt x="25908" y="70866"/>
                  </a:lnTo>
                  <a:lnTo>
                    <a:pt x="21336" y="80772"/>
                  </a:lnTo>
                  <a:lnTo>
                    <a:pt x="17526" y="91440"/>
                  </a:lnTo>
                  <a:lnTo>
                    <a:pt x="14478" y="102108"/>
                  </a:lnTo>
                  <a:lnTo>
                    <a:pt x="13716" y="108204"/>
                  </a:lnTo>
                  <a:lnTo>
                    <a:pt x="12192" y="118872"/>
                  </a:lnTo>
                  <a:lnTo>
                    <a:pt x="12192" y="124968"/>
                  </a:lnTo>
                  <a:lnTo>
                    <a:pt x="12192" y="601218"/>
                  </a:lnTo>
                  <a:lnTo>
                    <a:pt x="12192" y="607314"/>
                  </a:lnTo>
                  <a:lnTo>
                    <a:pt x="12954" y="612648"/>
                  </a:lnTo>
                  <a:lnTo>
                    <a:pt x="13716" y="618744"/>
                  </a:lnTo>
                  <a:lnTo>
                    <a:pt x="14478" y="624078"/>
                  </a:lnTo>
                  <a:lnTo>
                    <a:pt x="17526" y="634746"/>
                  </a:lnTo>
                  <a:lnTo>
                    <a:pt x="21336" y="644652"/>
                  </a:lnTo>
                  <a:lnTo>
                    <a:pt x="25908" y="654558"/>
                  </a:lnTo>
                  <a:lnTo>
                    <a:pt x="31242" y="664464"/>
                  </a:lnTo>
                  <a:lnTo>
                    <a:pt x="44958" y="681228"/>
                  </a:lnTo>
                  <a:lnTo>
                    <a:pt x="61722" y="694944"/>
                  </a:lnTo>
                  <a:lnTo>
                    <a:pt x="70866" y="700278"/>
                  </a:lnTo>
                  <a:lnTo>
                    <a:pt x="80772" y="704850"/>
                  </a:lnTo>
                  <a:lnTo>
                    <a:pt x="91440" y="708660"/>
                  </a:lnTo>
                  <a:lnTo>
                    <a:pt x="102108" y="711708"/>
                  </a:lnTo>
                  <a:lnTo>
                    <a:pt x="107442" y="712470"/>
                  </a:lnTo>
                  <a:lnTo>
                    <a:pt x="113538" y="713232"/>
                  </a:lnTo>
                  <a:lnTo>
                    <a:pt x="118872" y="713994"/>
                  </a:lnTo>
                  <a:lnTo>
                    <a:pt x="613029" y="713994"/>
                  </a:lnTo>
                  <a:lnTo>
                    <a:pt x="613029" y="726948"/>
                  </a:lnTo>
                  <a:lnTo>
                    <a:pt x="118872" y="726948"/>
                  </a:lnTo>
                  <a:lnTo>
                    <a:pt x="112776" y="726186"/>
                  </a:lnTo>
                  <a:lnTo>
                    <a:pt x="105918" y="725424"/>
                  </a:lnTo>
                  <a:lnTo>
                    <a:pt x="99822" y="724662"/>
                  </a:lnTo>
                  <a:lnTo>
                    <a:pt x="88392" y="721614"/>
                  </a:lnTo>
                  <a:lnTo>
                    <a:pt x="76962" y="717042"/>
                  </a:lnTo>
                  <a:lnTo>
                    <a:pt x="65532" y="711708"/>
                  </a:lnTo>
                  <a:lnTo>
                    <a:pt x="55626" y="705612"/>
                  </a:lnTo>
                  <a:lnTo>
                    <a:pt x="45720" y="698754"/>
                  </a:lnTo>
                  <a:lnTo>
                    <a:pt x="36576" y="690372"/>
                  </a:lnTo>
                  <a:lnTo>
                    <a:pt x="28194" y="681228"/>
                  </a:lnTo>
                  <a:lnTo>
                    <a:pt x="21336" y="672084"/>
                  </a:lnTo>
                  <a:lnTo>
                    <a:pt x="15240" y="661416"/>
                  </a:lnTo>
                  <a:lnTo>
                    <a:pt x="9906" y="650748"/>
                  </a:lnTo>
                  <a:lnTo>
                    <a:pt x="5334" y="639318"/>
                  </a:lnTo>
                  <a:lnTo>
                    <a:pt x="2286" y="627126"/>
                  </a:lnTo>
                  <a:lnTo>
                    <a:pt x="1524" y="621030"/>
                  </a:lnTo>
                  <a:lnTo>
                    <a:pt x="762" y="614172"/>
                  </a:lnTo>
                  <a:lnTo>
                    <a:pt x="0" y="608076"/>
                  </a:lnTo>
                  <a:lnTo>
                    <a:pt x="0" y="124968"/>
                  </a:lnTo>
                  <a:lnTo>
                    <a:pt x="0" y="112776"/>
                  </a:lnTo>
                  <a:lnTo>
                    <a:pt x="1524" y="105918"/>
                  </a:lnTo>
                  <a:lnTo>
                    <a:pt x="2286" y="99822"/>
                  </a:lnTo>
                  <a:lnTo>
                    <a:pt x="5334" y="88392"/>
                  </a:lnTo>
                  <a:lnTo>
                    <a:pt x="9144" y="76962"/>
                  </a:lnTo>
                  <a:lnTo>
                    <a:pt x="14478" y="65532"/>
                  </a:lnTo>
                  <a:lnTo>
                    <a:pt x="28194" y="45720"/>
                  </a:lnTo>
                  <a:lnTo>
                    <a:pt x="36576" y="36576"/>
                  </a:lnTo>
                  <a:lnTo>
                    <a:pt x="44958" y="28956"/>
                  </a:lnTo>
                  <a:lnTo>
                    <a:pt x="54864" y="21336"/>
                  </a:lnTo>
                  <a:lnTo>
                    <a:pt x="64770" y="15240"/>
                  </a:lnTo>
                  <a:lnTo>
                    <a:pt x="76200" y="9906"/>
                  </a:lnTo>
                  <a:lnTo>
                    <a:pt x="87630" y="5334"/>
                  </a:lnTo>
                  <a:lnTo>
                    <a:pt x="99822" y="2286"/>
                  </a:lnTo>
                  <a:lnTo>
                    <a:pt x="105918" y="1524"/>
                  </a:lnTo>
                  <a:lnTo>
                    <a:pt x="11811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6A6A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de-DE"/>
            </a:p>
          </p:txBody>
        </p:sp>
        <p:sp>
          <p:nvSpPr>
            <p:cNvPr id="45" name="Shape 365">
              <a:extLst>
                <a:ext uri="{FF2B5EF4-FFF2-40B4-BE49-F238E27FC236}">
                  <a16:creationId xmlns:a16="http://schemas.microsoft.com/office/drawing/2014/main" id="{A7C44059-FE4F-9C55-2CE1-9660D225E497}"/>
                </a:ext>
              </a:extLst>
            </p:cNvPr>
            <p:cNvSpPr/>
            <p:nvPr/>
          </p:nvSpPr>
          <p:spPr>
            <a:xfrm>
              <a:off x="7835249" y="4779861"/>
              <a:ext cx="613771" cy="726859"/>
            </a:xfrm>
            <a:custGeom>
              <a:avLst/>
              <a:gdLst/>
              <a:ahLst/>
              <a:cxnLst/>
              <a:rect l="0" t="0" r="0" b="0"/>
              <a:pathLst>
                <a:path w="613791" h="726948">
                  <a:moveTo>
                    <a:pt x="0" y="0"/>
                  </a:moveTo>
                  <a:lnTo>
                    <a:pt x="494919" y="0"/>
                  </a:lnTo>
                  <a:lnTo>
                    <a:pt x="501015" y="762"/>
                  </a:lnTo>
                  <a:lnTo>
                    <a:pt x="513207" y="2286"/>
                  </a:lnTo>
                  <a:lnTo>
                    <a:pt x="525399" y="5334"/>
                  </a:lnTo>
                  <a:lnTo>
                    <a:pt x="536829" y="9144"/>
                  </a:lnTo>
                  <a:lnTo>
                    <a:pt x="548259" y="14478"/>
                  </a:lnTo>
                  <a:lnTo>
                    <a:pt x="568071" y="28194"/>
                  </a:lnTo>
                  <a:lnTo>
                    <a:pt x="577215" y="36576"/>
                  </a:lnTo>
                  <a:lnTo>
                    <a:pt x="584835" y="44958"/>
                  </a:lnTo>
                  <a:lnTo>
                    <a:pt x="592455" y="54864"/>
                  </a:lnTo>
                  <a:lnTo>
                    <a:pt x="598551" y="64770"/>
                  </a:lnTo>
                  <a:lnTo>
                    <a:pt x="603885" y="76200"/>
                  </a:lnTo>
                  <a:lnTo>
                    <a:pt x="608457" y="87630"/>
                  </a:lnTo>
                  <a:lnTo>
                    <a:pt x="611505" y="99822"/>
                  </a:lnTo>
                  <a:lnTo>
                    <a:pt x="613029" y="112014"/>
                  </a:lnTo>
                  <a:lnTo>
                    <a:pt x="613791" y="118872"/>
                  </a:lnTo>
                  <a:lnTo>
                    <a:pt x="613791" y="608076"/>
                  </a:lnTo>
                  <a:lnTo>
                    <a:pt x="611505" y="626364"/>
                  </a:lnTo>
                  <a:lnTo>
                    <a:pt x="608457" y="638556"/>
                  </a:lnTo>
                  <a:lnTo>
                    <a:pt x="603885" y="649986"/>
                  </a:lnTo>
                  <a:lnTo>
                    <a:pt x="598551" y="660654"/>
                  </a:lnTo>
                  <a:lnTo>
                    <a:pt x="592455" y="671322"/>
                  </a:lnTo>
                  <a:lnTo>
                    <a:pt x="585597" y="681228"/>
                  </a:lnTo>
                  <a:lnTo>
                    <a:pt x="577215" y="689610"/>
                  </a:lnTo>
                  <a:lnTo>
                    <a:pt x="568071" y="697992"/>
                  </a:lnTo>
                  <a:lnTo>
                    <a:pt x="558927" y="705612"/>
                  </a:lnTo>
                  <a:lnTo>
                    <a:pt x="548259" y="711708"/>
                  </a:lnTo>
                  <a:lnTo>
                    <a:pt x="537591" y="717042"/>
                  </a:lnTo>
                  <a:lnTo>
                    <a:pt x="526161" y="720852"/>
                  </a:lnTo>
                  <a:lnTo>
                    <a:pt x="507873" y="725424"/>
                  </a:lnTo>
                  <a:lnTo>
                    <a:pt x="501777" y="726186"/>
                  </a:lnTo>
                  <a:lnTo>
                    <a:pt x="494919" y="726948"/>
                  </a:lnTo>
                  <a:lnTo>
                    <a:pt x="0" y="726948"/>
                  </a:lnTo>
                  <a:lnTo>
                    <a:pt x="0" y="713994"/>
                  </a:lnTo>
                  <a:lnTo>
                    <a:pt x="494157" y="713994"/>
                  </a:lnTo>
                  <a:lnTo>
                    <a:pt x="499491" y="713232"/>
                  </a:lnTo>
                  <a:lnTo>
                    <a:pt x="505587" y="713232"/>
                  </a:lnTo>
                  <a:lnTo>
                    <a:pt x="510921" y="711708"/>
                  </a:lnTo>
                  <a:lnTo>
                    <a:pt x="521589" y="709422"/>
                  </a:lnTo>
                  <a:lnTo>
                    <a:pt x="532257" y="705612"/>
                  </a:lnTo>
                  <a:lnTo>
                    <a:pt x="542163" y="701040"/>
                  </a:lnTo>
                  <a:lnTo>
                    <a:pt x="551307" y="694944"/>
                  </a:lnTo>
                  <a:lnTo>
                    <a:pt x="559689" y="688848"/>
                  </a:lnTo>
                  <a:lnTo>
                    <a:pt x="568071" y="681228"/>
                  </a:lnTo>
                  <a:lnTo>
                    <a:pt x="574929" y="673608"/>
                  </a:lnTo>
                  <a:lnTo>
                    <a:pt x="581787" y="664464"/>
                  </a:lnTo>
                  <a:lnTo>
                    <a:pt x="587121" y="655320"/>
                  </a:lnTo>
                  <a:lnTo>
                    <a:pt x="592455" y="645414"/>
                  </a:lnTo>
                  <a:lnTo>
                    <a:pt x="596265" y="635508"/>
                  </a:lnTo>
                  <a:lnTo>
                    <a:pt x="598551" y="624078"/>
                  </a:lnTo>
                  <a:lnTo>
                    <a:pt x="600075" y="618744"/>
                  </a:lnTo>
                  <a:lnTo>
                    <a:pt x="600837" y="613410"/>
                  </a:lnTo>
                  <a:lnTo>
                    <a:pt x="600837" y="113538"/>
                  </a:lnTo>
                  <a:lnTo>
                    <a:pt x="599313" y="102870"/>
                  </a:lnTo>
                  <a:lnTo>
                    <a:pt x="596265" y="92202"/>
                  </a:lnTo>
                  <a:lnTo>
                    <a:pt x="592455" y="81534"/>
                  </a:lnTo>
                  <a:lnTo>
                    <a:pt x="587883" y="71628"/>
                  </a:lnTo>
                  <a:lnTo>
                    <a:pt x="581787" y="62484"/>
                  </a:lnTo>
                  <a:lnTo>
                    <a:pt x="575691" y="54102"/>
                  </a:lnTo>
                  <a:lnTo>
                    <a:pt x="568071" y="45720"/>
                  </a:lnTo>
                  <a:lnTo>
                    <a:pt x="560451" y="38100"/>
                  </a:lnTo>
                  <a:lnTo>
                    <a:pt x="552069" y="32004"/>
                  </a:lnTo>
                  <a:lnTo>
                    <a:pt x="542163" y="25908"/>
                  </a:lnTo>
                  <a:lnTo>
                    <a:pt x="532257" y="21336"/>
                  </a:lnTo>
                  <a:lnTo>
                    <a:pt x="522351" y="17526"/>
                  </a:lnTo>
                  <a:lnTo>
                    <a:pt x="511683" y="14478"/>
                  </a:lnTo>
                  <a:lnTo>
                    <a:pt x="505587" y="13716"/>
                  </a:lnTo>
                  <a:lnTo>
                    <a:pt x="500253" y="12954"/>
                  </a:lnTo>
                  <a:lnTo>
                    <a:pt x="494157" y="12954"/>
                  </a:lnTo>
                  <a:lnTo>
                    <a:pt x="488823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6A6A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de-DE"/>
            </a:p>
          </p:txBody>
        </p:sp>
        <p:sp>
          <p:nvSpPr>
            <p:cNvPr id="46" name="Rectangle 366">
              <a:extLst>
                <a:ext uri="{FF2B5EF4-FFF2-40B4-BE49-F238E27FC236}">
                  <a16:creationId xmlns:a16="http://schemas.microsoft.com/office/drawing/2014/main" id="{0700BEB0-9D2E-3054-7C10-2F2BB0B59F9C}"/>
                </a:ext>
              </a:extLst>
            </p:cNvPr>
            <p:cNvSpPr/>
            <p:nvPr/>
          </p:nvSpPr>
          <p:spPr>
            <a:xfrm>
              <a:off x="7376153" y="4896624"/>
              <a:ext cx="531531" cy="223975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de-DE" sz="1300">
                  <a:solidFill>
                    <a:srgbClr val="2D201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Sprint</a:t>
              </a:r>
              <a:endParaRPr lang="de-DE"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7" name="Rectangle 367">
              <a:extLst>
                <a:ext uri="{FF2B5EF4-FFF2-40B4-BE49-F238E27FC236}">
                  <a16:creationId xmlns:a16="http://schemas.microsoft.com/office/drawing/2014/main" id="{3ED822E1-B19B-CDFD-E795-30A8F0B36FB2}"/>
                </a:ext>
              </a:extLst>
            </p:cNvPr>
            <p:cNvSpPr/>
            <p:nvPr/>
          </p:nvSpPr>
          <p:spPr>
            <a:xfrm>
              <a:off x="7776131" y="4896624"/>
              <a:ext cx="49700" cy="223975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de-DE" sz="1300">
                  <a:solidFill>
                    <a:srgbClr val="2D201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de-DE"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8" name="Rectangle 368">
              <a:extLst>
                <a:ext uri="{FF2B5EF4-FFF2-40B4-BE49-F238E27FC236}">
                  <a16:creationId xmlns:a16="http://schemas.microsoft.com/office/drawing/2014/main" id="{F748B9A5-4B29-BD6B-3547-5AACF91304FD}"/>
                </a:ext>
              </a:extLst>
            </p:cNvPr>
            <p:cNvSpPr/>
            <p:nvPr/>
          </p:nvSpPr>
          <p:spPr>
            <a:xfrm>
              <a:off x="7813500" y="4896624"/>
              <a:ext cx="639729" cy="223975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de-DE" sz="1300">
                  <a:solidFill>
                    <a:srgbClr val="2D201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Review</a:t>
              </a:r>
              <a:endParaRPr lang="de-DE"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9" name="Rectangle 369">
              <a:extLst>
                <a:ext uri="{FF2B5EF4-FFF2-40B4-BE49-F238E27FC236}">
                  <a16:creationId xmlns:a16="http://schemas.microsoft.com/office/drawing/2014/main" id="{B2F118D2-E91D-A44A-814A-2A4E6D5258A9}"/>
                </a:ext>
              </a:extLst>
            </p:cNvPr>
            <p:cNvSpPr/>
            <p:nvPr/>
          </p:nvSpPr>
          <p:spPr>
            <a:xfrm>
              <a:off x="8294334" y="4896624"/>
              <a:ext cx="49700" cy="223975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de-DE" sz="1300">
                  <a:solidFill>
                    <a:srgbClr val="2D201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de-DE"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0" name="Rectangle 370">
              <a:extLst>
                <a:ext uri="{FF2B5EF4-FFF2-40B4-BE49-F238E27FC236}">
                  <a16:creationId xmlns:a16="http://schemas.microsoft.com/office/drawing/2014/main" id="{83A38290-37B0-9828-BB6A-60A50F2BE20C}"/>
                </a:ext>
              </a:extLst>
            </p:cNvPr>
            <p:cNvSpPr/>
            <p:nvPr/>
          </p:nvSpPr>
          <p:spPr>
            <a:xfrm>
              <a:off x="7787619" y="5090529"/>
              <a:ext cx="126482" cy="18888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de-DE" sz="1100">
                  <a:solidFill>
                    <a:srgbClr val="2D201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&amp;</a:t>
              </a:r>
              <a:endParaRPr lang="de-DE"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1" name="Rectangle 371">
              <a:extLst>
                <a:ext uri="{FF2B5EF4-FFF2-40B4-BE49-F238E27FC236}">
                  <a16:creationId xmlns:a16="http://schemas.microsoft.com/office/drawing/2014/main" id="{B6C3BE29-0D7F-5A3C-652F-5A91F7DBD29D}"/>
                </a:ext>
              </a:extLst>
            </p:cNvPr>
            <p:cNvSpPr/>
            <p:nvPr/>
          </p:nvSpPr>
          <p:spPr>
            <a:xfrm>
              <a:off x="7375391" y="5262340"/>
              <a:ext cx="1222764" cy="223975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de-DE" sz="1300">
                  <a:solidFill>
                    <a:srgbClr val="2D201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Retrospective</a:t>
              </a:r>
              <a:endParaRPr lang="de-DE"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2" name="Shape 372">
              <a:extLst>
                <a:ext uri="{FF2B5EF4-FFF2-40B4-BE49-F238E27FC236}">
                  <a16:creationId xmlns:a16="http://schemas.microsoft.com/office/drawing/2014/main" id="{154B7BA9-A865-CE41-0E71-590CAFAFB94E}"/>
                </a:ext>
              </a:extLst>
            </p:cNvPr>
            <p:cNvSpPr/>
            <p:nvPr/>
          </p:nvSpPr>
          <p:spPr>
            <a:xfrm>
              <a:off x="4146147" y="3061760"/>
              <a:ext cx="296408" cy="295620"/>
            </a:xfrm>
            <a:custGeom>
              <a:avLst/>
              <a:gdLst/>
              <a:ahLst/>
              <a:cxnLst/>
              <a:rect l="0" t="0" r="0" b="0"/>
              <a:pathLst>
                <a:path w="296418" h="295656">
                  <a:moveTo>
                    <a:pt x="20574" y="0"/>
                  </a:moveTo>
                  <a:lnTo>
                    <a:pt x="248501" y="227274"/>
                  </a:lnTo>
                  <a:lnTo>
                    <a:pt x="236982" y="183642"/>
                  </a:lnTo>
                  <a:cubicBezTo>
                    <a:pt x="235458" y="176022"/>
                    <a:pt x="240030" y="167640"/>
                    <a:pt x="247650" y="166116"/>
                  </a:cubicBezTo>
                  <a:cubicBezTo>
                    <a:pt x="255270" y="163830"/>
                    <a:pt x="262890" y="168402"/>
                    <a:pt x="264414" y="176022"/>
                  </a:cubicBezTo>
                  <a:lnTo>
                    <a:pt x="296418" y="295656"/>
                  </a:lnTo>
                  <a:lnTo>
                    <a:pt x="176784" y="264414"/>
                  </a:lnTo>
                  <a:cubicBezTo>
                    <a:pt x="169164" y="262128"/>
                    <a:pt x="164592" y="254508"/>
                    <a:pt x="166116" y="246888"/>
                  </a:cubicBezTo>
                  <a:cubicBezTo>
                    <a:pt x="168402" y="239268"/>
                    <a:pt x="176022" y="234696"/>
                    <a:pt x="183642" y="236220"/>
                  </a:cubicBezTo>
                  <a:lnTo>
                    <a:pt x="228517" y="248329"/>
                  </a:lnTo>
                  <a:lnTo>
                    <a:pt x="0" y="19812"/>
                  </a:lnTo>
                  <a:lnTo>
                    <a:pt x="20574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23E2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de-DE"/>
            </a:p>
          </p:txBody>
        </p:sp>
        <p:sp>
          <p:nvSpPr>
            <p:cNvPr id="53" name="Shape 373">
              <a:extLst>
                <a:ext uri="{FF2B5EF4-FFF2-40B4-BE49-F238E27FC236}">
                  <a16:creationId xmlns:a16="http://schemas.microsoft.com/office/drawing/2014/main" id="{A47A82C6-FA9C-B470-C26B-ED17CF572789}"/>
                </a:ext>
              </a:extLst>
            </p:cNvPr>
            <p:cNvSpPr/>
            <p:nvPr/>
          </p:nvSpPr>
          <p:spPr>
            <a:xfrm>
              <a:off x="5859067" y="2920808"/>
              <a:ext cx="583673" cy="865526"/>
            </a:xfrm>
            <a:custGeom>
              <a:avLst/>
              <a:gdLst/>
              <a:ahLst/>
              <a:cxnLst/>
              <a:rect l="0" t="0" r="0" b="0"/>
              <a:pathLst>
                <a:path w="583692" h="865632">
                  <a:moveTo>
                    <a:pt x="23622" y="0"/>
                  </a:moveTo>
                  <a:lnTo>
                    <a:pt x="550336" y="789349"/>
                  </a:lnTo>
                  <a:lnTo>
                    <a:pt x="547878" y="743712"/>
                  </a:lnTo>
                  <a:cubicBezTo>
                    <a:pt x="547116" y="735330"/>
                    <a:pt x="553212" y="728472"/>
                    <a:pt x="560832" y="728472"/>
                  </a:cubicBezTo>
                  <a:cubicBezTo>
                    <a:pt x="569214" y="727710"/>
                    <a:pt x="575310" y="733806"/>
                    <a:pt x="576072" y="741426"/>
                  </a:cubicBezTo>
                  <a:lnTo>
                    <a:pt x="583692" y="865632"/>
                  </a:lnTo>
                  <a:lnTo>
                    <a:pt x="472440" y="810768"/>
                  </a:lnTo>
                  <a:cubicBezTo>
                    <a:pt x="465582" y="807720"/>
                    <a:pt x="462534" y="798576"/>
                    <a:pt x="465582" y="791718"/>
                  </a:cubicBezTo>
                  <a:cubicBezTo>
                    <a:pt x="469392" y="784860"/>
                    <a:pt x="477774" y="781812"/>
                    <a:pt x="484632" y="785622"/>
                  </a:cubicBezTo>
                  <a:lnTo>
                    <a:pt x="527478" y="806496"/>
                  </a:lnTo>
                  <a:lnTo>
                    <a:pt x="0" y="16002"/>
                  </a:lnTo>
                  <a:lnTo>
                    <a:pt x="23622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23E2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de-DE"/>
            </a:p>
          </p:txBody>
        </p:sp>
        <p:sp>
          <p:nvSpPr>
            <p:cNvPr id="54" name="Shape 374">
              <a:extLst>
                <a:ext uri="{FF2B5EF4-FFF2-40B4-BE49-F238E27FC236}">
                  <a16:creationId xmlns:a16="http://schemas.microsoft.com/office/drawing/2014/main" id="{DA9CB8D1-4877-1634-CF35-A3BEE1DD9AD7}"/>
                </a:ext>
              </a:extLst>
            </p:cNvPr>
            <p:cNvSpPr/>
            <p:nvPr/>
          </p:nvSpPr>
          <p:spPr>
            <a:xfrm>
              <a:off x="6787152" y="2064425"/>
              <a:ext cx="372606" cy="649907"/>
            </a:xfrm>
            <a:custGeom>
              <a:avLst/>
              <a:gdLst/>
              <a:ahLst/>
              <a:cxnLst/>
              <a:rect l="0" t="0" r="0" b="0"/>
              <a:pathLst>
                <a:path w="372618" h="649986">
                  <a:moveTo>
                    <a:pt x="25146" y="0"/>
                  </a:moveTo>
                  <a:lnTo>
                    <a:pt x="342605" y="571567"/>
                  </a:lnTo>
                  <a:lnTo>
                    <a:pt x="343662" y="525780"/>
                  </a:lnTo>
                  <a:cubicBezTo>
                    <a:pt x="343662" y="518160"/>
                    <a:pt x="350520" y="512064"/>
                    <a:pt x="358140" y="512064"/>
                  </a:cubicBezTo>
                  <a:cubicBezTo>
                    <a:pt x="366522" y="512064"/>
                    <a:pt x="372618" y="518922"/>
                    <a:pt x="372618" y="526542"/>
                  </a:cubicBezTo>
                  <a:lnTo>
                    <a:pt x="369570" y="649986"/>
                  </a:lnTo>
                  <a:lnTo>
                    <a:pt x="263652" y="586740"/>
                  </a:lnTo>
                  <a:cubicBezTo>
                    <a:pt x="256794" y="582930"/>
                    <a:pt x="254508" y="574548"/>
                    <a:pt x="258318" y="567690"/>
                  </a:cubicBezTo>
                  <a:cubicBezTo>
                    <a:pt x="262128" y="560832"/>
                    <a:pt x="271272" y="558546"/>
                    <a:pt x="278130" y="562356"/>
                  </a:cubicBezTo>
                  <a:lnTo>
                    <a:pt x="317911" y="586153"/>
                  </a:lnTo>
                  <a:lnTo>
                    <a:pt x="0" y="14478"/>
                  </a:lnTo>
                  <a:lnTo>
                    <a:pt x="25146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23E2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de-DE"/>
            </a:p>
          </p:txBody>
        </p:sp>
        <p:sp>
          <p:nvSpPr>
            <p:cNvPr id="55" name="Shape 375">
              <a:extLst>
                <a:ext uri="{FF2B5EF4-FFF2-40B4-BE49-F238E27FC236}">
                  <a16:creationId xmlns:a16="http://schemas.microsoft.com/office/drawing/2014/main" id="{CB5263A7-2549-5DDA-6543-1F07F7D288FE}"/>
                </a:ext>
              </a:extLst>
            </p:cNvPr>
            <p:cNvSpPr/>
            <p:nvPr/>
          </p:nvSpPr>
          <p:spPr>
            <a:xfrm>
              <a:off x="8299673" y="1830519"/>
              <a:ext cx="218687" cy="124953"/>
            </a:xfrm>
            <a:custGeom>
              <a:avLst/>
              <a:gdLst/>
              <a:ahLst/>
              <a:cxnLst/>
              <a:rect l="0" t="0" r="0" b="0"/>
              <a:pathLst>
                <a:path w="218694" h="124968">
                  <a:moveTo>
                    <a:pt x="91535" y="286"/>
                  </a:moveTo>
                  <a:cubicBezTo>
                    <a:pt x="95250" y="0"/>
                    <a:pt x="99060" y="1143"/>
                    <a:pt x="102108" y="3810"/>
                  </a:cubicBezTo>
                  <a:cubicBezTo>
                    <a:pt x="108204" y="9144"/>
                    <a:pt x="108204" y="18288"/>
                    <a:pt x="103632" y="24384"/>
                  </a:cubicBezTo>
                  <a:lnTo>
                    <a:pt x="73702" y="58491"/>
                  </a:lnTo>
                  <a:lnTo>
                    <a:pt x="210312" y="12954"/>
                  </a:lnTo>
                  <a:lnTo>
                    <a:pt x="218694" y="40386"/>
                  </a:lnTo>
                  <a:lnTo>
                    <a:pt x="81053" y="86266"/>
                  </a:lnTo>
                  <a:lnTo>
                    <a:pt x="127254" y="96012"/>
                  </a:lnTo>
                  <a:cubicBezTo>
                    <a:pt x="134874" y="97536"/>
                    <a:pt x="139446" y="105156"/>
                    <a:pt x="137922" y="112776"/>
                  </a:cubicBezTo>
                  <a:cubicBezTo>
                    <a:pt x="136398" y="120396"/>
                    <a:pt x="128778" y="124968"/>
                    <a:pt x="121158" y="123444"/>
                  </a:cubicBezTo>
                  <a:lnTo>
                    <a:pt x="0" y="98298"/>
                  </a:lnTo>
                  <a:lnTo>
                    <a:pt x="81534" y="5334"/>
                  </a:lnTo>
                  <a:cubicBezTo>
                    <a:pt x="84201" y="2286"/>
                    <a:pt x="87821" y="572"/>
                    <a:pt x="91535" y="286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23E2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de-DE"/>
            </a:p>
          </p:txBody>
        </p:sp>
        <p:sp>
          <p:nvSpPr>
            <p:cNvPr id="56" name="Shape 376">
              <a:extLst>
                <a:ext uri="{FF2B5EF4-FFF2-40B4-BE49-F238E27FC236}">
                  <a16:creationId xmlns:a16="http://schemas.microsoft.com/office/drawing/2014/main" id="{06EC2D6D-87EC-3960-DBF3-1E80F0F01A38}"/>
                </a:ext>
              </a:extLst>
            </p:cNvPr>
            <p:cNvSpPr/>
            <p:nvPr/>
          </p:nvSpPr>
          <p:spPr>
            <a:xfrm>
              <a:off x="9999640" y="2923095"/>
              <a:ext cx="313172" cy="648384"/>
            </a:xfrm>
            <a:custGeom>
              <a:avLst/>
              <a:gdLst/>
              <a:ahLst/>
              <a:cxnLst/>
              <a:rect l="0" t="0" r="0" b="0"/>
              <a:pathLst>
                <a:path w="313182" h="648462">
                  <a:moveTo>
                    <a:pt x="287274" y="0"/>
                  </a:moveTo>
                  <a:lnTo>
                    <a:pt x="313182" y="11430"/>
                  </a:lnTo>
                  <a:lnTo>
                    <a:pt x="60273" y="580475"/>
                  </a:lnTo>
                  <a:lnTo>
                    <a:pt x="98298" y="553212"/>
                  </a:lnTo>
                  <a:cubicBezTo>
                    <a:pt x="104394" y="548640"/>
                    <a:pt x="113537" y="550164"/>
                    <a:pt x="118110" y="556260"/>
                  </a:cubicBezTo>
                  <a:cubicBezTo>
                    <a:pt x="122682" y="563118"/>
                    <a:pt x="121158" y="571500"/>
                    <a:pt x="115062" y="576072"/>
                  </a:cubicBezTo>
                  <a:lnTo>
                    <a:pt x="14477" y="648462"/>
                  </a:lnTo>
                  <a:lnTo>
                    <a:pt x="762" y="525780"/>
                  </a:lnTo>
                  <a:cubicBezTo>
                    <a:pt x="0" y="518160"/>
                    <a:pt x="6096" y="510540"/>
                    <a:pt x="13715" y="509778"/>
                  </a:cubicBezTo>
                  <a:cubicBezTo>
                    <a:pt x="21336" y="509016"/>
                    <a:pt x="28956" y="514350"/>
                    <a:pt x="29718" y="522732"/>
                  </a:cubicBezTo>
                  <a:lnTo>
                    <a:pt x="34669" y="568359"/>
                  </a:lnTo>
                  <a:lnTo>
                    <a:pt x="287274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23E2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de-DE"/>
            </a:p>
          </p:txBody>
        </p:sp>
        <p:sp>
          <p:nvSpPr>
            <p:cNvPr id="57" name="Shape 377">
              <a:extLst>
                <a:ext uri="{FF2B5EF4-FFF2-40B4-BE49-F238E27FC236}">
                  <a16:creationId xmlns:a16="http://schemas.microsoft.com/office/drawing/2014/main" id="{DBD392FE-33B8-9096-0993-26425100BC3A}"/>
                </a:ext>
              </a:extLst>
            </p:cNvPr>
            <p:cNvSpPr/>
            <p:nvPr/>
          </p:nvSpPr>
          <p:spPr>
            <a:xfrm>
              <a:off x="6291106" y="4142907"/>
              <a:ext cx="794740" cy="582859"/>
            </a:xfrm>
            <a:custGeom>
              <a:avLst/>
              <a:gdLst/>
              <a:ahLst/>
              <a:cxnLst/>
              <a:rect l="0" t="0" r="0" b="0"/>
              <a:pathLst>
                <a:path w="794766" h="582930">
                  <a:moveTo>
                    <a:pt x="794766" y="0"/>
                  </a:moveTo>
                  <a:lnTo>
                    <a:pt x="744474" y="113538"/>
                  </a:lnTo>
                  <a:cubicBezTo>
                    <a:pt x="741426" y="120396"/>
                    <a:pt x="733044" y="124206"/>
                    <a:pt x="726186" y="120396"/>
                  </a:cubicBezTo>
                  <a:cubicBezTo>
                    <a:pt x="718566" y="117348"/>
                    <a:pt x="715518" y="108966"/>
                    <a:pt x="718566" y="102108"/>
                  </a:cubicBezTo>
                  <a:lnTo>
                    <a:pt x="737513" y="58749"/>
                  </a:lnTo>
                  <a:lnTo>
                    <a:pt x="16764" y="582930"/>
                  </a:lnTo>
                  <a:lnTo>
                    <a:pt x="0" y="560070"/>
                  </a:lnTo>
                  <a:lnTo>
                    <a:pt x="719815" y="36569"/>
                  </a:lnTo>
                  <a:lnTo>
                    <a:pt x="674370" y="41148"/>
                  </a:lnTo>
                  <a:cubicBezTo>
                    <a:pt x="665988" y="41910"/>
                    <a:pt x="659130" y="35814"/>
                    <a:pt x="658368" y="28194"/>
                  </a:cubicBezTo>
                  <a:cubicBezTo>
                    <a:pt x="657606" y="20574"/>
                    <a:pt x="663702" y="13716"/>
                    <a:pt x="671322" y="12954"/>
                  </a:cubicBezTo>
                  <a:lnTo>
                    <a:pt x="794766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23E2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de-DE"/>
            </a:p>
          </p:txBody>
        </p:sp>
        <p:sp>
          <p:nvSpPr>
            <p:cNvPr id="58" name="Shape 378">
              <a:extLst>
                <a:ext uri="{FF2B5EF4-FFF2-40B4-BE49-F238E27FC236}">
                  <a16:creationId xmlns:a16="http://schemas.microsoft.com/office/drawing/2014/main" id="{B4CB8BA2-E087-D54D-4FCB-2708274F2056}"/>
                </a:ext>
              </a:extLst>
            </p:cNvPr>
            <p:cNvSpPr/>
            <p:nvPr/>
          </p:nvSpPr>
          <p:spPr>
            <a:xfrm>
              <a:off x="7280151" y="3643097"/>
              <a:ext cx="461757" cy="1076574"/>
            </a:xfrm>
            <a:custGeom>
              <a:avLst/>
              <a:gdLst/>
              <a:ahLst/>
              <a:cxnLst/>
              <a:rect l="0" t="0" r="0" b="0"/>
              <a:pathLst>
                <a:path w="461772" h="1076706">
                  <a:moveTo>
                    <a:pt x="19812" y="0"/>
                  </a:moveTo>
                  <a:lnTo>
                    <a:pt x="117348" y="76200"/>
                  </a:lnTo>
                  <a:cubicBezTo>
                    <a:pt x="123444" y="80772"/>
                    <a:pt x="124206" y="89916"/>
                    <a:pt x="119634" y="96012"/>
                  </a:cubicBezTo>
                  <a:cubicBezTo>
                    <a:pt x="115062" y="102108"/>
                    <a:pt x="105918" y="103632"/>
                    <a:pt x="99822" y="98298"/>
                  </a:cubicBezTo>
                  <a:lnTo>
                    <a:pt x="63132" y="69801"/>
                  </a:lnTo>
                  <a:lnTo>
                    <a:pt x="461772" y="1066038"/>
                  </a:lnTo>
                  <a:lnTo>
                    <a:pt x="435102" y="1076706"/>
                  </a:lnTo>
                  <a:lnTo>
                    <a:pt x="36487" y="80532"/>
                  </a:lnTo>
                  <a:lnTo>
                    <a:pt x="29718" y="126492"/>
                  </a:lnTo>
                  <a:cubicBezTo>
                    <a:pt x="28194" y="134112"/>
                    <a:pt x="21336" y="139446"/>
                    <a:pt x="13716" y="138684"/>
                  </a:cubicBezTo>
                  <a:cubicBezTo>
                    <a:pt x="5334" y="137160"/>
                    <a:pt x="0" y="130302"/>
                    <a:pt x="1524" y="122682"/>
                  </a:cubicBezTo>
                  <a:lnTo>
                    <a:pt x="19812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23E2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de-DE"/>
            </a:p>
          </p:txBody>
        </p:sp>
        <p:sp>
          <p:nvSpPr>
            <p:cNvPr id="59" name="Rectangle 379">
              <a:extLst>
                <a:ext uri="{FF2B5EF4-FFF2-40B4-BE49-F238E27FC236}">
                  <a16:creationId xmlns:a16="http://schemas.microsoft.com/office/drawing/2014/main" id="{FB74241F-858F-14DD-7ADF-1557AC6038B4}"/>
                </a:ext>
              </a:extLst>
            </p:cNvPr>
            <p:cNvSpPr/>
            <p:nvPr/>
          </p:nvSpPr>
          <p:spPr>
            <a:xfrm>
              <a:off x="7533883" y="2157391"/>
              <a:ext cx="709046" cy="20668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de-DE" sz="1300" b="1">
                  <a:solidFill>
                    <a:srgbClr val="2D2015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täglich</a:t>
              </a:r>
              <a:endParaRPr lang="de-DE"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0" name="Rectangle 380">
              <a:extLst>
                <a:ext uri="{FF2B5EF4-FFF2-40B4-BE49-F238E27FC236}">
                  <a16:creationId xmlns:a16="http://schemas.microsoft.com/office/drawing/2014/main" id="{A359FA56-07F5-CE4D-0CD9-BF9997E95B52}"/>
                </a:ext>
              </a:extLst>
            </p:cNvPr>
            <p:cNvSpPr/>
            <p:nvPr/>
          </p:nvSpPr>
          <p:spPr>
            <a:xfrm>
              <a:off x="7533883" y="3157777"/>
              <a:ext cx="1402917" cy="20668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de-DE" sz="1300" b="1">
                  <a:solidFill>
                    <a:srgbClr val="2D2015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ca. 4 Wochen</a:t>
              </a:r>
              <a:endParaRPr lang="de-DE"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</p:grpSp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3E32A157-F50F-D8F6-D68E-CCA2B9618FBA}"/>
              </a:ext>
            </a:extLst>
          </p:cNvPr>
          <p:cNvGrpSpPr/>
          <p:nvPr/>
        </p:nvGrpSpPr>
        <p:grpSpPr>
          <a:xfrm>
            <a:off x="9914682" y="2222270"/>
            <a:ext cx="1241976" cy="620063"/>
            <a:chOff x="9088415" y="2202458"/>
            <a:chExt cx="1241976" cy="620063"/>
          </a:xfrm>
        </p:grpSpPr>
        <p:pic>
          <p:nvPicPr>
            <p:cNvPr id="63" name="Picture 330">
              <a:extLst>
                <a:ext uri="{FF2B5EF4-FFF2-40B4-BE49-F238E27FC236}">
                  <a16:creationId xmlns:a16="http://schemas.microsoft.com/office/drawing/2014/main" id="{AE031BBD-D647-1399-7A29-BF7D4ED6F6F5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9114279" y="2202458"/>
              <a:ext cx="1216112" cy="608764"/>
            </a:xfrm>
            <a:prstGeom prst="rect">
              <a:avLst/>
            </a:prstGeom>
          </p:spPr>
        </p:pic>
        <p:sp>
          <p:nvSpPr>
            <p:cNvPr id="64" name="Shape 331">
              <a:extLst>
                <a:ext uri="{FF2B5EF4-FFF2-40B4-BE49-F238E27FC236}">
                  <a16:creationId xmlns:a16="http://schemas.microsoft.com/office/drawing/2014/main" id="{C29936CF-AD75-2136-F80A-887C207FF042}"/>
                </a:ext>
              </a:extLst>
            </p:cNvPr>
            <p:cNvSpPr/>
            <p:nvPr/>
          </p:nvSpPr>
          <p:spPr>
            <a:xfrm>
              <a:off x="9088415" y="2203091"/>
              <a:ext cx="613771" cy="619430"/>
            </a:xfrm>
            <a:custGeom>
              <a:avLst/>
              <a:gdLst/>
              <a:ahLst/>
              <a:cxnLst/>
              <a:rect l="0" t="0" r="0" b="0"/>
              <a:pathLst>
                <a:path w="613791" h="619506">
                  <a:moveTo>
                    <a:pt x="96012" y="0"/>
                  </a:moveTo>
                  <a:lnTo>
                    <a:pt x="613791" y="0"/>
                  </a:lnTo>
                  <a:lnTo>
                    <a:pt x="613791" y="12192"/>
                  </a:lnTo>
                  <a:lnTo>
                    <a:pt x="107442" y="12192"/>
                  </a:lnTo>
                  <a:lnTo>
                    <a:pt x="98298" y="12954"/>
                  </a:lnTo>
                  <a:lnTo>
                    <a:pt x="88392" y="14478"/>
                  </a:lnTo>
                  <a:lnTo>
                    <a:pt x="79248" y="16764"/>
                  </a:lnTo>
                  <a:lnTo>
                    <a:pt x="70866" y="19812"/>
                  </a:lnTo>
                  <a:lnTo>
                    <a:pt x="62484" y="23622"/>
                  </a:lnTo>
                  <a:lnTo>
                    <a:pt x="54864" y="28194"/>
                  </a:lnTo>
                  <a:lnTo>
                    <a:pt x="47244" y="33528"/>
                  </a:lnTo>
                  <a:lnTo>
                    <a:pt x="34290" y="46482"/>
                  </a:lnTo>
                  <a:lnTo>
                    <a:pt x="28956" y="54102"/>
                  </a:lnTo>
                  <a:lnTo>
                    <a:pt x="24384" y="61722"/>
                  </a:lnTo>
                  <a:lnTo>
                    <a:pt x="19812" y="70104"/>
                  </a:lnTo>
                  <a:lnTo>
                    <a:pt x="16764" y="78486"/>
                  </a:lnTo>
                  <a:lnTo>
                    <a:pt x="14478" y="87630"/>
                  </a:lnTo>
                  <a:lnTo>
                    <a:pt x="12954" y="97536"/>
                  </a:lnTo>
                  <a:lnTo>
                    <a:pt x="12954" y="107442"/>
                  </a:lnTo>
                  <a:lnTo>
                    <a:pt x="12954" y="512064"/>
                  </a:lnTo>
                  <a:lnTo>
                    <a:pt x="12954" y="521208"/>
                  </a:lnTo>
                  <a:lnTo>
                    <a:pt x="14478" y="531114"/>
                  </a:lnTo>
                  <a:lnTo>
                    <a:pt x="16764" y="540258"/>
                  </a:lnTo>
                  <a:lnTo>
                    <a:pt x="19812" y="548640"/>
                  </a:lnTo>
                  <a:lnTo>
                    <a:pt x="23622" y="557022"/>
                  </a:lnTo>
                  <a:lnTo>
                    <a:pt x="34290" y="572262"/>
                  </a:lnTo>
                  <a:lnTo>
                    <a:pt x="40386" y="579120"/>
                  </a:lnTo>
                  <a:lnTo>
                    <a:pt x="47244" y="585216"/>
                  </a:lnTo>
                  <a:lnTo>
                    <a:pt x="54102" y="590550"/>
                  </a:lnTo>
                  <a:lnTo>
                    <a:pt x="61722" y="595122"/>
                  </a:lnTo>
                  <a:lnTo>
                    <a:pt x="70104" y="599694"/>
                  </a:lnTo>
                  <a:lnTo>
                    <a:pt x="79248" y="602742"/>
                  </a:lnTo>
                  <a:lnTo>
                    <a:pt x="88392" y="605028"/>
                  </a:lnTo>
                  <a:lnTo>
                    <a:pt x="97536" y="606552"/>
                  </a:lnTo>
                  <a:lnTo>
                    <a:pt x="107442" y="607314"/>
                  </a:lnTo>
                  <a:lnTo>
                    <a:pt x="613791" y="607314"/>
                  </a:lnTo>
                  <a:lnTo>
                    <a:pt x="613791" y="619506"/>
                  </a:lnTo>
                  <a:lnTo>
                    <a:pt x="107442" y="619506"/>
                  </a:lnTo>
                  <a:lnTo>
                    <a:pt x="96774" y="618744"/>
                  </a:lnTo>
                  <a:lnTo>
                    <a:pt x="86106" y="617220"/>
                  </a:lnTo>
                  <a:lnTo>
                    <a:pt x="75438" y="614934"/>
                  </a:lnTo>
                  <a:lnTo>
                    <a:pt x="65532" y="611124"/>
                  </a:lnTo>
                  <a:lnTo>
                    <a:pt x="56388" y="606552"/>
                  </a:lnTo>
                  <a:lnTo>
                    <a:pt x="47244" y="601218"/>
                  </a:lnTo>
                  <a:lnTo>
                    <a:pt x="39624" y="595122"/>
                  </a:lnTo>
                  <a:lnTo>
                    <a:pt x="32004" y="588264"/>
                  </a:lnTo>
                  <a:lnTo>
                    <a:pt x="24384" y="580644"/>
                  </a:lnTo>
                  <a:lnTo>
                    <a:pt x="18288" y="572262"/>
                  </a:lnTo>
                  <a:lnTo>
                    <a:pt x="12954" y="563880"/>
                  </a:lnTo>
                  <a:lnTo>
                    <a:pt x="8382" y="553974"/>
                  </a:lnTo>
                  <a:lnTo>
                    <a:pt x="4572" y="544068"/>
                  </a:lnTo>
                  <a:lnTo>
                    <a:pt x="2286" y="534162"/>
                  </a:lnTo>
                  <a:lnTo>
                    <a:pt x="762" y="523494"/>
                  </a:lnTo>
                  <a:lnTo>
                    <a:pt x="0" y="512064"/>
                  </a:lnTo>
                  <a:lnTo>
                    <a:pt x="0" y="107442"/>
                  </a:lnTo>
                  <a:lnTo>
                    <a:pt x="762" y="96774"/>
                  </a:lnTo>
                  <a:lnTo>
                    <a:pt x="2286" y="86106"/>
                  </a:lnTo>
                  <a:lnTo>
                    <a:pt x="4572" y="75438"/>
                  </a:lnTo>
                  <a:lnTo>
                    <a:pt x="8382" y="65532"/>
                  </a:lnTo>
                  <a:lnTo>
                    <a:pt x="12954" y="56388"/>
                  </a:lnTo>
                  <a:lnTo>
                    <a:pt x="18288" y="47244"/>
                  </a:lnTo>
                  <a:lnTo>
                    <a:pt x="24384" y="38862"/>
                  </a:lnTo>
                  <a:lnTo>
                    <a:pt x="31242" y="31242"/>
                  </a:lnTo>
                  <a:lnTo>
                    <a:pt x="38862" y="24384"/>
                  </a:lnTo>
                  <a:lnTo>
                    <a:pt x="47244" y="18288"/>
                  </a:lnTo>
                  <a:lnTo>
                    <a:pt x="55626" y="12954"/>
                  </a:lnTo>
                  <a:lnTo>
                    <a:pt x="65532" y="8382"/>
                  </a:lnTo>
                  <a:lnTo>
                    <a:pt x="75438" y="4572"/>
                  </a:lnTo>
                  <a:lnTo>
                    <a:pt x="85344" y="2286"/>
                  </a:lnTo>
                  <a:lnTo>
                    <a:pt x="96012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6A6A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de-DE"/>
            </a:p>
          </p:txBody>
        </p:sp>
        <p:sp>
          <p:nvSpPr>
            <p:cNvPr id="65" name="Shape 332">
              <a:extLst>
                <a:ext uri="{FF2B5EF4-FFF2-40B4-BE49-F238E27FC236}">
                  <a16:creationId xmlns:a16="http://schemas.microsoft.com/office/drawing/2014/main" id="{AB8EFC00-661D-2967-A586-3B689D81F508}"/>
                </a:ext>
              </a:extLst>
            </p:cNvPr>
            <p:cNvSpPr/>
            <p:nvPr/>
          </p:nvSpPr>
          <p:spPr>
            <a:xfrm>
              <a:off x="9702186" y="2203091"/>
              <a:ext cx="613009" cy="619430"/>
            </a:xfrm>
            <a:custGeom>
              <a:avLst/>
              <a:gdLst/>
              <a:ahLst/>
              <a:cxnLst/>
              <a:rect l="0" t="0" r="0" b="0"/>
              <a:pathLst>
                <a:path w="613029" h="619506">
                  <a:moveTo>
                    <a:pt x="0" y="0"/>
                  </a:moveTo>
                  <a:lnTo>
                    <a:pt x="516255" y="0"/>
                  </a:lnTo>
                  <a:lnTo>
                    <a:pt x="526923" y="1524"/>
                  </a:lnTo>
                  <a:lnTo>
                    <a:pt x="537591" y="4572"/>
                  </a:lnTo>
                  <a:lnTo>
                    <a:pt x="547497" y="8382"/>
                  </a:lnTo>
                  <a:lnTo>
                    <a:pt x="556641" y="12954"/>
                  </a:lnTo>
                  <a:lnTo>
                    <a:pt x="565785" y="18288"/>
                  </a:lnTo>
                  <a:lnTo>
                    <a:pt x="574167" y="24384"/>
                  </a:lnTo>
                  <a:lnTo>
                    <a:pt x="581787" y="31242"/>
                  </a:lnTo>
                  <a:lnTo>
                    <a:pt x="588645" y="38862"/>
                  </a:lnTo>
                  <a:lnTo>
                    <a:pt x="594741" y="47244"/>
                  </a:lnTo>
                  <a:lnTo>
                    <a:pt x="600075" y="55626"/>
                  </a:lnTo>
                  <a:lnTo>
                    <a:pt x="604647" y="64770"/>
                  </a:lnTo>
                  <a:lnTo>
                    <a:pt x="608457" y="74676"/>
                  </a:lnTo>
                  <a:lnTo>
                    <a:pt x="613029" y="96012"/>
                  </a:lnTo>
                  <a:lnTo>
                    <a:pt x="613029" y="522732"/>
                  </a:lnTo>
                  <a:lnTo>
                    <a:pt x="611505" y="533400"/>
                  </a:lnTo>
                  <a:lnTo>
                    <a:pt x="608457" y="544068"/>
                  </a:lnTo>
                  <a:lnTo>
                    <a:pt x="604647" y="553974"/>
                  </a:lnTo>
                  <a:lnTo>
                    <a:pt x="600075" y="563118"/>
                  </a:lnTo>
                  <a:lnTo>
                    <a:pt x="594741" y="572262"/>
                  </a:lnTo>
                  <a:lnTo>
                    <a:pt x="588645" y="580644"/>
                  </a:lnTo>
                  <a:lnTo>
                    <a:pt x="581787" y="588264"/>
                  </a:lnTo>
                  <a:lnTo>
                    <a:pt x="574167" y="595122"/>
                  </a:lnTo>
                  <a:lnTo>
                    <a:pt x="565785" y="601218"/>
                  </a:lnTo>
                  <a:lnTo>
                    <a:pt x="557403" y="606552"/>
                  </a:lnTo>
                  <a:lnTo>
                    <a:pt x="547497" y="611124"/>
                  </a:lnTo>
                  <a:lnTo>
                    <a:pt x="538353" y="614934"/>
                  </a:lnTo>
                  <a:lnTo>
                    <a:pt x="527685" y="617220"/>
                  </a:lnTo>
                  <a:lnTo>
                    <a:pt x="517017" y="618744"/>
                  </a:lnTo>
                  <a:lnTo>
                    <a:pt x="506349" y="619506"/>
                  </a:lnTo>
                  <a:lnTo>
                    <a:pt x="0" y="619506"/>
                  </a:lnTo>
                  <a:lnTo>
                    <a:pt x="0" y="607314"/>
                  </a:lnTo>
                  <a:lnTo>
                    <a:pt x="505587" y="607314"/>
                  </a:lnTo>
                  <a:lnTo>
                    <a:pt x="514731" y="606552"/>
                  </a:lnTo>
                  <a:lnTo>
                    <a:pt x="524637" y="605028"/>
                  </a:lnTo>
                  <a:lnTo>
                    <a:pt x="533781" y="602742"/>
                  </a:lnTo>
                  <a:lnTo>
                    <a:pt x="542163" y="599694"/>
                  </a:lnTo>
                  <a:lnTo>
                    <a:pt x="550545" y="595884"/>
                  </a:lnTo>
                  <a:lnTo>
                    <a:pt x="565785" y="585216"/>
                  </a:lnTo>
                  <a:lnTo>
                    <a:pt x="572643" y="579120"/>
                  </a:lnTo>
                  <a:lnTo>
                    <a:pt x="578739" y="573024"/>
                  </a:lnTo>
                  <a:lnTo>
                    <a:pt x="584073" y="565404"/>
                  </a:lnTo>
                  <a:lnTo>
                    <a:pt x="588645" y="557784"/>
                  </a:lnTo>
                  <a:lnTo>
                    <a:pt x="593217" y="549402"/>
                  </a:lnTo>
                  <a:lnTo>
                    <a:pt x="596265" y="540258"/>
                  </a:lnTo>
                  <a:lnTo>
                    <a:pt x="598551" y="531876"/>
                  </a:lnTo>
                  <a:lnTo>
                    <a:pt x="600075" y="521970"/>
                  </a:lnTo>
                  <a:lnTo>
                    <a:pt x="600837" y="512064"/>
                  </a:lnTo>
                  <a:lnTo>
                    <a:pt x="600837" y="107442"/>
                  </a:lnTo>
                  <a:lnTo>
                    <a:pt x="600075" y="97536"/>
                  </a:lnTo>
                  <a:lnTo>
                    <a:pt x="598551" y="88392"/>
                  </a:lnTo>
                  <a:lnTo>
                    <a:pt x="596265" y="79248"/>
                  </a:lnTo>
                  <a:lnTo>
                    <a:pt x="593217" y="70866"/>
                  </a:lnTo>
                  <a:lnTo>
                    <a:pt x="589407" y="62484"/>
                  </a:lnTo>
                  <a:lnTo>
                    <a:pt x="584835" y="54864"/>
                  </a:lnTo>
                  <a:lnTo>
                    <a:pt x="578739" y="47244"/>
                  </a:lnTo>
                  <a:lnTo>
                    <a:pt x="572643" y="40386"/>
                  </a:lnTo>
                  <a:lnTo>
                    <a:pt x="566547" y="34290"/>
                  </a:lnTo>
                  <a:lnTo>
                    <a:pt x="558927" y="28956"/>
                  </a:lnTo>
                  <a:lnTo>
                    <a:pt x="551307" y="24384"/>
                  </a:lnTo>
                  <a:lnTo>
                    <a:pt x="542925" y="19812"/>
                  </a:lnTo>
                  <a:lnTo>
                    <a:pt x="534543" y="16764"/>
                  </a:lnTo>
                  <a:lnTo>
                    <a:pt x="525399" y="14478"/>
                  </a:lnTo>
                  <a:lnTo>
                    <a:pt x="515493" y="12954"/>
                  </a:lnTo>
                  <a:lnTo>
                    <a:pt x="505587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6A6A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de-DE"/>
            </a:p>
          </p:txBody>
        </p:sp>
        <p:sp>
          <p:nvSpPr>
            <p:cNvPr id="66" name="Rectangle 333">
              <a:extLst>
                <a:ext uri="{FF2B5EF4-FFF2-40B4-BE49-F238E27FC236}">
                  <a16:creationId xmlns:a16="http://schemas.microsoft.com/office/drawing/2014/main" id="{98ECC986-D5CE-D890-045C-CEACEE41CE0C}"/>
                </a:ext>
              </a:extLst>
            </p:cNvPr>
            <p:cNvSpPr/>
            <p:nvPr/>
          </p:nvSpPr>
          <p:spPr>
            <a:xfrm>
              <a:off x="9291887" y="2306775"/>
              <a:ext cx="833239" cy="28304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de-DE" sz="15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Produkt-</a:t>
              </a:r>
            </a:p>
          </p:txBody>
        </p:sp>
        <p:sp>
          <p:nvSpPr>
            <p:cNvPr id="67" name="Rectangle 334">
              <a:extLst>
                <a:ext uri="{FF2B5EF4-FFF2-40B4-BE49-F238E27FC236}">
                  <a16:creationId xmlns:a16="http://schemas.microsoft.com/office/drawing/2014/main" id="{22CEDDBD-341A-9C99-604E-E334105915B5}"/>
                </a:ext>
              </a:extLst>
            </p:cNvPr>
            <p:cNvSpPr/>
            <p:nvPr/>
          </p:nvSpPr>
          <p:spPr>
            <a:xfrm>
              <a:off x="9931153" y="2319282"/>
              <a:ext cx="57259" cy="25803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de-DE" sz="1500">
                  <a:solidFill>
                    <a:srgbClr val="2D201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de-DE"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8" name="Rectangle 335">
              <a:extLst>
                <a:ext uri="{FF2B5EF4-FFF2-40B4-BE49-F238E27FC236}">
                  <a16:creationId xmlns:a16="http://schemas.microsoft.com/office/drawing/2014/main" id="{9D7CC714-295F-4DE9-F39C-A739BBBDC312}"/>
                </a:ext>
              </a:extLst>
            </p:cNvPr>
            <p:cNvSpPr/>
            <p:nvPr/>
          </p:nvSpPr>
          <p:spPr>
            <a:xfrm>
              <a:off x="9279001" y="2560681"/>
              <a:ext cx="911371" cy="25803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de-DE" sz="1500" dirty="0">
                  <a:solidFill>
                    <a:srgbClr val="2D201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Inkrement</a:t>
              </a:r>
              <a:endParaRPr lang="de-DE" sz="1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</p:grpSp>
      <p:sp>
        <p:nvSpPr>
          <p:cNvPr id="77" name="Untertitel 2">
            <a:extLst>
              <a:ext uri="{FF2B5EF4-FFF2-40B4-BE49-F238E27FC236}">
                <a16:creationId xmlns:a16="http://schemas.microsoft.com/office/drawing/2014/main" id="{E26D3C8F-C026-E367-362C-D16EF2BD4C1A}"/>
              </a:ext>
            </a:extLst>
          </p:cNvPr>
          <p:cNvSpPr txBox="1">
            <a:spLocks/>
          </p:cNvSpPr>
          <p:nvPr/>
        </p:nvSpPr>
        <p:spPr>
          <a:xfrm>
            <a:off x="270044" y="1369261"/>
            <a:ext cx="3485072" cy="44196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b="1" spc="-20" dirty="0">
                <a:solidFill>
                  <a:srgbClr val="0070C0"/>
                </a:solidFill>
              </a:rPr>
              <a:t>3 Artefakte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pc="-20" dirty="0" err="1">
                <a:solidFill>
                  <a:srgbClr val="0070C0"/>
                </a:solidFill>
              </a:rPr>
              <a:t>Product</a:t>
            </a:r>
            <a:r>
              <a:rPr lang="de-DE" spc="-20" dirty="0">
                <a:solidFill>
                  <a:srgbClr val="0070C0"/>
                </a:solidFill>
              </a:rPr>
              <a:t> Backlog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pc="-20" dirty="0">
                <a:solidFill>
                  <a:srgbClr val="0070C0"/>
                </a:solidFill>
              </a:rPr>
              <a:t>Sprint Backlog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pc="-20" dirty="0">
                <a:solidFill>
                  <a:srgbClr val="0070C0"/>
                </a:solidFill>
              </a:rPr>
              <a:t>Produkt-Inkrement</a:t>
            </a:r>
          </a:p>
          <a:p>
            <a:pPr lvl="1"/>
            <a:endParaRPr lang="de-DE" spc="-2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b="1" spc="-20" dirty="0">
                <a:solidFill>
                  <a:srgbClr val="0070C0"/>
                </a:solidFill>
              </a:rPr>
              <a:t>5 Aktivitäten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pc="-20" dirty="0">
                <a:solidFill>
                  <a:srgbClr val="0070C0"/>
                </a:solidFill>
              </a:rPr>
              <a:t>Sprint </a:t>
            </a:r>
            <a:r>
              <a:rPr lang="de-DE" spc="-20" dirty="0" err="1">
                <a:solidFill>
                  <a:srgbClr val="0070C0"/>
                </a:solidFill>
              </a:rPr>
              <a:t>Planning</a:t>
            </a:r>
            <a:endParaRPr lang="de-DE" spc="-20" dirty="0">
              <a:solidFill>
                <a:srgbClr val="0070C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pc="-20" dirty="0">
                <a:solidFill>
                  <a:srgbClr val="0070C0"/>
                </a:solidFill>
              </a:rPr>
              <a:t>Sprint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pc="-20" dirty="0">
                <a:solidFill>
                  <a:srgbClr val="0070C0"/>
                </a:solidFill>
              </a:rPr>
              <a:t>Daily </a:t>
            </a:r>
            <a:r>
              <a:rPr lang="de-DE" spc="-20" dirty="0" err="1">
                <a:solidFill>
                  <a:srgbClr val="0070C0"/>
                </a:solidFill>
              </a:rPr>
              <a:t>Scrum</a:t>
            </a:r>
            <a:endParaRPr lang="de-DE" spc="-20" dirty="0">
              <a:solidFill>
                <a:srgbClr val="0070C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pc="-20" dirty="0">
                <a:solidFill>
                  <a:srgbClr val="0070C0"/>
                </a:solidFill>
              </a:rPr>
              <a:t>Sprint Review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pc="-20" dirty="0">
                <a:solidFill>
                  <a:srgbClr val="0070C0"/>
                </a:solidFill>
              </a:rPr>
              <a:t>Sprint </a:t>
            </a:r>
            <a:r>
              <a:rPr lang="de-DE" spc="-20" dirty="0" err="1">
                <a:solidFill>
                  <a:srgbClr val="0070C0"/>
                </a:solidFill>
              </a:rPr>
              <a:t>Restrospective</a:t>
            </a:r>
            <a:endParaRPr lang="de-DE" spc="-2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spc="-20" dirty="0">
              <a:solidFill>
                <a:srgbClr val="0070C0"/>
              </a:solidFill>
            </a:endParaRPr>
          </a:p>
          <a:p>
            <a:r>
              <a:rPr lang="de-DE" sz="1800" spc="-20" dirty="0">
                <a:solidFill>
                  <a:srgbClr val="0070C0"/>
                </a:solidFill>
              </a:rPr>
              <a:t>Fortlaufend ergänzt durch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pc="-20" dirty="0" err="1">
                <a:solidFill>
                  <a:srgbClr val="0070C0"/>
                </a:solidFill>
              </a:rPr>
              <a:t>Product</a:t>
            </a:r>
            <a:r>
              <a:rPr lang="de-DE" spc="-20" dirty="0">
                <a:solidFill>
                  <a:srgbClr val="0070C0"/>
                </a:solidFill>
              </a:rPr>
              <a:t> Backlog </a:t>
            </a:r>
            <a:r>
              <a:rPr lang="de-DE" spc="-20" dirty="0" err="1">
                <a:solidFill>
                  <a:srgbClr val="0070C0"/>
                </a:solidFill>
              </a:rPr>
              <a:t>Refinement</a:t>
            </a:r>
            <a:endParaRPr lang="de-DE" spc="-20" dirty="0">
              <a:solidFill>
                <a:srgbClr val="0070C0"/>
              </a:solidFill>
            </a:endParaRP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spc="-20" dirty="0"/>
          </a:p>
        </p:txBody>
      </p:sp>
    </p:spTree>
    <p:extLst>
      <p:ext uri="{BB962C8B-B14F-4D97-AF65-F5344CB8AC3E}">
        <p14:creationId xmlns:p14="http://schemas.microsoft.com/office/powerpoint/2010/main" val="1856993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4BB83-C343-5167-A440-DDB40E2C7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FF262CB-EFC4-2A7B-4859-AB4BECA4F489}"/>
              </a:ext>
            </a:extLst>
          </p:cNvPr>
          <p:cNvGrpSpPr/>
          <p:nvPr/>
        </p:nvGrpSpPr>
        <p:grpSpPr>
          <a:xfrm>
            <a:off x="0" y="531876"/>
            <a:ext cx="12192000" cy="6326505"/>
            <a:chOff x="0" y="531876"/>
            <a:chExt cx="12192000" cy="632650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A5B8E6B8-FF1A-9703-80F8-C41F093A8A8C}"/>
                </a:ext>
              </a:extLst>
            </p:cNvPr>
            <p:cNvSpPr/>
            <p:nvPr/>
          </p:nvSpPr>
          <p:spPr>
            <a:xfrm>
              <a:off x="0" y="580644"/>
              <a:ext cx="12192000" cy="6277610"/>
            </a:xfrm>
            <a:custGeom>
              <a:avLst/>
              <a:gdLst/>
              <a:ahLst/>
              <a:cxnLst/>
              <a:rect l="l" t="t" r="r" b="b"/>
              <a:pathLst>
                <a:path w="12192000" h="6277609">
                  <a:moveTo>
                    <a:pt x="3453257" y="0"/>
                  </a:moveTo>
                  <a:lnTo>
                    <a:pt x="0" y="0"/>
                  </a:lnTo>
                  <a:lnTo>
                    <a:pt x="0" y="6277356"/>
                  </a:lnTo>
                  <a:lnTo>
                    <a:pt x="12191153" y="6277356"/>
                  </a:lnTo>
                  <a:lnTo>
                    <a:pt x="12191257" y="6211492"/>
                  </a:lnTo>
                  <a:lnTo>
                    <a:pt x="12191324" y="6165239"/>
                  </a:lnTo>
                  <a:lnTo>
                    <a:pt x="12191449" y="6072020"/>
                  </a:lnTo>
                  <a:lnTo>
                    <a:pt x="12191561" y="5977877"/>
                  </a:lnTo>
                  <a:lnTo>
                    <a:pt x="12191659" y="5882841"/>
                  </a:lnTo>
                  <a:lnTo>
                    <a:pt x="12191744" y="5786945"/>
                  </a:lnTo>
                  <a:lnTo>
                    <a:pt x="12191849" y="5641562"/>
                  </a:lnTo>
                  <a:lnTo>
                    <a:pt x="12192000" y="5592706"/>
                  </a:lnTo>
                  <a:lnTo>
                    <a:pt x="12192000" y="4424624"/>
                  </a:lnTo>
                  <a:lnTo>
                    <a:pt x="12191872" y="4372313"/>
                  </a:lnTo>
                  <a:lnTo>
                    <a:pt x="12191772" y="4162178"/>
                  </a:lnTo>
                  <a:lnTo>
                    <a:pt x="12191653" y="3950810"/>
                  </a:lnTo>
                  <a:lnTo>
                    <a:pt x="12191554" y="3791631"/>
                  </a:lnTo>
                  <a:lnTo>
                    <a:pt x="12191449" y="3632015"/>
                  </a:lnTo>
                  <a:lnTo>
                    <a:pt x="12191339" y="3472069"/>
                  </a:lnTo>
                  <a:lnTo>
                    <a:pt x="12191225" y="3311905"/>
                  </a:lnTo>
                  <a:lnTo>
                    <a:pt x="12191123" y="351789"/>
                  </a:lnTo>
                  <a:lnTo>
                    <a:pt x="3824097" y="351789"/>
                  </a:lnTo>
                  <a:lnTo>
                    <a:pt x="3453257" y="0"/>
                  </a:lnTo>
                  <a:close/>
                </a:path>
                <a:path w="12192000" h="6277609">
                  <a:moveTo>
                    <a:pt x="12191111" y="0"/>
                  </a:moveTo>
                  <a:lnTo>
                    <a:pt x="4194937" y="0"/>
                  </a:lnTo>
                  <a:lnTo>
                    <a:pt x="3824097" y="351789"/>
                  </a:lnTo>
                  <a:lnTo>
                    <a:pt x="12191123" y="351789"/>
                  </a:lnTo>
                  <a:lnTo>
                    <a:pt x="12191111" y="0"/>
                  </a:lnTo>
                  <a:close/>
                </a:path>
              </a:pathLst>
            </a:custGeom>
            <a:solidFill>
              <a:srgbClr val="D2E8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C8B0EB0-4B95-46AD-97DA-BF5BCF0A33B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31876"/>
              <a:ext cx="12191999" cy="409956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AAF29BDD-5210-ED17-A0DC-31F23C7BBDB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2711" y="6341364"/>
              <a:ext cx="1028700" cy="300228"/>
            </a:xfrm>
            <a:prstGeom prst="rect">
              <a:avLst/>
            </a:prstGeom>
          </p:spPr>
        </p:pic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72B9943-EE62-33C2-7D2B-8C2F1B5CDC94}"/>
              </a:ext>
            </a:extLst>
          </p:cNvPr>
          <p:cNvSpPr txBox="1"/>
          <p:nvPr/>
        </p:nvSpPr>
        <p:spPr>
          <a:xfrm>
            <a:off x="1066800" y="1722264"/>
            <a:ext cx="5138420" cy="1258037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lang="de-DE" sz="4400" b="1" spc="-10" dirty="0">
                <a:solidFill>
                  <a:srgbClr val="0070B1"/>
                </a:solidFill>
                <a:latin typeface="Source Sans Pro"/>
                <a:cs typeface="Source Sans Pro"/>
              </a:rPr>
              <a:t>Mehr Details</a:t>
            </a:r>
            <a:endParaRPr sz="4400" dirty="0">
              <a:latin typeface="Source Sans Pro"/>
              <a:cs typeface="Source Sans Pro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endParaRPr sz="2100" dirty="0">
              <a:latin typeface="Source Sans Pro"/>
              <a:cs typeface="Source Sans Pro"/>
            </a:endParaRP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02D1EE8-9B2E-6B1E-992A-E61E4ABD964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lang="de-DE" spc="-1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2A6F4FB-03FA-8153-6583-10B05F90B95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27</a:t>
            </a:fld>
            <a:endParaRPr lang="de-DE" spc="-50" dirty="0"/>
          </a:p>
        </p:txBody>
      </p:sp>
    </p:spTree>
    <p:extLst>
      <p:ext uri="{BB962C8B-B14F-4D97-AF65-F5344CB8AC3E}">
        <p14:creationId xmlns:p14="http://schemas.microsoft.com/office/powerpoint/2010/main" val="31643018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7F9A9-68DF-009C-4AE1-24DA3370A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6615E5B-3AC7-4CCB-34CE-1407984478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dirty="0">
                <a:latin typeface="Source Sans Pro"/>
                <a:cs typeface="Source Sans Pro"/>
              </a:rPr>
              <a:t>Merkmale eines Projektes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8E380B9-F20E-38C7-1AB8-4EAE48857763}"/>
              </a:ext>
            </a:extLst>
          </p:cNvPr>
          <p:cNvSpPr txBox="1"/>
          <p:nvPr/>
        </p:nvSpPr>
        <p:spPr>
          <a:xfrm>
            <a:off x="457200" y="1371600"/>
            <a:ext cx="8931758" cy="34079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735"/>
              </a:spcBef>
              <a:tabLst>
                <a:tab pos="240665" algn="l"/>
              </a:tabLst>
            </a:pPr>
            <a:r>
              <a:rPr lang="de-DE" sz="2400" b="1" dirty="0">
                <a:solidFill>
                  <a:srgbClr val="0070B1"/>
                </a:solidFill>
                <a:latin typeface="Source Sans Pro"/>
                <a:cs typeface="Source Sans Pro"/>
              </a:rPr>
              <a:t>Folgende Merkmale kennzeichnen ein Projekt:</a:t>
            </a:r>
          </a:p>
          <a:p>
            <a:pPr marL="12700">
              <a:spcBef>
                <a:spcPts val="735"/>
              </a:spcBef>
              <a:tabLst>
                <a:tab pos="240665" algn="l"/>
              </a:tabLst>
            </a:pPr>
            <a:endParaRPr lang="de-DE" sz="2400" b="1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240665" indent="-227965">
              <a:spcBef>
                <a:spcPts val="735"/>
              </a:spcBef>
              <a:buFont typeface="Arial"/>
              <a:buChar char="•"/>
              <a:tabLst>
                <a:tab pos="240665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Das </a:t>
            </a:r>
            <a:r>
              <a:rPr lang="de-DE" b="1" dirty="0">
                <a:solidFill>
                  <a:srgbClr val="0070B1"/>
                </a:solidFill>
                <a:latin typeface="Source Sans Pro"/>
                <a:cs typeface="Source Sans Pro"/>
              </a:rPr>
              <a:t>Projektziel</a:t>
            </a: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 ist eindeutig definiert.</a:t>
            </a:r>
          </a:p>
          <a:p>
            <a:pPr marL="240665" indent="-227965">
              <a:spcBef>
                <a:spcPts val="735"/>
              </a:spcBef>
              <a:buFont typeface="Arial"/>
              <a:buChar char="•"/>
              <a:tabLst>
                <a:tab pos="240665" algn="l"/>
              </a:tabLst>
            </a:pPr>
            <a:endParaRPr lang="de-DE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240665" indent="-227965">
              <a:spcBef>
                <a:spcPts val="735"/>
              </a:spcBef>
              <a:buFont typeface="Arial"/>
              <a:buChar char="•"/>
              <a:tabLst>
                <a:tab pos="240665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Das Projektziel und das Projektergebnis sind </a:t>
            </a:r>
            <a:r>
              <a:rPr lang="de-DE" b="1" dirty="0">
                <a:solidFill>
                  <a:srgbClr val="0070B1"/>
                </a:solidFill>
                <a:latin typeface="Source Sans Pro"/>
                <a:cs typeface="Source Sans Pro"/>
              </a:rPr>
              <a:t>messbar</a:t>
            </a: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 beschrieben.</a:t>
            </a:r>
          </a:p>
          <a:p>
            <a:pPr marL="240665" indent="-227965">
              <a:spcBef>
                <a:spcPts val="735"/>
              </a:spcBef>
              <a:buFont typeface="Arial"/>
              <a:buChar char="•"/>
              <a:tabLst>
                <a:tab pos="240665" algn="l"/>
              </a:tabLst>
            </a:pPr>
            <a:endParaRPr lang="de-DE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240665" indent="-227965">
              <a:spcBef>
                <a:spcPts val="735"/>
              </a:spcBef>
              <a:buFont typeface="Arial"/>
              <a:buChar char="•"/>
              <a:tabLst>
                <a:tab pos="240665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Das Projekt wird innerhalb eines </a:t>
            </a:r>
            <a:r>
              <a:rPr lang="de-DE" b="1" dirty="0">
                <a:solidFill>
                  <a:srgbClr val="0070B1"/>
                </a:solidFill>
                <a:latin typeface="Source Sans Pro"/>
                <a:cs typeface="Source Sans Pro"/>
              </a:rPr>
              <a:t>Zeitrahmens</a:t>
            </a: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 mit vorgegebenen </a:t>
            </a:r>
            <a:r>
              <a:rPr lang="de-DE" b="1" dirty="0">
                <a:solidFill>
                  <a:srgbClr val="0070B1"/>
                </a:solidFill>
                <a:latin typeface="Source Sans Pro"/>
                <a:cs typeface="Source Sans Pro"/>
              </a:rPr>
              <a:t>Terminen</a:t>
            </a: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 durchgeführt.</a:t>
            </a:r>
          </a:p>
          <a:p>
            <a:pPr marL="240665" indent="-227965">
              <a:spcBef>
                <a:spcPts val="735"/>
              </a:spcBef>
              <a:buFont typeface="Arial"/>
              <a:buChar char="•"/>
              <a:tabLst>
                <a:tab pos="240665" algn="l"/>
              </a:tabLst>
            </a:pPr>
            <a:endParaRPr lang="de-DE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240665" indent="-227965">
              <a:spcBef>
                <a:spcPts val="735"/>
              </a:spcBef>
              <a:buFont typeface="Arial"/>
              <a:buChar char="•"/>
              <a:tabLst>
                <a:tab pos="240665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An einem Projekt arbeiten notwendigerweise </a:t>
            </a:r>
            <a:r>
              <a:rPr lang="de-DE" b="1" dirty="0">
                <a:solidFill>
                  <a:srgbClr val="0070B1"/>
                </a:solidFill>
                <a:latin typeface="Source Sans Pro"/>
                <a:cs typeface="Source Sans Pro"/>
              </a:rPr>
              <a:t>mehrere Beteiligte </a:t>
            </a: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zusammen.</a:t>
            </a:r>
            <a:endParaRPr dirty="0">
              <a:latin typeface="Source Sans Pro"/>
              <a:cs typeface="Source Sans Pro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6908C7-C12B-91A6-205E-940692EC54A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lang="de-DE" spc="-1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1A350B9-1FCD-B721-1B98-631646D017C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28</a:t>
            </a:fld>
            <a:endParaRPr lang="de-DE" spc="-50" dirty="0"/>
          </a:p>
        </p:txBody>
      </p:sp>
    </p:spTree>
    <p:extLst>
      <p:ext uri="{BB962C8B-B14F-4D97-AF65-F5344CB8AC3E}">
        <p14:creationId xmlns:p14="http://schemas.microsoft.com/office/powerpoint/2010/main" val="309688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>
                <a:latin typeface="Source Sans Pro"/>
                <a:cs typeface="Source Sans Pro"/>
              </a:rPr>
              <a:t>Beispiele für andere Modelle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0959" y="1358983"/>
            <a:ext cx="399478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i="1" spc="-45" dirty="0">
                <a:solidFill>
                  <a:srgbClr val="0070B1"/>
                </a:solidFill>
                <a:latin typeface="Source Sans Pro"/>
                <a:cs typeface="Source Sans Pro"/>
              </a:rPr>
              <a:t>7-</a:t>
            </a:r>
            <a:r>
              <a:rPr sz="1900" i="1" spc="-60" dirty="0">
                <a:solidFill>
                  <a:srgbClr val="0070B1"/>
                </a:solidFill>
                <a:latin typeface="Source Sans Pro"/>
                <a:cs typeface="Source Sans Pro"/>
              </a:rPr>
              <a:t>Phasen-Modell</a:t>
            </a:r>
            <a:r>
              <a:rPr sz="1900" i="1" spc="1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z="1900" i="1" spc="-40" dirty="0">
                <a:solidFill>
                  <a:srgbClr val="0070B1"/>
                </a:solidFill>
                <a:latin typeface="Source Sans Pro"/>
                <a:cs typeface="Source Sans Pro"/>
              </a:rPr>
              <a:t>der</a:t>
            </a:r>
            <a:r>
              <a:rPr sz="1900" i="1" spc="1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z="1900" i="1" spc="-45" dirty="0">
                <a:solidFill>
                  <a:srgbClr val="0070B1"/>
                </a:solidFill>
                <a:latin typeface="Source Sans Pro"/>
                <a:cs typeface="Source Sans Pro"/>
              </a:rPr>
              <a:t>Produktentwicklung</a:t>
            </a:r>
            <a:endParaRPr sz="1900">
              <a:latin typeface="Source Sans Pro"/>
              <a:cs typeface="Source Sans Pr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27605" y="1985517"/>
            <a:ext cx="2338705" cy="1016000"/>
            <a:chOff x="1927605" y="1985517"/>
            <a:chExt cx="2338705" cy="1016000"/>
          </a:xfrm>
        </p:grpSpPr>
        <p:sp>
          <p:nvSpPr>
            <p:cNvPr id="5" name="object 5"/>
            <p:cNvSpPr/>
            <p:nvPr/>
          </p:nvSpPr>
          <p:spPr>
            <a:xfrm>
              <a:off x="1933955" y="1991867"/>
              <a:ext cx="2326005" cy="1003300"/>
            </a:xfrm>
            <a:custGeom>
              <a:avLst/>
              <a:gdLst/>
              <a:ahLst/>
              <a:cxnLst/>
              <a:rect l="l" t="t" r="r" b="b"/>
              <a:pathLst>
                <a:path w="2326004" h="1003300">
                  <a:moveTo>
                    <a:pt x="1824228" y="0"/>
                  </a:moveTo>
                  <a:lnTo>
                    <a:pt x="0" y="0"/>
                  </a:lnTo>
                  <a:lnTo>
                    <a:pt x="501395" y="501396"/>
                  </a:lnTo>
                  <a:lnTo>
                    <a:pt x="0" y="1002792"/>
                  </a:lnTo>
                  <a:lnTo>
                    <a:pt x="1824228" y="1002792"/>
                  </a:lnTo>
                  <a:lnTo>
                    <a:pt x="2325623" y="501396"/>
                  </a:lnTo>
                  <a:lnTo>
                    <a:pt x="1824228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33955" y="1991867"/>
              <a:ext cx="2326005" cy="1003300"/>
            </a:xfrm>
            <a:custGeom>
              <a:avLst/>
              <a:gdLst/>
              <a:ahLst/>
              <a:cxnLst/>
              <a:rect l="l" t="t" r="r" b="b"/>
              <a:pathLst>
                <a:path w="2326004" h="1003300">
                  <a:moveTo>
                    <a:pt x="0" y="0"/>
                  </a:moveTo>
                  <a:lnTo>
                    <a:pt x="1824228" y="0"/>
                  </a:lnTo>
                  <a:lnTo>
                    <a:pt x="2325623" y="501396"/>
                  </a:lnTo>
                  <a:lnTo>
                    <a:pt x="1824228" y="1002792"/>
                  </a:lnTo>
                  <a:lnTo>
                    <a:pt x="0" y="1002792"/>
                  </a:lnTo>
                  <a:lnTo>
                    <a:pt x="501395" y="50139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558923" y="2225167"/>
            <a:ext cx="107569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39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2E8F4"/>
                </a:solidFill>
                <a:latin typeface="Source Sans Pro"/>
                <a:cs typeface="Source Sans Pro"/>
              </a:rPr>
              <a:t>Konzept- Entwicklung</a:t>
            </a:r>
            <a:endParaRPr sz="1600">
              <a:latin typeface="Source Sans Pro"/>
              <a:cs typeface="Source Sans Pr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6174" y="1985517"/>
            <a:ext cx="2053589" cy="1016000"/>
            <a:chOff x="376174" y="1985517"/>
            <a:chExt cx="2053589" cy="1016000"/>
          </a:xfrm>
        </p:grpSpPr>
        <p:sp>
          <p:nvSpPr>
            <p:cNvPr id="9" name="object 9"/>
            <p:cNvSpPr/>
            <p:nvPr/>
          </p:nvSpPr>
          <p:spPr>
            <a:xfrm>
              <a:off x="382524" y="1991867"/>
              <a:ext cx="2040889" cy="1003300"/>
            </a:xfrm>
            <a:custGeom>
              <a:avLst/>
              <a:gdLst/>
              <a:ahLst/>
              <a:cxnLst/>
              <a:rect l="l" t="t" r="r" b="b"/>
              <a:pathLst>
                <a:path w="2040889" h="1003300">
                  <a:moveTo>
                    <a:pt x="1539239" y="0"/>
                  </a:moveTo>
                  <a:lnTo>
                    <a:pt x="0" y="0"/>
                  </a:lnTo>
                  <a:lnTo>
                    <a:pt x="501395" y="501396"/>
                  </a:lnTo>
                  <a:lnTo>
                    <a:pt x="0" y="1002792"/>
                  </a:lnTo>
                  <a:lnTo>
                    <a:pt x="1539239" y="1002792"/>
                  </a:lnTo>
                  <a:lnTo>
                    <a:pt x="2040636" y="501396"/>
                  </a:lnTo>
                  <a:lnTo>
                    <a:pt x="1539239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2524" y="1991867"/>
              <a:ext cx="2040889" cy="1003300"/>
            </a:xfrm>
            <a:custGeom>
              <a:avLst/>
              <a:gdLst/>
              <a:ahLst/>
              <a:cxnLst/>
              <a:rect l="l" t="t" r="r" b="b"/>
              <a:pathLst>
                <a:path w="2040889" h="1003300">
                  <a:moveTo>
                    <a:pt x="0" y="0"/>
                  </a:moveTo>
                  <a:lnTo>
                    <a:pt x="1539239" y="0"/>
                  </a:lnTo>
                  <a:lnTo>
                    <a:pt x="2040636" y="501396"/>
                  </a:lnTo>
                  <a:lnTo>
                    <a:pt x="1539239" y="1002792"/>
                  </a:lnTo>
                  <a:lnTo>
                    <a:pt x="0" y="1002792"/>
                  </a:lnTo>
                  <a:lnTo>
                    <a:pt x="501395" y="50139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15390" y="2225167"/>
            <a:ext cx="7747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30" marR="5080" indent="-24765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2E8F4"/>
                </a:solidFill>
                <a:latin typeface="Source Sans Pro"/>
                <a:cs typeface="Source Sans Pro"/>
              </a:rPr>
              <a:t>Produkt- planung</a:t>
            </a:r>
            <a:endParaRPr sz="1600">
              <a:latin typeface="Source Sans Pro"/>
              <a:cs typeface="Source Sans Pr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765550" y="1985517"/>
            <a:ext cx="2113280" cy="1016000"/>
            <a:chOff x="3765550" y="1985517"/>
            <a:chExt cx="2113280" cy="1016000"/>
          </a:xfrm>
        </p:grpSpPr>
        <p:sp>
          <p:nvSpPr>
            <p:cNvPr id="13" name="object 13"/>
            <p:cNvSpPr/>
            <p:nvPr/>
          </p:nvSpPr>
          <p:spPr>
            <a:xfrm>
              <a:off x="3771900" y="1991867"/>
              <a:ext cx="2100580" cy="1003300"/>
            </a:xfrm>
            <a:custGeom>
              <a:avLst/>
              <a:gdLst/>
              <a:ahLst/>
              <a:cxnLst/>
              <a:rect l="l" t="t" r="r" b="b"/>
              <a:pathLst>
                <a:path w="2100579" h="1003300">
                  <a:moveTo>
                    <a:pt x="1598676" y="0"/>
                  </a:moveTo>
                  <a:lnTo>
                    <a:pt x="0" y="0"/>
                  </a:lnTo>
                  <a:lnTo>
                    <a:pt x="501396" y="501396"/>
                  </a:lnTo>
                  <a:lnTo>
                    <a:pt x="0" y="1002792"/>
                  </a:lnTo>
                  <a:lnTo>
                    <a:pt x="1598676" y="1002792"/>
                  </a:lnTo>
                  <a:lnTo>
                    <a:pt x="2100072" y="501396"/>
                  </a:lnTo>
                  <a:lnTo>
                    <a:pt x="1598676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71900" y="1991867"/>
              <a:ext cx="2100580" cy="1003300"/>
            </a:xfrm>
            <a:custGeom>
              <a:avLst/>
              <a:gdLst/>
              <a:ahLst/>
              <a:cxnLst/>
              <a:rect l="l" t="t" r="r" b="b"/>
              <a:pathLst>
                <a:path w="2100579" h="1003300">
                  <a:moveTo>
                    <a:pt x="0" y="0"/>
                  </a:moveTo>
                  <a:lnTo>
                    <a:pt x="1598676" y="0"/>
                  </a:lnTo>
                  <a:lnTo>
                    <a:pt x="2100072" y="501396"/>
                  </a:lnTo>
                  <a:lnTo>
                    <a:pt x="1598676" y="1002792"/>
                  </a:lnTo>
                  <a:lnTo>
                    <a:pt x="0" y="1002792"/>
                  </a:lnTo>
                  <a:lnTo>
                    <a:pt x="501396" y="50139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403597" y="2225167"/>
            <a:ext cx="8369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5904" marR="5080" indent="-24384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2E8F4"/>
                </a:solidFill>
                <a:latin typeface="Source Sans Pro"/>
                <a:cs typeface="Source Sans Pro"/>
              </a:rPr>
              <a:t>Prototyp- </a:t>
            </a:r>
            <a:r>
              <a:rPr sz="1600" spc="-25" dirty="0">
                <a:solidFill>
                  <a:srgbClr val="D2E8F4"/>
                </a:solidFill>
                <a:latin typeface="Source Sans Pro"/>
                <a:cs typeface="Source Sans Pro"/>
              </a:rPr>
              <a:t>bau</a:t>
            </a:r>
            <a:endParaRPr sz="1600">
              <a:latin typeface="Source Sans Pro"/>
              <a:cs typeface="Source Sans Pr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367273" y="1985517"/>
            <a:ext cx="1711960" cy="1016000"/>
            <a:chOff x="5367273" y="1985517"/>
            <a:chExt cx="1711960" cy="1016000"/>
          </a:xfrm>
        </p:grpSpPr>
        <p:sp>
          <p:nvSpPr>
            <p:cNvPr id="17" name="object 17"/>
            <p:cNvSpPr/>
            <p:nvPr/>
          </p:nvSpPr>
          <p:spPr>
            <a:xfrm>
              <a:off x="5373623" y="1991867"/>
              <a:ext cx="1699260" cy="1003300"/>
            </a:xfrm>
            <a:custGeom>
              <a:avLst/>
              <a:gdLst/>
              <a:ahLst/>
              <a:cxnLst/>
              <a:rect l="l" t="t" r="r" b="b"/>
              <a:pathLst>
                <a:path w="1699259" h="1003300">
                  <a:moveTo>
                    <a:pt x="1197864" y="0"/>
                  </a:moveTo>
                  <a:lnTo>
                    <a:pt x="0" y="0"/>
                  </a:lnTo>
                  <a:lnTo>
                    <a:pt x="501396" y="501396"/>
                  </a:lnTo>
                  <a:lnTo>
                    <a:pt x="0" y="1002792"/>
                  </a:lnTo>
                  <a:lnTo>
                    <a:pt x="1197864" y="1002792"/>
                  </a:lnTo>
                  <a:lnTo>
                    <a:pt x="1699259" y="501396"/>
                  </a:lnTo>
                  <a:lnTo>
                    <a:pt x="1197864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73623" y="1991867"/>
              <a:ext cx="1699260" cy="1003300"/>
            </a:xfrm>
            <a:custGeom>
              <a:avLst/>
              <a:gdLst/>
              <a:ahLst/>
              <a:cxnLst/>
              <a:rect l="l" t="t" r="r" b="b"/>
              <a:pathLst>
                <a:path w="1699259" h="1003300">
                  <a:moveTo>
                    <a:pt x="0" y="0"/>
                  </a:moveTo>
                  <a:lnTo>
                    <a:pt x="1197864" y="0"/>
                  </a:lnTo>
                  <a:lnTo>
                    <a:pt x="1699259" y="501396"/>
                  </a:lnTo>
                  <a:lnTo>
                    <a:pt x="1197864" y="1002792"/>
                  </a:lnTo>
                  <a:lnTo>
                    <a:pt x="0" y="1002792"/>
                  </a:lnTo>
                  <a:lnTo>
                    <a:pt x="501396" y="50139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987034" y="2347086"/>
            <a:ext cx="4730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2E8F4"/>
                </a:solidFill>
                <a:latin typeface="Source Sans Pro"/>
                <a:cs typeface="Source Sans Pro"/>
              </a:rPr>
              <a:t>Tests</a:t>
            </a:r>
            <a:endParaRPr sz="1600">
              <a:latin typeface="Source Sans Pro"/>
              <a:cs typeface="Source Sans Pr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571233" y="1985517"/>
            <a:ext cx="2352040" cy="1016000"/>
            <a:chOff x="6571233" y="1985517"/>
            <a:chExt cx="2352040" cy="1016000"/>
          </a:xfrm>
        </p:grpSpPr>
        <p:sp>
          <p:nvSpPr>
            <p:cNvPr id="21" name="object 21"/>
            <p:cNvSpPr/>
            <p:nvPr/>
          </p:nvSpPr>
          <p:spPr>
            <a:xfrm>
              <a:off x="6577583" y="1991867"/>
              <a:ext cx="2339340" cy="1003300"/>
            </a:xfrm>
            <a:custGeom>
              <a:avLst/>
              <a:gdLst/>
              <a:ahLst/>
              <a:cxnLst/>
              <a:rect l="l" t="t" r="r" b="b"/>
              <a:pathLst>
                <a:path w="2339340" h="1003300">
                  <a:moveTo>
                    <a:pt x="1837944" y="0"/>
                  </a:moveTo>
                  <a:lnTo>
                    <a:pt x="0" y="0"/>
                  </a:lnTo>
                  <a:lnTo>
                    <a:pt x="501396" y="501396"/>
                  </a:lnTo>
                  <a:lnTo>
                    <a:pt x="0" y="1002792"/>
                  </a:lnTo>
                  <a:lnTo>
                    <a:pt x="1837944" y="1002792"/>
                  </a:lnTo>
                  <a:lnTo>
                    <a:pt x="2339340" y="501396"/>
                  </a:lnTo>
                  <a:lnTo>
                    <a:pt x="1837944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77583" y="1991867"/>
              <a:ext cx="2339340" cy="1003300"/>
            </a:xfrm>
            <a:custGeom>
              <a:avLst/>
              <a:gdLst/>
              <a:ahLst/>
              <a:cxnLst/>
              <a:rect l="l" t="t" r="r" b="b"/>
              <a:pathLst>
                <a:path w="2339340" h="1003300">
                  <a:moveTo>
                    <a:pt x="0" y="0"/>
                  </a:moveTo>
                  <a:lnTo>
                    <a:pt x="1837944" y="0"/>
                  </a:lnTo>
                  <a:lnTo>
                    <a:pt x="2339340" y="501396"/>
                  </a:lnTo>
                  <a:lnTo>
                    <a:pt x="1837944" y="1002792"/>
                  </a:lnTo>
                  <a:lnTo>
                    <a:pt x="0" y="1002792"/>
                  </a:lnTo>
                  <a:lnTo>
                    <a:pt x="501396" y="50139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182739" y="2225167"/>
            <a:ext cx="11309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 marR="5080" indent="-3175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2E8F4"/>
                </a:solidFill>
                <a:latin typeface="Source Sans Pro"/>
                <a:cs typeface="Source Sans Pro"/>
              </a:rPr>
              <a:t>Produktions- vorbereitung</a:t>
            </a:r>
            <a:endParaRPr sz="1600">
              <a:latin typeface="Source Sans Pro"/>
              <a:cs typeface="Source Sans Pro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409178" y="1983994"/>
            <a:ext cx="1711960" cy="1017269"/>
            <a:chOff x="8409178" y="1983994"/>
            <a:chExt cx="1711960" cy="1017269"/>
          </a:xfrm>
        </p:grpSpPr>
        <p:sp>
          <p:nvSpPr>
            <p:cNvPr id="25" name="object 25"/>
            <p:cNvSpPr/>
            <p:nvPr/>
          </p:nvSpPr>
          <p:spPr>
            <a:xfrm>
              <a:off x="8415528" y="1990344"/>
              <a:ext cx="1699260" cy="1004569"/>
            </a:xfrm>
            <a:custGeom>
              <a:avLst/>
              <a:gdLst/>
              <a:ahLst/>
              <a:cxnLst/>
              <a:rect l="l" t="t" r="r" b="b"/>
              <a:pathLst>
                <a:path w="1699259" h="1004569">
                  <a:moveTo>
                    <a:pt x="1197102" y="0"/>
                  </a:moveTo>
                  <a:lnTo>
                    <a:pt x="0" y="0"/>
                  </a:lnTo>
                  <a:lnTo>
                    <a:pt x="502157" y="502157"/>
                  </a:lnTo>
                  <a:lnTo>
                    <a:pt x="0" y="1004315"/>
                  </a:lnTo>
                  <a:lnTo>
                    <a:pt x="1197102" y="1004315"/>
                  </a:lnTo>
                  <a:lnTo>
                    <a:pt x="1699260" y="502157"/>
                  </a:lnTo>
                  <a:lnTo>
                    <a:pt x="1197102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415528" y="1990344"/>
              <a:ext cx="1699260" cy="1004569"/>
            </a:xfrm>
            <a:custGeom>
              <a:avLst/>
              <a:gdLst/>
              <a:ahLst/>
              <a:cxnLst/>
              <a:rect l="l" t="t" r="r" b="b"/>
              <a:pathLst>
                <a:path w="1699259" h="1004569">
                  <a:moveTo>
                    <a:pt x="0" y="0"/>
                  </a:moveTo>
                  <a:lnTo>
                    <a:pt x="1197102" y="0"/>
                  </a:lnTo>
                  <a:lnTo>
                    <a:pt x="1699260" y="502157"/>
                  </a:lnTo>
                  <a:lnTo>
                    <a:pt x="1197102" y="1004315"/>
                  </a:lnTo>
                  <a:lnTo>
                    <a:pt x="0" y="1004315"/>
                  </a:lnTo>
                  <a:lnTo>
                    <a:pt x="502157" y="50215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9039225" y="2223973"/>
            <a:ext cx="4552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2E8F4"/>
                </a:solidFill>
                <a:latin typeface="Source Sans Pro"/>
                <a:cs typeface="Source Sans Pro"/>
              </a:rPr>
              <a:t>Null-</a:t>
            </a:r>
            <a:endParaRPr sz="1600">
              <a:latin typeface="Source Sans Pro"/>
              <a:cs typeface="Source Sans Pr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solidFill>
                  <a:srgbClr val="D2E8F4"/>
                </a:solidFill>
                <a:latin typeface="Source Sans Pro"/>
                <a:cs typeface="Source Sans Pro"/>
              </a:rPr>
              <a:t>Serie</a:t>
            </a:r>
            <a:endParaRPr sz="1600">
              <a:latin typeface="Source Sans Pro"/>
              <a:cs typeface="Source Sans Pro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611614" y="1985517"/>
            <a:ext cx="2256155" cy="1016000"/>
            <a:chOff x="9611614" y="1985517"/>
            <a:chExt cx="2256155" cy="1016000"/>
          </a:xfrm>
        </p:grpSpPr>
        <p:sp>
          <p:nvSpPr>
            <p:cNvPr id="29" name="object 29"/>
            <p:cNvSpPr/>
            <p:nvPr/>
          </p:nvSpPr>
          <p:spPr>
            <a:xfrm>
              <a:off x="9617964" y="1991867"/>
              <a:ext cx="2243455" cy="1003300"/>
            </a:xfrm>
            <a:custGeom>
              <a:avLst/>
              <a:gdLst/>
              <a:ahLst/>
              <a:cxnLst/>
              <a:rect l="l" t="t" r="r" b="b"/>
              <a:pathLst>
                <a:path w="2243454" h="1003300">
                  <a:moveTo>
                    <a:pt x="1741931" y="0"/>
                  </a:moveTo>
                  <a:lnTo>
                    <a:pt x="0" y="0"/>
                  </a:lnTo>
                  <a:lnTo>
                    <a:pt x="501395" y="501396"/>
                  </a:lnTo>
                  <a:lnTo>
                    <a:pt x="0" y="1002792"/>
                  </a:lnTo>
                  <a:lnTo>
                    <a:pt x="1741931" y="1002792"/>
                  </a:lnTo>
                  <a:lnTo>
                    <a:pt x="2243328" y="501396"/>
                  </a:lnTo>
                  <a:lnTo>
                    <a:pt x="1741931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617964" y="1991867"/>
              <a:ext cx="2243455" cy="1003300"/>
            </a:xfrm>
            <a:custGeom>
              <a:avLst/>
              <a:gdLst/>
              <a:ahLst/>
              <a:cxnLst/>
              <a:rect l="l" t="t" r="r" b="b"/>
              <a:pathLst>
                <a:path w="2243454" h="1003300">
                  <a:moveTo>
                    <a:pt x="0" y="0"/>
                  </a:moveTo>
                  <a:lnTo>
                    <a:pt x="1741931" y="0"/>
                  </a:lnTo>
                  <a:lnTo>
                    <a:pt x="2243328" y="501396"/>
                  </a:lnTo>
                  <a:lnTo>
                    <a:pt x="1741931" y="1002792"/>
                  </a:lnTo>
                  <a:lnTo>
                    <a:pt x="0" y="1002792"/>
                  </a:lnTo>
                  <a:lnTo>
                    <a:pt x="501395" y="50139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0251185" y="2225167"/>
            <a:ext cx="9804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7526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2E8F4"/>
                </a:solidFill>
                <a:latin typeface="Source Sans Pro"/>
                <a:cs typeface="Source Sans Pro"/>
              </a:rPr>
              <a:t>Serien- produktion</a:t>
            </a:r>
            <a:endParaRPr sz="1600">
              <a:latin typeface="Source Sans Pro"/>
              <a:cs typeface="Source Sans Pr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93063" y="5606897"/>
            <a:ext cx="80695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 err="1">
                <a:solidFill>
                  <a:srgbClr val="0070B1"/>
                </a:solidFill>
                <a:latin typeface="Source Sans Pro"/>
                <a:cs typeface="Source Sans Pro"/>
              </a:rPr>
              <a:t>Anzahl</a:t>
            </a:r>
            <a:r>
              <a:rPr sz="1800" spc="-4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z="1800" dirty="0">
                <a:solidFill>
                  <a:srgbClr val="0070B1"/>
                </a:solidFill>
                <a:latin typeface="Source Sans Pro"/>
                <a:cs typeface="Source Sans Pro"/>
              </a:rPr>
              <a:t>der</a:t>
            </a:r>
            <a:r>
              <a:rPr sz="1800" spc="-4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z="1800" dirty="0">
                <a:solidFill>
                  <a:srgbClr val="0070B1"/>
                </a:solidFill>
                <a:latin typeface="Source Sans Pro"/>
                <a:cs typeface="Source Sans Pro"/>
              </a:rPr>
              <a:t>Projektphasen</a:t>
            </a:r>
            <a:r>
              <a:rPr sz="1800" spc="-4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z="1800" dirty="0">
                <a:solidFill>
                  <a:srgbClr val="0070B1"/>
                </a:solidFill>
                <a:latin typeface="Source Sans Pro"/>
                <a:cs typeface="Source Sans Pro"/>
              </a:rPr>
              <a:t>kann</a:t>
            </a:r>
            <a:r>
              <a:rPr sz="1800" spc="-3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z="1800" dirty="0">
                <a:solidFill>
                  <a:srgbClr val="0070B1"/>
                </a:solidFill>
                <a:latin typeface="Source Sans Pro"/>
                <a:cs typeface="Source Sans Pro"/>
              </a:rPr>
              <a:t>sich</a:t>
            </a:r>
            <a:r>
              <a:rPr sz="1800" spc="-5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z="1800" dirty="0">
                <a:solidFill>
                  <a:srgbClr val="0070B1"/>
                </a:solidFill>
                <a:latin typeface="Source Sans Pro"/>
                <a:cs typeface="Source Sans Pro"/>
              </a:rPr>
              <a:t>nach</a:t>
            </a:r>
            <a:r>
              <a:rPr sz="1800" spc="-4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z="1800" dirty="0">
                <a:solidFill>
                  <a:srgbClr val="0070B1"/>
                </a:solidFill>
                <a:latin typeface="Source Sans Pro"/>
                <a:cs typeface="Source Sans Pro"/>
              </a:rPr>
              <a:t>Branche,</a:t>
            </a:r>
            <a:r>
              <a:rPr sz="1800" spc="-3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z="1800" dirty="0">
                <a:solidFill>
                  <a:srgbClr val="0070B1"/>
                </a:solidFill>
                <a:latin typeface="Source Sans Pro"/>
                <a:cs typeface="Source Sans Pro"/>
              </a:rPr>
              <a:t>Unternehmen</a:t>
            </a:r>
            <a:r>
              <a:rPr sz="1800" spc="-4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z="1800" spc="-10" dirty="0">
                <a:solidFill>
                  <a:srgbClr val="0070B1"/>
                </a:solidFill>
                <a:latin typeface="Source Sans Pro"/>
                <a:cs typeface="Source Sans Pro"/>
              </a:rPr>
              <a:t>ändern</a:t>
            </a:r>
            <a:endParaRPr sz="1800" dirty="0">
              <a:latin typeface="Source Sans Pro"/>
              <a:cs typeface="Source Sans Pro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926082" y="3872229"/>
            <a:ext cx="2126615" cy="1016000"/>
            <a:chOff x="1926082" y="3872229"/>
            <a:chExt cx="2126615" cy="1016000"/>
          </a:xfrm>
        </p:grpSpPr>
        <p:sp>
          <p:nvSpPr>
            <p:cNvPr id="34" name="object 34"/>
            <p:cNvSpPr/>
            <p:nvPr/>
          </p:nvSpPr>
          <p:spPr>
            <a:xfrm>
              <a:off x="1932432" y="3878579"/>
              <a:ext cx="2113915" cy="1003300"/>
            </a:xfrm>
            <a:custGeom>
              <a:avLst/>
              <a:gdLst/>
              <a:ahLst/>
              <a:cxnLst/>
              <a:rect l="l" t="t" r="r" b="b"/>
              <a:pathLst>
                <a:path w="2113915" h="1003300">
                  <a:moveTo>
                    <a:pt x="1612392" y="0"/>
                  </a:moveTo>
                  <a:lnTo>
                    <a:pt x="0" y="0"/>
                  </a:lnTo>
                  <a:lnTo>
                    <a:pt x="501395" y="501396"/>
                  </a:lnTo>
                  <a:lnTo>
                    <a:pt x="0" y="1002792"/>
                  </a:lnTo>
                  <a:lnTo>
                    <a:pt x="1612392" y="1002792"/>
                  </a:lnTo>
                  <a:lnTo>
                    <a:pt x="2113788" y="501396"/>
                  </a:lnTo>
                  <a:lnTo>
                    <a:pt x="1612392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932432" y="3878579"/>
              <a:ext cx="2113915" cy="1003300"/>
            </a:xfrm>
            <a:custGeom>
              <a:avLst/>
              <a:gdLst/>
              <a:ahLst/>
              <a:cxnLst/>
              <a:rect l="l" t="t" r="r" b="b"/>
              <a:pathLst>
                <a:path w="2113915" h="1003300">
                  <a:moveTo>
                    <a:pt x="0" y="0"/>
                  </a:moveTo>
                  <a:lnTo>
                    <a:pt x="1612392" y="0"/>
                  </a:lnTo>
                  <a:lnTo>
                    <a:pt x="2113788" y="501396"/>
                  </a:lnTo>
                  <a:lnTo>
                    <a:pt x="1612392" y="1002792"/>
                  </a:lnTo>
                  <a:lnTo>
                    <a:pt x="0" y="1002792"/>
                  </a:lnTo>
                  <a:lnTo>
                    <a:pt x="501395" y="501396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625344" y="4112514"/>
            <a:ext cx="7270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62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2E8F4"/>
                </a:solidFill>
                <a:latin typeface="Source Sans Pro"/>
                <a:cs typeface="Source Sans Pro"/>
              </a:rPr>
              <a:t>System- planung</a:t>
            </a:r>
            <a:endParaRPr sz="1600">
              <a:latin typeface="Source Sans Pro"/>
              <a:cs typeface="Source Sans Pro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74650" y="3872229"/>
            <a:ext cx="2053589" cy="1016000"/>
            <a:chOff x="374650" y="3872229"/>
            <a:chExt cx="2053589" cy="1016000"/>
          </a:xfrm>
        </p:grpSpPr>
        <p:sp>
          <p:nvSpPr>
            <p:cNvPr id="38" name="object 38"/>
            <p:cNvSpPr/>
            <p:nvPr/>
          </p:nvSpPr>
          <p:spPr>
            <a:xfrm>
              <a:off x="381000" y="3878579"/>
              <a:ext cx="2040889" cy="1003300"/>
            </a:xfrm>
            <a:custGeom>
              <a:avLst/>
              <a:gdLst/>
              <a:ahLst/>
              <a:cxnLst/>
              <a:rect l="l" t="t" r="r" b="b"/>
              <a:pathLst>
                <a:path w="2040889" h="1003300">
                  <a:moveTo>
                    <a:pt x="1539239" y="0"/>
                  </a:moveTo>
                  <a:lnTo>
                    <a:pt x="0" y="0"/>
                  </a:lnTo>
                  <a:lnTo>
                    <a:pt x="501396" y="501396"/>
                  </a:lnTo>
                  <a:lnTo>
                    <a:pt x="0" y="1002792"/>
                  </a:lnTo>
                  <a:lnTo>
                    <a:pt x="1539239" y="1002792"/>
                  </a:lnTo>
                  <a:lnTo>
                    <a:pt x="2040636" y="501396"/>
                  </a:lnTo>
                  <a:lnTo>
                    <a:pt x="1539239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81000" y="3878579"/>
              <a:ext cx="2040889" cy="1003300"/>
            </a:xfrm>
            <a:custGeom>
              <a:avLst/>
              <a:gdLst/>
              <a:ahLst/>
              <a:cxnLst/>
              <a:rect l="l" t="t" r="r" b="b"/>
              <a:pathLst>
                <a:path w="2040889" h="1003300">
                  <a:moveTo>
                    <a:pt x="0" y="0"/>
                  </a:moveTo>
                  <a:lnTo>
                    <a:pt x="1539239" y="0"/>
                  </a:lnTo>
                  <a:lnTo>
                    <a:pt x="2040636" y="501396"/>
                  </a:lnTo>
                  <a:lnTo>
                    <a:pt x="1539239" y="1002792"/>
                  </a:lnTo>
                  <a:lnTo>
                    <a:pt x="0" y="1002792"/>
                  </a:lnTo>
                  <a:lnTo>
                    <a:pt x="501396" y="501396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984910" y="4112514"/>
            <a:ext cx="83311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2E8F4"/>
                </a:solidFill>
                <a:latin typeface="Source Sans Pro"/>
                <a:cs typeface="Source Sans Pro"/>
              </a:rPr>
              <a:t>Aufgaben</a:t>
            </a:r>
            <a:endParaRPr sz="1600">
              <a:latin typeface="Source Sans Pro"/>
              <a:cs typeface="Source Sans Pro"/>
            </a:endParaRPr>
          </a:p>
          <a:p>
            <a:pPr marL="60960">
              <a:lnSpc>
                <a:spcPct val="100000"/>
              </a:lnSpc>
            </a:pPr>
            <a:r>
              <a:rPr sz="1600" spc="-10" dirty="0">
                <a:solidFill>
                  <a:srgbClr val="D2E8F4"/>
                </a:solidFill>
                <a:latin typeface="Source Sans Pro"/>
                <a:cs typeface="Source Sans Pro"/>
              </a:rPr>
              <a:t>-analyse</a:t>
            </a:r>
            <a:endParaRPr sz="1600">
              <a:latin typeface="Source Sans Pro"/>
              <a:cs typeface="Source Sans Pro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547617" y="3872229"/>
            <a:ext cx="1920875" cy="1016000"/>
            <a:chOff x="3547617" y="3872229"/>
            <a:chExt cx="1920875" cy="1016000"/>
          </a:xfrm>
        </p:grpSpPr>
        <p:sp>
          <p:nvSpPr>
            <p:cNvPr id="42" name="object 42"/>
            <p:cNvSpPr/>
            <p:nvPr/>
          </p:nvSpPr>
          <p:spPr>
            <a:xfrm>
              <a:off x="3553967" y="3878579"/>
              <a:ext cx="1908175" cy="1003300"/>
            </a:xfrm>
            <a:custGeom>
              <a:avLst/>
              <a:gdLst/>
              <a:ahLst/>
              <a:cxnLst/>
              <a:rect l="l" t="t" r="r" b="b"/>
              <a:pathLst>
                <a:path w="1908175" h="1003300">
                  <a:moveTo>
                    <a:pt x="1406652" y="0"/>
                  </a:moveTo>
                  <a:lnTo>
                    <a:pt x="0" y="0"/>
                  </a:lnTo>
                  <a:lnTo>
                    <a:pt x="501396" y="501396"/>
                  </a:lnTo>
                  <a:lnTo>
                    <a:pt x="0" y="1002792"/>
                  </a:lnTo>
                  <a:lnTo>
                    <a:pt x="1406652" y="1002792"/>
                  </a:lnTo>
                  <a:lnTo>
                    <a:pt x="1908048" y="501396"/>
                  </a:lnTo>
                  <a:lnTo>
                    <a:pt x="1406652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553967" y="3878579"/>
              <a:ext cx="1908175" cy="1003300"/>
            </a:xfrm>
            <a:custGeom>
              <a:avLst/>
              <a:gdLst/>
              <a:ahLst/>
              <a:cxnLst/>
              <a:rect l="l" t="t" r="r" b="b"/>
              <a:pathLst>
                <a:path w="1908175" h="1003300">
                  <a:moveTo>
                    <a:pt x="0" y="0"/>
                  </a:moveTo>
                  <a:lnTo>
                    <a:pt x="1406652" y="0"/>
                  </a:lnTo>
                  <a:lnTo>
                    <a:pt x="1908048" y="501396"/>
                  </a:lnTo>
                  <a:lnTo>
                    <a:pt x="1406652" y="1002792"/>
                  </a:lnTo>
                  <a:lnTo>
                    <a:pt x="0" y="1002792"/>
                  </a:lnTo>
                  <a:lnTo>
                    <a:pt x="501396" y="50139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4145407" y="4112514"/>
            <a:ext cx="7270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985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2E8F4"/>
                </a:solidFill>
                <a:latin typeface="Source Sans Pro"/>
                <a:cs typeface="Source Sans Pro"/>
              </a:rPr>
              <a:t>Detail- planung</a:t>
            </a:r>
            <a:endParaRPr sz="1600">
              <a:latin typeface="Source Sans Pro"/>
              <a:cs typeface="Source Sans Pro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961890" y="3872229"/>
            <a:ext cx="1920875" cy="1016000"/>
            <a:chOff x="4961890" y="3872229"/>
            <a:chExt cx="1920875" cy="1016000"/>
          </a:xfrm>
        </p:grpSpPr>
        <p:sp>
          <p:nvSpPr>
            <p:cNvPr id="46" name="object 46"/>
            <p:cNvSpPr/>
            <p:nvPr/>
          </p:nvSpPr>
          <p:spPr>
            <a:xfrm>
              <a:off x="4968240" y="3878579"/>
              <a:ext cx="1908175" cy="1003300"/>
            </a:xfrm>
            <a:custGeom>
              <a:avLst/>
              <a:gdLst/>
              <a:ahLst/>
              <a:cxnLst/>
              <a:rect l="l" t="t" r="r" b="b"/>
              <a:pathLst>
                <a:path w="1908175" h="1003300">
                  <a:moveTo>
                    <a:pt x="1406652" y="0"/>
                  </a:moveTo>
                  <a:lnTo>
                    <a:pt x="0" y="0"/>
                  </a:lnTo>
                  <a:lnTo>
                    <a:pt x="501396" y="501396"/>
                  </a:lnTo>
                  <a:lnTo>
                    <a:pt x="0" y="1002792"/>
                  </a:lnTo>
                  <a:lnTo>
                    <a:pt x="1406652" y="1002792"/>
                  </a:lnTo>
                  <a:lnTo>
                    <a:pt x="1908048" y="501396"/>
                  </a:lnTo>
                  <a:lnTo>
                    <a:pt x="1406652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968240" y="3878579"/>
              <a:ext cx="1908175" cy="1003300"/>
            </a:xfrm>
            <a:custGeom>
              <a:avLst/>
              <a:gdLst/>
              <a:ahLst/>
              <a:cxnLst/>
              <a:rect l="l" t="t" r="r" b="b"/>
              <a:pathLst>
                <a:path w="1908175" h="1003300">
                  <a:moveTo>
                    <a:pt x="0" y="0"/>
                  </a:moveTo>
                  <a:lnTo>
                    <a:pt x="1406652" y="0"/>
                  </a:lnTo>
                  <a:lnTo>
                    <a:pt x="1908048" y="501396"/>
                  </a:lnTo>
                  <a:lnTo>
                    <a:pt x="1406652" y="1002792"/>
                  </a:lnTo>
                  <a:lnTo>
                    <a:pt x="0" y="1002792"/>
                  </a:lnTo>
                  <a:lnTo>
                    <a:pt x="501396" y="50139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5577332" y="4112514"/>
            <a:ext cx="6902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24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D2E8F4"/>
                </a:solidFill>
                <a:latin typeface="Source Sans Pro"/>
                <a:cs typeface="Source Sans Pro"/>
              </a:rPr>
              <a:t>Um- </a:t>
            </a:r>
            <a:r>
              <a:rPr sz="1600" spc="-10" dirty="0">
                <a:solidFill>
                  <a:srgbClr val="D2E8F4"/>
                </a:solidFill>
                <a:latin typeface="Source Sans Pro"/>
                <a:cs typeface="Source Sans Pro"/>
              </a:rPr>
              <a:t>setzung</a:t>
            </a:r>
            <a:endParaRPr sz="1600">
              <a:latin typeface="Source Sans Pro"/>
              <a:cs typeface="Source Sans Pro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6374638" y="3872229"/>
            <a:ext cx="2250440" cy="1016000"/>
            <a:chOff x="6374638" y="3872229"/>
            <a:chExt cx="2250440" cy="1016000"/>
          </a:xfrm>
        </p:grpSpPr>
        <p:sp>
          <p:nvSpPr>
            <p:cNvPr id="50" name="object 50"/>
            <p:cNvSpPr/>
            <p:nvPr/>
          </p:nvSpPr>
          <p:spPr>
            <a:xfrm>
              <a:off x="6380988" y="3878579"/>
              <a:ext cx="2237740" cy="1003300"/>
            </a:xfrm>
            <a:custGeom>
              <a:avLst/>
              <a:gdLst/>
              <a:ahLst/>
              <a:cxnLst/>
              <a:rect l="l" t="t" r="r" b="b"/>
              <a:pathLst>
                <a:path w="2237740" h="1003300">
                  <a:moveTo>
                    <a:pt x="1735836" y="0"/>
                  </a:moveTo>
                  <a:lnTo>
                    <a:pt x="0" y="0"/>
                  </a:lnTo>
                  <a:lnTo>
                    <a:pt x="501395" y="501396"/>
                  </a:lnTo>
                  <a:lnTo>
                    <a:pt x="0" y="1002792"/>
                  </a:lnTo>
                  <a:lnTo>
                    <a:pt x="1735836" y="1002792"/>
                  </a:lnTo>
                  <a:lnTo>
                    <a:pt x="2237232" y="501396"/>
                  </a:lnTo>
                  <a:lnTo>
                    <a:pt x="1735836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380988" y="3878579"/>
              <a:ext cx="2237740" cy="1003300"/>
            </a:xfrm>
            <a:custGeom>
              <a:avLst/>
              <a:gdLst/>
              <a:ahLst/>
              <a:cxnLst/>
              <a:rect l="l" t="t" r="r" b="b"/>
              <a:pathLst>
                <a:path w="2237740" h="1003300">
                  <a:moveTo>
                    <a:pt x="0" y="0"/>
                  </a:moveTo>
                  <a:lnTo>
                    <a:pt x="1735836" y="0"/>
                  </a:lnTo>
                  <a:lnTo>
                    <a:pt x="2237232" y="501396"/>
                  </a:lnTo>
                  <a:lnTo>
                    <a:pt x="1735836" y="1002792"/>
                  </a:lnTo>
                  <a:lnTo>
                    <a:pt x="0" y="1002792"/>
                  </a:lnTo>
                  <a:lnTo>
                    <a:pt x="501395" y="50139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7004684" y="4234434"/>
            <a:ext cx="9912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2E8F4"/>
                </a:solidFill>
                <a:latin typeface="Source Sans Pro"/>
                <a:cs typeface="Source Sans Pro"/>
              </a:rPr>
              <a:t>Installation</a:t>
            </a:r>
            <a:endParaRPr sz="1600">
              <a:latin typeface="Source Sans Pro"/>
              <a:cs typeface="Source Sans Pro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8124190" y="3872229"/>
            <a:ext cx="2037080" cy="1017269"/>
            <a:chOff x="8124190" y="3872229"/>
            <a:chExt cx="2037080" cy="1017269"/>
          </a:xfrm>
        </p:grpSpPr>
        <p:sp>
          <p:nvSpPr>
            <p:cNvPr id="54" name="object 54"/>
            <p:cNvSpPr/>
            <p:nvPr/>
          </p:nvSpPr>
          <p:spPr>
            <a:xfrm>
              <a:off x="8130540" y="3878579"/>
              <a:ext cx="2024380" cy="1004569"/>
            </a:xfrm>
            <a:custGeom>
              <a:avLst/>
              <a:gdLst/>
              <a:ahLst/>
              <a:cxnLst/>
              <a:rect l="l" t="t" r="r" b="b"/>
              <a:pathLst>
                <a:path w="2024379" h="1004570">
                  <a:moveTo>
                    <a:pt x="1521713" y="0"/>
                  </a:moveTo>
                  <a:lnTo>
                    <a:pt x="0" y="0"/>
                  </a:lnTo>
                  <a:lnTo>
                    <a:pt x="502157" y="502158"/>
                  </a:lnTo>
                  <a:lnTo>
                    <a:pt x="0" y="1004316"/>
                  </a:lnTo>
                  <a:lnTo>
                    <a:pt x="1521713" y="1004316"/>
                  </a:lnTo>
                  <a:lnTo>
                    <a:pt x="2023871" y="502158"/>
                  </a:lnTo>
                  <a:lnTo>
                    <a:pt x="1521713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130540" y="3878579"/>
              <a:ext cx="2024380" cy="1004569"/>
            </a:xfrm>
            <a:custGeom>
              <a:avLst/>
              <a:gdLst/>
              <a:ahLst/>
              <a:cxnLst/>
              <a:rect l="l" t="t" r="r" b="b"/>
              <a:pathLst>
                <a:path w="2024379" h="1004570">
                  <a:moveTo>
                    <a:pt x="0" y="0"/>
                  </a:moveTo>
                  <a:lnTo>
                    <a:pt x="1521713" y="0"/>
                  </a:lnTo>
                  <a:lnTo>
                    <a:pt x="2023871" y="502158"/>
                  </a:lnTo>
                  <a:lnTo>
                    <a:pt x="1521713" y="1004316"/>
                  </a:lnTo>
                  <a:lnTo>
                    <a:pt x="0" y="1004316"/>
                  </a:lnTo>
                  <a:lnTo>
                    <a:pt x="502157" y="50215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8723121" y="4234941"/>
            <a:ext cx="8401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2E8F4"/>
                </a:solidFill>
                <a:latin typeface="Source Sans Pro"/>
                <a:cs typeface="Source Sans Pro"/>
              </a:rPr>
              <a:t>Abnahme</a:t>
            </a:r>
            <a:endParaRPr sz="1600">
              <a:latin typeface="Source Sans Pro"/>
              <a:cs typeface="Source Sans Pro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9649714" y="3872229"/>
            <a:ext cx="2136140" cy="1016000"/>
            <a:chOff x="9649714" y="3872229"/>
            <a:chExt cx="2136140" cy="1016000"/>
          </a:xfrm>
        </p:grpSpPr>
        <p:sp>
          <p:nvSpPr>
            <p:cNvPr id="58" name="object 58"/>
            <p:cNvSpPr/>
            <p:nvPr/>
          </p:nvSpPr>
          <p:spPr>
            <a:xfrm>
              <a:off x="9656064" y="3878579"/>
              <a:ext cx="2123440" cy="1003300"/>
            </a:xfrm>
            <a:custGeom>
              <a:avLst/>
              <a:gdLst/>
              <a:ahLst/>
              <a:cxnLst/>
              <a:rect l="l" t="t" r="r" b="b"/>
              <a:pathLst>
                <a:path w="2123440" h="1003300">
                  <a:moveTo>
                    <a:pt x="1621535" y="0"/>
                  </a:moveTo>
                  <a:lnTo>
                    <a:pt x="0" y="0"/>
                  </a:lnTo>
                  <a:lnTo>
                    <a:pt x="501395" y="501396"/>
                  </a:lnTo>
                  <a:lnTo>
                    <a:pt x="0" y="1002792"/>
                  </a:lnTo>
                  <a:lnTo>
                    <a:pt x="1621535" y="1002792"/>
                  </a:lnTo>
                  <a:lnTo>
                    <a:pt x="2122931" y="501396"/>
                  </a:lnTo>
                  <a:lnTo>
                    <a:pt x="1621535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9656064" y="3878579"/>
              <a:ext cx="2123440" cy="1003300"/>
            </a:xfrm>
            <a:custGeom>
              <a:avLst/>
              <a:gdLst/>
              <a:ahLst/>
              <a:cxnLst/>
              <a:rect l="l" t="t" r="r" b="b"/>
              <a:pathLst>
                <a:path w="2123440" h="1003300">
                  <a:moveTo>
                    <a:pt x="0" y="0"/>
                  </a:moveTo>
                  <a:lnTo>
                    <a:pt x="1621535" y="0"/>
                  </a:lnTo>
                  <a:lnTo>
                    <a:pt x="2122931" y="501396"/>
                  </a:lnTo>
                  <a:lnTo>
                    <a:pt x="1621535" y="1002792"/>
                  </a:lnTo>
                  <a:lnTo>
                    <a:pt x="0" y="1002792"/>
                  </a:lnTo>
                  <a:lnTo>
                    <a:pt x="501395" y="501396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10441940" y="4234434"/>
            <a:ext cx="5543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2E8F4"/>
                </a:solidFill>
                <a:latin typeface="Source Sans Pro"/>
                <a:cs typeface="Source Sans Pro"/>
              </a:rPr>
              <a:t>Pflege</a:t>
            </a:r>
            <a:endParaRPr sz="1600">
              <a:latin typeface="Source Sans Pro"/>
              <a:cs typeface="Source Sans Pro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55777" y="3321386"/>
            <a:ext cx="394652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i="1" spc="-50" dirty="0">
                <a:solidFill>
                  <a:srgbClr val="0070B1"/>
                </a:solidFill>
                <a:latin typeface="Source Sans Pro"/>
                <a:cs typeface="Source Sans Pro"/>
              </a:rPr>
              <a:t>7-</a:t>
            </a:r>
            <a:r>
              <a:rPr sz="1900" i="1" spc="-60" dirty="0">
                <a:solidFill>
                  <a:srgbClr val="0070B1"/>
                </a:solidFill>
                <a:latin typeface="Source Sans Pro"/>
                <a:cs typeface="Source Sans Pro"/>
              </a:rPr>
              <a:t>Phasen-Modell</a:t>
            </a:r>
            <a:r>
              <a:rPr sz="1900" i="1" spc="6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z="1900" i="1" spc="-50" dirty="0">
                <a:solidFill>
                  <a:srgbClr val="0070B1"/>
                </a:solidFill>
                <a:latin typeface="Source Sans Pro"/>
                <a:cs typeface="Source Sans Pro"/>
              </a:rPr>
              <a:t>von</a:t>
            </a:r>
            <a:r>
              <a:rPr sz="1900" i="1" spc="6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z="1900" i="1" spc="-60" dirty="0">
                <a:solidFill>
                  <a:srgbClr val="0070B1"/>
                </a:solidFill>
                <a:latin typeface="Source Sans Pro"/>
                <a:cs typeface="Source Sans Pro"/>
              </a:rPr>
              <a:t>Software-</a:t>
            </a:r>
            <a:r>
              <a:rPr sz="1900" i="1" spc="-25" dirty="0">
                <a:solidFill>
                  <a:srgbClr val="0070B1"/>
                </a:solidFill>
                <a:latin typeface="Source Sans Pro"/>
                <a:cs typeface="Source Sans Pro"/>
              </a:rPr>
              <a:t>Projekten</a:t>
            </a:r>
            <a:endParaRPr sz="1900">
              <a:latin typeface="Source Sans Pro"/>
              <a:cs typeface="Source Sans Pro"/>
            </a:endParaRPr>
          </a:p>
        </p:txBody>
      </p:sp>
      <p:sp>
        <p:nvSpPr>
          <p:cNvPr id="65" name="Fußzeilenplatzhalter 64">
            <a:extLst>
              <a:ext uri="{FF2B5EF4-FFF2-40B4-BE49-F238E27FC236}">
                <a16:creationId xmlns:a16="http://schemas.microsoft.com/office/drawing/2014/main" id="{7BA03843-8B87-19FC-F1B2-522810F8BD6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lang="de-DE" spc="-10" dirty="0"/>
          </a:p>
        </p:txBody>
      </p:sp>
      <p:sp>
        <p:nvSpPr>
          <p:cNvPr id="62" name="Foliennummernplatzhalter 61">
            <a:extLst>
              <a:ext uri="{FF2B5EF4-FFF2-40B4-BE49-F238E27FC236}">
                <a16:creationId xmlns:a16="http://schemas.microsoft.com/office/drawing/2014/main" id="{15499918-CDD7-1B33-7AF0-F4D7416660E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4330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29</a:t>
            </a:fld>
            <a:endParaRPr lang="de-DE" spc="-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80E4A-92BA-6C22-AC5D-A5E93E955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03C4A96-594B-7C8D-C70F-113B3A666A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dirty="0">
                <a:latin typeface="Source Sans Pro"/>
                <a:cs typeface="Source Sans Pro"/>
              </a:rPr>
              <a:t>Empfehlung für Ihre Projektarbeit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08FEF3A-7C07-17EE-3558-E5FD859E3F7B}"/>
              </a:ext>
            </a:extLst>
          </p:cNvPr>
          <p:cNvSpPr/>
          <p:nvPr/>
        </p:nvSpPr>
        <p:spPr>
          <a:xfrm>
            <a:off x="3130295" y="2398776"/>
            <a:ext cx="477520" cy="76200"/>
          </a:xfrm>
          <a:custGeom>
            <a:avLst/>
            <a:gdLst/>
            <a:ahLst/>
            <a:cxnLst/>
            <a:rect l="l" t="t" r="r" b="b"/>
            <a:pathLst>
              <a:path w="477520" h="76200">
                <a:moveTo>
                  <a:pt x="400812" y="0"/>
                </a:moveTo>
                <a:lnTo>
                  <a:pt x="400812" y="76200"/>
                </a:lnTo>
                <a:lnTo>
                  <a:pt x="464312" y="44450"/>
                </a:lnTo>
                <a:lnTo>
                  <a:pt x="413512" y="44450"/>
                </a:lnTo>
                <a:lnTo>
                  <a:pt x="413512" y="31750"/>
                </a:lnTo>
                <a:lnTo>
                  <a:pt x="464312" y="31750"/>
                </a:lnTo>
                <a:lnTo>
                  <a:pt x="400812" y="0"/>
                </a:lnTo>
                <a:close/>
              </a:path>
              <a:path w="477520" h="76200">
                <a:moveTo>
                  <a:pt x="400812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00812" y="44450"/>
                </a:lnTo>
                <a:lnTo>
                  <a:pt x="400812" y="31750"/>
                </a:lnTo>
                <a:close/>
              </a:path>
              <a:path w="477520" h="76200">
                <a:moveTo>
                  <a:pt x="464312" y="31750"/>
                </a:moveTo>
                <a:lnTo>
                  <a:pt x="413512" y="31750"/>
                </a:lnTo>
                <a:lnTo>
                  <a:pt x="413512" y="44450"/>
                </a:lnTo>
                <a:lnTo>
                  <a:pt x="464312" y="44450"/>
                </a:lnTo>
                <a:lnTo>
                  <a:pt x="477012" y="38100"/>
                </a:lnTo>
                <a:lnTo>
                  <a:pt x="464312" y="31750"/>
                </a:lnTo>
                <a:close/>
              </a:path>
            </a:pathLst>
          </a:custGeom>
          <a:solidFill>
            <a:srgbClr val="0070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B526B75-61F7-8446-C3E1-AD13A6783FBA}"/>
              </a:ext>
            </a:extLst>
          </p:cNvPr>
          <p:cNvSpPr txBox="1"/>
          <p:nvPr/>
        </p:nvSpPr>
        <p:spPr>
          <a:xfrm>
            <a:off x="800100" y="2127504"/>
            <a:ext cx="2330450" cy="617220"/>
          </a:xfrm>
          <a:prstGeom prst="rect">
            <a:avLst/>
          </a:prstGeom>
          <a:solidFill>
            <a:srgbClr val="0070B1"/>
          </a:solidFill>
          <a:ln w="12700">
            <a:solidFill>
              <a:srgbClr val="005182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1800" spc="-10" dirty="0">
                <a:solidFill>
                  <a:srgbClr val="D2E8F4"/>
                </a:solidFill>
                <a:latin typeface="Source Sans Pro"/>
                <a:cs typeface="Source Sans Pro"/>
              </a:rPr>
              <a:t>Projektinitialisierung/</a:t>
            </a:r>
            <a:endParaRPr sz="1800" dirty="0">
              <a:latin typeface="Source Sans Pro"/>
              <a:cs typeface="Source Sans Pro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solidFill>
                  <a:srgbClr val="D2E8F4"/>
                </a:solidFill>
                <a:latin typeface="Source Sans Pro"/>
                <a:cs typeface="Source Sans Pro"/>
              </a:rPr>
              <a:t>-</a:t>
            </a:r>
            <a:r>
              <a:rPr sz="1800" spc="-20" dirty="0">
                <a:solidFill>
                  <a:srgbClr val="D2E8F4"/>
                </a:solidFill>
                <a:latin typeface="Source Sans Pro"/>
                <a:cs typeface="Source Sans Pro"/>
              </a:rPr>
              <a:t>start</a:t>
            </a:r>
            <a:endParaRPr sz="1800" dirty="0">
              <a:latin typeface="Source Sans Pro"/>
              <a:cs typeface="Source Sans Pr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0326FF4-DA9E-D156-CA72-9493A930EAB3}"/>
              </a:ext>
            </a:extLst>
          </p:cNvPr>
          <p:cNvSpPr txBox="1"/>
          <p:nvPr/>
        </p:nvSpPr>
        <p:spPr>
          <a:xfrm>
            <a:off x="3607308" y="2127504"/>
            <a:ext cx="2097405" cy="617220"/>
          </a:xfrm>
          <a:prstGeom prst="rect">
            <a:avLst/>
          </a:prstGeom>
          <a:solidFill>
            <a:srgbClr val="0070B1"/>
          </a:solidFill>
          <a:ln w="12700">
            <a:solidFill>
              <a:srgbClr val="005182"/>
            </a:solidFill>
          </a:ln>
        </p:spPr>
        <p:txBody>
          <a:bodyPr vert="horz" wrap="square" lIns="0" tIns="158115" rIns="0" bIns="0" rtlCol="0">
            <a:spAutoFit/>
          </a:bodyPr>
          <a:lstStyle/>
          <a:p>
            <a:pPr marL="307975">
              <a:lnSpc>
                <a:spcPct val="100000"/>
              </a:lnSpc>
              <a:spcBef>
                <a:spcPts val="1245"/>
              </a:spcBef>
            </a:pPr>
            <a:r>
              <a:rPr sz="1800" spc="-10" dirty="0">
                <a:solidFill>
                  <a:srgbClr val="D2E8F4"/>
                </a:solidFill>
                <a:latin typeface="Source Sans Pro"/>
                <a:cs typeface="Source Sans Pro"/>
              </a:rPr>
              <a:t>Projektplanung</a:t>
            </a:r>
            <a:endParaRPr sz="1800" dirty="0">
              <a:latin typeface="Source Sans Pro"/>
              <a:cs typeface="Source Sans Pr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198B94C-5084-F306-B9BE-8E448756EC45}"/>
              </a:ext>
            </a:extLst>
          </p:cNvPr>
          <p:cNvSpPr txBox="1"/>
          <p:nvPr/>
        </p:nvSpPr>
        <p:spPr>
          <a:xfrm>
            <a:off x="6181344" y="2127504"/>
            <a:ext cx="2098675" cy="617220"/>
          </a:xfrm>
          <a:prstGeom prst="rect">
            <a:avLst/>
          </a:prstGeom>
          <a:solidFill>
            <a:srgbClr val="0070B1"/>
          </a:solidFill>
          <a:ln w="12700">
            <a:solidFill>
              <a:srgbClr val="005182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389255" marR="381000" indent="278765">
              <a:lnSpc>
                <a:spcPct val="100000"/>
              </a:lnSpc>
              <a:spcBef>
                <a:spcPts val="165"/>
              </a:spcBef>
            </a:pPr>
            <a:r>
              <a:rPr sz="1800" spc="-10" dirty="0">
                <a:solidFill>
                  <a:srgbClr val="D2E8F4"/>
                </a:solidFill>
                <a:latin typeface="Source Sans Pro"/>
                <a:cs typeface="Source Sans Pro"/>
              </a:rPr>
              <a:t>Projekt- durchführung</a:t>
            </a:r>
            <a:endParaRPr sz="1800" dirty="0">
              <a:latin typeface="Source Sans Pro"/>
              <a:cs typeface="Source Sans Pro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D64DE72-0D06-95DF-6A77-E802462778EA}"/>
              </a:ext>
            </a:extLst>
          </p:cNvPr>
          <p:cNvSpPr txBox="1"/>
          <p:nvPr/>
        </p:nvSpPr>
        <p:spPr>
          <a:xfrm>
            <a:off x="8756904" y="2127504"/>
            <a:ext cx="2097405" cy="617220"/>
          </a:xfrm>
          <a:prstGeom prst="rect">
            <a:avLst/>
          </a:prstGeom>
          <a:solidFill>
            <a:srgbClr val="0070B1"/>
          </a:solidFill>
          <a:ln w="12700">
            <a:solidFill>
              <a:srgbClr val="005182"/>
            </a:solidFill>
          </a:ln>
        </p:spPr>
        <p:txBody>
          <a:bodyPr vert="horz" wrap="square" lIns="0" tIns="158115" rIns="0" bIns="0" rtlCol="0">
            <a:spAutoFit/>
          </a:bodyPr>
          <a:lstStyle/>
          <a:p>
            <a:pPr marL="231140">
              <a:lnSpc>
                <a:spcPct val="100000"/>
              </a:lnSpc>
              <a:spcBef>
                <a:spcPts val="1245"/>
              </a:spcBef>
            </a:pPr>
            <a:r>
              <a:rPr sz="1800" spc="-10" dirty="0">
                <a:solidFill>
                  <a:srgbClr val="D2E8F4"/>
                </a:solidFill>
                <a:latin typeface="Source Sans Pro"/>
                <a:cs typeface="Source Sans Pro"/>
              </a:rPr>
              <a:t>Projektabschluss</a:t>
            </a:r>
            <a:endParaRPr sz="1800">
              <a:latin typeface="Source Sans Pro"/>
              <a:cs typeface="Source Sans Pr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34A8AC0-EE72-CDC9-DA07-38E02566EBF9}"/>
              </a:ext>
            </a:extLst>
          </p:cNvPr>
          <p:cNvSpPr/>
          <p:nvPr/>
        </p:nvSpPr>
        <p:spPr>
          <a:xfrm>
            <a:off x="5704332" y="2398776"/>
            <a:ext cx="477520" cy="76200"/>
          </a:xfrm>
          <a:custGeom>
            <a:avLst/>
            <a:gdLst/>
            <a:ahLst/>
            <a:cxnLst/>
            <a:rect l="l" t="t" r="r" b="b"/>
            <a:pathLst>
              <a:path w="477520" h="76200">
                <a:moveTo>
                  <a:pt x="400812" y="0"/>
                </a:moveTo>
                <a:lnTo>
                  <a:pt x="400812" y="76200"/>
                </a:lnTo>
                <a:lnTo>
                  <a:pt x="464312" y="44450"/>
                </a:lnTo>
                <a:lnTo>
                  <a:pt x="413512" y="44450"/>
                </a:lnTo>
                <a:lnTo>
                  <a:pt x="413512" y="31750"/>
                </a:lnTo>
                <a:lnTo>
                  <a:pt x="464312" y="31750"/>
                </a:lnTo>
                <a:lnTo>
                  <a:pt x="400812" y="0"/>
                </a:lnTo>
                <a:close/>
              </a:path>
              <a:path w="477520" h="76200">
                <a:moveTo>
                  <a:pt x="400812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00812" y="44450"/>
                </a:lnTo>
                <a:lnTo>
                  <a:pt x="400812" y="31750"/>
                </a:lnTo>
                <a:close/>
              </a:path>
              <a:path w="477520" h="76200">
                <a:moveTo>
                  <a:pt x="464312" y="31750"/>
                </a:moveTo>
                <a:lnTo>
                  <a:pt x="413512" y="31750"/>
                </a:lnTo>
                <a:lnTo>
                  <a:pt x="413512" y="44450"/>
                </a:lnTo>
                <a:lnTo>
                  <a:pt x="464312" y="44450"/>
                </a:lnTo>
                <a:lnTo>
                  <a:pt x="477012" y="38100"/>
                </a:lnTo>
                <a:lnTo>
                  <a:pt x="464312" y="31750"/>
                </a:lnTo>
                <a:close/>
              </a:path>
            </a:pathLst>
          </a:custGeom>
          <a:solidFill>
            <a:srgbClr val="0070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82F4B02-73C7-0A5E-CD13-8247AB7AF6E0}"/>
              </a:ext>
            </a:extLst>
          </p:cNvPr>
          <p:cNvSpPr/>
          <p:nvPr/>
        </p:nvSpPr>
        <p:spPr>
          <a:xfrm>
            <a:off x="8279892" y="2398776"/>
            <a:ext cx="477520" cy="76200"/>
          </a:xfrm>
          <a:custGeom>
            <a:avLst/>
            <a:gdLst/>
            <a:ahLst/>
            <a:cxnLst/>
            <a:rect l="l" t="t" r="r" b="b"/>
            <a:pathLst>
              <a:path w="477520" h="76200">
                <a:moveTo>
                  <a:pt x="400811" y="0"/>
                </a:moveTo>
                <a:lnTo>
                  <a:pt x="400811" y="76200"/>
                </a:lnTo>
                <a:lnTo>
                  <a:pt x="464311" y="44450"/>
                </a:lnTo>
                <a:lnTo>
                  <a:pt x="413511" y="44450"/>
                </a:lnTo>
                <a:lnTo>
                  <a:pt x="413511" y="31750"/>
                </a:lnTo>
                <a:lnTo>
                  <a:pt x="464311" y="31750"/>
                </a:lnTo>
                <a:lnTo>
                  <a:pt x="400811" y="0"/>
                </a:lnTo>
                <a:close/>
              </a:path>
              <a:path w="477520" h="76200">
                <a:moveTo>
                  <a:pt x="40081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00811" y="44450"/>
                </a:lnTo>
                <a:lnTo>
                  <a:pt x="400811" y="31750"/>
                </a:lnTo>
                <a:close/>
              </a:path>
              <a:path w="477520" h="76200">
                <a:moveTo>
                  <a:pt x="464311" y="31750"/>
                </a:moveTo>
                <a:lnTo>
                  <a:pt x="413511" y="31750"/>
                </a:lnTo>
                <a:lnTo>
                  <a:pt x="413511" y="44450"/>
                </a:lnTo>
                <a:lnTo>
                  <a:pt x="464311" y="44450"/>
                </a:lnTo>
                <a:lnTo>
                  <a:pt x="477011" y="38100"/>
                </a:lnTo>
                <a:lnTo>
                  <a:pt x="464311" y="31750"/>
                </a:lnTo>
                <a:close/>
              </a:path>
            </a:pathLst>
          </a:custGeom>
          <a:solidFill>
            <a:srgbClr val="0070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BD85CF0C-47A5-3B8A-1AB2-0AC2091DDCF9}"/>
              </a:ext>
            </a:extLst>
          </p:cNvPr>
          <p:cNvSpPr txBox="1"/>
          <p:nvPr/>
        </p:nvSpPr>
        <p:spPr>
          <a:xfrm>
            <a:off x="1112621" y="3223640"/>
            <a:ext cx="9362440" cy="15876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4 Phasen Modell</a:t>
            </a:r>
            <a:endParaRPr dirty="0">
              <a:latin typeface="Source Sans Pro"/>
              <a:cs typeface="Source Sans Pro"/>
            </a:endParaRPr>
          </a:p>
          <a:p>
            <a:pPr marL="299085" marR="764540" indent="-287020">
              <a:lnSpc>
                <a:spcPct val="100000"/>
              </a:lnSpc>
              <a:spcBef>
                <a:spcPts val="2880"/>
              </a:spcBef>
              <a:buFont typeface="Arial"/>
              <a:buChar char="•"/>
              <a:tabLst>
                <a:tab pos="299085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Geeigneter Projektablauf für Ihre Projektarbeit</a:t>
            </a:r>
          </a:p>
          <a:p>
            <a:pPr marL="299085" marR="764540" indent="-287020">
              <a:lnSpc>
                <a:spcPct val="100000"/>
              </a:lnSpc>
              <a:spcBef>
                <a:spcPts val="2880"/>
              </a:spcBef>
              <a:buFont typeface="Arial"/>
              <a:buChar char="•"/>
              <a:tabLst>
                <a:tab pos="299085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Häufige Empfehlung der IHKs</a:t>
            </a:r>
            <a:endParaRPr dirty="0">
              <a:latin typeface="Source Sans Pro"/>
              <a:cs typeface="Source Sans Pro"/>
            </a:endParaRPr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D9080097-253E-D948-1B90-9DEEFC834A7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lang="de-DE" spc="-10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210F9B9-0660-DDBB-6D27-A062C190F8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4330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30</a:t>
            </a:fld>
            <a:endParaRPr lang="de-DE" spc="-50" dirty="0"/>
          </a:p>
        </p:txBody>
      </p:sp>
    </p:spTree>
    <p:extLst>
      <p:ext uri="{BB962C8B-B14F-4D97-AF65-F5344CB8AC3E}">
        <p14:creationId xmlns:p14="http://schemas.microsoft.com/office/powerpoint/2010/main" val="4194612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Source Sans Pro"/>
                <a:cs typeface="Source Sans Pro"/>
              </a:rPr>
              <a:t>Erweitertes</a:t>
            </a:r>
            <a:r>
              <a:rPr sz="4000" b="1" spc="-200" dirty="0">
                <a:latin typeface="Source Sans Pro"/>
                <a:cs typeface="Source Sans Pro"/>
              </a:rPr>
              <a:t> </a:t>
            </a:r>
            <a:r>
              <a:rPr sz="4000" b="1" spc="-10" dirty="0">
                <a:latin typeface="Source Sans Pro"/>
                <a:cs typeface="Source Sans Pro"/>
              </a:rPr>
              <a:t>Wasserfallmodell</a:t>
            </a:r>
            <a:endParaRPr sz="4000">
              <a:latin typeface="Source Sans Pro"/>
              <a:cs typeface="Source Sans Pr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8436" y="2257279"/>
            <a:ext cx="7771638" cy="258852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2390775" indent="-342900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355600" algn="l"/>
              </a:tabLst>
            </a:pPr>
            <a:r>
              <a:rPr dirty="0" err="1">
                <a:solidFill>
                  <a:srgbClr val="0070B1"/>
                </a:solidFill>
                <a:latin typeface="Source Sans Pro"/>
                <a:cs typeface="Source Sans Pro"/>
              </a:rPr>
              <a:t>Wasserfallmodell</a:t>
            </a:r>
            <a:r>
              <a:rPr spc="-10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25" dirty="0" err="1">
                <a:solidFill>
                  <a:srgbClr val="0070B1"/>
                </a:solidFill>
                <a:latin typeface="Source Sans Pro"/>
                <a:cs typeface="Source Sans Pro"/>
              </a:rPr>
              <a:t>mit</a:t>
            </a:r>
            <a:r>
              <a:rPr lang="de-DE" spc="-2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 err="1">
                <a:solidFill>
                  <a:srgbClr val="0070B1"/>
                </a:solidFill>
                <a:latin typeface="Source Sans Pro"/>
                <a:cs typeface="Source Sans Pro"/>
              </a:rPr>
              <a:t>Rücksprungmöglichkeit</a:t>
            </a:r>
            <a:endParaRPr dirty="0">
              <a:latin typeface="Source Sans Pro"/>
              <a:cs typeface="Source Sans Pro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</a:tabLst>
            </a:pP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Korrekturmöglichkeit</a:t>
            </a:r>
            <a:endParaRPr dirty="0">
              <a:latin typeface="Source Sans Pro"/>
              <a:cs typeface="Source Sans Pro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</a:tabLst>
            </a:pP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„Aufwärtslaufen</a:t>
            </a:r>
            <a:r>
              <a:rPr spc="-5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gegen</a:t>
            </a:r>
            <a:r>
              <a:rPr spc="-3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den</a:t>
            </a:r>
            <a:r>
              <a:rPr spc="-3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Strom“</a:t>
            </a:r>
            <a:r>
              <a:rPr spc="-3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 err="1">
                <a:solidFill>
                  <a:srgbClr val="0070B1"/>
                </a:solidFill>
                <a:latin typeface="Source Sans Pro"/>
                <a:cs typeface="Source Sans Pro"/>
              </a:rPr>
              <a:t>erlaubt</a:t>
            </a:r>
            <a:endParaRPr lang="de-DE" spc="-10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</a:tabLst>
            </a:pPr>
            <a:r>
              <a:rPr dirty="0" err="1">
                <a:solidFill>
                  <a:srgbClr val="0070B1"/>
                </a:solidFill>
                <a:latin typeface="Source Sans Pro"/>
                <a:cs typeface="Source Sans Pro"/>
              </a:rPr>
              <a:t>Anpassung</a:t>
            </a:r>
            <a:r>
              <a:rPr spc="-8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von</a:t>
            </a:r>
            <a:r>
              <a:rPr spc="-4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Planung</a:t>
            </a:r>
            <a:r>
              <a:rPr spc="-5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25" dirty="0">
                <a:solidFill>
                  <a:srgbClr val="0070B1"/>
                </a:solidFill>
                <a:latin typeface="Source Sans Pro"/>
                <a:cs typeface="Source Sans Pro"/>
              </a:rPr>
              <a:t>und </a:t>
            </a:r>
            <a:r>
              <a:rPr spc="-10" dirty="0" err="1">
                <a:solidFill>
                  <a:srgbClr val="0070B1"/>
                </a:solidFill>
                <a:latin typeface="Source Sans Pro"/>
                <a:cs typeface="Source Sans Pro"/>
              </a:rPr>
              <a:t>Aufgabensteuerung</a:t>
            </a:r>
            <a:endParaRPr lang="de-DE" spc="-10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</a:tabLst>
            </a:pPr>
            <a:endParaRPr lang="de-DE" spc="-10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</a:tabLst>
            </a:pP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Wasserfall und erweitertes Wasserfallmodell kommen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354965" algn="l"/>
              </a:tabLst>
            </a:pP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	für Ihre Projektarbeit in Betracht</a:t>
            </a:r>
            <a:endParaRPr dirty="0">
              <a:latin typeface="Source Sans Pro"/>
              <a:cs typeface="Source Sans Pr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521695" y="4110228"/>
            <a:ext cx="1292225" cy="1215390"/>
          </a:xfrm>
          <a:custGeom>
            <a:avLst/>
            <a:gdLst/>
            <a:ahLst/>
            <a:cxnLst/>
            <a:rect l="l" t="t" r="r" b="b"/>
            <a:pathLst>
              <a:path w="1292225" h="1215389">
                <a:moveTo>
                  <a:pt x="1107694" y="1202309"/>
                </a:moveTo>
                <a:lnTo>
                  <a:pt x="1056894" y="1202309"/>
                </a:lnTo>
                <a:lnTo>
                  <a:pt x="1056894" y="1215009"/>
                </a:lnTo>
                <a:lnTo>
                  <a:pt x="1107694" y="1215009"/>
                </a:lnTo>
                <a:lnTo>
                  <a:pt x="1107694" y="1202309"/>
                </a:lnTo>
                <a:close/>
              </a:path>
              <a:path w="1292225" h="1215389">
                <a:moveTo>
                  <a:pt x="1196594" y="1202309"/>
                </a:moveTo>
                <a:lnTo>
                  <a:pt x="1145794" y="1202309"/>
                </a:lnTo>
                <a:lnTo>
                  <a:pt x="1145794" y="1215009"/>
                </a:lnTo>
                <a:lnTo>
                  <a:pt x="1196594" y="1215009"/>
                </a:lnTo>
                <a:lnTo>
                  <a:pt x="1196594" y="1202309"/>
                </a:lnTo>
                <a:close/>
              </a:path>
              <a:path w="1292225" h="1215389">
                <a:moveTo>
                  <a:pt x="1285494" y="1202309"/>
                </a:moveTo>
                <a:lnTo>
                  <a:pt x="1234694" y="1202309"/>
                </a:lnTo>
                <a:lnTo>
                  <a:pt x="1234694" y="1215009"/>
                </a:lnTo>
                <a:lnTo>
                  <a:pt x="1285494" y="1215009"/>
                </a:lnTo>
                <a:lnTo>
                  <a:pt x="1285494" y="1202309"/>
                </a:lnTo>
                <a:close/>
              </a:path>
              <a:path w="1292225" h="1215389">
                <a:moveTo>
                  <a:pt x="1291844" y="1119759"/>
                </a:moveTo>
                <a:lnTo>
                  <a:pt x="1279144" y="1119759"/>
                </a:lnTo>
                <a:lnTo>
                  <a:pt x="1279144" y="1170559"/>
                </a:lnTo>
                <a:lnTo>
                  <a:pt x="1291844" y="1170559"/>
                </a:lnTo>
                <a:lnTo>
                  <a:pt x="1291844" y="1119759"/>
                </a:lnTo>
                <a:close/>
              </a:path>
              <a:path w="1292225" h="1215389">
                <a:moveTo>
                  <a:pt x="1291844" y="1030859"/>
                </a:moveTo>
                <a:lnTo>
                  <a:pt x="1279144" y="1030859"/>
                </a:lnTo>
                <a:lnTo>
                  <a:pt x="1279144" y="1081659"/>
                </a:lnTo>
                <a:lnTo>
                  <a:pt x="1291844" y="1081659"/>
                </a:lnTo>
                <a:lnTo>
                  <a:pt x="1291844" y="1030859"/>
                </a:lnTo>
                <a:close/>
              </a:path>
              <a:path w="1292225" h="1215389">
                <a:moveTo>
                  <a:pt x="1291844" y="941959"/>
                </a:moveTo>
                <a:lnTo>
                  <a:pt x="1279144" y="941959"/>
                </a:lnTo>
                <a:lnTo>
                  <a:pt x="1279144" y="992759"/>
                </a:lnTo>
                <a:lnTo>
                  <a:pt x="1291844" y="992759"/>
                </a:lnTo>
                <a:lnTo>
                  <a:pt x="1291844" y="941959"/>
                </a:lnTo>
                <a:close/>
              </a:path>
              <a:path w="1292225" h="1215389">
                <a:moveTo>
                  <a:pt x="1291844" y="853059"/>
                </a:moveTo>
                <a:lnTo>
                  <a:pt x="1279144" y="853059"/>
                </a:lnTo>
                <a:lnTo>
                  <a:pt x="1279144" y="903859"/>
                </a:lnTo>
                <a:lnTo>
                  <a:pt x="1291844" y="903859"/>
                </a:lnTo>
                <a:lnTo>
                  <a:pt x="1291844" y="853059"/>
                </a:lnTo>
                <a:close/>
              </a:path>
              <a:path w="1292225" h="1215389">
                <a:moveTo>
                  <a:pt x="1291844" y="764159"/>
                </a:moveTo>
                <a:lnTo>
                  <a:pt x="1279144" y="764159"/>
                </a:lnTo>
                <a:lnTo>
                  <a:pt x="1279144" y="814959"/>
                </a:lnTo>
                <a:lnTo>
                  <a:pt x="1291844" y="814959"/>
                </a:lnTo>
                <a:lnTo>
                  <a:pt x="1291844" y="764159"/>
                </a:lnTo>
                <a:close/>
              </a:path>
              <a:path w="1292225" h="1215389">
                <a:moveTo>
                  <a:pt x="1291844" y="675259"/>
                </a:moveTo>
                <a:lnTo>
                  <a:pt x="1279144" y="675259"/>
                </a:lnTo>
                <a:lnTo>
                  <a:pt x="1279144" y="726059"/>
                </a:lnTo>
                <a:lnTo>
                  <a:pt x="1291844" y="726059"/>
                </a:lnTo>
                <a:lnTo>
                  <a:pt x="1291844" y="675259"/>
                </a:lnTo>
                <a:close/>
              </a:path>
              <a:path w="1292225" h="1215389">
                <a:moveTo>
                  <a:pt x="1291844" y="586359"/>
                </a:moveTo>
                <a:lnTo>
                  <a:pt x="1279144" y="586359"/>
                </a:lnTo>
                <a:lnTo>
                  <a:pt x="1279144" y="637159"/>
                </a:lnTo>
                <a:lnTo>
                  <a:pt x="1291844" y="637159"/>
                </a:lnTo>
                <a:lnTo>
                  <a:pt x="1291844" y="586359"/>
                </a:lnTo>
                <a:close/>
              </a:path>
              <a:path w="1292225" h="1215389">
                <a:moveTo>
                  <a:pt x="1291844" y="497459"/>
                </a:moveTo>
                <a:lnTo>
                  <a:pt x="1279144" y="497459"/>
                </a:lnTo>
                <a:lnTo>
                  <a:pt x="1279144" y="548259"/>
                </a:lnTo>
                <a:lnTo>
                  <a:pt x="1291844" y="548259"/>
                </a:lnTo>
                <a:lnTo>
                  <a:pt x="1291844" y="497459"/>
                </a:lnTo>
                <a:close/>
              </a:path>
              <a:path w="1292225" h="1215389">
                <a:moveTo>
                  <a:pt x="1291844" y="408559"/>
                </a:moveTo>
                <a:lnTo>
                  <a:pt x="1279144" y="408559"/>
                </a:lnTo>
                <a:lnTo>
                  <a:pt x="1279144" y="459359"/>
                </a:lnTo>
                <a:lnTo>
                  <a:pt x="1291844" y="459359"/>
                </a:lnTo>
                <a:lnTo>
                  <a:pt x="1291844" y="408559"/>
                </a:lnTo>
                <a:close/>
              </a:path>
              <a:path w="1292225" h="1215389">
                <a:moveTo>
                  <a:pt x="1291844" y="319659"/>
                </a:moveTo>
                <a:lnTo>
                  <a:pt x="1279144" y="319659"/>
                </a:lnTo>
                <a:lnTo>
                  <a:pt x="1279144" y="370459"/>
                </a:lnTo>
                <a:lnTo>
                  <a:pt x="1291844" y="370459"/>
                </a:lnTo>
                <a:lnTo>
                  <a:pt x="1291844" y="319659"/>
                </a:lnTo>
                <a:close/>
              </a:path>
              <a:path w="1292225" h="1215389">
                <a:moveTo>
                  <a:pt x="1291844" y="230759"/>
                </a:moveTo>
                <a:lnTo>
                  <a:pt x="1279144" y="230759"/>
                </a:lnTo>
                <a:lnTo>
                  <a:pt x="1279144" y="281559"/>
                </a:lnTo>
                <a:lnTo>
                  <a:pt x="1291844" y="281559"/>
                </a:lnTo>
                <a:lnTo>
                  <a:pt x="1291844" y="230759"/>
                </a:lnTo>
                <a:close/>
              </a:path>
              <a:path w="1292225" h="1215389">
                <a:moveTo>
                  <a:pt x="1291844" y="141859"/>
                </a:moveTo>
                <a:lnTo>
                  <a:pt x="1279144" y="141859"/>
                </a:lnTo>
                <a:lnTo>
                  <a:pt x="1279144" y="192659"/>
                </a:lnTo>
                <a:lnTo>
                  <a:pt x="1291844" y="192659"/>
                </a:lnTo>
                <a:lnTo>
                  <a:pt x="1291844" y="141859"/>
                </a:lnTo>
                <a:close/>
              </a:path>
              <a:path w="1292225" h="1215389">
                <a:moveTo>
                  <a:pt x="1291844" y="52959"/>
                </a:moveTo>
                <a:lnTo>
                  <a:pt x="1279144" y="52959"/>
                </a:lnTo>
                <a:lnTo>
                  <a:pt x="1279144" y="103759"/>
                </a:lnTo>
                <a:lnTo>
                  <a:pt x="1291844" y="103759"/>
                </a:lnTo>
                <a:lnTo>
                  <a:pt x="1291844" y="52959"/>
                </a:lnTo>
                <a:close/>
              </a:path>
              <a:path w="1292225" h="1215389">
                <a:moveTo>
                  <a:pt x="1262252" y="31750"/>
                </a:moveTo>
                <a:lnTo>
                  <a:pt x="1211452" y="31750"/>
                </a:lnTo>
                <a:lnTo>
                  <a:pt x="1211452" y="44450"/>
                </a:lnTo>
                <a:lnTo>
                  <a:pt x="1262252" y="44450"/>
                </a:lnTo>
                <a:lnTo>
                  <a:pt x="1262252" y="31750"/>
                </a:lnTo>
                <a:close/>
              </a:path>
              <a:path w="1292225" h="1215389">
                <a:moveTo>
                  <a:pt x="1173352" y="31750"/>
                </a:moveTo>
                <a:lnTo>
                  <a:pt x="1122552" y="31750"/>
                </a:lnTo>
                <a:lnTo>
                  <a:pt x="1122552" y="44450"/>
                </a:lnTo>
                <a:lnTo>
                  <a:pt x="1173352" y="44450"/>
                </a:lnTo>
                <a:lnTo>
                  <a:pt x="1173352" y="31750"/>
                </a:lnTo>
                <a:close/>
              </a:path>
              <a:path w="1292225" h="1215389">
                <a:moveTo>
                  <a:pt x="1084452" y="31750"/>
                </a:moveTo>
                <a:lnTo>
                  <a:pt x="1033652" y="31750"/>
                </a:lnTo>
                <a:lnTo>
                  <a:pt x="1033652" y="44450"/>
                </a:lnTo>
                <a:lnTo>
                  <a:pt x="1084452" y="44450"/>
                </a:lnTo>
                <a:lnTo>
                  <a:pt x="1084452" y="31750"/>
                </a:lnTo>
                <a:close/>
              </a:path>
              <a:path w="1292225" h="1215389">
                <a:moveTo>
                  <a:pt x="995552" y="31750"/>
                </a:moveTo>
                <a:lnTo>
                  <a:pt x="944752" y="31750"/>
                </a:lnTo>
                <a:lnTo>
                  <a:pt x="944752" y="44450"/>
                </a:lnTo>
                <a:lnTo>
                  <a:pt x="995552" y="44450"/>
                </a:lnTo>
                <a:lnTo>
                  <a:pt x="995552" y="31750"/>
                </a:lnTo>
                <a:close/>
              </a:path>
              <a:path w="1292225" h="1215389">
                <a:moveTo>
                  <a:pt x="906652" y="31750"/>
                </a:moveTo>
                <a:lnTo>
                  <a:pt x="855852" y="31750"/>
                </a:lnTo>
                <a:lnTo>
                  <a:pt x="855852" y="44450"/>
                </a:lnTo>
                <a:lnTo>
                  <a:pt x="906652" y="44450"/>
                </a:lnTo>
                <a:lnTo>
                  <a:pt x="906652" y="31750"/>
                </a:lnTo>
                <a:close/>
              </a:path>
              <a:path w="1292225" h="1215389">
                <a:moveTo>
                  <a:pt x="817752" y="31750"/>
                </a:moveTo>
                <a:lnTo>
                  <a:pt x="766952" y="31750"/>
                </a:lnTo>
                <a:lnTo>
                  <a:pt x="766952" y="44450"/>
                </a:lnTo>
                <a:lnTo>
                  <a:pt x="817752" y="44450"/>
                </a:lnTo>
                <a:lnTo>
                  <a:pt x="817752" y="31750"/>
                </a:lnTo>
                <a:close/>
              </a:path>
              <a:path w="1292225" h="1215389">
                <a:moveTo>
                  <a:pt x="728852" y="31750"/>
                </a:moveTo>
                <a:lnTo>
                  <a:pt x="678052" y="31750"/>
                </a:lnTo>
                <a:lnTo>
                  <a:pt x="678052" y="44450"/>
                </a:lnTo>
                <a:lnTo>
                  <a:pt x="728852" y="44450"/>
                </a:lnTo>
                <a:lnTo>
                  <a:pt x="728852" y="31750"/>
                </a:lnTo>
                <a:close/>
              </a:path>
              <a:path w="1292225" h="1215389">
                <a:moveTo>
                  <a:pt x="639952" y="31750"/>
                </a:moveTo>
                <a:lnTo>
                  <a:pt x="589152" y="31750"/>
                </a:lnTo>
                <a:lnTo>
                  <a:pt x="589152" y="44450"/>
                </a:lnTo>
                <a:lnTo>
                  <a:pt x="639952" y="44450"/>
                </a:lnTo>
                <a:lnTo>
                  <a:pt x="639952" y="31750"/>
                </a:lnTo>
                <a:close/>
              </a:path>
              <a:path w="1292225" h="1215389">
                <a:moveTo>
                  <a:pt x="551052" y="31750"/>
                </a:moveTo>
                <a:lnTo>
                  <a:pt x="500252" y="31750"/>
                </a:lnTo>
                <a:lnTo>
                  <a:pt x="500252" y="44450"/>
                </a:lnTo>
                <a:lnTo>
                  <a:pt x="551052" y="44450"/>
                </a:lnTo>
                <a:lnTo>
                  <a:pt x="551052" y="31750"/>
                </a:lnTo>
                <a:close/>
              </a:path>
              <a:path w="1292225" h="1215389">
                <a:moveTo>
                  <a:pt x="462152" y="31750"/>
                </a:moveTo>
                <a:lnTo>
                  <a:pt x="411352" y="31750"/>
                </a:lnTo>
                <a:lnTo>
                  <a:pt x="411352" y="44450"/>
                </a:lnTo>
                <a:lnTo>
                  <a:pt x="462152" y="44450"/>
                </a:lnTo>
                <a:lnTo>
                  <a:pt x="462152" y="31750"/>
                </a:lnTo>
                <a:close/>
              </a:path>
              <a:path w="1292225" h="1215389">
                <a:moveTo>
                  <a:pt x="373252" y="31750"/>
                </a:moveTo>
                <a:lnTo>
                  <a:pt x="322452" y="31750"/>
                </a:lnTo>
                <a:lnTo>
                  <a:pt x="322452" y="44450"/>
                </a:lnTo>
                <a:lnTo>
                  <a:pt x="373252" y="44450"/>
                </a:lnTo>
                <a:lnTo>
                  <a:pt x="373252" y="31750"/>
                </a:lnTo>
                <a:close/>
              </a:path>
              <a:path w="1292225" h="1215389">
                <a:moveTo>
                  <a:pt x="284352" y="31750"/>
                </a:moveTo>
                <a:lnTo>
                  <a:pt x="233552" y="31750"/>
                </a:lnTo>
                <a:lnTo>
                  <a:pt x="233552" y="44450"/>
                </a:lnTo>
                <a:lnTo>
                  <a:pt x="284352" y="44450"/>
                </a:lnTo>
                <a:lnTo>
                  <a:pt x="284352" y="31750"/>
                </a:lnTo>
                <a:close/>
              </a:path>
              <a:path w="1292225" h="1215389">
                <a:moveTo>
                  <a:pt x="195452" y="31750"/>
                </a:moveTo>
                <a:lnTo>
                  <a:pt x="144652" y="31750"/>
                </a:lnTo>
                <a:lnTo>
                  <a:pt x="144652" y="44450"/>
                </a:lnTo>
                <a:lnTo>
                  <a:pt x="195452" y="44450"/>
                </a:lnTo>
                <a:lnTo>
                  <a:pt x="195452" y="31750"/>
                </a:lnTo>
                <a:close/>
              </a:path>
              <a:path w="1292225" h="1215389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292225" h="1215389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292225" h="1215389">
                <a:moveTo>
                  <a:pt x="106552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06552" y="44450"/>
                </a:lnTo>
                <a:lnTo>
                  <a:pt x="106552" y="31750"/>
                </a:lnTo>
                <a:close/>
              </a:path>
            </a:pathLst>
          </a:custGeom>
          <a:solidFill>
            <a:srgbClr val="0070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148830" y="1953767"/>
            <a:ext cx="2567940" cy="2202180"/>
          </a:xfrm>
          <a:custGeom>
            <a:avLst/>
            <a:gdLst/>
            <a:ahLst/>
            <a:cxnLst/>
            <a:rect l="l" t="t" r="r" b="b"/>
            <a:pathLst>
              <a:path w="2567940" h="2202179">
                <a:moveTo>
                  <a:pt x="12700" y="2080895"/>
                </a:moveTo>
                <a:lnTo>
                  <a:pt x="0" y="2080895"/>
                </a:lnTo>
                <a:lnTo>
                  <a:pt x="0" y="2131695"/>
                </a:lnTo>
                <a:lnTo>
                  <a:pt x="12700" y="2131695"/>
                </a:lnTo>
                <a:lnTo>
                  <a:pt x="12700" y="2080895"/>
                </a:lnTo>
                <a:close/>
              </a:path>
              <a:path w="2567940" h="2202179">
                <a:moveTo>
                  <a:pt x="12700" y="1991995"/>
                </a:moveTo>
                <a:lnTo>
                  <a:pt x="0" y="1991995"/>
                </a:lnTo>
                <a:lnTo>
                  <a:pt x="0" y="2042795"/>
                </a:lnTo>
                <a:lnTo>
                  <a:pt x="12700" y="2042795"/>
                </a:lnTo>
                <a:lnTo>
                  <a:pt x="12700" y="1991995"/>
                </a:lnTo>
                <a:close/>
              </a:path>
              <a:path w="2567940" h="2202179">
                <a:moveTo>
                  <a:pt x="12700" y="1903095"/>
                </a:moveTo>
                <a:lnTo>
                  <a:pt x="0" y="1903095"/>
                </a:lnTo>
                <a:lnTo>
                  <a:pt x="0" y="1953895"/>
                </a:lnTo>
                <a:lnTo>
                  <a:pt x="12700" y="1953895"/>
                </a:lnTo>
                <a:lnTo>
                  <a:pt x="12700" y="1903095"/>
                </a:lnTo>
                <a:close/>
              </a:path>
              <a:path w="2567940" h="2202179">
                <a:moveTo>
                  <a:pt x="12700" y="1814195"/>
                </a:moveTo>
                <a:lnTo>
                  <a:pt x="0" y="1814195"/>
                </a:lnTo>
                <a:lnTo>
                  <a:pt x="0" y="1864995"/>
                </a:lnTo>
                <a:lnTo>
                  <a:pt x="12700" y="1864995"/>
                </a:lnTo>
                <a:lnTo>
                  <a:pt x="12700" y="1814195"/>
                </a:lnTo>
                <a:close/>
              </a:path>
              <a:path w="2567940" h="2202179">
                <a:moveTo>
                  <a:pt x="12700" y="1725295"/>
                </a:moveTo>
                <a:lnTo>
                  <a:pt x="0" y="1725295"/>
                </a:lnTo>
                <a:lnTo>
                  <a:pt x="0" y="1776095"/>
                </a:lnTo>
                <a:lnTo>
                  <a:pt x="12700" y="1776095"/>
                </a:lnTo>
                <a:lnTo>
                  <a:pt x="12700" y="1725295"/>
                </a:lnTo>
                <a:close/>
              </a:path>
              <a:path w="2567940" h="2202179">
                <a:moveTo>
                  <a:pt x="12700" y="1636395"/>
                </a:moveTo>
                <a:lnTo>
                  <a:pt x="0" y="1636395"/>
                </a:lnTo>
                <a:lnTo>
                  <a:pt x="0" y="1687195"/>
                </a:lnTo>
                <a:lnTo>
                  <a:pt x="12700" y="1687195"/>
                </a:lnTo>
                <a:lnTo>
                  <a:pt x="12700" y="1636395"/>
                </a:lnTo>
                <a:close/>
              </a:path>
              <a:path w="2567940" h="2202179">
                <a:moveTo>
                  <a:pt x="12700" y="1547495"/>
                </a:moveTo>
                <a:lnTo>
                  <a:pt x="0" y="1547495"/>
                </a:lnTo>
                <a:lnTo>
                  <a:pt x="0" y="1598295"/>
                </a:lnTo>
                <a:lnTo>
                  <a:pt x="12700" y="1598295"/>
                </a:lnTo>
                <a:lnTo>
                  <a:pt x="12700" y="1547495"/>
                </a:lnTo>
                <a:close/>
              </a:path>
              <a:path w="2567940" h="2202179">
                <a:moveTo>
                  <a:pt x="12700" y="1458595"/>
                </a:moveTo>
                <a:lnTo>
                  <a:pt x="0" y="1458595"/>
                </a:lnTo>
                <a:lnTo>
                  <a:pt x="0" y="1509395"/>
                </a:lnTo>
                <a:lnTo>
                  <a:pt x="12700" y="1509395"/>
                </a:lnTo>
                <a:lnTo>
                  <a:pt x="12700" y="1458595"/>
                </a:lnTo>
                <a:close/>
              </a:path>
              <a:path w="2567940" h="2202179">
                <a:moveTo>
                  <a:pt x="12700" y="1369695"/>
                </a:moveTo>
                <a:lnTo>
                  <a:pt x="0" y="1369695"/>
                </a:lnTo>
                <a:lnTo>
                  <a:pt x="0" y="1420495"/>
                </a:lnTo>
                <a:lnTo>
                  <a:pt x="12700" y="1420495"/>
                </a:lnTo>
                <a:lnTo>
                  <a:pt x="12700" y="1369695"/>
                </a:lnTo>
                <a:close/>
              </a:path>
              <a:path w="2567940" h="2202179">
                <a:moveTo>
                  <a:pt x="12700" y="1280795"/>
                </a:moveTo>
                <a:lnTo>
                  <a:pt x="0" y="1280795"/>
                </a:lnTo>
                <a:lnTo>
                  <a:pt x="0" y="1331595"/>
                </a:lnTo>
                <a:lnTo>
                  <a:pt x="12700" y="1331595"/>
                </a:lnTo>
                <a:lnTo>
                  <a:pt x="12700" y="1280795"/>
                </a:lnTo>
                <a:close/>
              </a:path>
              <a:path w="2567940" h="2202179">
                <a:moveTo>
                  <a:pt x="12700" y="1191895"/>
                </a:moveTo>
                <a:lnTo>
                  <a:pt x="0" y="1191895"/>
                </a:lnTo>
                <a:lnTo>
                  <a:pt x="0" y="1242695"/>
                </a:lnTo>
                <a:lnTo>
                  <a:pt x="12700" y="1242695"/>
                </a:lnTo>
                <a:lnTo>
                  <a:pt x="12700" y="1191895"/>
                </a:lnTo>
                <a:close/>
              </a:path>
              <a:path w="2567940" h="2202179">
                <a:moveTo>
                  <a:pt x="12700" y="1102995"/>
                </a:moveTo>
                <a:lnTo>
                  <a:pt x="0" y="1102995"/>
                </a:lnTo>
                <a:lnTo>
                  <a:pt x="0" y="1153795"/>
                </a:lnTo>
                <a:lnTo>
                  <a:pt x="12700" y="1153795"/>
                </a:lnTo>
                <a:lnTo>
                  <a:pt x="12700" y="1102995"/>
                </a:lnTo>
                <a:close/>
              </a:path>
              <a:path w="2567940" h="2202179">
                <a:moveTo>
                  <a:pt x="12700" y="1014095"/>
                </a:moveTo>
                <a:lnTo>
                  <a:pt x="0" y="1014095"/>
                </a:lnTo>
                <a:lnTo>
                  <a:pt x="0" y="1064895"/>
                </a:lnTo>
                <a:lnTo>
                  <a:pt x="12700" y="1064895"/>
                </a:lnTo>
                <a:lnTo>
                  <a:pt x="12700" y="1014095"/>
                </a:lnTo>
                <a:close/>
              </a:path>
              <a:path w="2567940" h="2202179">
                <a:moveTo>
                  <a:pt x="31623" y="2188972"/>
                </a:moveTo>
                <a:lnTo>
                  <a:pt x="12700" y="2188972"/>
                </a:lnTo>
                <a:lnTo>
                  <a:pt x="12700" y="2169795"/>
                </a:lnTo>
                <a:lnTo>
                  <a:pt x="0" y="2169795"/>
                </a:lnTo>
                <a:lnTo>
                  <a:pt x="0" y="2201672"/>
                </a:lnTo>
                <a:lnTo>
                  <a:pt x="31623" y="2201672"/>
                </a:lnTo>
                <a:lnTo>
                  <a:pt x="31623" y="2195322"/>
                </a:lnTo>
                <a:lnTo>
                  <a:pt x="31623" y="2188972"/>
                </a:lnTo>
                <a:close/>
              </a:path>
              <a:path w="2567940" h="2202179">
                <a:moveTo>
                  <a:pt x="93091" y="1005586"/>
                </a:moveTo>
                <a:lnTo>
                  <a:pt x="42291" y="1005586"/>
                </a:lnTo>
                <a:lnTo>
                  <a:pt x="42291" y="1018286"/>
                </a:lnTo>
                <a:lnTo>
                  <a:pt x="93091" y="1018286"/>
                </a:lnTo>
                <a:lnTo>
                  <a:pt x="93091" y="1005586"/>
                </a:lnTo>
                <a:close/>
              </a:path>
              <a:path w="2567940" h="2202179">
                <a:moveTo>
                  <a:pt x="120523" y="2188972"/>
                </a:moveTo>
                <a:lnTo>
                  <a:pt x="69723" y="2188972"/>
                </a:lnTo>
                <a:lnTo>
                  <a:pt x="69723" y="2201672"/>
                </a:lnTo>
                <a:lnTo>
                  <a:pt x="120523" y="2201672"/>
                </a:lnTo>
                <a:lnTo>
                  <a:pt x="120523" y="2188972"/>
                </a:lnTo>
                <a:close/>
              </a:path>
              <a:path w="2567940" h="2202179">
                <a:moveTo>
                  <a:pt x="209423" y="2188972"/>
                </a:moveTo>
                <a:lnTo>
                  <a:pt x="158623" y="2188972"/>
                </a:lnTo>
                <a:lnTo>
                  <a:pt x="158623" y="2201672"/>
                </a:lnTo>
                <a:lnTo>
                  <a:pt x="209423" y="2201672"/>
                </a:lnTo>
                <a:lnTo>
                  <a:pt x="209423" y="2188972"/>
                </a:lnTo>
                <a:close/>
              </a:path>
              <a:path w="2567940" h="2202179">
                <a:moveTo>
                  <a:pt x="234950" y="1011936"/>
                </a:moveTo>
                <a:lnTo>
                  <a:pt x="222250" y="1005586"/>
                </a:lnTo>
                <a:lnTo>
                  <a:pt x="158750" y="973836"/>
                </a:lnTo>
                <a:lnTo>
                  <a:pt x="158750" y="1005586"/>
                </a:lnTo>
                <a:lnTo>
                  <a:pt x="131191" y="1005586"/>
                </a:lnTo>
                <a:lnTo>
                  <a:pt x="131191" y="1018286"/>
                </a:lnTo>
                <a:lnTo>
                  <a:pt x="158750" y="1018286"/>
                </a:lnTo>
                <a:lnTo>
                  <a:pt x="158750" y="1050036"/>
                </a:lnTo>
                <a:lnTo>
                  <a:pt x="222250" y="1018286"/>
                </a:lnTo>
                <a:lnTo>
                  <a:pt x="234950" y="1011936"/>
                </a:lnTo>
                <a:close/>
              </a:path>
              <a:path w="2567940" h="2202179">
                <a:moveTo>
                  <a:pt x="298323" y="2188972"/>
                </a:moveTo>
                <a:lnTo>
                  <a:pt x="247523" y="2188972"/>
                </a:lnTo>
                <a:lnTo>
                  <a:pt x="247523" y="2201672"/>
                </a:lnTo>
                <a:lnTo>
                  <a:pt x="298323" y="2201672"/>
                </a:lnTo>
                <a:lnTo>
                  <a:pt x="298323" y="2188972"/>
                </a:lnTo>
                <a:close/>
              </a:path>
              <a:path w="2567940" h="2202179">
                <a:moveTo>
                  <a:pt x="387223" y="2188972"/>
                </a:moveTo>
                <a:lnTo>
                  <a:pt x="336423" y="2188972"/>
                </a:lnTo>
                <a:lnTo>
                  <a:pt x="336423" y="2201672"/>
                </a:lnTo>
                <a:lnTo>
                  <a:pt x="387223" y="2201672"/>
                </a:lnTo>
                <a:lnTo>
                  <a:pt x="387223" y="2188972"/>
                </a:lnTo>
                <a:close/>
              </a:path>
              <a:path w="2567940" h="2202179">
                <a:moveTo>
                  <a:pt x="476123" y="2188972"/>
                </a:moveTo>
                <a:lnTo>
                  <a:pt x="425323" y="2188972"/>
                </a:lnTo>
                <a:lnTo>
                  <a:pt x="425323" y="2201672"/>
                </a:lnTo>
                <a:lnTo>
                  <a:pt x="476123" y="2201672"/>
                </a:lnTo>
                <a:lnTo>
                  <a:pt x="476123" y="2188972"/>
                </a:lnTo>
                <a:close/>
              </a:path>
              <a:path w="2567940" h="2202179">
                <a:moveTo>
                  <a:pt x="565023" y="2188972"/>
                </a:moveTo>
                <a:lnTo>
                  <a:pt x="514223" y="2188972"/>
                </a:lnTo>
                <a:lnTo>
                  <a:pt x="514223" y="2201672"/>
                </a:lnTo>
                <a:lnTo>
                  <a:pt x="565023" y="2201672"/>
                </a:lnTo>
                <a:lnTo>
                  <a:pt x="565023" y="2188972"/>
                </a:lnTo>
                <a:close/>
              </a:path>
              <a:path w="2567940" h="2202179">
                <a:moveTo>
                  <a:pt x="653923" y="2188972"/>
                </a:moveTo>
                <a:lnTo>
                  <a:pt x="603123" y="2188972"/>
                </a:lnTo>
                <a:lnTo>
                  <a:pt x="603123" y="2201672"/>
                </a:lnTo>
                <a:lnTo>
                  <a:pt x="653923" y="2201672"/>
                </a:lnTo>
                <a:lnTo>
                  <a:pt x="653923" y="2188972"/>
                </a:lnTo>
                <a:close/>
              </a:path>
              <a:path w="2567940" h="2202179">
                <a:moveTo>
                  <a:pt x="742823" y="2188972"/>
                </a:moveTo>
                <a:lnTo>
                  <a:pt x="692023" y="2188972"/>
                </a:lnTo>
                <a:lnTo>
                  <a:pt x="692023" y="2201672"/>
                </a:lnTo>
                <a:lnTo>
                  <a:pt x="742823" y="2201672"/>
                </a:lnTo>
                <a:lnTo>
                  <a:pt x="742823" y="2188972"/>
                </a:lnTo>
                <a:close/>
              </a:path>
              <a:path w="2567940" h="2202179">
                <a:moveTo>
                  <a:pt x="831723" y="2188972"/>
                </a:moveTo>
                <a:lnTo>
                  <a:pt x="780923" y="2188972"/>
                </a:lnTo>
                <a:lnTo>
                  <a:pt x="780923" y="2201672"/>
                </a:lnTo>
                <a:lnTo>
                  <a:pt x="831723" y="2201672"/>
                </a:lnTo>
                <a:lnTo>
                  <a:pt x="831723" y="2188972"/>
                </a:lnTo>
                <a:close/>
              </a:path>
              <a:path w="2567940" h="2202179">
                <a:moveTo>
                  <a:pt x="920623" y="2188972"/>
                </a:moveTo>
                <a:lnTo>
                  <a:pt x="869823" y="2188972"/>
                </a:lnTo>
                <a:lnTo>
                  <a:pt x="869823" y="2201672"/>
                </a:lnTo>
                <a:lnTo>
                  <a:pt x="920623" y="2201672"/>
                </a:lnTo>
                <a:lnTo>
                  <a:pt x="920623" y="2188972"/>
                </a:lnTo>
                <a:close/>
              </a:path>
              <a:path w="2567940" h="2202179">
                <a:moveTo>
                  <a:pt x="1009523" y="2188972"/>
                </a:moveTo>
                <a:lnTo>
                  <a:pt x="958723" y="2188972"/>
                </a:lnTo>
                <a:lnTo>
                  <a:pt x="958723" y="2201672"/>
                </a:lnTo>
                <a:lnTo>
                  <a:pt x="1009523" y="2201672"/>
                </a:lnTo>
                <a:lnTo>
                  <a:pt x="1009523" y="2188972"/>
                </a:lnTo>
                <a:close/>
              </a:path>
              <a:path w="2567940" h="2202179">
                <a:moveTo>
                  <a:pt x="1098423" y="2188972"/>
                </a:moveTo>
                <a:lnTo>
                  <a:pt x="1047623" y="2188972"/>
                </a:lnTo>
                <a:lnTo>
                  <a:pt x="1047623" y="2201672"/>
                </a:lnTo>
                <a:lnTo>
                  <a:pt x="1098423" y="2201672"/>
                </a:lnTo>
                <a:lnTo>
                  <a:pt x="1098423" y="2188972"/>
                </a:lnTo>
                <a:close/>
              </a:path>
              <a:path w="2567940" h="2202179">
                <a:moveTo>
                  <a:pt x="1187323" y="2188972"/>
                </a:moveTo>
                <a:lnTo>
                  <a:pt x="1136523" y="2188972"/>
                </a:lnTo>
                <a:lnTo>
                  <a:pt x="1136523" y="2201672"/>
                </a:lnTo>
                <a:lnTo>
                  <a:pt x="1187323" y="2201672"/>
                </a:lnTo>
                <a:lnTo>
                  <a:pt x="1187323" y="2188972"/>
                </a:lnTo>
                <a:close/>
              </a:path>
              <a:path w="2567940" h="2202179">
                <a:moveTo>
                  <a:pt x="1276223" y="2188972"/>
                </a:moveTo>
                <a:lnTo>
                  <a:pt x="1225423" y="2188972"/>
                </a:lnTo>
                <a:lnTo>
                  <a:pt x="1225423" y="2201672"/>
                </a:lnTo>
                <a:lnTo>
                  <a:pt x="1276223" y="2201672"/>
                </a:lnTo>
                <a:lnTo>
                  <a:pt x="1276223" y="2188972"/>
                </a:lnTo>
                <a:close/>
              </a:path>
              <a:path w="2567940" h="2202179">
                <a:moveTo>
                  <a:pt x="1377950" y="0"/>
                </a:moveTo>
                <a:lnTo>
                  <a:pt x="1301750" y="38100"/>
                </a:lnTo>
                <a:lnTo>
                  <a:pt x="1377950" y="76200"/>
                </a:lnTo>
                <a:lnTo>
                  <a:pt x="1377950" y="0"/>
                </a:lnTo>
                <a:close/>
              </a:path>
              <a:path w="2567940" h="2202179">
                <a:moveTo>
                  <a:pt x="1451864" y="31750"/>
                </a:moveTo>
                <a:lnTo>
                  <a:pt x="1401064" y="31750"/>
                </a:lnTo>
                <a:lnTo>
                  <a:pt x="1401064" y="44450"/>
                </a:lnTo>
                <a:lnTo>
                  <a:pt x="1451864" y="44450"/>
                </a:lnTo>
                <a:lnTo>
                  <a:pt x="1451864" y="31750"/>
                </a:lnTo>
                <a:close/>
              </a:path>
              <a:path w="2567940" h="2202179">
                <a:moveTo>
                  <a:pt x="1540764" y="31750"/>
                </a:moveTo>
                <a:lnTo>
                  <a:pt x="1489964" y="31750"/>
                </a:lnTo>
                <a:lnTo>
                  <a:pt x="1489964" y="44450"/>
                </a:lnTo>
                <a:lnTo>
                  <a:pt x="1540764" y="44450"/>
                </a:lnTo>
                <a:lnTo>
                  <a:pt x="1540764" y="31750"/>
                </a:lnTo>
                <a:close/>
              </a:path>
              <a:path w="2567940" h="2202179">
                <a:moveTo>
                  <a:pt x="1629664" y="31750"/>
                </a:moveTo>
                <a:lnTo>
                  <a:pt x="1578864" y="31750"/>
                </a:lnTo>
                <a:lnTo>
                  <a:pt x="1578864" y="44450"/>
                </a:lnTo>
                <a:lnTo>
                  <a:pt x="1629664" y="44450"/>
                </a:lnTo>
                <a:lnTo>
                  <a:pt x="1629664" y="31750"/>
                </a:lnTo>
                <a:close/>
              </a:path>
              <a:path w="2567940" h="2202179">
                <a:moveTo>
                  <a:pt x="1718564" y="31750"/>
                </a:moveTo>
                <a:lnTo>
                  <a:pt x="1667764" y="31750"/>
                </a:lnTo>
                <a:lnTo>
                  <a:pt x="1667764" y="44450"/>
                </a:lnTo>
                <a:lnTo>
                  <a:pt x="1718564" y="44450"/>
                </a:lnTo>
                <a:lnTo>
                  <a:pt x="1718564" y="31750"/>
                </a:lnTo>
                <a:close/>
              </a:path>
              <a:path w="2567940" h="2202179">
                <a:moveTo>
                  <a:pt x="1807464" y="31750"/>
                </a:moveTo>
                <a:lnTo>
                  <a:pt x="1756664" y="31750"/>
                </a:lnTo>
                <a:lnTo>
                  <a:pt x="1756664" y="44450"/>
                </a:lnTo>
                <a:lnTo>
                  <a:pt x="1807464" y="44450"/>
                </a:lnTo>
                <a:lnTo>
                  <a:pt x="1807464" y="31750"/>
                </a:lnTo>
                <a:close/>
              </a:path>
              <a:path w="2567940" h="2202179">
                <a:moveTo>
                  <a:pt x="1896364" y="31750"/>
                </a:moveTo>
                <a:lnTo>
                  <a:pt x="1845564" y="31750"/>
                </a:lnTo>
                <a:lnTo>
                  <a:pt x="1845564" y="44450"/>
                </a:lnTo>
                <a:lnTo>
                  <a:pt x="1896364" y="44450"/>
                </a:lnTo>
                <a:lnTo>
                  <a:pt x="1896364" y="31750"/>
                </a:lnTo>
                <a:close/>
              </a:path>
              <a:path w="2567940" h="2202179">
                <a:moveTo>
                  <a:pt x="1985264" y="31750"/>
                </a:moveTo>
                <a:lnTo>
                  <a:pt x="1934464" y="31750"/>
                </a:lnTo>
                <a:lnTo>
                  <a:pt x="1934464" y="44450"/>
                </a:lnTo>
                <a:lnTo>
                  <a:pt x="1985264" y="44450"/>
                </a:lnTo>
                <a:lnTo>
                  <a:pt x="1985264" y="31750"/>
                </a:lnTo>
                <a:close/>
              </a:path>
              <a:path w="2567940" h="2202179">
                <a:moveTo>
                  <a:pt x="2074164" y="31750"/>
                </a:moveTo>
                <a:lnTo>
                  <a:pt x="2023364" y="31750"/>
                </a:lnTo>
                <a:lnTo>
                  <a:pt x="2023364" y="44450"/>
                </a:lnTo>
                <a:lnTo>
                  <a:pt x="2074164" y="44450"/>
                </a:lnTo>
                <a:lnTo>
                  <a:pt x="2074164" y="31750"/>
                </a:lnTo>
                <a:close/>
              </a:path>
              <a:path w="2567940" h="2202179">
                <a:moveTo>
                  <a:pt x="2163064" y="31750"/>
                </a:moveTo>
                <a:lnTo>
                  <a:pt x="2112264" y="31750"/>
                </a:lnTo>
                <a:lnTo>
                  <a:pt x="2112264" y="44450"/>
                </a:lnTo>
                <a:lnTo>
                  <a:pt x="2163064" y="44450"/>
                </a:lnTo>
                <a:lnTo>
                  <a:pt x="2163064" y="31750"/>
                </a:lnTo>
                <a:close/>
              </a:path>
              <a:path w="2567940" h="2202179">
                <a:moveTo>
                  <a:pt x="2251964" y="31750"/>
                </a:moveTo>
                <a:lnTo>
                  <a:pt x="2201164" y="31750"/>
                </a:lnTo>
                <a:lnTo>
                  <a:pt x="2201164" y="44450"/>
                </a:lnTo>
                <a:lnTo>
                  <a:pt x="2251964" y="44450"/>
                </a:lnTo>
                <a:lnTo>
                  <a:pt x="2251964" y="31750"/>
                </a:lnTo>
                <a:close/>
              </a:path>
              <a:path w="2567940" h="2202179">
                <a:moveTo>
                  <a:pt x="2340864" y="31750"/>
                </a:moveTo>
                <a:lnTo>
                  <a:pt x="2290064" y="31750"/>
                </a:lnTo>
                <a:lnTo>
                  <a:pt x="2290064" y="44450"/>
                </a:lnTo>
                <a:lnTo>
                  <a:pt x="2340864" y="44450"/>
                </a:lnTo>
                <a:lnTo>
                  <a:pt x="2340864" y="31750"/>
                </a:lnTo>
                <a:close/>
              </a:path>
              <a:path w="2567940" h="2202179">
                <a:moveTo>
                  <a:pt x="2383536" y="1005078"/>
                </a:moveTo>
                <a:lnTo>
                  <a:pt x="2332736" y="1005078"/>
                </a:lnTo>
                <a:lnTo>
                  <a:pt x="2332736" y="1017778"/>
                </a:lnTo>
                <a:lnTo>
                  <a:pt x="2383536" y="1017778"/>
                </a:lnTo>
                <a:lnTo>
                  <a:pt x="2383536" y="1005078"/>
                </a:lnTo>
                <a:close/>
              </a:path>
              <a:path w="2567940" h="2202179">
                <a:moveTo>
                  <a:pt x="2429764" y="31750"/>
                </a:moveTo>
                <a:lnTo>
                  <a:pt x="2378964" y="31750"/>
                </a:lnTo>
                <a:lnTo>
                  <a:pt x="2378964" y="44450"/>
                </a:lnTo>
                <a:lnTo>
                  <a:pt x="2429764" y="44450"/>
                </a:lnTo>
                <a:lnTo>
                  <a:pt x="2429764" y="31750"/>
                </a:lnTo>
                <a:close/>
              </a:path>
              <a:path w="2567940" h="2202179">
                <a:moveTo>
                  <a:pt x="2472436" y="1005078"/>
                </a:moveTo>
                <a:lnTo>
                  <a:pt x="2421636" y="1005078"/>
                </a:lnTo>
                <a:lnTo>
                  <a:pt x="2421636" y="1017778"/>
                </a:lnTo>
                <a:lnTo>
                  <a:pt x="2472436" y="1017778"/>
                </a:lnTo>
                <a:lnTo>
                  <a:pt x="2472436" y="1005078"/>
                </a:lnTo>
                <a:close/>
              </a:path>
              <a:path w="2567940" h="2202179">
                <a:moveTo>
                  <a:pt x="2518664" y="31750"/>
                </a:moveTo>
                <a:lnTo>
                  <a:pt x="2467864" y="31750"/>
                </a:lnTo>
                <a:lnTo>
                  <a:pt x="2467864" y="44450"/>
                </a:lnTo>
                <a:lnTo>
                  <a:pt x="2518664" y="44450"/>
                </a:lnTo>
                <a:lnTo>
                  <a:pt x="2518664" y="31750"/>
                </a:lnTo>
                <a:close/>
              </a:path>
              <a:path w="2567940" h="2202179">
                <a:moveTo>
                  <a:pt x="2561336" y="1005078"/>
                </a:moveTo>
                <a:lnTo>
                  <a:pt x="2510536" y="1005078"/>
                </a:lnTo>
                <a:lnTo>
                  <a:pt x="2510536" y="1017778"/>
                </a:lnTo>
                <a:lnTo>
                  <a:pt x="2561336" y="1017778"/>
                </a:lnTo>
                <a:lnTo>
                  <a:pt x="2561336" y="1005078"/>
                </a:lnTo>
                <a:close/>
              </a:path>
              <a:path w="2567940" h="2202179">
                <a:moveTo>
                  <a:pt x="2567686" y="922528"/>
                </a:moveTo>
                <a:lnTo>
                  <a:pt x="2554986" y="922528"/>
                </a:lnTo>
                <a:lnTo>
                  <a:pt x="2554986" y="973328"/>
                </a:lnTo>
                <a:lnTo>
                  <a:pt x="2567686" y="973328"/>
                </a:lnTo>
                <a:lnTo>
                  <a:pt x="2567686" y="922528"/>
                </a:lnTo>
                <a:close/>
              </a:path>
              <a:path w="2567940" h="2202179">
                <a:moveTo>
                  <a:pt x="2567686" y="833628"/>
                </a:moveTo>
                <a:lnTo>
                  <a:pt x="2554986" y="833628"/>
                </a:lnTo>
                <a:lnTo>
                  <a:pt x="2554986" y="884428"/>
                </a:lnTo>
                <a:lnTo>
                  <a:pt x="2567686" y="884428"/>
                </a:lnTo>
                <a:lnTo>
                  <a:pt x="2567686" y="833628"/>
                </a:lnTo>
                <a:close/>
              </a:path>
              <a:path w="2567940" h="2202179">
                <a:moveTo>
                  <a:pt x="2567686" y="744728"/>
                </a:moveTo>
                <a:lnTo>
                  <a:pt x="2554986" y="744728"/>
                </a:lnTo>
                <a:lnTo>
                  <a:pt x="2554986" y="795528"/>
                </a:lnTo>
                <a:lnTo>
                  <a:pt x="2567686" y="795528"/>
                </a:lnTo>
                <a:lnTo>
                  <a:pt x="2567686" y="744728"/>
                </a:lnTo>
                <a:close/>
              </a:path>
              <a:path w="2567940" h="2202179">
                <a:moveTo>
                  <a:pt x="2567686" y="655828"/>
                </a:moveTo>
                <a:lnTo>
                  <a:pt x="2554986" y="655828"/>
                </a:lnTo>
                <a:lnTo>
                  <a:pt x="2554986" y="706628"/>
                </a:lnTo>
                <a:lnTo>
                  <a:pt x="2567686" y="706628"/>
                </a:lnTo>
                <a:lnTo>
                  <a:pt x="2567686" y="655828"/>
                </a:lnTo>
                <a:close/>
              </a:path>
              <a:path w="2567940" h="2202179">
                <a:moveTo>
                  <a:pt x="2567686" y="566928"/>
                </a:moveTo>
                <a:lnTo>
                  <a:pt x="2554986" y="566928"/>
                </a:lnTo>
                <a:lnTo>
                  <a:pt x="2554986" y="617728"/>
                </a:lnTo>
                <a:lnTo>
                  <a:pt x="2567686" y="617728"/>
                </a:lnTo>
                <a:lnTo>
                  <a:pt x="2567686" y="566928"/>
                </a:lnTo>
                <a:close/>
              </a:path>
              <a:path w="2567940" h="2202179">
                <a:moveTo>
                  <a:pt x="2567686" y="478028"/>
                </a:moveTo>
                <a:lnTo>
                  <a:pt x="2554986" y="478028"/>
                </a:lnTo>
                <a:lnTo>
                  <a:pt x="2554986" y="528828"/>
                </a:lnTo>
                <a:lnTo>
                  <a:pt x="2567686" y="528828"/>
                </a:lnTo>
                <a:lnTo>
                  <a:pt x="2567686" y="478028"/>
                </a:lnTo>
                <a:close/>
              </a:path>
              <a:path w="2567940" h="2202179">
                <a:moveTo>
                  <a:pt x="2567686" y="389128"/>
                </a:moveTo>
                <a:lnTo>
                  <a:pt x="2554986" y="389128"/>
                </a:lnTo>
                <a:lnTo>
                  <a:pt x="2554986" y="439928"/>
                </a:lnTo>
                <a:lnTo>
                  <a:pt x="2567686" y="439928"/>
                </a:lnTo>
                <a:lnTo>
                  <a:pt x="2567686" y="389128"/>
                </a:lnTo>
                <a:close/>
              </a:path>
              <a:path w="2567940" h="2202179">
                <a:moveTo>
                  <a:pt x="2567686" y="300228"/>
                </a:moveTo>
                <a:lnTo>
                  <a:pt x="2554986" y="300228"/>
                </a:lnTo>
                <a:lnTo>
                  <a:pt x="2554986" y="351028"/>
                </a:lnTo>
                <a:lnTo>
                  <a:pt x="2567686" y="351028"/>
                </a:lnTo>
                <a:lnTo>
                  <a:pt x="2567686" y="300228"/>
                </a:lnTo>
                <a:close/>
              </a:path>
              <a:path w="2567940" h="2202179">
                <a:moveTo>
                  <a:pt x="2567686" y="211328"/>
                </a:moveTo>
                <a:lnTo>
                  <a:pt x="2554986" y="211328"/>
                </a:lnTo>
                <a:lnTo>
                  <a:pt x="2554986" y="262128"/>
                </a:lnTo>
                <a:lnTo>
                  <a:pt x="2567686" y="262128"/>
                </a:lnTo>
                <a:lnTo>
                  <a:pt x="2567686" y="211328"/>
                </a:lnTo>
                <a:close/>
              </a:path>
              <a:path w="2567940" h="2202179">
                <a:moveTo>
                  <a:pt x="2567686" y="122428"/>
                </a:moveTo>
                <a:lnTo>
                  <a:pt x="2554986" y="122428"/>
                </a:lnTo>
                <a:lnTo>
                  <a:pt x="2554986" y="173228"/>
                </a:lnTo>
                <a:lnTo>
                  <a:pt x="2567686" y="173228"/>
                </a:lnTo>
                <a:lnTo>
                  <a:pt x="2567686" y="122428"/>
                </a:lnTo>
                <a:close/>
              </a:path>
              <a:path w="2567940" h="2202179">
                <a:moveTo>
                  <a:pt x="2567686" y="31750"/>
                </a:moveTo>
                <a:lnTo>
                  <a:pt x="2556764" y="31750"/>
                </a:lnTo>
                <a:lnTo>
                  <a:pt x="2556764" y="39878"/>
                </a:lnTo>
                <a:lnTo>
                  <a:pt x="2554986" y="38100"/>
                </a:lnTo>
                <a:lnTo>
                  <a:pt x="2554986" y="84328"/>
                </a:lnTo>
                <a:lnTo>
                  <a:pt x="2567686" y="84328"/>
                </a:lnTo>
                <a:lnTo>
                  <a:pt x="2567686" y="44450"/>
                </a:lnTo>
                <a:lnTo>
                  <a:pt x="2567686" y="31750"/>
                </a:lnTo>
                <a:close/>
              </a:path>
            </a:pathLst>
          </a:custGeom>
          <a:solidFill>
            <a:srgbClr val="0070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53555" y="1684020"/>
            <a:ext cx="2097405" cy="615950"/>
          </a:xfrm>
          <a:prstGeom prst="rect">
            <a:avLst/>
          </a:prstGeom>
          <a:solidFill>
            <a:srgbClr val="0070B1"/>
          </a:solidFill>
          <a:ln w="12700">
            <a:solidFill>
              <a:srgbClr val="005182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sz="1600" spc="-10" dirty="0">
                <a:solidFill>
                  <a:srgbClr val="D2E8F4"/>
                </a:solidFill>
                <a:latin typeface="Source Sans Pro"/>
                <a:cs typeface="Source Sans Pro"/>
              </a:rPr>
              <a:t>Projektinitialisierung/</a:t>
            </a:r>
            <a:endParaRPr sz="1600" dirty="0">
              <a:latin typeface="Source Sans Pro"/>
              <a:cs typeface="Source Sans Pro"/>
            </a:endParaRPr>
          </a:p>
          <a:p>
            <a:pPr algn="ctr">
              <a:lnSpc>
                <a:spcPct val="100000"/>
              </a:lnSpc>
            </a:pPr>
            <a:r>
              <a:rPr sz="1600" spc="-10" dirty="0">
                <a:solidFill>
                  <a:srgbClr val="D2E8F4"/>
                </a:solidFill>
                <a:latin typeface="Source Sans Pro"/>
                <a:cs typeface="Source Sans Pro"/>
              </a:rPr>
              <a:t>-start</a:t>
            </a:r>
            <a:endParaRPr sz="1600" dirty="0">
              <a:latin typeface="Source Sans Pro"/>
              <a:cs typeface="Source Sans Pr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83780" y="2657855"/>
            <a:ext cx="2097405" cy="615950"/>
          </a:xfrm>
          <a:prstGeom prst="rect">
            <a:avLst/>
          </a:prstGeom>
          <a:solidFill>
            <a:srgbClr val="0070B1"/>
          </a:solidFill>
          <a:ln w="12700">
            <a:solidFill>
              <a:srgbClr val="005182"/>
            </a:solidFill>
          </a:ln>
        </p:spPr>
        <p:txBody>
          <a:bodyPr vert="horz" wrap="square" lIns="0" tIns="157480" rIns="0" bIns="0" rtlCol="0">
            <a:spAutoFit/>
          </a:bodyPr>
          <a:lstStyle/>
          <a:p>
            <a:pPr marL="307975">
              <a:lnSpc>
                <a:spcPct val="100000"/>
              </a:lnSpc>
              <a:spcBef>
                <a:spcPts val="1240"/>
              </a:spcBef>
            </a:pPr>
            <a:r>
              <a:rPr sz="1800" spc="-10" dirty="0">
                <a:solidFill>
                  <a:srgbClr val="D2E8F4"/>
                </a:solidFill>
                <a:latin typeface="Source Sans Pro"/>
                <a:cs typeface="Source Sans Pro"/>
              </a:rPr>
              <a:t>Projektplanung</a:t>
            </a:r>
            <a:endParaRPr sz="1800" dirty="0">
              <a:latin typeface="Source Sans Pro"/>
              <a:cs typeface="Source Sans Pr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24671" y="3840479"/>
            <a:ext cx="2097405" cy="617220"/>
          </a:xfrm>
          <a:prstGeom prst="rect">
            <a:avLst/>
          </a:prstGeom>
          <a:solidFill>
            <a:srgbClr val="0070B1"/>
          </a:solidFill>
          <a:ln w="12700">
            <a:solidFill>
              <a:srgbClr val="005182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389255" marR="379095" indent="278765">
              <a:lnSpc>
                <a:spcPct val="100000"/>
              </a:lnSpc>
              <a:spcBef>
                <a:spcPts val="165"/>
              </a:spcBef>
            </a:pPr>
            <a:r>
              <a:rPr sz="1800" spc="-10" dirty="0">
                <a:solidFill>
                  <a:srgbClr val="D2E8F4"/>
                </a:solidFill>
                <a:latin typeface="Source Sans Pro"/>
                <a:cs typeface="Source Sans Pro"/>
              </a:rPr>
              <a:t>Projekt- durchführung</a:t>
            </a:r>
            <a:endParaRPr sz="1800" dirty="0">
              <a:latin typeface="Source Sans Pro"/>
              <a:cs typeface="Source Sans Pr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82328" y="5010911"/>
            <a:ext cx="2097405" cy="617220"/>
          </a:xfrm>
          <a:prstGeom prst="rect">
            <a:avLst/>
          </a:prstGeom>
          <a:solidFill>
            <a:srgbClr val="0070B1"/>
          </a:solidFill>
          <a:ln w="12700">
            <a:solidFill>
              <a:srgbClr val="005182"/>
            </a:solidFill>
          </a:ln>
        </p:spPr>
        <p:txBody>
          <a:bodyPr vert="horz" wrap="square" lIns="0" tIns="158750" rIns="0" bIns="0" rtlCol="0">
            <a:spAutoFit/>
          </a:bodyPr>
          <a:lstStyle/>
          <a:p>
            <a:pPr marL="231140">
              <a:lnSpc>
                <a:spcPct val="100000"/>
              </a:lnSpc>
              <a:spcBef>
                <a:spcPts val="1250"/>
              </a:spcBef>
            </a:pPr>
            <a:r>
              <a:rPr sz="1800" spc="-10" dirty="0">
                <a:solidFill>
                  <a:srgbClr val="D2E8F4"/>
                </a:solidFill>
                <a:latin typeface="Source Sans Pro"/>
                <a:cs typeface="Source Sans Pro"/>
              </a:rPr>
              <a:t>Projektabschluss</a:t>
            </a:r>
            <a:endParaRPr sz="1800" dirty="0">
              <a:latin typeface="Source Sans Pro"/>
              <a:cs typeface="Source Sans Pr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395718" y="2299715"/>
            <a:ext cx="2116455" cy="1541145"/>
          </a:xfrm>
          <a:custGeom>
            <a:avLst/>
            <a:gdLst/>
            <a:ahLst/>
            <a:cxnLst/>
            <a:rect l="l" t="t" r="r" b="b"/>
            <a:pathLst>
              <a:path w="2116454" h="1541145">
                <a:moveTo>
                  <a:pt x="1075436" y="280797"/>
                </a:moveTo>
                <a:lnTo>
                  <a:pt x="1043686" y="280797"/>
                </a:lnTo>
                <a:lnTo>
                  <a:pt x="1043686" y="184912"/>
                </a:lnTo>
                <a:lnTo>
                  <a:pt x="1043686" y="172212"/>
                </a:lnTo>
                <a:lnTo>
                  <a:pt x="12700" y="172212"/>
                </a:lnTo>
                <a:lnTo>
                  <a:pt x="12700" y="0"/>
                </a:lnTo>
                <a:lnTo>
                  <a:pt x="0" y="0"/>
                </a:lnTo>
                <a:lnTo>
                  <a:pt x="0" y="184912"/>
                </a:lnTo>
                <a:lnTo>
                  <a:pt x="1030986" y="184912"/>
                </a:lnTo>
                <a:lnTo>
                  <a:pt x="1030986" y="280797"/>
                </a:lnTo>
                <a:lnTo>
                  <a:pt x="999236" y="280797"/>
                </a:lnTo>
                <a:lnTo>
                  <a:pt x="1037336" y="356997"/>
                </a:lnTo>
                <a:lnTo>
                  <a:pt x="1069086" y="293497"/>
                </a:lnTo>
                <a:lnTo>
                  <a:pt x="1075436" y="280797"/>
                </a:lnTo>
                <a:close/>
              </a:path>
              <a:path w="2116454" h="1541145">
                <a:moveTo>
                  <a:pt x="2115947" y="1464691"/>
                </a:moveTo>
                <a:lnTo>
                  <a:pt x="2084197" y="1464691"/>
                </a:lnTo>
                <a:lnTo>
                  <a:pt x="2084197" y="1263777"/>
                </a:lnTo>
                <a:lnTo>
                  <a:pt x="2084197" y="1251077"/>
                </a:lnTo>
                <a:lnTo>
                  <a:pt x="1042924" y="1251077"/>
                </a:lnTo>
                <a:lnTo>
                  <a:pt x="1042924" y="973836"/>
                </a:lnTo>
                <a:lnTo>
                  <a:pt x="1030224" y="973836"/>
                </a:lnTo>
                <a:lnTo>
                  <a:pt x="1030224" y="1263777"/>
                </a:lnTo>
                <a:lnTo>
                  <a:pt x="2071497" y="1263777"/>
                </a:lnTo>
                <a:lnTo>
                  <a:pt x="2071497" y="1464691"/>
                </a:lnTo>
                <a:lnTo>
                  <a:pt x="2039747" y="1464691"/>
                </a:lnTo>
                <a:lnTo>
                  <a:pt x="2077847" y="1540891"/>
                </a:lnTo>
                <a:lnTo>
                  <a:pt x="2109597" y="1477391"/>
                </a:lnTo>
                <a:lnTo>
                  <a:pt x="2115947" y="1464691"/>
                </a:lnTo>
                <a:close/>
              </a:path>
            </a:pathLst>
          </a:custGeom>
          <a:solidFill>
            <a:srgbClr val="0070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466833" y="4457700"/>
            <a:ext cx="1101725" cy="554355"/>
          </a:xfrm>
          <a:custGeom>
            <a:avLst/>
            <a:gdLst/>
            <a:ahLst/>
            <a:cxnLst/>
            <a:rect l="l" t="t" r="r" b="b"/>
            <a:pathLst>
              <a:path w="1101725" h="554354">
                <a:moveTo>
                  <a:pt x="1056894" y="478155"/>
                </a:moveTo>
                <a:lnTo>
                  <a:pt x="1025144" y="478155"/>
                </a:lnTo>
                <a:lnTo>
                  <a:pt x="1063244" y="554355"/>
                </a:lnTo>
                <a:lnTo>
                  <a:pt x="1094994" y="490855"/>
                </a:lnTo>
                <a:lnTo>
                  <a:pt x="1056894" y="490855"/>
                </a:lnTo>
                <a:lnTo>
                  <a:pt x="1056894" y="478155"/>
                </a:lnTo>
                <a:close/>
              </a:path>
              <a:path w="1101725" h="554354">
                <a:moveTo>
                  <a:pt x="1056894" y="277113"/>
                </a:moveTo>
                <a:lnTo>
                  <a:pt x="1056894" y="490855"/>
                </a:lnTo>
                <a:lnTo>
                  <a:pt x="1069594" y="490855"/>
                </a:lnTo>
                <a:lnTo>
                  <a:pt x="1069594" y="283463"/>
                </a:lnTo>
                <a:lnTo>
                  <a:pt x="1063244" y="283463"/>
                </a:lnTo>
                <a:lnTo>
                  <a:pt x="1056894" y="277113"/>
                </a:lnTo>
                <a:close/>
              </a:path>
              <a:path w="1101725" h="554354">
                <a:moveTo>
                  <a:pt x="1101344" y="478155"/>
                </a:moveTo>
                <a:lnTo>
                  <a:pt x="1069594" y="478155"/>
                </a:lnTo>
                <a:lnTo>
                  <a:pt x="1069594" y="490855"/>
                </a:lnTo>
                <a:lnTo>
                  <a:pt x="1094994" y="490855"/>
                </a:lnTo>
                <a:lnTo>
                  <a:pt x="1101344" y="478155"/>
                </a:lnTo>
                <a:close/>
              </a:path>
              <a:path w="1101725" h="554354">
                <a:moveTo>
                  <a:pt x="12700" y="0"/>
                </a:moveTo>
                <a:lnTo>
                  <a:pt x="0" y="0"/>
                </a:lnTo>
                <a:lnTo>
                  <a:pt x="0" y="283463"/>
                </a:lnTo>
                <a:lnTo>
                  <a:pt x="1056894" y="283463"/>
                </a:lnTo>
                <a:lnTo>
                  <a:pt x="1056894" y="277113"/>
                </a:lnTo>
                <a:lnTo>
                  <a:pt x="12700" y="277113"/>
                </a:lnTo>
                <a:lnTo>
                  <a:pt x="6350" y="270763"/>
                </a:lnTo>
                <a:lnTo>
                  <a:pt x="12700" y="270763"/>
                </a:lnTo>
                <a:lnTo>
                  <a:pt x="12700" y="0"/>
                </a:lnTo>
                <a:close/>
              </a:path>
              <a:path w="1101725" h="554354">
                <a:moveTo>
                  <a:pt x="1069594" y="270763"/>
                </a:moveTo>
                <a:lnTo>
                  <a:pt x="12700" y="270763"/>
                </a:lnTo>
                <a:lnTo>
                  <a:pt x="12700" y="277113"/>
                </a:lnTo>
                <a:lnTo>
                  <a:pt x="1056894" y="277113"/>
                </a:lnTo>
                <a:lnTo>
                  <a:pt x="1063244" y="283463"/>
                </a:lnTo>
                <a:lnTo>
                  <a:pt x="1069594" y="283463"/>
                </a:lnTo>
                <a:lnTo>
                  <a:pt x="1069594" y="270763"/>
                </a:lnTo>
                <a:close/>
              </a:path>
              <a:path w="1101725" h="554354">
                <a:moveTo>
                  <a:pt x="12700" y="270763"/>
                </a:moveTo>
                <a:lnTo>
                  <a:pt x="6350" y="270763"/>
                </a:lnTo>
                <a:lnTo>
                  <a:pt x="12700" y="277113"/>
                </a:lnTo>
                <a:lnTo>
                  <a:pt x="12700" y="270763"/>
                </a:lnTo>
                <a:close/>
              </a:path>
            </a:pathLst>
          </a:custGeom>
          <a:solidFill>
            <a:srgbClr val="0070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CEAD861B-425F-13C6-0C05-97EE2371089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5092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31</a:t>
            </a:fld>
            <a:endParaRPr lang="de-DE" spc="-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latin typeface="Source Sans Pro"/>
                <a:cs typeface="Source Sans Pro"/>
              </a:rPr>
              <a:t>Stakeholder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0842" y="1251414"/>
            <a:ext cx="5252085" cy="36285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90"/>
              </a:spcBef>
            </a:pPr>
            <a:endParaRPr sz="1900" dirty="0">
              <a:latin typeface="Source Sans Pro"/>
              <a:cs typeface="Source Sans Pro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err="1">
                <a:solidFill>
                  <a:srgbClr val="0070B1"/>
                </a:solidFill>
                <a:latin typeface="Source Sans Pro"/>
                <a:cs typeface="Source Sans Pro"/>
              </a:rPr>
              <a:t>Projektbeteiligte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,</a:t>
            </a:r>
            <a:r>
              <a:rPr spc="-4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Interessensgruppen, </a:t>
            </a:r>
            <a:r>
              <a:rPr dirty="0" err="1">
                <a:solidFill>
                  <a:srgbClr val="0070B1"/>
                </a:solidFill>
                <a:latin typeface="Source Sans Pro"/>
                <a:cs typeface="Source Sans Pro"/>
              </a:rPr>
              <a:t>interessierte</a:t>
            </a:r>
            <a:r>
              <a:rPr spc="-3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 err="1">
                <a:solidFill>
                  <a:srgbClr val="0070B1"/>
                </a:solidFill>
                <a:latin typeface="Source Sans Pro"/>
                <a:cs typeface="Source Sans Pro"/>
              </a:rPr>
              <a:t>Parteien</a:t>
            </a:r>
            <a:endParaRPr lang="de-DE" spc="-10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endParaRPr dirty="0">
              <a:latin typeface="Source Sans Pro"/>
              <a:cs typeface="Source Sans Pro"/>
            </a:endParaRPr>
          </a:p>
          <a:p>
            <a:pPr marL="355600" marR="257175" indent="-342900">
              <a:lnSpc>
                <a:spcPct val="100000"/>
              </a:lnSpc>
              <a:buFont typeface="Arial"/>
              <a:buChar char="•"/>
              <a:tabLst>
                <a:tab pos="355600" algn="l"/>
                <a:tab pos="2755900" algn="l"/>
              </a:tabLst>
            </a:pP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Personen,</a:t>
            </a:r>
            <a:r>
              <a:rPr spc="-4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Personengruppen</a:t>
            </a:r>
            <a:r>
              <a:rPr spc="-20" dirty="0">
                <a:solidFill>
                  <a:srgbClr val="0070B1"/>
                </a:solidFill>
                <a:latin typeface="Source Sans Pro"/>
                <a:cs typeface="Source Sans Pro"/>
              </a:rPr>
              <a:t> oder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Organisationen,</a:t>
            </a:r>
            <a:r>
              <a:rPr spc="-3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die</a:t>
            </a:r>
            <a:r>
              <a:rPr spc="-4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aktiv</a:t>
            </a:r>
            <a:r>
              <a:rPr spc="-3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am</a:t>
            </a:r>
            <a:r>
              <a:rPr spc="-4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>
                <a:solidFill>
                  <a:srgbClr val="0070B1"/>
                </a:solidFill>
                <a:latin typeface="Source Sans Pro"/>
                <a:cs typeface="Source Sans Pro"/>
              </a:rPr>
              <a:t>Projekt </a:t>
            </a:r>
            <a:r>
              <a:rPr dirty="0" err="1">
                <a:solidFill>
                  <a:srgbClr val="0070B1"/>
                </a:solidFill>
                <a:latin typeface="Source Sans Pro"/>
                <a:cs typeface="Source Sans Pro"/>
              </a:rPr>
              <a:t>beteiligt</a:t>
            </a:r>
            <a:r>
              <a:rPr spc="-2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20" dirty="0" err="1">
                <a:solidFill>
                  <a:srgbClr val="0070B1"/>
                </a:solidFill>
                <a:latin typeface="Source Sans Pro"/>
                <a:cs typeface="Source Sans Pro"/>
              </a:rPr>
              <a:t>sind</a:t>
            </a:r>
            <a:endParaRPr lang="de-DE" spc="-20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12700" marR="257175">
              <a:lnSpc>
                <a:spcPct val="100000"/>
              </a:lnSpc>
              <a:tabLst>
                <a:tab pos="355600" algn="l"/>
                <a:tab pos="2755900" algn="l"/>
              </a:tabLst>
            </a:pP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	</a:t>
            </a:r>
            <a:endParaRPr dirty="0">
              <a:latin typeface="Source Sans Pro"/>
              <a:cs typeface="Source Sans Pro"/>
            </a:endParaRPr>
          </a:p>
          <a:p>
            <a:pPr marL="355600" marR="38227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</a:tabLst>
            </a:pP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durch</a:t>
            </a:r>
            <a:r>
              <a:rPr spc="-6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den</a:t>
            </a:r>
            <a:r>
              <a:rPr spc="-6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Projektverlauf</a:t>
            </a:r>
            <a:r>
              <a:rPr spc="-5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oder</a:t>
            </a:r>
            <a:r>
              <a:rPr spc="-6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25" dirty="0">
                <a:solidFill>
                  <a:srgbClr val="0070B1"/>
                </a:solidFill>
                <a:latin typeface="Source Sans Pro"/>
                <a:cs typeface="Source Sans Pro"/>
              </a:rPr>
              <a:t>das </a:t>
            </a:r>
            <a:r>
              <a:rPr dirty="0">
                <a:solidFill>
                  <a:srgbClr val="0070B1"/>
                </a:solidFill>
                <a:latin typeface="Source Sans Pro"/>
                <a:cs typeface="Source Sans Pro"/>
              </a:rPr>
              <a:t>Projektergebnis</a:t>
            </a:r>
            <a:r>
              <a:rPr spc="-3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dirty="0" err="1">
                <a:solidFill>
                  <a:srgbClr val="0070B1"/>
                </a:solidFill>
                <a:latin typeface="Source Sans Pro"/>
                <a:cs typeface="Source Sans Pro"/>
              </a:rPr>
              <a:t>beeinflusst</a:t>
            </a:r>
            <a:r>
              <a:rPr spc="-5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pc="-10" dirty="0" err="1">
                <a:solidFill>
                  <a:srgbClr val="0070B1"/>
                </a:solidFill>
                <a:latin typeface="Source Sans Pro"/>
                <a:cs typeface="Source Sans Pro"/>
              </a:rPr>
              <a:t>werden</a:t>
            </a:r>
            <a:endParaRPr lang="de-DE" spc="-10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355600" marR="38227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</a:tabLst>
            </a:pPr>
            <a:endParaRPr lang="de-DE" spc="-10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355600" marR="38227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</a:tabLst>
            </a:pP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Personen die Einfluss auf das Projekt nehmen können</a:t>
            </a:r>
            <a:endParaRPr dirty="0">
              <a:latin typeface="Source Sans Pro"/>
              <a:cs typeface="Source Sans Pr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0105" y="1135347"/>
            <a:ext cx="5674667" cy="383825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7B74818-5617-2982-3E28-B904BF586F0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4330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32</a:t>
            </a:fld>
            <a:endParaRPr lang="de-DE" spc="-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B023B-FF54-FF24-8A2A-0EF6D457C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09E419F-1999-ADC1-7027-A0B1938BE6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0842" y="253844"/>
            <a:ext cx="4292600" cy="859210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4000" b="1" dirty="0">
                <a:latin typeface="Source Sans Pro"/>
                <a:cs typeface="Source Sans Pro"/>
              </a:rPr>
              <a:t>Das</a:t>
            </a:r>
            <a:r>
              <a:rPr sz="4000" b="1" spc="-75" dirty="0">
                <a:latin typeface="Source Sans Pro"/>
                <a:cs typeface="Source Sans Pro"/>
              </a:rPr>
              <a:t> </a:t>
            </a:r>
            <a:r>
              <a:rPr sz="4000" b="1" spc="-10" dirty="0" err="1">
                <a:latin typeface="Source Sans Pro"/>
                <a:cs typeface="Source Sans Pro"/>
              </a:rPr>
              <a:t>Pflichtenheft</a:t>
            </a:r>
            <a:endParaRPr sz="4000" b="1" spc="-10" dirty="0">
              <a:latin typeface="Source Sans Pro"/>
              <a:cs typeface="Source Sans Pro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F62BBF21-C3C7-8038-8E6D-84CD2CA9CF4D}"/>
              </a:ext>
            </a:extLst>
          </p:cNvPr>
          <p:cNvGrpSpPr/>
          <p:nvPr/>
        </p:nvGrpSpPr>
        <p:grpSpPr>
          <a:xfrm>
            <a:off x="3829748" y="3052044"/>
            <a:ext cx="1448435" cy="810260"/>
            <a:chOff x="6927850" y="2116582"/>
            <a:chExt cx="1448435" cy="81026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118AC54-6922-D013-0975-AA50F128AF7B}"/>
                </a:ext>
              </a:extLst>
            </p:cNvPr>
            <p:cNvSpPr/>
            <p:nvPr/>
          </p:nvSpPr>
          <p:spPr>
            <a:xfrm>
              <a:off x="6934200" y="2122932"/>
              <a:ext cx="1435735" cy="797560"/>
            </a:xfrm>
            <a:custGeom>
              <a:avLst/>
              <a:gdLst/>
              <a:ahLst/>
              <a:cxnLst/>
              <a:rect l="l" t="t" r="r" b="b"/>
              <a:pathLst>
                <a:path w="1435734" h="797560">
                  <a:moveTo>
                    <a:pt x="1037081" y="0"/>
                  </a:moveTo>
                  <a:lnTo>
                    <a:pt x="0" y="0"/>
                  </a:lnTo>
                  <a:lnTo>
                    <a:pt x="398525" y="398525"/>
                  </a:lnTo>
                  <a:lnTo>
                    <a:pt x="0" y="797051"/>
                  </a:lnTo>
                  <a:lnTo>
                    <a:pt x="1037081" y="797051"/>
                  </a:lnTo>
                  <a:lnTo>
                    <a:pt x="1435607" y="398525"/>
                  </a:lnTo>
                  <a:lnTo>
                    <a:pt x="1037081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34DAB825-D1FD-B40B-C174-27E51F766B60}"/>
                </a:ext>
              </a:extLst>
            </p:cNvPr>
            <p:cNvSpPr/>
            <p:nvPr/>
          </p:nvSpPr>
          <p:spPr>
            <a:xfrm>
              <a:off x="6934200" y="2122932"/>
              <a:ext cx="1435735" cy="797560"/>
            </a:xfrm>
            <a:custGeom>
              <a:avLst/>
              <a:gdLst/>
              <a:ahLst/>
              <a:cxnLst/>
              <a:rect l="l" t="t" r="r" b="b"/>
              <a:pathLst>
                <a:path w="1435734" h="797560">
                  <a:moveTo>
                    <a:pt x="0" y="0"/>
                  </a:moveTo>
                  <a:lnTo>
                    <a:pt x="1037081" y="0"/>
                  </a:lnTo>
                  <a:lnTo>
                    <a:pt x="1435607" y="398525"/>
                  </a:lnTo>
                  <a:lnTo>
                    <a:pt x="1037081" y="797051"/>
                  </a:lnTo>
                  <a:lnTo>
                    <a:pt x="0" y="797051"/>
                  </a:lnTo>
                  <a:lnTo>
                    <a:pt x="398525" y="398525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24A5E2B0-E9DA-2602-3F30-517B55839103}"/>
              </a:ext>
            </a:extLst>
          </p:cNvPr>
          <p:cNvSpPr txBox="1"/>
          <p:nvPr/>
        </p:nvSpPr>
        <p:spPr>
          <a:xfrm>
            <a:off x="4412296" y="3360907"/>
            <a:ext cx="28638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EFEFEF"/>
                </a:solidFill>
                <a:latin typeface="Source Sans Pro"/>
                <a:cs typeface="Source Sans Pro"/>
              </a:rPr>
              <a:t>Start</a:t>
            </a:r>
            <a:endParaRPr sz="1000" dirty="0">
              <a:latin typeface="Source Sans Pro"/>
              <a:cs typeface="Source Sans Pro"/>
            </a:endParaRPr>
          </a:p>
        </p:txBody>
      </p:sp>
      <p:grpSp>
        <p:nvGrpSpPr>
          <p:cNvPr id="8" name="object 8">
            <a:extLst>
              <a:ext uri="{FF2B5EF4-FFF2-40B4-BE49-F238E27FC236}">
                <a16:creationId xmlns:a16="http://schemas.microsoft.com/office/drawing/2014/main" id="{E9E1FFC2-6769-0B92-AFB6-BFDF83CB6DBE}"/>
              </a:ext>
            </a:extLst>
          </p:cNvPr>
          <p:cNvGrpSpPr/>
          <p:nvPr/>
        </p:nvGrpSpPr>
        <p:grpSpPr>
          <a:xfrm>
            <a:off x="4930076" y="3052044"/>
            <a:ext cx="1448435" cy="810260"/>
            <a:chOff x="8028178" y="2116582"/>
            <a:chExt cx="1448435" cy="810260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C928FF5E-49FF-D1FC-0AB2-C7C5F18503B8}"/>
                </a:ext>
              </a:extLst>
            </p:cNvPr>
            <p:cNvSpPr/>
            <p:nvPr/>
          </p:nvSpPr>
          <p:spPr>
            <a:xfrm>
              <a:off x="8034528" y="2122932"/>
              <a:ext cx="1435735" cy="797560"/>
            </a:xfrm>
            <a:custGeom>
              <a:avLst/>
              <a:gdLst/>
              <a:ahLst/>
              <a:cxnLst/>
              <a:rect l="l" t="t" r="r" b="b"/>
              <a:pathLst>
                <a:path w="1435734" h="797560">
                  <a:moveTo>
                    <a:pt x="1037081" y="0"/>
                  </a:moveTo>
                  <a:lnTo>
                    <a:pt x="0" y="0"/>
                  </a:lnTo>
                  <a:lnTo>
                    <a:pt x="398525" y="398525"/>
                  </a:lnTo>
                  <a:lnTo>
                    <a:pt x="0" y="797051"/>
                  </a:lnTo>
                  <a:lnTo>
                    <a:pt x="1037081" y="797051"/>
                  </a:lnTo>
                  <a:lnTo>
                    <a:pt x="1435607" y="398525"/>
                  </a:lnTo>
                  <a:lnTo>
                    <a:pt x="1037081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A49BB286-5F91-392A-2333-C857715AB3E0}"/>
                </a:ext>
              </a:extLst>
            </p:cNvPr>
            <p:cNvSpPr/>
            <p:nvPr/>
          </p:nvSpPr>
          <p:spPr>
            <a:xfrm>
              <a:off x="8034528" y="2122932"/>
              <a:ext cx="1435735" cy="797560"/>
            </a:xfrm>
            <a:custGeom>
              <a:avLst/>
              <a:gdLst/>
              <a:ahLst/>
              <a:cxnLst/>
              <a:rect l="l" t="t" r="r" b="b"/>
              <a:pathLst>
                <a:path w="1435734" h="797560">
                  <a:moveTo>
                    <a:pt x="0" y="0"/>
                  </a:moveTo>
                  <a:lnTo>
                    <a:pt x="1037081" y="0"/>
                  </a:lnTo>
                  <a:lnTo>
                    <a:pt x="1435607" y="398525"/>
                  </a:lnTo>
                  <a:lnTo>
                    <a:pt x="1037081" y="797051"/>
                  </a:lnTo>
                  <a:lnTo>
                    <a:pt x="0" y="797051"/>
                  </a:lnTo>
                  <a:lnTo>
                    <a:pt x="398525" y="398525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>
            <a:extLst>
              <a:ext uri="{FF2B5EF4-FFF2-40B4-BE49-F238E27FC236}">
                <a16:creationId xmlns:a16="http://schemas.microsoft.com/office/drawing/2014/main" id="{55C373ED-021F-1F53-AE4C-BB8FB9E3C439}"/>
              </a:ext>
            </a:extLst>
          </p:cNvPr>
          <p:cNvSpPr txBox="1"/>
          <p:nvPr/>
        </p:nvSpPr>
        <p:spPr>
          <a:xfrm>
            <a:off x="5424232" y="3360907"/>
            <a:ext cx="46291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EFEFEF"/>
                </a:solidFill>
                <a:latin typeface="Source Sans Pro"/>
                <a:cs typeface="Source Sans Pro"/>
              </a:rPr>
              <a:t>Planung</a:t>
            </a:r>
            <a:endParaRPr sz="1000" dirty="0">
              <a:latin typeface="Source Sans Pro"/>
              <a:cs typeface="Source Sans Pro"/>
            </a:endParaRPr>
          </a:p>
        </p:txBody>
      </p:sp>
      <p:grpSp>
        <p:nvGrpSpPr>
          <p:cNvPr id="12" name="object 12">
            <a:extLst>
              <a:ext uri="{FF2B5EF4-FFF2-40B4-BE49-F238E27FC236}">
                <a16:creationId xmlns:a16="http://schemas.microsoft.com/office/drawing/2014/main" id="{64C5A1AE-8B5E-EF90-B1D4-BE57095DA55E}"/>
              </a:ext>
            </a:extLst>
          </p:cNvPr>
          <p:cNvGrpSpPr/>
          <p:nvPr/>
        </p:nvGrpSpPr>
        <p:grpSpPr>
          <a:xfrm>
            <a:off x="6030404" y="3052044"/>
            <a:ext cx="1448435" cy="810260"/>
            <a:chOff x="9128506" y="2116582"/>
            <a:chExt cx="1448435" cy="810260"/>
          </a:xfrm>
        </p:grpSpPr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CC13C05F-5F81-EC38-683C-7E736F2B01CB}"/>
                </a:ext>
              </a:extLst>
            </p:cNvPr>
            <p:cNvSpPr/>
            <p:nvPr/>
          </p:nvSpPr>
          <p:spPr>
            <a:xfrm>
              <a:off x="9134856" y="2122932"/>
              <a:ext cx="1435735" cy="797560"/>
            </a:xfrm>
            <a:custGeom>
              <a:avLst/>
              <a:gdLst/>
              <a:ahLst/>
              <a:cxnLst/>
              <a:rect l="l" t="t" r="r" b="b"/>
              <a:pathLst>
                <a:path w="1435734" h="797560">
                  <a:moveTo>
                    <a:pt x="1037082" y="0"/>
                  </a:moveTo>
                  <a:lnTo>
                    <a:pt x="0" y="0"/>
                  </a:lnTo>
                  <a:lnTo>
                    <a:pt x="398525" y="398525"/>
                  </a:lnTo>
                  <a:lnTo>
                    <a:pt x="0" y="797051"/>
                  </a:lnTo>
                  <a:lnTo>
                    <a:pt x="1037082" y="797051"/>
                  </a:lnTo>
                  <a:lnTo>
                    <a:pt x="1435608" y="398525"/>
                  </a:lnTo>
                  <a:lnTo>
                    <a:pt x="1037082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979E01A0-88D0-2E59-7ECF-BCACF2143B3C}"/>
                </a:ext>
              </a:extLst>
            </p:cNvPr>
            <p:cNvSpPr/>
            <p:nvPr/>
          </p:nvSpPr>
          <p:spPr>
            <a:xfrm>
              <a:off x="9134856" y="2122932"/>
              <a:ext cx="1435735" cy="797560"/>
            </a:xfrm>
            <a:custGeom>
              <a:avLst/>
              <a:gdLst/>
              <a:ahLst/>
              <a:cxnLst/>
              <a:rect l="l" t="t" r="r" b="b"/>
              <a:pathLst>
                <a:path w="1435734" h="797560">
                  <a:moveTo>
                    <a:pt x="0" y="0"/>
                  </a:moveTo>
                  <a:lnTo>
                    <a:pt x="1037082" y="0"/>
                  </a:lnTo>
                  <a:lnTo>
                    <a:pt x="1435608" y="398525"/>
                  </a:lnTo>
                  <a:lnTo>
                    <a:pt x="1037082" y="797051"/>
                  </a:lnTo>
                  <a:lnTo>
                    <a:pt x="0" y="797051"/>
                  </a:lnTo>
                  <a:lnTo>
                    <a:pt x="398525" y="398525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1B9F2243-2D5F-0DA7-F5FC-665C8E444FBB}"/>
              </a:ext>
            </a:extLst>
          </p:cNvPr>
          <p:cNvSpPr txBox="1"/>
          <p:nvPr/>
        </p:nvSpPr>
        <p:spPr>
          <a:xfrm>
            <a:off x="6533958" y="3284707"/>
            <a:ext cx="4445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048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EFEFEF"/>
                </a:solidFill>
                <a:latin typeface="Source Sans Pro"/>
                <a:cs typeface="Source Sans Pro"/>
              </a:rPr>
              <a:t>Durch-</a:t>
            </a:r>
            <a:r>
              <a:rPr sz="1000" spc="500" dirty="0">
                <a:solidFill>
                  <a:srgbClr val="EFEFEF"/>
                </a:solidFill>
                <a:latin typeface="Source Sans Pro"/>
                <a:cs typeface="Source Sans Pro"/>
              </a:rPr>
              <a:t> </a:t>
            </a:r>
            <a:r>
              <a:rPr sz="1000" spc="-20" dirty="0">
                <a:solidFill>
                  <a:srgbClr val="EFEFEF"/>
                </a:solidFill>
                <a:latin typeface="Source Sans Pro"/>
                <a:cs typeface="Source Sans Pro"/>
              </a:rPr>
              <a:t>führung</a:t>
            </a:r>
            <a:endParaRPr sz="1000" dirty="0">
              <a:latin typeface="Source Sans Pro"/>
              <a:cs typeface="Source Sans Pro"/>
            </a:endParaRPr>
          </a:p>
        </p:txBody>
      </p:sp>
      <p:grpSp>
        <p:nvGrpSpPr>
          <p:cNvPr id="16" name="object 16">
            <a:extLst>
              <a:ext uri="{FF2B5EF4-FFF2-40B4-BE49-F238E27FC236}">
                <a16:creationId xmlns:a16="http://schemas.microsoft.com/office/drawing/2014/main" id="{C2A1DF25-C852-4B45-1C65-11600DECF9F3}"/>
              </a:ext>
            </a:extLst>
          </p:cNvPr>
          <p:cNvGrpSpPr/>
          <p:nvPr/>
        </p:nvGrpSpPr>
        <p:grpSpPr>
          <a:xfrm>
            <a:off x="7130731" y="3052044"/>
            <a:ext cx="1628139" cy="810260"/>
            <a:chOff x="10228833" y="2116582"/>
            <a:chExt cx="1628139" cy="810260"/>
          </a:xfrm>
        </p:grpSpPr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70560E8E-7B10-DA84-A2A6-D96589A624BE}"/>
                </a:ext>
              </a:extLst>
            </p:cNvPr>
            <p:cNvSpPr/>
            <p:nvPr/>
          </p:nvSpPr>
          <p:spPr>
            <a:xfrm>
              <a:off x="10235183" y="2122932"/>
              <a:ext cx="1615440" cy="797560"/>
            </a:xfrm>
            <a:custGeom>
              <a:avLst/>
              <a:gdLst/>
              <a:ahLst/>
              <a:cxnLst/>
              <a:rect l="l" t="t" r="r" b="b"/>
              <a:pathLst>
                <a:path w="1615440" h="797560">
                  <a:moveTo>
                    <a:pt x="1216914" y="0"/>
                  </a:moveTo>
                  <a:lnTo>
                    <a:pt x="0" y="0"/>
                  </a:lnTo>
                  <a:lnTo>
                    <a:pt x="398525" y="398525"/>
                  </a:lnTo>
                  <a:lnTo>
                    <a:pt x="0" y="797051"/>
                  </a:lnTo>
                  <a:lnTo>
                    <a:pt x="1216914" y="797051"/>
                  </a:lnTo>
                  <a:lnTo>
                    <a:pt x="1615440" y="398525"/>
                  </a:lnTo>
                  <a:lnTo>
                    <a:pt x="1216914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D3EB2903-C209-5889-835C-DC4F5557D3E8}"/>
                </a:ext>
              </a:extLst>
            </p:cNvPr>
            <p:cNvSpPr/>
            <p:nvPr/>
          </p:nvSpPr>
          <p:spPr>
            <a:xfrm>
              <a:off x="10235183" y="2122932"/>
              <a:ext cx="1615440" cy="797560"/>
            </a:xfrm>
            <a:custGeom>
              <a:avLst/>
              <a:gdLst/>
              <a:ahLst/>
              <a:cxnLst/>
              <a:rect l="l" t="t" r="r" b="b"/>
              <a:pathLst>
                <a:path w="1615440" h="797560">
                  <a:moveTo>
                    <a:pt x="0" y="0"/>
                  </a:moveTo>
                  <a:lnTo>
                    <a:pt x="1216914" y="0"/>
                  </a:lnTo>
                  <a:lnTo>
                    <a:pt x="1615440" y="398525"/>
                  </a:lnTo>
                  <a:lnTo>
                    <a:pt x="1216914" y="797051"/>
                  </a:lnTo>
                  <a:lnTo>
                    <a:pt x="0" y="797051"/>
                  </a:lnTo>
                  <a:lnTo>
                    <a:pt x="398525" y="39852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>
            <a:extLst>
              <a:ext uri="{FF2B5EF4-FFF2-40B4-BE49-F238E27FC236}">
                <a16:creationId xmlns:a16="http://schemas.microsoft.com/office/drawing/2014/main" id="{CDB62BE4-2A44-01A4-FAA9-9F7B91DA3D53}"/>
              </a:ext>
            </a:extLst>
          </p:cNvPr>
          <p:cNvSpPr txBox="1"/>
          <p:nvPr/>
        </p:nvSpPr>
        <p:spPr>
          <a:xfrm>
            <a:off x="7670863" y="3360907"/>
            <a:ext cx="55118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EFEFEF"/>
                </a:solidFill>
                <a:latin typeface="Source Sans Pro"/>
                <a:cs typeface="Source Sans Pro"/>
              </a:rPr>
              <a:t>Abschluss</a:t>
            </a:r>
            <a:endParaRPr sz="1000" dirty="0">
              <a:latin typeface="Source Sans Pro"/>
              <a:cs typeface="Source Sans Pro"/>
            </a:endParaRPr>
          </a:p>
        </p:txBody>
      </p:sp>
      <p:grpSp>
        <p:nvGrpSpPr>
          <p:cNvPr id="20" name="object 20">
            <a:extLst>
              <a:ext uri="{FF2B5EF4-FFF2-40B4-BE49-F238E27FC236}">
                <a16:creationId xmlns:a16="http://schemas.microsoft.com/office/drawing/2014/main" id="{CF83FE3E-2588-3916-C2DB-7DA91672B295}"/>
              </a:ext>
            </a:extLst>
          </p:cNvPr>
          <p:cNvGrpSpPr/>
          <p:nvPr/>
        </p:nvGrpSpPr>
        <p:grpSpPr>
          <a:xfrm>
            <a:off x="3674300" y="2315951"/>
            <a:ext cx="708025" cy="444500"/>
            <a:chOff x="6772402" y="1380489"/>
            <a:chExt cx="708025" cy="444500"/>
          </a:xfrm>
        </p:grpSpPr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C19FFFB6-BD00-752C-5C6A-27ECBB62D846}"/>
                </a:ext>
              </a:extLst>
            </p:cNvPr>
            <p:cNvSpPr/>
            <p:nvPr/>
          </p:nvSpPr>
          <p:spPr>
            <a:xfrm>
              <a:off x="6778752" y="1386839"/>
              <a:ext cx="695325" cy="431800"/>
            </a:xfrm>
            <a:custGeom>
              <a:avLst/>
              <a:gdLst/>
              <a:ahLst/>
              <a:cxnLst/>
              <a:rect l="l" t="t" r="r" b="b"/>
              <a:pathLst>
                <a:path w="695325" h="431800">
                  <a:moveTo>
                    <a:pt x="694944" y="0"/>
                  </a:moveTo>
                  <a:lnTo>
                    <a:pt x="0" y="0"/>
                  </a:lnTo>
                  <a:lnTo>
                    <a:pt x="0" y="408432"/>
                  </a:lnTo>
                  <a:lnTo>
                    <a:pt x="61248" y="420299"/>
                  </a:lnTo>
                  <a:lnTo>
                    <a:pt x="115371" y="427759"/>
                  </a:lnTo>
                  <a:lnTo>
                    <a:pt x="163386" y="431312"/>
                  </a:lnTo>
                  <a:lnTo>
                    <a:pt x="206311" y="431462"/>
                  </a:lnTo>
                  <a:lnTo>
                    <a:pt x="245164" y="428712"/>
                  </a:lnTo>
                  <a:lnTo>
                    <a:pt x="280963" y="423563"/>
                  </a:lnTo>
                  <a:lnTo>
                    <a:pt x="314726" y="416519"/>
                  </a:lnTo>
                  <a:lnTo>
                    <a:pt x="347472" y="408082"/>
                  </a:lnTo>
                  <a:lnTo>
                    <a:pt x="413980" y="389042"/>
                  </a:lnTo>
                  <a:lnTo>
                    <a:pt x="449779" y="379443"/>
                  </a:lnTo>
                  <a:lnTo>
                    <a:pt x="488632" y="370462"/>
                  </a:lnTo>
                  <a:lnTo>
                    <a:pt x="531557" y="362603"/>
                  </a:lnTo>
                  <a:lnTo>
                    <a:pt x="579572" y="356366"/>
                  </a:lnTo>
                  <a:lnTo>
                    <a:pt x="633695" y="352255"/>
                  </a:lnTo>
                  <a:lnTo>
                    <a:pt x="694944" y="350774"/>
                  </a:lnTo>
                  <a:lnTo>
                    <a:pt x="694944" y="0"/>
                  </a:lnTo>
                  <a:close/>
                </a:path>
              </a:pathLst>
            </a:custGeom>
            <a:solidFill>
              <a:srgbClr val="E3B6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67771B9E-2BE8-C394-49FE-1E967111B88B}"/>
                </a:ext>
              </a:extLst>
            </p:cNvPr>
            <p:cNvSpPr/>
            <p:nvPr/>
          </p:nvSpPr>
          <p:spPr>
            <a:xfrm>
              <a:off x="6778752" y="1386839"/>
              <a:ext cx="695325" cy="431800"/>
            </a:xfrm>
            <a:custGeom>
              <a:avLst/>
              <a:gdLst/>
              <a:ahLst/>
              <a:cxnLst/>
              <a:rect l="l" t="t" r="r" b="b"/>
              <a:pathLst>
                <a:path w="695325" h="431800">
                  <a:moveTo>
                    <a:pt x="0" y="0"/>
                  </a:moveTo>
                  <a:lnTo>
                    <a:pt x="694944" y="0"/>
                  </a:lnTo>
                  <a:lnTo>
                    <a:pt x="694944" y="350774"/>
                  </a:lnTo>
                  <a:lnTo>
                    <a:pt x="633695" y="352255"/>
                  </a:lnTo>
                  <a:lnTo>
                    <a:pt x="579572" y="356366"/>
                  </a:lnTo>
                  <a:lnTo>
                    <a:pt x="531557" y="362603"/>
                  </a:lnTo>
                  <a:lnTo>
                    <a:pt x="488632" y="370462"/>
                  </a:lnTo>
                  <a:lnTo>
                    <a:pt x="449779" y="379443"/>
                  </a:lnTo>
                  <a:lnTo>
                    <a:pt x="380217" y="398756"/>
                  </a:lnTo>
                  <a:lnTo>
                    <a:pt x="347472" y="408082"/>
                  </a:lnTo>
                  <a:lnTo>
                    <a:pt x="314726" y="416519"/>
                  </a:lnTo>
                  <a:lnTo>
                    <a:pt x="280963" y="423563"/>
                  </a:lnTo>
                  <a:lnTo>
                    <a:pt x="245164" y="428712"/>
                  </a:lnTo>
                  <a:lnTo>
                    <a:pt x="206311" y="431462"/>
                  </a:lnTo>
                  <a:lnTo>
                    <a:pt x="163386" y="431312"/>
                  </a:lnTo>
                  <a:lnTo>
                    <a:pt x="115371" y="427759"/>
                  </a:lnTo>
                  <a:lnTo>
                    <a:pt x="61248" y="420299"/>
                  </a:lnTo>
                  <a:lnTo>
                    <a:pt x="0" y="40843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>
            <a:extLst>
              <a:ext uri="{FF2B5EF4-FFF2-40B4-BE49-F238E27FC236}">
                <a16:creationId xmlns:a16="http://schemas.microsoft.com/office/drawing/2014/main" id="{2834210A-A9D9-F96F-18D6-8D9342D53580}"/>
              </a:ext>
            </a:extLst>
          </p:cNvPr>
          <p:cNvSpPr txBox="1"/>
          <p:nvPr/>
        </p:nvSpPr>
        <p:spPr>
          <a:xfrm>
            <a:off x="3820604" y="2325730"/>
            <a:ext cx="4171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235" marR="5080" indent="-9017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3B3B3B"/>
                </a:solidFill>
                <a:latin typeface="Source Sans Pro"/>
                <a:cs typeface="Source Sans Pro"/>
              </a:rPr>
              <a:t>Lasten-</a:t>
            </a:r>
            <a:r>
              <a:rPr sz="1000" spc="500" dirty="0">
                <a:solidFill>
                  <a:srgbClr val="3B3B3B"/>
                </a:solidFill>
                <a:latin typeface="Source Sans Pro"/>
                <a:cs typeface="Source Sans Pro"/>
              </a:rPr>
              <a:t> </a:t>
            </a:r>
            <a:r>
              <a:rPr sz="1000" spc="-20" dirty="0">
                <a:solidFill>
                  <a:srgbClr val="3B3B3B"/>
                </a:solidFill>
                <a:latin typeface="Source Sans Pro"/>
                <a:cs typeface="Source Sans Pro"/>
              </a:rPr>
              <a:t>heft</a:t>
            </a:r>
            <a:endParaRPr sz="1000" dirty="0">
              <a:latin typeface="Source Sans Pro"/>
              <a:cs typeface="Source Sans Pro"/>
            </a:endParaRPr>
          </a:p>
        </p:txBody>
      </p:sp>
      <p:grpSp>
        <p:nvGrpSpPr>
          <p:cNvPr id="24" name="object 24">
            <a:extLst>
              <a:ext uri="{FF2B5EF4-FFF2-40B4-BE49-F238E27FC236}">
                <a16:creationId xmlns:a16="http://schemas.microsoft.com/office/drawing/2014/main" id="{339E8D04-6C15-6D75-E7E0-3CFB18BB70CE}"/>
              </a:ext>
            </a:extLst>
          </p:cNvPr>
          <p:cNvGrpSpPr/>
          <p:nvPr/>
        </p:nvGrpSpPr>
        <p:grpSpPr>
          <a:xfrm>
            <a:off x="4827967" y="4426691"/>
            <a:ext cx="840740" cy="748665"/>
            <a:chOff x="7926069" y="3491229"/>
            <a:chExt cx="840740" cy="748665"/>
          </a:xfrm>
        </p:grpSpPr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440C4121-34D8-644A-16A6-484B25D8C71B}"/>
                </a:ext>
              </a:extLst>
            </p:cNvPr>
            <p:cNvSpPr/>
            <p:nvPr/>
          </p:nvSpPr>
          <p:spPr>
            <a:xfrm>
              <a:off x="7932419" y="3497579"/>
              <a:ext cx="828040" cy="735965"/>
            </a:xfrm>
            <a:custGeom>
              <a:avLst/>
              <a:gdLst/>
              <a:ahLst/>
              <a:cxnLst/>
              <a:rect l="l" t="t" r="r" b="b"/>
              <a:pathLst>
                <a:path w="828040" h="735964">
                  <a:moveTo>
                    <a:pt x="827531" y="0"/>
                  </a:moveTo>
                  <a:lnTo>
                    <a:pt x="0" y="0"/>
                  </a:lnTo>
                  <a:lnTo>
                    <a:pt x="0" y="695960"/>
                  </a:lnTo>
                  <a:lnTo>
                    <a:pt x="56384" y="712081"/>
                  </a:lnTo>
                  <a:lnTo>
                    <a:pt x="107674" y="723722"/>
                  </a:lnTo>
                  <a:lnTo>
                    <a:pt x="154408" y="731263"/>
                  </a:lnTo>
                  <a:lnTo>
                    <a:pt x="197120" y="735081"/>
                  </a:lnTo>
                  <a:lnTo>
                    <a:pt x="236348" y="735556"/>
                  </a:lnTo>
                  <a:lnTo>
                    <a:pt x="272627" y="733066"/>
                  </a:lnTo>
                  <a:lnTo>
                    <a:pt x="338483" y="720710"/>
                  </a:lnTo>
                  <a:lnTo>
                    <a:pt x="398977" y="701044"/>
                  </a:lnTo>
                  <a:lnTo>
                    <a:pt x="489048" y="664468"/>
                  </a:lnTo>
                  <a:lnTo>
                    <a:pt x="521038" y="651905"/>
                  </a:lnTo>
                  <a:lnTo>
                    <a:pt x="591183" y="628494"/>
                  </a:lnTo>
                  <a:lnTo>
                    <a:pt x="630411" y="618405"/>
                  </a:lnTo>
                  <a:lnTo>
                    <a:pt x="673123" y="609898"/>
                  </a:lnTo>
                  <a:lnTo>
                    <a:pt x="719857" y="603353"/>
                  </a:lnTo>
                  <a:lnTo>
                    <a:pt x="771147" y="599147"/>
                  </a:lnTo>
                  <a:lnTo>
                    <a:pt x="827531" y="597662"/>
                  </a:lnTo>
                  <a:lnTo>
                    <a:pt x="827531" y="0"/>
                  </a:lnTo>
                  <a:close/>
                </a:path>
              </a:pathLst>
            </a:custGeom>
            <a:solidFill>
              <a:srgbClr val="BCE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E768FE03-85BD-B05C-531F-B58E56DF7FC3}"/>
                </a:ext>
              </a:extLst>
            </p:cNvPr>
            <p:cNvSpPr/>
            <p:nvPr/>
          </p:nvSpPr>
          <p:spPr>
            <a:xfrm>
              <a:off x="7932419" y="3497579"/>
              <a:ext cx="828040" cy="735965"/>
            </a:xfrm>
            <a:custGeom>
              <a:avLst/>
              <a:gdLst/>
              <a:ahLst/>
              <a:cxnLst/>
              <a:rect l="l" t="t" r="r" b="b"/>
              <a:pathLst>
                <a:path w="828040" h="735964">
                  <a:moveTo>
                    <a:pt x="0" y="0"/>
                  </a:moveTo>
                  <a:lnTo>
                    <a:pt x="827531" y="0"/>
                  </a:lnTo>
                  <a:lnTo>
                    <a:pt x="827531" y="597662"/>
                  </a:lnTo>
                  <a:lnTo>
                    <a:pt x="771147" y="599147"/>
                  </a:lnTo>
                  <a:lnTo>
                    <a:pt x="719857" y="603353"/>
                  </a:lnTo>
                  <a:lnTo>
                    <a:pt x="673123" y="609898"/>
                  </a:lnTo>
                  <a:lnTo>
                    <a:pt x="630411" y="618405"/>
                  </a:lnTo>
                  <a:lnTo>
                    <a:pt x="591183" y="628494"/>
                  </a:lnTo>
                  <a:lnTo>
                    <a:pt x="521038" y="651905"/>
                  </a:lnTo>
                  <a:lnTo>
                    <a:pt x="458399" y="677098"/>
                  </a:lnTo>
                  <a:lnTo>
                    <a:pt x="428554" y="689417"/>
                  </a:lnTo>
                  <a:lnTo>
                    <a:pt x="398977" y="701044"/>
                  </a:lnTo>
                  <a:lnTo>
                    <a:pt x="338483" y="720710"/>
                  </a:lnTo>
                  <a:lnTo>
                    <a:pt x="272627" y="733066"/>
                  </a:lnTo>
                  <a:lnTo>
                    <a:pt x="236348" y="735556"/>
                  </a:lnTo>
                  <a:lnTo>
                    <a:pt x="197120" y="735081"/>
                  </a:lnTo>
                  <a:lnTo>
                    <a:pt x="154408" y="731263"/>
                  </a:lnTo>
                  <a:lnTo>
                    <a:pt x="107674" y="723722"/>
                  </a:lnTo>
                  <a:lnTo>
                    <a:pt x="56384" y="712081"/>
                  </a:lnTo>
                  <a:lnTo>
                    <a:pt x="0" y="69596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>
            <a:extLst>
              <a:ext uri="{FF2B5EF4-FFF2-40B4-BE49-F238E27FC236}">
                <a16:creationId xmlns:a16="http://schemas.microsoft.com/office/drawing/2014/main" id="{79FDB4EB-8E0A-F73E-3FB5-0E1FA10DDE3E}"/>
              </a:ext>
            </a:extLst>
          </p:cNvPr>
          <p:cNvSpPr txBox="1"/>
          <p:nvPr/>
        </p:nvSpPr>
        <p:spPr>
          <a:xfrm>
            <a:off x="4944427" y="4483410"/>
            <a:ext cx="609600" cy="4832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3B3B3B"/>
                </a:solidFill>
                <a:latin typeface="Source Sans Pro"/>
                <a:cs typeface="Source Sans Pro"/>
              </a:rPr>
              <a:t>vorläufiges</a:t>
            </a:r>
            <a:r>
              <a:rPr sz="1000" spc="500" dirty="0">
                <a:solidFill>
                  <a:srgbClr val="3B3B3B"/>
                </a:solidFill>
                <a:latin typeface="Source Sans Pro"/>
                <a:cs typeface="Source Sans Pro"/>
              </a:rPr>
              <a:t> </a:t>
            </a:r>
            <a:r>
              <a:rPr sz="1000" spc="-10" dirty="0">
                <a:solidFill>
                  <a:srgbClr val="3B3B3B"/>
                </a:solidFill>
                <a:latin typeface="Source Sans Pro"/>
                <a:cs typeface="Source Sans Pro"/>
              </a:rPr>
              <a:t>Pflichten-</a:t>
            </a:r>
            <a:r>
              <a:rPr sz="1000" spc="500" dirty="0">
                <a:solidFill>
                  <a:srgbClr val="3B3B3B"/>
                </a:solidFill>
                <a:latin typeface="Source Sans Pro"/>
                <a:cs typeface="Source Sans Pro"/>
              </a:rPr>
              <a:t> </a:t>
            </a:r>
            <a:r>
              <a:rPr sz="1000" spc="-20" dirty="0">
                <a:solidFill>
                  <a:srgbClr val="3B3B3B"/>
                </a:solidFill>
                <a:latin typeface="Source Sans Pro"/>
                <a:cs typeface="Source Sans Pro"/>
              </a:rPr>
              <a:t>heft</a:t>
            </a:r>
            <a:endParaRPr sz="1000" dirty="0">
              <a:latin typeface="Source Sans Pro"/>
              <a:cs typeface="Source Sans Pro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8C33C626-63D9-054D-9D8F-4A9AE8F1724F}"/>
              </a:ext>
            </a:extLst>
          </p:cNvPr>
          <p:cNvSpPr/>
          <p:nvPr/>
        </p:nvSpPr>
        <p:spPr>
          <a:xfrm>
            <a:off x="4023677" y="2726288"/>
            <a:ext cx="1223645" cy="1706880"/>
          </a:xfrm>
          <a:custGeom>
            <a:avLst/>
            <a:gdLst/>
            <a:ahLst/>
            <a:cxnLst/>
            <a:rect l="l" t="t" r="r" b="b"/>
            <a:pathLst>
              <a:path w="1223645" h="1706879">
                <a:moveTo>
                  <a:pt x="329311" y="331470"/>
                </a:moveTo>
                <a:lnTo>
                  <a:pt x="315912" y="290830"/>
                </a:lnTo>
                <a:lnTo>
                  <a:pt x="302641" y="250571"/>
                </a:lnTo>
                <a:lnTo>
                  <a:pt x="280073" y="272923"/>
                </a:lnTo>
                <a:lnTo>
                  <a:pt x="8890" y="0"/>
                </a:lnTo>
                <a:lnTo>
                  <a:pt x="0" y="8890"/>
                </a:lnTo>
                <a:lnTo>
                  <a:pt x="271081" y="281825"/>
                </a:lnTo>
                <a:lnTo>
                  <a:pt x="248539" y="304165"/>
                </a:lnTo>
                <a:lnTo>
                  <a:pt x="329311" y="331470"/>
                </a:lnTo>
                <a:close/>
              </a:path>
              <a:path w="1223645" h="1706879">
                <a:moveTo>
                  <a:pt x="1223391" y="1706372"/>
                </a:moveTo>
                <a:lnTo>
                  <a:pt x="1206195" y="1677289"/>
                </a:lnTo>
                <a:lnTo>
                  <a:pt x="1180084" y="1633093"/>
                </a:lnTo>
                <a:lnTo>
                  <a:pt x="1162875" y="1659788"/>
                </a:lnTo>
                <a:lnTo>
                  <a:pt x="332486" y="1123823"/>
                </a:lnTo>
                <a:lnTo>
                  <a:pt x="325628" y="1134491"/>
                </a:lnTo>
                <a:lnTo>
                  <a:pt x="1155992" y="1670443"/>
                </a:lnTo>
                <a:lnTo>
                  <a:pt x="1138809" y="1697101"/>
                </a:lnTo>
                <a:lnTo>
                  <a:pt x="1223391" y="1706372"/>
                </a:lnTo>
                <a:close/>
              </a:path>
            </a:pathLst>
          </a:custGeom>
          <a:solidFill>
            <a:srgbClr val="0070B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E6BC2C07-43B0-B433-2D04-F8EB3AB00D2F}"/>
              </a:ext>
            </a:extLst>
          </p:cNvPr>
          <p:cNvSpPr txBox="1"/>
          <p:nvPr/>
        </p:nvSpPr>
        <p:spPr>
          <a:xfrm>
            <a:off x="4055934" y="4146606"/>
            <a:ext cx="72199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0070B1"/>
                </a:solidFill>
                <a:latin typeface="Source Sans Pro"/>
                <a:cs typeface="Source Sans Pro"/>
              </a:rPr>
              <a:t>Grobplanung</a:t>
            </a:r>
            <a:endParaRPr sz="1000" dirty="0">
              <a:latin typeface="Source Sans Pro"/>
              <a:cs typeface="Source Sans Pro"/>
            </a:endParaRPr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3E338DE0-F131-6EF3-B6FB-A75DC0221A39}"/>
              </a:ext>
            </a:extLst>
          </p:cNvPr>
          <p:cNvSpPr/>
          <p:nvPr/>
        </p:nvSpPr>
        <p:spPr>
          <a:xfrm>
            <a:off x="5241353" y="3855445"/>
            <a:ext cx="222250" cy="579755"/>
          </a:xfrm>
          <a:custGeom>
            <a:avLst/>
            <a:gdLst/>
            <a:ahLst/>
            <a:cxnLst/>
            <a:rect l="l" t="t" r="r" b="b"/>
            <a:pathLst>
              <a:path w="222250" h="579754">
                <a:moveTo>
                  <a:pt x="180390" y="69616"/>
                </a:moveTo>
                <a:lnTo>
                  <a:pt x="0" y="575055"/>
                </a:lnTo>
                <a:lnTo>
                  <a:pt x="11938" y="579374"/>
                </a:lnTo>
                <a:lnTo>
                  <a:pt x="192343" y="73889"/>
                </a:lnTo>
                <a:lnTo>
                  <a:pt x="180390" y="69616"/>
                </a:lnTo>
                <a:close/>
              </a:path>
              <a:path w="222250" h="579754">
                <a:moveTo>
                  <a:pt x="218975" y="57657"/>
                </a:moveTo>
                <a:lnTo>
                  <a:pt x="184658" y="57657"/>
                </a:lnTo>
                <a:lnTo>
                  <a:pt x="196596" y="61975"/>
                </a:lnTo>
                <a:lnTo>
                  <a:pt x="192343" y="73889"/>
                </a:lnTo>
                <a:lnTo>
                  <a:pt x="222250" y="84581"/>
                </a:lnTo>
                <a:lnTo>
                  <a:pt x="218975" y="57657"/>
                </a:lnTo>
                <a:close/>
              </a:path>
              <a:path w="222250" h="579754">
                <a:moveTo>
                  <a:pt x="184658" y="57657"/>
                </a:moveTo>
                <a:lnTo>
                  <a:pt x="180390" y="69616"/>
                </a:lnTo>
                <a:lnTo>
                  <a:pt x="192343" y="73889"/>
                </a:lnTo>
                <a:lnTo>
                  <a:pt x="196596" y="61975"/>
                </a:lnTo>
                <a:lnTo>
                  <a:pt x="184658" y="57657"/>
                </a:lnTo>
                <a:close/>
              </a:path>
              <a:path w="222250" h="579754">
                <a:moveTo>
                  <a:pt x="211963" y="0"/>
                </a:moveTo>
                <a:lnTo>
                  <a:pt x="150495" y="58927"/>
                </a:lnTo>
                <a:lnTo>
                  <a:pt x="180390" y="69616"/>
                </a:lnTo>
                <a:lnTo>
                  <a:pt x="184658" y="57657"/>
                </a:lnTo>
                <a:lnTo>
                  <a:pt x="218975" y="57657"/>
                </a:lnTo>
                <a:lnTo>
                  <a:pt x="211963" y="0"/>
                </a:lnTo>
                <a:close/>
              </a:path>
            </a:pathLst>
          </a:custGeom>
          <a:solidFill>
            <a:srgbClr val="0070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9D179442-EC24-3EF5-ECC7-E85378329C4C}"/>
              </a:ext>
            </a:extLst>
          </p:cNvPr>
          <p:cNvSpPr txBox="1"/>
          <p:nvPr/>
        </p:nvSpPr>
        <p:spPr>
          <a:xfrm>
            <a:off x="5390958" y="4125574"/>
            <a:ext cx="68516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0070B1"/>
                </a:solidFill>
                <a:latin typeface="Source Sans Pro"/>
                <a:cs typeface="Source Sans Pro"/>
              </a:rPr>
              <a:t>Feinplanung</a:t>
            </a:r>
            <a:endParaRPr sz="1000" dirty="0">
              <a:latin typeface="Source Sans Pro"/>
              <a:cs typeface="Source Sans Pro"/>
            </a:endParaRPr>
          </a:p>
        </p:txBody>
      </p:sp>
      <p:grpSp>
        <p:nvGrpSpPr>
          <p:cNvPr id="32" name="object 32">
            <a:extLst>
              <a:ext uri="{FF2B5EF4-FFF2-40B4-BE49-F238E27FC236}">
                <a16:creationId xmlns:a16="http://schemas.microsoft.com/office/drawing/2014/main" id="{17CC27B4-7886-03C1-5B76-A43AC2A85D36}"/>
              </a:ext>
            </a:extLst>
          </p:cNvPr>
          <p:cNvGrpSpPr/>
          <p:nvPr/>
        </p:nvGrpSpPr>
        <p:grpSpPr>
          <a:xfrm>
            <a:off x="6262052" y="4431264"/>
            <a:ext cx="840740" cy="748665"/>
            <a:chOff x="9360154" y="3495802"/>
            <a:chExt cx="840740" cy="748665"/>
          </a:xfrm>
        </p:grpSpPr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F676A53D-FCAD-C878-337B-1326E4C4BBC9}"/>
                </a:ext>
              </a:extLst>
            </p:cNvPr>
            <p:cNvSpPr/>
            <p:nvPr/>
          </p:nvSpPr>
          <p:spPr>
            <a:xfrm>
              <a:off x="9366504" y="3502152"/>
              <a:ext cx="828040" cy="735965"/>
            </a:xfrm>
            <a:custGeom>
              <a:avLst/>
              <a:gdLst/>
              <a:ahLst/>
              <a:cxnLst/>
              <a:rect l="l" t="t" r="r" b="b"/>
              <a:pathLst>
                <a:path w="828040" h="735964">
                  <a:moveTo>
                    <a:pt x="827531" y="0"/>
                  </a:moveTo>
                  <a:lnTo>
                    <a:pt x="0" y="0"/>
                  </a:lnTo>
                  <a:lnTo>
                    <a:pt x="0" y="695960"/>
                  </a:lnTo>
                  <a:lnTo>
                    <a:pt x="56384" y="712081"/>
                  </a:lnTo>
                  <a:lnTo>
                    <a:pt x="107674" y="723722"/>
                  </a:lnTo>
                  <a:lnTo>
                    <a:pt x="154408" y="731263"/>
                  </a:lnTo>
                  <a:lnTo>
                    <a:pt x="197120" y="735081"/>
                  </a:lnTo>
                  <a:lnTo>
                    <a:pt x="236348" y="735556"/>
                  </a:lnTo>
                  <a:lnTo>
                    <a:pt x="272627" y="733066"/>
                  </a:lnTo>
                  <a:lnTo>
                    <a:pt x="338483" y="720710"/>
                  </a:lnTo>
                  <a:lnTo>
                    <a:pt x="398977" y="701044"/>
                  </a:lnTo>
                  <a:lnTo>
                    <a:pt x="489048" y="664468"/>
                  </a:lnTo>
                  <a:lnTo>
                    <a:pt x="521038" y="651905"/>
                  </a:lnTo>
                  <a:lnTo>
                    <a:pt x="591183" y="628494"/>
                  </a:lnTo>
                  <a:lnTo>
                    <a:pt x="630411" y="618405"/>
                  </a:lnTo>
                  <a:lnTo>
                    <a:pt x="673123" y="609898"/>
                  </a:lnTo>
                  <a:lnTo>
                    <a:pt x="719857" y="603353"/>
                  </a:lnTo>
                  <a:lnTo>
                    <a:pt x="771147" y="599147"/>
                  </a:lnTo>
                  <a:lnTo>
                    <a:pt x="827531" y="597662"/>
                  </a:lnTo>
                  <a:lnTo>
                    <a:pt x="827531" y="0"/>
                  </a:lnTo>
                  <a:close/>
                </a:path>
              </a:pathLst>
            </a:custGeom>
            <a:solidFill>
              <a:srgbClr val="38B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D39E4E35-0505-FD73-7E29-4DFB432B7B70}"/>
                </a:ext>
              </a:extLst>
            </p:cNvPr>
            <p:cNvSpPr/>
            <p:nvPr/>
          </p:nvSpPr>
          <p:spPr>
            <a:xfrm>
              <a:off x="9366504" y="3502152"/>
              <a:ext cx="828040" cy="735965"/>
            </a:xfrm>
            <a:custGeom>
              <a:avLst/>
              <a:gdLst/>
              <a:ahLst/>
              <a:cxnLst/>
              <a:rect l="l" t="t" r="r" b="b"/>
              <a:pathLst>
                <a:path w="828040" h="735964">
                  <a:moveTo>
                    <a:pt x="0" y="0"/>
                  </a:moveTo>
                  <a:lnTo>
                    <a:pt x="827531" y="0"/>
                  </a:lnTo>
                  <a:lnTo>
                    <a:pt x="827531" y="597662"/>
                  </a:lnTo>
                  <a:lnTo>
                    <a:pt x="771147" y="599147"/>
                  </a:lnTo>
                  <a:lnTo>
                    <a:pt x="719857" y="603353"/>
                  </a:lnTo>
                  <a:lnTo>
                    <a:pt x="673123" y="609898"/>
                  </a:lnTo>
                  <a:lnTo>
                    <a:pt x="630411" y="618405"/>
                  </a:lnTo>
                  <a:lnTo>
                    <a:pt x="591183" y="628494"/>
                  </a:lnTo>
                  <a:lnTo>
                    <a:pt x="521038" y="651905"/>
                  </a:lnTo>
                  <a:lnTo>
                    <a:pt x="458399" y="677098"/>
                  </a:lnTo>
                  <a:lnTo>
                    <a:pt x="428554" y="689417"/>
                  </a:lnTo>
                  <a:lnTo>
                    <a:pt x="398977" y="701044"/>
                  </a:lnTo>
                  <a:lnTo>
                    <a:pt x="338483" y="720710"/>
                  </a:lnTo>
                  <a:lnTo>
                    <a:pt x="272627" y="733066"/>
                  </a:lnTo>
                  <a:lnTo>
                    <a:pt x="236348" y="735556"/>
                  </a:lnTo>
                  <a:lnTo>
                    <a:pt x="197120" y="735081"/>
                  </a:lnTo>
                  <a:lnTo>
                    <a:pt x="154408" y="731263"/>
                  </a:lnTo>
                  <a:lnTo>
                    <a:pt x="107674" y="723722"/>
                  </a:lnTo>
                  <a:lnTo>
                    <a:pt x="56384" y="712081"/>
                  </a:lnTo>
                  <a:lnTo>
                    <a:pt x="0" y="69596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>
            <a:extLst>
              <a:ext uri="{FF2B5EF4-FFF2-40B4-BE49-F238E27FC236}">
                <a16:creationId xmlns:a16="http://schemas.microsoft.com/office/drawing/2014/main" id="{3B45FDFC-0201-6557-0CF6-BEFDA98282C2}"/>
              </a:ext>
            </a:extLst>
          </p:cNvPr>
          <p:cNvSpPr txBox="1"/>
          <p:nvPr/>
        </p:nvSpPr>
        <p:spPr>
          <a:xfrm>
            <a:off x="6360604" y="4487652"/>
            <a:ext cx="64389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3B3B3B"/>
                </a:solidFill>
                <a:latin typeface="Source Sans Pro"/>
                <a:cs typeface="Source Sans Pro"/>
              </a:rPr>
              <a:t>endgültiges</a:t>
            </a:r>
            <a:r>
              <a:rPr sz="1000" spc="500" dirty="0">
                <a:solidFill>
                  <a:srgbClr val="3B3B3B"/>
                </a:solidFill>
                <a:latin typeface="Source Sans Pro"/>
                <a:cs typeface="Source Sans Pro"/>
              </a:rPr>
              <a:t> </a:t>
            </a:r>
            <a:r>
              <a:rPr sz="1000" spc="-10" dirty="0">
                <a:solidFill>
                  <a:srgbClr val="3B3B3B"/>
                </a:solidFill>
                <a:latin typeface="Source Sans Pro"/>
                <a:cs typeface="Source Sans Pro"/>
              </a:rPr>
              <a:t>Pflichten-</a:t>
            </a:r>
            <a:r>
              <a:rPr sz="1000" spc="500" dirty="0">
                <a:solidFill>
                  <a:srgbClr val="3B3B3B"/>
                </a:solidFill>
                <a:latin typeface="Source Sans Pro"/>
                <a:cs typeface="Source Sans Pro"/>
              </a:rPr>
              <a:t> </a:t>
            </a:r>
            <a:r>
              <a:rPr sz="1000" spc="-20" dirty="0">
                <a:solidFill>
                  <a:srgbClr val="3B3B3B"/>
                </a:solidFill>
                <a:latin typeface="Source Sans Pro"/>
                <a:cs typeface="Source Sans Pro"/>
              </a:rPr>
              <a:t>heft</a:t>
            </a:r>
            <a:endParaRPr sz="1000" dirty="0">
              <a:latin typeface="Source Sans Pro"/>
              <a:cs typeface="Source Sans Pro"/>
            </a:endParaRPr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83BB46B7-87ED-EE59-23A5-CB91AEAD4ACE}"/>
              </a:ext>
            </a:extLst>
          </p:cNvPr>
          <p:cNvSpPr/>
          <p:nvPr/>
        </p:nvSpPr>
        <p:spPr>
          <a:xfrm>
            <a:off x="5450394" y="3849731"/>
            <a:ext cx="1231265" cy="588645"/>
          </a:xfrm>
          <a:custGeom>
            <a:avLst/>
            <a:gdLst/>
            <a:ahLst/>
            <a:cxnLst/>
            <a:rect l="l" t="t" r="r" b="b"/>
            <a:pathLst>
              <a:path w="1231265" h="588645">
                <a:moveTo>
                  <a:pt x="1159209" y="559973"/>
                </a:moveTo>
                <a:lnTo>
                  <a:pt x="1145667" y="588644"/>
                </a:lnTo>
                <a:lnTo>
                  <a:pt x="1230883" y="586866"/>
                </a:lnTo>
                <a:lnTo>
                  <a:pt x="1214014" y="565403"/>
                </a:lnTo>
                <a:lnTo>
                  <a:pt x="1170685" y="565403"/>
                </a:lnTo>
                <a:lnTo>
                  <a:pt x="1159209" y="559973"/>
                </a:lnTo>
                <a:close/>
              </a:path>
              <a:path w="1231265" h="588645">
                <a:moveTo>
                  <a:pt x="1164619" y="548519"/>
                </a:moveTo>
                <a:lnTo>
                  <a:pt x="1159209" y="559973"/>
                </a:lnTo>
                <a:lnTo>
                  <a:pt x="1170685" y="565403"/>
                </a:lnTo>
                <a:lnTo>
                  <a:pt x="1176147" y="553973"/>
                </a:lnTo>
                <a:lnTo>
                  <a:pt x="1164619" y="548519"/>
                </a:lnTo>
                <a:close/>
              </a:path>
              <a:path w="1231265" h="588645">
                <a:moveTo>
                  <a:pt x="1178178" y="519810"/>
                </a:moveTo>
                <a:lnTo>
                  <a:pt x="1164619" y="548519"/>
                </a:lnTo>
                <a:lnTo>
                  <a:pt x="1176147" y="553973"/>
                </a:lnTo>
                <a:lnTo>
                  <a:pt x="1170685" y="565403"/>
                </a:lnTo>
                <a:lnTo>
                  <a:pt x="1214014" y="565403"/>
                </a:lnTo>
                <a:lnTo>
                  <a:pt x="1178178" y="519810"/>
                </a:lnTo>
                <a:close/>
              </a:path>
              <a:path w="1231265" h="588645">
                <a:moveTo>
                  <a:pt x="5333" y="0"/>
                </a:moveTo>
                <a:lnTo>
                  <a:pt x="0" y="11429"/>
                </a:lnTo>
                <a:lnTo>
                  <a:pt x="1159209" y="559973"/>
                </a:lnTo>
                <a:lnTo>
                  <a:pt x="1164619" y="548519"/>
                </a:lnTo>
                <a:lnTo>
                  <a:pt x="5333" y="0"/>
                </a:lnTo>
                <a:close/>
              </a:path>
            </a:pathLst>
          </a:custGeom>
          <a:solidFill>
            <a:srgbClr val="0070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02C6C72D-8561-8C42-BD32-8267C26D7589}"/>
              </a:ext>
            </a:extLst>
          </p:cNvPr>
          <p:cNvSpPr txBox="1"/>
          <p:nvPr/>
        </p:nvSpPr>
        <p:spPr>
          <a:xfrm>
            <a:off x="6432740" y="3841475"/>
            <a:ext cx="57404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solidFill>
                  <a:srgbClr val="0070B1"/>
                </a:solidFill>
                <a:latin typeface="Source Sans Pro"/>
                <a:cs typeface="Source Sans Pro"/>
              </a:rPr>
              <a:t>Steuerung</a:t>
            </a:r>
            <a:r>
              <a:rPr sz="1000" spc="50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z="1000" spc="-25" dirty="0">
                <a:solidFill>
                  <a:srgbClr val="0070B1"/>
                </a:solidFill>
                <a:latin typeface="Source Sans Pro"/>
                <a:cs typeface="Source Sans Pro"/>
              </a:rPr>
              <a:t>und</a:t>
            </a:r>
            <a:r>
              <a:rPr sz="1000" spc="50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z="1000" spc="-10" dirty="0">
                <a:solidFill>
                  <a:srgbClr val="0070B1"/>
                </a:solidFill>
                <a:latin typeface="Source Sans Pro"/>
                <a:cs typeface="Source Sans Pro"/>
              </a:rPr>
              <a:t>Kontrolle</a:t>
            </a:r>
            <a:endParaRPr sz="1000" dirty="0">
              <a:latin typeface="Source Sans Pro"/>
              <a:cs typeface="Source Sans Pro"/>
            </a:endParaRPr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A3E78A62-C9A9-B89F-69B1-93F04C272093}"/>
              </a:ext>
            </a:extLst>
          </p:cNvPr>
          <p:cNvSpPr/>
          <p:nvPr/>
        </p:nvSpPr>
        <p:spPr>
          <a:xfrm>
            <a:off x="6678357" y="3855445"/>
            <a:ext cx="1066165" cy="586740"/>
          </a:xfrm>
          <a:custGeom>
            <a:avLst/>
            <a:gdLst/>
            <a:ahLst/>
            <a:cxnLst/>
            <a:rect l="l" t="t" r="r" b="b"/>
            <a:pathLst>
              <a:path w="1066165" h="586739">
                <a:moveTo>
                  <a:pt x="995902" y="30951"/>
                </a:moveTo>
                <a:lnTo>
                  <a:pt x="0" y="575563"/>
                </a:lnTo>
                <a:lnTo>
                  <a:pt x="6096" y="586739"/>
                </a:lnTo>
                <a:lnTo>
                  <a:pt x="1002016" y="42117"/>
                </a:lnTo>
                <a:lnTo>
                  <a:pt x="995902" y="30951"/>
                </a:lnTo>
                <a:close/>
              </a:path>
              <a:path w="1066165" h="586739">
                <a:moveTo>
                  <a:pt x="1048526" y="24891"/>
                </a:moveTo>
                <a:lnTo>
                  <a:pt x="1006983" y="24891"/>
                </a:lnTo>
                <a:lnTo>
                  <a:pt x="1013079" y="36067"/>
                </a:lnTo>
                <a:lnTo>
                  <a:pt x="1002016" y="42117"/>
                </a:lnTo>
                <a:lnTo>
                  <a:pt x="1017270" y="69976"/>
                </a:lnTo>
                <a:lnTo>
                  <a:pt x="1048526" y="24891"/>
                </a:lnTo>
                <a:close/>
              </a:path>
              <a:path w="1066165" h="586739">
                <a:moveTo>
                  <a:pt x="1006983" y="24891"/>
                </a:moveTo>
                <a:lnTo>
                  <a:pt x="995902" y="30951"/>
                </a:lnTo>
                <a:lnTo>
                  <a:pt x="1002016" y="42117"/>
                </a:lnTo>
                <a:lnTo>
                  <a:pt x="1013079" y="36067"/>
                </a:lnTo>
                <a:lnTo>
                  <a:pt x="1006983" y="24891"/>
                </a:lnTo>
                <a:close/>
              </a:path>
              <a:path w="1066165" h="586739">
                <a:moveTo>
                  <a:pt x="1065784" y="0"/>
                </a:moveTo>
                <a:lnTo>
                  <a:pt x="980694" y="3175"/>
                </a:lnTo>
                <a:lnTo>
                  <a:pt x="995902" y="30951"/>
                </a:lnTo>
                <a:lnTo>
                  <a:pt x="1006983" y="24891"/>
                </a:lnTo>
                <a:lnTo>
                  <a:pt x="1048526" y="24891"/>
                </a:lnTo>
                <a:lnTo>
                  <a:pt x="1065784" y="0"/>
                </a:lnTo>
                <a:close/>
              </a:path>
            </a:pathLst>
          </a:custGeom>
          <a:solidFill>
            <a:srgbClr val="0070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DECEE467-1D45-2501-8A1B-9583F661AEC8}"/>
              </a:ext>
            </a:extLst>
          </p:cNvPr>
          <p:cNvSpPr txBox="1"/>
          <p:nvPr/>
        </p:nvSpPr>
        <p:spPr>
          <a:xfrm>
            <a:off x="7302690" y="4131670"/>
            <a:ext cx="91122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0070B1"/>
                </a:solidFill>
                <a:latin typeface="Source Sans Pro"/>
                <a:cs typeface="Source Sans Pro"/>
              </a:rPr>
              <a:t>Projektabnahme</a:t>
            </a:r>
            <a:endParaRPr sz="1000" dirty="0">
              <a:latin typeface="Source Sans Pro"/>
              <a:cs typeface="Source Sans Pro"/>
            </a:endParaRPr>
          </a:p>
        </p:txBody>
      </p:sp>
      <p:grpSp>
        <p:nvGrpSpPr>
          <p:cNvPr id="40" name="object 40">
            <a:extLst>
              <a:ext uri="{FF2B5EF4-FFF2-40B4-BE49-F238E27FC236}">
                <a16:creationId xmlns:a16="http://schemas.microsoft.com/office/drawing/2014/main" id="{48684EA0-3827-9D9F-B622-30101E059B86}"/>
              </a:ext>
            </a:extLst>
          </p:cNvPr>
          <p:cNvGrpSpPr/>
          <p:nvPr/>
        </p:nvGrpSpPr>
        <p:grpSpPr>
          <a:xfrm>
            <a:off x="4893500" y="1986767"/>
            <a:ext cx="708025" cy="443230"/>
            <a:chOff x="7991602" y="1051305"/>
            <a:chExt cx="708025" cy="443230"/>
          </a:xfrm>
        </p:grpSpPr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DFDC4DE6-569F-3B35-C4C8-B117C6FFDB46}"/>
                </a:ext>
              </a:extLst>
            </p:cNvPr>
            <p:cNvSpPr/>
            <p:nvPr/>
          </p:nvSpPr>
          <p:spPr>
            <a:xfrm>
              <a:off x="7997952" y="1057655"/>
              <a:ext cx="695325" cy="430530"/>
            </a:xfrm>
            <a:custGeom>
              <a:avLst/>
              <a:gdLst/>
              <a:ahLst/>
              <a:cxnLst/>
              <a:rect l="l" t="t" r="r" b="b"/>
              <a:pathLst>
                <a:path w="695325" h="430530">
                  <a:moveTo>
                    <a:pt x="694944" y="0"/>
                  </a:moveTo>
                  <a:lnTo>
                    <a:pt x="0" y="0"/>
                  </a:lnTo>
                  <a:lnTo>
                    <a:pt x="0" y="407035"/>
                  </a:lnTo>
                  <a:lnTo>
                    <a:pt x="61248" y="418862"/>
                  </a:lnTo>
                  <a:lnTo>
                    <a:pt x="115371" y="426294"/>
                  </a:lnTo>
                  <a:lnTo>
                    <a:pt x="163386" y="429833"/>
                  </a:lnTo>
                  <a:lnTo>
                    <a:pt x="206311" y="429978"/>
                  </a:lnTo>
                  <a:lnTo>
                    <a:pt x="245164" y="427231"/>
                  </a:lnTo>
                  <a:lnTo>
                    <a:pt x="280963" y="422094"/>
                  </a:lnTo>
                  <a:lnTo>
                    <a:pt x="314726" y="415068"/>
                  </a:lnTo>
                  <a:lnTo>
                    <a:pt x="347472" y="406654"/>
                  </a:lnTo>
                  <a:lnTo>
                    <a:pt x="413980" y="387665"/>
                  </a:lnTo>
                  <a:lnTo>
                    <a:pt x="449779" y="378092"/>
                  </a:lnTo>
                  <a:lnTo>
                    <a:pt x="488632" y="369137"/>
                  </a:lnTo>
                  <a:lnTo>
                    <a:pt x="531557" y="361299"/>
                  </a:lnTo>
                  <a:lnTo>
                    <a:pt x="579572" y="355080"/>
                  </a:lnTo>
                  <a:lnTo>
                    <a:pt x="633695" y="350981"/>
                  </a:lnTo>
                  <a:lnTo>
                    <a:pt x="694944" y="349504"/>
                  </a:lnTo>
                  <a:lnTo>
                    <a:pt x="694944" y="0"/>
                  </a:lnTo>
                  <a:close/>
                </a:path>
              </a:pathLst>
            </a:custGeom>
            <a:solidFill>
              <a:srgbClr val="BD3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4EB25AB7-5456-5E03-56C9-969B49E8572F}"/>
                </a:ext>
              </a:extLst>
            </p:cNvPr>
            <p:cNvSpPr/>
            <p:nvPr/>
          </p:nvSpPr>
          <p:spPr>
            <a:xfrm>
              <a:off x="7997952" y="1057655"/>
              <a:ext cx="695325" cy="430530"/>
            </a:xfrm>
            <a:custGeom>
              <a:avLst/>
              <a:gdLst/>
              <a:ahLst/>
              <a:cxnLst/>
              <a:rect l="l" t="t" r="r" b="b"/>
              <a:pathLst>
                <a:path w="695325" h="430530">
                  <a:moveTo>
                    <a:pt x="0" y="0"/>
                  </a:moveTo>
                  <a:lnTo>
                    <a:pt x="694944" y="0"/>
                  </a:lnTo>
                  <a:lnTo>
                    <a:pt x="694944" y="349504"/>
                  </a:lnTo>
                  <a:lnTo>
                    <a:pt x="633695" y="350981"/>
                  </a:lnTo>
                  <a:lnTo>
                    <a:pt x="579572" y="355080"/>
                  </a:lnTo>
                  <a:lnTo>
                    <a:pt x="531557" y="361299"/>
                  </a:lnTo>
                  <a:lnTo>
                    <a:pt x="488632" y="369137"/>
                  </a:lnTo>
                  <a:lnTo>
                    <a:pt x="449779" y="378092"/>
                  </a:lnTo>
                  <a:lnTo>
                    <a:pt x="380217" y="397352"/>
                  </a:lnTo>
                  <a:lnTo>
                    <a:pt x="347472" y="406654"/>
                  </a:lnTo>
                  <a:lnTo>
                    <a:pt x="314726" y="415068"/>
                  </a:lnTo>
                  <a:lnTo>
                    <a:pt x="280963" y="422094"/>
                  </a:lnTo>
                  <a:lnTo>
                    <a:pt x="245164" y="427231"/>
                  </a:lnTo>
                  <a:lnTo>
                    <a:pt x="206311" y="429978"/>
                  </a:lnTo>
                  <a:lnTo>
                    <a:pt x="163386" y="429833"/>
                  </a:lnTo>
                  <a:lnTo>
                    <a:pt x="115371" y="426294"/>
                  </a:lnTo>
                  <a:lnTo>
                    <a:pt x="61248" y="418862"/>
                  </a:lnTo>
                  <a:lnTo>
                    <a:pt x="0" y="40703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>
            <a:extLst>
              <a:ext uri="{FF2B5EF4-FFF2-40B4-BE49-F238E27FC236}">
                <a16:creationId xmlns:a16="http://schemas.microsoft.com/office/drawing/2014/main" id="{E91F607F-2E69-8FA4-3120-68B155EE39C0}"/>
              </a:ext>
            </a:extLst>
          </p:cNvPr>
          <p:cNvSpPr txBox="1"/>
          <p:nvPr/>
        </p:nvSpPr>
        <p:spPr>
          <a:xfrm>
            <a:off x="5024944" y="1995404"/>
            <a:ext cx="4476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480" marR="5080" indent="-18415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EDEDED"/>
                </a:solidFill>
                <a:latin typeface="Source Sans Pro"/>
                <a:cs typeface="Source Sans Pro"/>
              </a:rPr>
              <a:t>Projekt-</a:t>
            </a:r>
            <a:r>
              <a:rPr sz="1000" spc="500" dirty="0">
                <a:solidFill>
                  <a:srgbClr val="EDEDED"/>
                </a:solidFill>
                <a:latin typeface="Source Sans Pro"/>
                <a:cs typeface="Source Sans Pro"/>
              </a:rPr>
              <a:t> </a:t>
            </a:r>
            <a:r>
              <a:rPr sz="1000" spc="-10" dirty="0">
                <a:solidFill>
                  <a:srgbClr val="EDEDED"/>
                </a:solidFill>
                <a:latin typeface="Source Sans Pro"/>
                <a:cs typeface="Source Sans Pro"/>
              </a:rPr>
              <a:t>auftrag</a:t>
            </a:r>
            <a:endParaRPr sz="1000" dirty="0">
              <a:latin typeface="Source Sans Pro"/>
              <a:cs typeface="Source Sans Pro"/>
            </a:endParaRPr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E13E4737-1AE3-75A7-182A-5116D01E894F}"/>
              </a:ext>
            </a:extLst>
          </p:cNvPr>
          <p:cNvSpPr txBox="1"/>
          <p:nvPr/>
        </p:nvSpPr>
        <p:spPr>
          <a:xfrm>
            <a:off x="3656646" y="1872214"/>
            <a:ext cx="71755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0070B1"/>
                </a:solidFill>
                <a:latin typeface="Source Sans Pro"/>
                <a:cs typeface="Source Sans Pro"/>
              </a:rPr>
              <a:t>Auftraggeber</a:t>
            </a:r>
            <a:endParaRPr sz="1000" dirty="0">
              <a:latin typeface="Source Sans Pro"/>
              <a:cs typeface="Source Sans Pro"/>
            </a:endParaRPr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C7EBE516-2864-6E28-C926-DD275858604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45340C65-5ED2-BCCC-B35C-F034B494604F}"/>
              </a:ext>
            </a:extLst>
          </p:cNvPr>
          <p:cNvSpPr txBox="1"/>
          <p:nvPr/>
        </p:nvSpPr>
        <p:spPr>
          <a:xfrm>
            <a:off x="5444679" y="5581376"/>
            <a:ext cx="82550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0070B1"/>
                </a:solidFill>
                <a:latin typeface="Source Sans Pro"/>
                <a:cs typeface="Source Sans Pro"/>
              </a:rPr>
              <a:t>Auftragnehmer</a:t>
            </a:r>
            <a:endParaRPr sz="1000" dirty="0">
              <a:latin typeface="Source Sans Pro"/>
              <a:cs typeface="Source Sans Pro"/>
            </a:endParaRPr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032334DB-CE87-E157-A317-2E4DA8FA215B}"/>
              </a:ext>
            </a:extLst>
          </p:cNvPr>
          <p:cNvSpPr txBox="1"/>
          <p:nvPr/>
        </p:nvSpPr>
        <p:spPr>
          <a:xfrm>
            <a:off x="4466779" y="1572874"/>
            <a:ext cx="1780539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0070B1"/>
                </a:solidFill>
                <a:latin typeface="Source Sans Pro"/>
                <a:cs typeface="Source Sans Pro"/>
              </a:rPr>
              <a:t>Auftraggeber</a:t>
            </a:r>
            <a:r>
              <a:rPr sz="1000" spc="-2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z="1000" dirty="0">
                <a:solidFill>
                  <a:srgbClr val="0070B1"/>
                </a:solidFill>
                <a:latin typeface="Source Sans Pro"/>
                <a:cs typeface="Source Sans Pro"/>
              </a:rPr>
              <a:t>und</a:t>
            </a:r>
            <a:r>
              <a:rPr sz="1000" spc="-3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z="1000" spc="-10" dirty="0">
                <a:solidFill>
                  <a:srgbClr val="0070B1"/>
                </a:solidFill>
                <a:latin typeface="Source Sans Pro"/>
                <a:cs typeface="Source Sans Pro"/>
              </a:rPr>
              <a:t>Auftragnehmer</a:t>
            </a:r>
            <a:endParaRPr sz="1000" dirty="0">
              <a:latin typeface="Source Sans Pro"/>
              <a:cs typeface="Source Sans Pro"/>
            </a:endParaRPr>
          </a:p>
        </p:txBody>
      </p:sp>
      <p:sp>
        <p:nvSpPr>
          <p:cNvPr id="54" name="Foliennummernplatzhalter 53">
            <a:extLst>
              <a:ext uri="{FF2B5EF4-FFF2-40B4-BE49-F238E27FC236}">
                <a16:creationId xmlns:a16="http://schemas.microsoft.com/office/drawing/2014/main" id="{2E3F7EE9-DCF1-4B63-5D80-2A5194AD162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33</a:t>
            </a:fld>
            <a:endParaRPr lang="de-DE" spc="-50" dirty="0"/>
          </a:p>
        </p:txBody>
      </p:sp>
      <p:pic>
        <p:nvPicPr>
          <p:cNvPr id="55" name="object 46">
            <a:extLst>
              <a:ext uri="{FF2B5EF4-FFF2-40B4-BE49-F238E27FC236}">
                <a16:creationId xmlns:a16="http://schemas.microsoft.com/office/drawing/2014/main" id="{71854652-6720-6822-A4E6-A5A48829C57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9734" y="2065484"/>
            <a:ext cx="76200" cy="223774"/>
          </a:xfrm>
          <a:prstGeom prst="rect">
            <a:avLst/>
          </a:prstGeom>
        </p:spPr>
      </p:pic>
      <p:pic>
        <p:nvPicPr>
          <p:cNvPr id="56" name="object 48">
            <a:extLst>
              <a:ext uri="{FF2B5EF4-FFF2-40B4-BE49-F238E27FC236}">
                <a16:creationId xmlns:a16="http://schemas.microsoft.com/office/drawing/2014/main" id="{F944593E-7308-ECE3-8EED-F8D8C901D16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5572" y="1765812"/>
            <a:ext cx="112522" cy="202184"/>
          </a:xfrm>
          <a:prstGeom prst="rect">
            <a:avLst/>
          </a:prstGeom>
        </p:spPr>
      </p:pic>
      <p:sp>
        <p:nvSpPr>
          <p:cNvPr id="57" name="object 45">
            <a:extLst>
              <a:ext uri="{FF2B5EF4-FFF2-40B4-BE49-F238E27FC236}">
                <a16:creationId xmlns:a16="http://schemas.microsoft.com/office/drawing/2014/main" id="{46EEC0C7-6FCD-1556-6E1F-D6310A26F22A}"/>
              </a:ext>
            </a:extLst>
          </p:cNvPr>
          <p:cNvSpPr/>
          <p:nvPr/>
        </p:nvSpPr>
        <p:spPr>
          <a:xfrm>
            <a:off x="5242940" y="2400280"/>
            <a:ext cx="76200" cy="1056640"/>
          </a:xfrm>
          <a:custGeom>
            <a:avLst/>
            <a:gdLst/>
            <a:ahLst/>
            <a:cxnLst/>
            <a:rect l="l" t="t" r="r" b="b"/>
            <a:pathLst>
              <a:path w="76200" h="1056639">
                <a:moveTo>
                  <a:pt x="31845" y="980331"/>
                </a:moveTo>
                <a:lnTo>
                  <a:pt x="0" y="981075"/>
                </a:lnTo>
                <a:lnTo>
                  <a:pt x="39877" y="1056386"/>
                </a:lnTo>
                <a:lnTo>
                  <a:pt x="69737" y="993013"/>
                </a:lnTo>
                <a:lnTo>
                  <a:pt x="32130" y="993013"/>
                </a:lnTo>
                <a:lnTo>
                  <a:pt x="31862" y="981075"/>
                </a:lnTo>
                <a:lnTo>
                  <a:pt x="31845" y="980331"/>
                </a:lnTo>
                <a:close/>
              </a:path>
              <a:path w="76200" h="1056639">
                <a:moveTo>
                  <a:pt x="44544" y="980035"/>
                </a:moveTo>
                <a:lnTo>
                  <a:pt x="31845" y="980331"/>
                </a:lnTo>
                <a:lnTo>
                  <a:pt x="32125" y="992759"/>
                </a:lnTo>
                <a:lnTo>
                  <a:pt x="32130" y="993013"/>
                </a:lnTo>
                <a:lnTo>
                  <a:pt x="44830" y="992759"/>
                </a:lnTo>
                <a:lnTo>
                  <a:pt x="44567" y="981075"/>
                </a:lnTo>
                <a:lnTo>
                  <a:pt x="44544" y="980035"/>
                </a:lnTo>
                <a:close/>
              </a:path>
              <a:path w="76200" h="1056639">
                <a:moveTo>
                  <a:pt x="76200" y="979297"/>
                </a:moveTo>
                <a:lnTo>
                  <a:pt x="44544" y="980035"/>
                </a:lnTo>
                <a:lnTo>
                  <a:pt x="44830" y="992759"/>
                </a:lnTo>
                <a:lnTo>
                  <a:pt x="32130" y="993013"/>
                </a:lnTo>
                <a:lnTo>
                  <a:pt x="69737" y="993013"/>
                </a:lnTo>
                <a:lnTo>
                  <a:pt x="76200" y="979297"/>
                </a:lnTo>
                <a:close/>
              </a:path>
              <a:path w="76200" h="1056639">
                <a:moveTo>
                  <a:pt x="22478" y="0"/>
                </a:moveTo>
                <a:lnTo>
                  <a:pt x="9778" y="253"/>
                </a:lnTo>
                <a:lnTo>
                  <a:pt x="31822" y="979297"/>
                </a:lnTo>
                <a:lnTo>
                  <a:pt x="31845" y="980331"/>
                </a:lnTo>
                <a:lnTo>
                  <a:pt x="44544" y="980035"/>
                </a:lnTo>
                <a:lnTo>
                  <a:pt x="22484" y="253"/>
                </a:lnTo>
                <a:lnTo>
                  <a:pt x="22478" y="0"/>
                </a:lnTo>
                <a:close/>
              </a:path>
            </a:pathLst>
          </a:custGeom>
          <a:solidFill>
            <a:srgbClr val="BD3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47">
            <a:extLst>
              <a:ext uri="{FF2B5EF4-FFF2-40B4-BE49-F238E27FC236}">
                <a16:creationId xmlns:a16="http://schemas.microsoft.com/office/drawing/2014/main" id="{739EF3BC-63B6-7E88-9983-4CD28F6E68D8}"/>
              </a:ext>
            </a:extLst>
          </p:cNvPr>
          <p:cNvSpPr/>
          <p:nvPr/>
        </p:nvSpPr>
        <p:spPr>
          <a:xfrm>
            <a:off x="5215572" y="5169006"/>
            <a:ext cx="1434465" cy="431800"/>
          </a:xfrm>
          <a:custGeom>
            <a:avLst/>
            <a:gdLst/>
            <a:ahLst/>
            <a:cxnLst/>
            <a:rect l="l" t="t" r="r" b="b"/>
            <a:pathLst>
              <a:path w="1434465" h="431800">
                <a:moveTo>
                  <a:pt x="1434211" y="4572"/>
                </a:moveTo>
                <a:lnTo>
                  <a:pt x="1348994" y="5969"/>
                </a:lnTo>
                <a:lnTo>
                  <a:pt x="1363738" y="34201"/>
                </a:lnTo>
                <a:lnTo>
                  <a:pt x="625894" y="418553"/>
                </a:lnTo>
                <a:lnTo>
                  <a:pt x="66560" y="37680"/>
                </a:lnTo>
                <a:lnTo>
                  <a:pt x="71462" y="30480"/>
                </a:lnTo>
                <a:lnTo>
                  <a:pt x="84455" y="11430"/>
                </a:lnTo>
                <a:lnTo>
                  <a:pt x="0" y="0"/>
                </a:lnTo>
                <a:lnTo>
                  <a:pt x="41529" y="74422"/>
                </a:lnTo>
                <a:lnTo>
                  <a:pt x="59397" y="48183"/>
                </a:lnTo>
                <a:lnTo>
                  <a:pt x="621157" y="430784"/>
                </a:lnTo>
                <a:lnTo>
                  <a:pt x="624598" y="425767"/>
                </a:lnTo>
                <a:lnTo>
                  <a:pt x="627761" y="431800"/>
                </a:lnTo>
                <a:lnTo>
                  <a:pt x="1369580" y="45377"/>
                </a:lnTo>
                <a:lnTo>
                  <a:pt x="1384300" y="73533"/>
                </a:lnTo>
                <a:lnTo>
                  <a:pt x="1417015" y="28321"/>
                </a:lnTo>
                <a:lnTo>
                  <a:pt x="1434211" y="4572"/>
                </a:lnTo>
                <a:close/>
              </a:path>
            </a:pathLst>
          </a:custGeom>
          <a:solidFill>
            <a:srgbClr val="0070B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8519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5" grpId="0"/>
      <p:bldP spid="19" grpId="0"/>
      <p:bldP spid="23" grpId="0"/>
      <p:bldP spid="27" grpId="0"/>
      <p:bldP spid="28" grpId="0" animBg="1"/>
      <p:bldP spid="29" grpId="0"/>
      <p:bldP spid="30" grpId="0" animBg="1"/>
      <p:bldP spid="31" grpId="0"/>
      <p:bldP spid="35" grpId="0"/>
      <p:bldP spid="36" grpId="0" animBg="1"/>
      <p:bldP spid="37" grpId="0"/>
      <p:bldP spid="38" grpId="0" animBg="1"/>
      <p:bldP spid="39" grpId="0"/>
      <p:bldP spid="43" grpId="0"/>
      <p:bldP spid="49" grpId="0"/>
      <p:bldP spid="50" grpId="0"/>
      <p:bldP spid="51" grpId="0"/>
      <p:bldP spid="57" grpId="0" animBg="1"/>
      <p:bldP spid="5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F4E74-CA46-4C34-0006-96464ECA8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14CF053-E428-0A73-1FF3-9E33E0EF17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1147" y="492633"/>
            <a:ext cx="50552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>
                <a:latin typeface="Source Sans Pro"/>
                <a:cs typeface="Source Sans Pro"/>
              </a:rPr>
              <a:t>Zielkomponenten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5D7DCF8-5E1D-DF94-C288-54663CDEC32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E05DBDC-F9F6-D5EF-3D2F-184013577B13}"/>
              </a:ext>
            </a:extLst>
          </p:cNvPr>
          <p:cNvSpPr txBox="1"/>
          <p:nvPr/>
        </p:nvSpPr>
        <p:spPr>
          <a:xfrm>
            <a:off x="434441" y="1251414"/>
            <a:ext cx="6581775" cy="29964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31825">
              <a:lnSpc>
                <a:spcPts val="2590"/>
              </a:lnSpc>
              <a:tabLst>
                <a:tab pos="241300" algn="l"/>
              </a:tabLst>
            </a:pPr>
            <a:r>
              <a:rPr lang="de-DE" sz="2400" dirty="0">
                <a:solidFill>
                  <a:srgbClr val="0070B1"/>
                </a:solidFill>
                <a:latin typeface="Source Sans Pro"/>
                <a:cs typeface="Source Sans Pro"/>
              </a:rPr>
              <a:t>Drei Zielkomponenten</a:t>
            </a:r>
          </a:p>
          <a:p>
            <a:pPr marL="12700" marR="631825">
              <a:lnSpc>
                <a:spcPts val="2590"/>
              </a:lnSpc>
              <a:tabLst>
                <a:tab pos="241300" algn="l"/>
              </a:tabLst>
            </a:pPr>
            <a:endParaRPr lang="de-DE" sz="2400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240029" marR="631825" indent="-227329">
              <a:lnSpc>
                <a:spcPts val="2590"/>
              </a:lnSpc>
              <a:buFont typeface="Arial"/>
              <a:buChar char="•"/>
              <a:tabLst>
                <a:tab pos="241300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Sachziel  bezieht sich auf das Projektergebnis</a:t>
            </a:r>
          </a:p>
          <a:p>
            <a:pPr marL="240029" marR="631825" indent="-227329">
              <a:lnSpc>
                <a:spcPts val="2590"/>
              </a:lnSpc>
              <a:buFont typeface="Arial"/>
              <a:buChar char="•"/>
              <a:tabLst>
                <a:tab pos="241300" algn="l"/>
              </a:tabLst>
            </a:pPr>
            <a:endParaRPr lang="de-DE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240029" marR="631825" indent="-227329">
              <a:lnSpc>
                <a:spcPts val="2590"/>
              </a:lnSpc>
              <a:buFont typeface="Arial"/>
              <a:buChar char="•"/>
              <a:tabLst>
                <a:tab pos="241300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Kosten und Terminziel bezieht sich auf die Rahmenbedingungen</a:t>
            </a:r>
          </a:p>
          <a:p>
            <a:pPr marL="240029" marR="631825" indent="-227329">
              <a:lnSpc>
                <a:spcPts val="2590"/>
              </a:lnSpc>
              <a:buFont typeface="Arial"/>
              <a:buChar char="•"/>
              <a:tabLst>
                <a:tab pos="241300" algn="l"/>
              </a:tabLst>
            </a:pPr>
            <a:endParaRPr lang="de-DE" spc="-10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240029" marR="631825" indent="-227329">
              <a:lnSpc>
                <a:spcPts val="2590"/>
              </a:lnSpc>
              <a:buFont typeface="Arial"/>
              <a:buChar char="•"/>
              <a:tabLst>
                <a:tab pos="241300" algn="l"/>
              </a:tabLst>
            </a:pP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Veränderungen einer Zielkomponente betreffen</a:t>
            </a:r>
          </a:p>
          <a:p>
            <a:pPr marL="240029" marR="631825" indent="-227329">
              <a:lnSpc>
                <a:spcPts val="2590"/>
              </a:lnSpc>
              <a:buFont typeface="Arial"/>
              <a:buChar char="•"/>
              <a:tabLst>
                <a:tab pos="241300" algn="l"/>
              </a:tabLst>
            </a:pP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mind. eine andere Komponente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D1FCB47-E0A5-C606-A203-4CDE428CC3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4330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34</a:t>
            </a:fld>
            <a:endParaRPr lang="de-DE" spc="-5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1B325A5-58CA-ECC1-40C5-F27C6C1378F3}"/>
              </a:ext>
            </a:extLst>
          </p:cNvPr>
          <p:cNvSpPr/>
          <p:nvPr/>
        </p:nvSpPr>
        <p:spPr>
          <a:xfrm>
            <a:off x="6801417" y="2502051"/>
            <a:ext cx="1944216" cy="792088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/>
              <a:t>Sachziel</a:t>
            </a:r>
          </a:p>
          <a:p>
            <a:pPr algn="ctr"/>
            <a:r>
              <a:rPr lang="de-DE" sz="1200" dirty="0"/>
              <a:t>Wie soll das Produkt aussehen?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F6820332-97B8-49FB-2953-6224C91E1A43}"/>
              </a:ext>
            </a:extLst>
          </p:cNvPr>
          <p:cNvSpPr/>
          <p:nvPr/>
        </p:nvSpPr>
        <p:spPr>
          <a:xfrm>
            <a:off x="3677816" y="4446267"/>
            <a:ext cx="1944216" cy="792088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/>
              <a:t>Kostenziel</a:t>
            </a:r>
          </a:p>
          <a:p>
            <a:pPr algn="ctr"/>
            <a:r>
              <a:rPr lang="de-DE" sz="1200" dirty="0"/>
              <a:t>Was darf das Projekt insgesamt kosten?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7A7AB80-50B6-CD27-792C-E25190ECE386}"/>
              </a:ext>
            </a:extLst>
          </p:cNvPr>
          <p:cNvSpPr/>
          <p:nvPr/>
        </p:nvSpPr>
        <p:spPr>
          <a:xfrm>
            <a:off x="9942512" y="4446267"/>
            <a:ext cx="1944216" cy="792088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/>
              <a:t>Terminziel</a:t>
            </a:r>
          </a:p>
          <a:p>
            <a:pPr algn="ctr"/>
            <a:r>
              <a:rPr lang="de-DE" sz="1200" dirty="0"/>
              <a:t>Bis wann soll alles erreicht werden?</a:t>
            </a:r>
          </a:p>
        </p:txBody>
      </p:sp>
      <p:sp>
        <p:nvSpPr>
          <p:cNvPr id="13" name="Gleichschenkliges Dreieck 12">
            <a:extLst>
              <a:ext uri="{FF2B5EF4-FFF2-40B4-BE49-F238E27FC236}">
                <a16:creationId xmlns:a16="http://schemas.microsoft.com/office/drawing/2014/main" id="{ADC9C4BE-1F51-F5C8-35B3-27316F07AFE9}"/>
              </a:ext>
            </a:extLst>
          </p:cNvPr>
          <p:cNvSpPr/>
          <p:nvPr/>
        </p:nvSpPr>
        <p:spPr>
          <a:xfrm>
            <a:off x="5334000" y="3222131"/>
            <a:ext cx="4896544" cy="1545629"/>
          </a:xfrm>
          <a:prstGeom prst="triangle">
            <a:avLst>
              <a:gd name="adj" fmla="val 49821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A01C9F6-7131-16B5-8F1F-C9746FDDBB6D}"/>
              </a:ext>
            </a:extLst>
          </p:cNvPr>
          <p:cNvSpPr txBox="1"/>
          <p:nvPr/>
        </p:nvSpPr>
        <p:spPr>
          <a:xfrm>
            <a:off x="7134200" y="3863710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Projektziel</a:t>
            </a:r>
          </a:p>
        </p:txBody>
      </p:sp>
    </p:spTree>
    <p:extLst>
      <p:ext uri="{BB962C8B-B14F-4D97-AF65-F5344CB8AC3E}">
        <p14:creationId xmlns:p14="http://schemas.microsoft.com/office/powerpoint/2010/main" val="4029351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2" grpId="0" animBg="1"/>
      <p:bldP spid="13" grpId="0" animBg="1"/>
      <p:bldP spid="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618DA-7E8F-DEAC-8362-B08EEAB32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D5B6F04-0178-9D2A-E434-9E554F1921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>
                <a:latin typeface="Source Sans Pro"/>
                <a:cs typeface="Source Sans Pro"/>
              </a:rPr>
              <a:t>Projektstrukturplan (PSP)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3664001-016D-530E-5CC6-9B243CEB2FB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D8B8655-EB2A-B49B-FF63-AEABC44C9DAC}"/>
              </a:ext>
            </a:extLst>
          </p:cNvPr>
          <p:cNvSpPr txBox="1"/>
          <p:nvPr/>
        </p:nvSpPr>
        <p:spPr>
          <a:xfrm>
            <a:off x="440842" y="1251414"/>
            <a:ext cx="9853295" cy="360547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0"/>
              </a:spcBef>
            </a:pPr>
            <a:endParaRPr sz="1900" dirty="0">
              <a:latin typeface="Source Sans Pro"/>
              <a:cs typeface="Source Sans Pro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0029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Als Baumdiagramm dargestellt</a:t>
            </a: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0029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Hat Aufgabe die komplexen Projektstrukturen übersichtlich darzustellen</a:t>
            </a: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0029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Alle Arbeitspakete lassen sich so erfassen</a:t>
            </a: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0029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Oberste Ebene - ist der Projektname</a:t>
            </a: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0029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Zweite Ebene - stehen die Oberbegriffe</a:t>
            </a: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0029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Dritte Ebene – hier stehen die Aufgaben</a:t>
            </a: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0029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Vierte Ebene - die Arbeitspakete, die zugeordnet wurden</a:t>
            </a: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0029" algn="l"/>
              </a:tabLst>
            </a:pPr>
            <a:endParaRPr lang="de-DE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0029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Es sind auch drei Ebenen möglich oder mehr als vier</a:t>
            </a:r>
            <a:endParaRPr dirty="0">
              <a:latin typeface="Source Sans Pro"/>
              <a:cs typeface="Source Sans Pro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41077E0-BF02-B309-30C3-C3623048C7F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4330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35</a:t>
            </a:fld>
            <a:endParaRPr lang="de-DE" spc="-50" dirty="0"/>
          </a:p>
        </p:txBody>
      </p:sp>
    </p:spTree>
    <p:extLst>
      <p:ext uri="{BB962C8B-B14F-4D97-AF65-F5344CB8AC3E}">
        <p14:creationId xmlns:p14="http://schemas.microsoft.com/office/powerpoint/2010/main" val="2476003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CF78B-4450-7FA1-FA3D-5952A7E04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AA03AA5-6A80-DAA7-C6CF-E99273BC7C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latin typeface="Source Sans Pro"/>
                <a:cs typeface="Source Sans Pro"/>
              </a:rPr>
              <a:t>Projektstrukturplan</a:t>
            </a:r>
            <a:r>
              <a:rPr sz="4000" b="1" spc="-30" dirty="0">
                <a:latin typeface="Source Sans Pro"/>
                <a:cs typeface="Source Sans Pro"/>
              </a:rPr>
              <a:t> </a:t>
            </a:r>
            <a:r>
              <a:rPr sz="4000" b="1" dirty="0">
                <a:latin typeface="Source Sans Pro"/>
                <a:cs typeface="Source Sans Pro"/>
              </a:rPr>
              <a:t>-</a:t>
            </a:r>
            <a:r>
              <a:rPr sz="4000" b="1" spc="-85" dirty="0">
                <a:latin typeface="Source Sans Pro"/>
                <a:cs typeface="Source Sans Pro"/>
              </a:rPr>
              <a:t> </a:t>
            </a:r>
            <a:r>
              <a:rPr sz="4000" b="1" spc="-10" dirty="0">
                <a:latin typeface="Source Sans Pro"/>
                <a:cs typeface="Source Sans Pro"/>
              </a:rPr>
              <a:t>Gliederung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F54D3C9-20CB-0634-5F2F-731A804C06D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DD9DC3A-B851-6B52-74CD-33E64CF45DD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4330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36</a:t>
            </a:fld>
            <a:endParaRPr lang="de-DE" spc="-50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E559A03A-A605-2701-D63F-724C841DFFD4}"/>
              </a:ext>
            </a:extLst>
          </p:cNvPr>
          <p:cNvSpPr txBox="1">
            <a:spLocks/>
          </p:cNvSpPr>
          <p:nvPr/>
        </p:nvSpPr>
        <p:spPr>
          <a:xfrm>
            <a:off x="3456690" y="1458259"/>
            <a:ext cx="8352928" cy="1846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Objektorientierter Projektstrukturplan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7F37744A-1C68-6CD2-5EF6-EAA3C688426F}"/>
              </a:ext>
            </a:extLst>
          </p:cNvPr>
          <p:cNvGrpSpPr/>
          <p:nvPr/>
        </p:nvGrpSpPr>
        <p:grpSpPr>
          <a:xfrm>
            <a:off x="3528698" y="1962315"/>
            <a:ext cx="8280920" cy="1296144"/>
            <a:chOff x="467544" y="2132856"/>
            <a:chExt cx="8280920" cy="1296144"/>
          </a:xfrm>
        </p:grpSpPr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330AA15D-9CAA-1AC1-5356-9F78ED2AF2DB}"/>
                </a:ext>
              </a:extLst>
            </p:cNvPr>
            <p:cNvSpPr/>
            <p:nvPr/>
          </p:nvSpPr>
          <p:spPr>
            <a:xfrm>
              <a:off x="467544" y="2132856"/>
              <a:ext cx="8280920" cy="1296144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A5F199EC-7B71-6FB3-1A0C-E799F248A05C}"/>
                </a:ext>
              </a:extLst>
            </p:cNvPr>
            <p:cNvSpPr/>
            <p:nvPr/>
          </p:nvSpPr>
          <p:spPr>
            <a:xfrm>
              <a:off x="3779912" y="2230752"/>
              <a:ext cx="1584176" cy="360040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Firma XYZ</a:t>
              </a: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BBDF418A-BA33-5F71-A7C2-CEDB2E4DDF74}"/>
                </a:ext>
              </a:extLst>
            </p:cNvPr>
            <p:cNvSpPr/>
            <p:nvPr/>
          </p:nvSpPr>
          <p:spPr>
            <a:xfrm>
              <a:off x="999292" y="2897324"/>
              <a:ext cx="1368152" cy="53167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Gebäude 1</a:t>
              </a: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7ED79338-CD75-92E5-D0BE-543B47AED55C}"/>
                </a:ext>
              </a:extLst>
            </p:cNvPr>
            <p:cNvSpPr/>
            <p:nvPr/>
          </p:nvSpPr>
          <p:spPr>
            <a:xfrm>
              <a:off x="6776556" y="2897324"/>
              <a:ext cx="1368152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Lager</a:t>
              </a:r>
            </a:p>
          </p:txBody>
        </p: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2C34DF7A-43C4-37B0-8A76-F6CB20098E0D}"/>
                </a:ext>
              </a:extLst>
            </p:cNvPr>
            <p:cNvCxnSpPr/>
            <p:nvPr/>
          </p:nvCxnSpPr>
          <p:spPr>
            <a:xfrm>
              <a:off x="1683368" y="2708920"/>
              <a:ext cx="5768952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EA5E4EED-0F6C-FFC3-7B60-FC122E8003F8}"/>
                </a:ext>
              </a:extLst>
            </p:cNvPr>
            <p:cNvCxnSpPr>
              <a:endCxn id="10" idx="0"/>
            </p:cNvCxnSpPr>
            <p:nvPr/>
          </p:nvCxnSpPr>
          <p:spPr>
            <a:xfrm>
              <a:off x="1683368" y="2708920"/>
              <a:ext cx="0" cy="188404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D5B4A1BD-C2EA-81FF-26EA-B60F38F574A1}"/>
                </a:ext>
              </a:extLst>
            </p:cNvPr>
            <p:cNvCxnSpPr/>
            <p:nvPr/>
          </p:nvCxnSpPr>
          <p:spPr>
            <a:xfrm>
              <a:off x="7450899" y="2708920"/>
              <a:ext cx="0" cy="188404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7827B755-4BC7-4FD7-F68D-26147E6CBD18}"/>
                </a:ext>
              </a:extLst>
            </p:cNvPr>
            <p:cNvSpPr/>
            <p:nvPr/>
          </p:nvSpPr>
          <p:spPr>
            <a:xfrm>
              <a:off x="3851920" y="2897324"/>
              <a:ext cx="1404156" cy="53167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Gebäude 2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52824A88-9337-F2A2-D254-D86F791978DE}"/>
              </a:ext>
            </a:extLst>
          </p:cNvPr>
          <p:cNvGrpSpPr/>
          <p:nvPr/>
        </p:nvGrpSpPr>
        <p:grpSpPr>
          <a:xfrm>
            <a:off x="3528698" y="4194565"/>
            <a:ext cx="8280920" cy="1296144"/>
            <a:chOff x="467544" y="4509122"/>
            <a:chExt cx="8280920" cy="1296144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13BF9432-C159-EB7F-7E2A-FD724E6FB628}"/>
                </a:ext>
              </a:extLst>
            </p:cNvPr>
            <p:cNvSpPr/>
            <p:nvPr/>
          </p:nvSpPr>
          <p:spPr>
            <a:xfrm>
              <a:off x="467544" y="4509122"/>
              <a:ext cx="8280920" cy="1296144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805542E5-0693-FF32-90D3-9FE338597F7C}"/>
                </a:ext>
              </a:extLst>
            </p:cNvPr>
            <p:cNvSpPr/>
            <p:nvPr/>
          </p:nvSpPr>
          <p:spPr>
            <a:xfrm>
              <a:off x="3779912" y="4607018"/>
              <a:ext cx="1584176" cy="360040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Firma XYZ</a:t>
              </a:r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F484EF4A-12D3-08A1-47A5-BF95F325DCF9}"/>
                </a:ext>
              </a:extLst>
            </p:cNvPr>
            <p:cNvSpPr/>
            <p:nvPr/>
          </p:nvSpPr>
          <p:spPr>
            <a:xfrm>
              <a:off x="964902" y="5273590"/>
              <a:ext cx="1484476" cy="5316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Verkabelung</a:t>
              </a:r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451F3E1C-CA64-FBA0-8EEA-9917F2CAF198}"/>
                </a:ext>
              </a:extLst>
            </p:cNvPr>
            <p:cNvSpPr/>
            <p:nvPr/>
          </p:nvSpPr>
          <p:spPr>
            <a:xfrm>
              <a:off x="6694623" y="5273590"/>
              <a:ext cx="1450085" cy="5316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Arbeitsplätze einrichten</a:t>
              </a:r>
            </a:p>
          </p:txBody>
        </p:sp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CB470FFB-2CF7-2429-34E7-819B04AA7C66}"/>
                </a:ext>
              </a:extLst>
            </p:cNvPr>
            <p:cNvCxnSpPr/>
            <p:nvPr/>
          </p:nvCxnSpPr>
          <p:spPr>
            <a:xfrm>
              <a:off x="1683368" y="5085186"/>
              <a:ext cx="5768952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C6F41920-98A8-070A-16ED-686FB00EE38E}"/>
                </a:ext>
              </a:extLst>
            </p:cNvPr>
            <p:cNvCxnSpPr/>
            <p:nvPr/>
          </p:nvCxnSpPr>
          <p:spPr>
            <a:xfrm>
              <a:off x="7450899" y="5085186"/>
              <a:ext cx="0" cy="188404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1F62EFD4-119B-7D67-8EA2-F9FB3D698514}"/>
                </a:ext>
              </a:extLst>
            </p:cNvPr>
            <p:cNvCxnSpPr/>
            <p:nvPr/>
          </p:nvCxnSpPr>
          <p:spPr>
            <a:xfrm>
              <a:off x="1683368" y="5085186"/>
              <a:ext cx="0" cy="188404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42B5933E-898D-8E8A-7A4E-DF9BD1DAE9A4}"/>
                </a:ext>
              </a:extLst>
            </p:cNvPr>
            <p:cNvSpPr/>
            <p:nvPr/>
          </p:nvSpPr>
          <p:spPr>
            <a:xfrm>
              <a:off x="3669358" y="5273590"/>
              <a:ext cx="1836204" cy="5316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Server aufstellen</a:t>
              </a:r>
            </a:p>
          </p:txBody>
        </p:sp>
      </p:grp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D17EA9C1-FD1F-32E5-1757-47615A4FD9E6}"/>
              </a:ext>
            </a:extLst>
          </p:cNvPr>
          <p:cNvCxnSpPr>
            <a:cxnSpLocks/>
          </p:cNvCxnSpPr>
          <p:nvPr/>
        </p:nvCxnSpPr>
        <p:spPr>
          <a:xfrm>
            <a:off x="7567298" y="2420251"/>
            <a:ext cx="0" cy="30653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73FA9ABA-2B37-E0F8-546A-34121359D0CD}"/>
              </a:ext>
            </a:extLst>
          </p:cNvPr>
          <p:cNvCxnSpPr>
            <a:cxnSpLocks/>
          </p:cNvCxnSpPr>
          <p:nvPr/>
        </p:nvCxnSpPr>
        <p:spPr>
          <a:xfrm>
            <a:off x="7633154" y="4652501"/>
            <a:ext cx="0" cy="30653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object 3">
            <a:extLst>
              <a:ext uri="{FF2B5EF4-FFF2-40B4-BE49-F238E27FC236}">
                <a16:creationId xmlns:a16="http://schemas.microsoft.com/office/drawing/2014/main" id="{92C537F3-68B1-9510-E105-265BDB473645}"/>
              </a:ext>
            </a:extLst>
          </p:cNvPr>
          <p:cNvSpPr txBox="1"/>
          <p:nvPr/>
        </p:nvSpPr>
        <p:spPr>
          <a:xfrm>
            <a:off x="568987" y="1518178"/>
            <a:ext cx="2394048" cy="19306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0"/>
              </a:spcBef>
            </a:pPr>
            <a:r>
              <a:rPr lang="de-DE" b="1" spc="-10" dirty="0">
                <a:solidFill>
                  <a:srgbClr val="0070B1"/>
                </a:solidFill>
                <a:latin typeface="Source Sans Pro"/>
                <a:cs typeface="Source Sans Pro"/>
              </a:rPr>
              <a:t>Objektorientierte Gliederung</a:t>
            </a:r>
          </a:p>
          <a:p>
            <a:pPr>
              <a:lnSpc>
                <a:spcPct val="100000"/>
              </a:lnSpc>
              <a:spcBef>
                <a:spcPts val="950"/>
              </a:spcBef>
            </a:pP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Produkt / Bereiche im Fokus</a:t>
            </a:r>
          </a:p>
          <a:p>
            <a:pPr>
              <a:lnSpc>
                <a:spcPct val="100000"/>
              </a:lnSpc>
              <a:spcBef>
                <a:spcPts val="950"/>
              </a:spcBef>
            </a:pP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Woran muss gearbeitet werden?</a:t>
            </a:r>
            <a:endParaRPr lang="de-DE" dirty="0">
              <a:latin typeface="Source Sans Pro"/>
              <a:cs typeface="Source Sans Pro"/>
            </a:endParaRPr>
          </a:p>
        </p:txBody>
      </p:sp>
      <p:sp>
        <p:nvSpPr>
          <p:cNvPr id="34" name="object 3">
            <a:extLst>
              <a:ext uri="{FF2B5EF4-FFF2-40B4-BE49-F238E27FC236}">
                <a16:creationId xmlns:a16="http://schemas.microsoft.com/office/drawing/2014/main" id="{2B393A9C-4C2F-D134-EAD5-1AE7C7B9FFD8}"/>
              </a:ext>
            </a:extLst>
          </p:cNvPr>
          <p:cNvSpPr txBox="1"/>
          <p:nvPr/>
        </p:nvSpPr>
        <p:spPr>
          <a:xfrm>
            <a:off x="508917" y="4051522"/>
            <a:ext cx="2394048" cy="13766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0"/>
              </a:spcBef>
            </a:pPr>
            <a:r>
              <a:rPr lang="de-DE" b="1" spc="-10" dirty="0">
                <a:solidFill>
                  <a:srgbClr val="0070B1"/>
                </a:solidFill>
                <a:latin typeface="Source Sans Pro"/>
                <a:cs typeface="Source Sans Pro"/>
              </a:rPr>
              <a:t>Funktionsorientierte Gliederung</a:t>
            </a:r>
          </a:p>
          <a:p>
            <a:pPr>
              <a:lnSpc>
                <a:spcPct val="100000"/>
              </a:lnSpc>
              <a:spcBef>
                <a:spcPts val="950"/>
              </a:spcBef>
            </a:pP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Tätigkeiten im Fokus</a:t>
            </a:r>
          </a:p>
          <a:p>
            <a:pPr>
              <a:lnSpc>
                <a:spcPct val="100000"/>
              </a:lnSpc>
              <a:spcBef>
                <a:spcPts val="950"/>
              </a:spcBef>
            </a:pP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 Was ist zu tun?</a:t>
            </a:r>
            <a:endParaRPr lang="de-DE" dirty="0">
              <a:latin typeface="Source Sans Pro"/>
              <a:cs typeface="Source Sans Pro"/>
            </a:endParaRPr>
          </a:p>
        </p:txBody>
      </p:sp>
      <p:sp>
        <p:nvSpPr>
          <p:cNvPr id="35" name="object 3">
            <a:extLst>
              <a:ext uri="{FF2B5EF4-FFF2-40B4-BE49-F238E27FC236}">
                <a16:creationId xmlns:a16="http://schemas.microsoft.com/office/drawing/2014/main" id="{B7FE1853-42D3-F22D-7EED-B5A93E1DED4E}"/>
              </a:ext>
            </a:extLst>
          </p:cNvPr>
          <p:cNvSpPr txBox="1"/>
          <p:nvPr/>
        </p:nvSpPr>
        <p:spPr>
          <a:xfrm>
            <a:off x="3528698" y="3643765"/>
            <a:ext cx="6887452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0"/>
              </a:spcBef>
            </a:pPr>
            <a:r>
              <a:rPr lang="de-DE" sz="2400" spc="-10" dirty="0">
                <a:solidFill>
                  <a:srgbClr val="0070B1"/>
                </a:solidFill>
                <a:latin typeface="Source Sans Pro"/>
                <a:cs typeface="Source Sans Pro"/>
              </a:rPr>
              <a:t>Funktionsorientierter Projektstrukturplan</a:t>
            </a:r>
            <a:endParaRPr lang="de-DE" sz="2400" dirty="0">
              <a:latin typeface="Source Sans Pro"/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761620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3" grpId="0"/>
      <p:bldP spid="34" grpId="0"/>
      <p:bldP spid="3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4AEC3-A24C-B6A5-E70D-188F06C78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427DE20-CDBD-EAC8-1F96-760B1FC028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>
                <a:latin typeface="Source Sans Pro"/>
                <a:cs typeface="Source Sans Pro"/>
              </a:rPr>
              <a:t>P</a:t>
            </a:r>
            <a:r>
              <a:rPr sz="4000" b="1" spc="-10" dirty="0" err="1">
                <a:latin typeface="Source Sans Pro"/>
                <a:cs typeface="Source Sans Pro"/>
              </a:rPr>
              <a:t>rojektstrukturplan</a:t>
            </a:r>
            <a:r>
              <a:rPr sz="4000" b="1" spc="-30" dirty="0">
                <a:latin typeface="Source Sans Pro"/>
                <a:cs typeface="Source Sans Pro"/>
              </a:rPr>
              <a:t> </a:t>
            </a:r>
            <a:r>
              <a:rPr sz="4000" b="1" dirty="0">
                <a:latin typeface="Source Sans Pro"/>
                <a:cs typeface="Source Sans Pro"/>
              </a:rPr>
              <a:t>-</a:t>
            </a:r>
            <a:r>
              <a:rPr sz="4000" b="1" spc="-85" dirty="0">
                <a:latin typeface="Source Sans Pro"/>
                <a:cs typeface="Source Sans Pro"/>
              </a:rPr>
              <a:t> </a:t>
            </a:r>
            <a:r>
              <a:rPr sz="4000" b="1" spc="-10" dirty="0">
                <a:latin typeface="Source Sans Pro"/>
                <a:cs typeface="Source Sans Pro"/>
              </a:rPr>
              <a:t>Gliederung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BE76C11-78F8-269B-331C-387820C1284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98E7B1E-A4BA-7845-6B51-E972FB4B538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37</a:t>
            </a:fld>
            <a:endParaRPr lang="de-DE" spc="-5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F4327B2C-E63B-8E7B-8AFB-1EAA2DF8CFC4}"/>
              </a:ext>
            </a:extLst>
          </p:cNvPr>
          <p:cNvSpPr txBox="1">
            <a:spLocks/>
          </p:cNvSpPr>
          <p:nvPr/>
        </p:nvSpPr>
        <p:spPr>
          <a:xfrm>
            <a:off x="3373772" y="1179060"/>
            <a:ext cx="8352928" cy="1846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Phasenorientierter Projektstrukturplan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8D8CC103-11CD-B149-3910-38F718D665C7}"/>
              </a:ext>
            </a:extLst>
          </p:cNvPr>
          <p:cNvGrpSpPr/>
          <p:nvPr/>
        </p:nvGrpSpPr>
        <p:grpSpPr>
          <a:xfrm>
            <a:off x="3429000" y="1645336"/>
            <a:ext cx="8280920" cy="1296144"/>
            <a:chOff x="467544" y="2132856"/>
            <a:chExt cx="8280920" cy="1296144"/>
          </a:xfrm>
        </p:grpSpPr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9DFDB248-14A6-A57A-56DA-AFAEFE03D738}"/>
                </a:ext>
              </a:extLst>
            </p:cNvPr>
            <p:cNvSpPr/>
            <p:nvPr/>
          </p:nvSpPr>
          <p:spPr>
            <a:xfrm>
              <a:off x="467544" y="2132856"/>
              <a:ext cx="8280920" cy="1296144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E812D3C2-9E36-9CAA-8F85-1428E4192729}"/>
                </a:ext>
              </a:extLst>
            </p:cNvPr>
            <p:cNvSpPr/>
            <p:nvPr/>
          </p:nvSpPr>
          <p:spPr>
            <a:xfrm>
              <a:off x="3779912" y="2230752"/>
              <a:ext cx="1584176" cy="360040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Firma XYZ</a:t>
              </a:r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60E7B586-322A-3881-36C2-2B3EC4ECBCEC}"/>
                </a:ext>
              </a:extLst>
            </p:cNvPr>
            <p:cNvSpPr/>
            <p:nvPr/>
          </p:nvSpPr>
          <p:spPr>
            <a:xfrm>
              <a:off x="999292" y="2897324"/>
              <a:ext cx="1368152" cy="53167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Planung</a:t>
              </a:r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F0AF4128-3EF8-7378-1E5F-EECBB6A828C4}"/>
                </a:ext>
              </a:extLst>
            </p:cNvPr>
            <p:cNvSpPr/>
            <p:nvPr/>
          </p:nvSpPr>
          <p:spPr>
            <a:xfrm>
              <a:off x="6776556" y="2897324"/>
              <a:ext cx="1368152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Abnahme</a:t>
              </a:r>
            </a:p>
          </p:txBody>
        </p: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C68BC7E5-D33A-8ADA-0579-21A2E787BA91}"/>
                </a:ext>
              </a:extLst>
            </p:cNvPr>
            <p:cNvCxnSpPr/>
            <p:nvPr/>
          </p:nvCxnSpPr>
          <p:spPr>
            <a:xfrm>
              <a:off x="1683368" y="2708920"/>
              <a:ext cx="5768952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E3B8346D-98DF-5EC1-E3BE-F00B20788599}"/>
                </a:ext>
              </a:extLst>
            </p:cNvPr>
            <p:cNvCxnSpPr>
              <a:cxnSpLocks/>
              <a:endCxn id="31" idx="0"/>
            </p:cNvCxnSpPr>
            <p:nvPr/>
          </p:nvCxnSpPr>
          <p:spPr>
            <a:xfrm>
              <a:off x="1683368" y="2708920"/>
              <a:ext cx="0" cy="188404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4911E3FB-F3F3-8490-85C0-845086434735}"/>
                </a:ext>
              </a:extLst>
            </p:cNvPr>
            <p:cNvCxnSpPr/>
            <p:nvPr/>
          </p:nvCxnSpPr>
          <p:spPr>
            <a:xfrm>
              <a:off x="7450899" y="2708920"/>
              <a:ext cx="0" cy="188404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EB4ACE89-FE63-EA80-AD6F-E7CD2E0B36BE}"/>
                </a:ext>
              </a:extLst>
            </p:cNvPr>
            <p:cNvSpPr/>
            <p:nvPr/>
          </p:nvSpPr>
          <p:spPr>
            <a:xfrm>
              <a:off x="3851920" y="2897324"/>
              <a:ext cx="1404156" cy="53167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Ausführung</a:t>
              </a:r>
            </a:p>
          </p:txBody>
        </p:sp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C3CAAC3A-E7EF-E0D1-DF3C-EEB9ADE76930}"/>
              </a:ext>
            </a:extLst>
          </p:cNvPr>
          <p:cNvGrpSpPr/>
          <p:nvPr/>
        </p:nvGrpSpPr>
        <p:grpSpPr>
          <a:xfrm>
            <a:off x="3429000" y="3802625"/>
            <a:ext cx="8280920" cy="2234055"/>
            <a:chOff x="467544" y="3587009"/>
            <a:chExt cx="8280920" cy="2336384"/>
          </a:xfrm>
        </p:grpSpPr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8CBE317B-107B-F2EC-6685-45D204C841C3}"/>
                </a:ext>
              </a:extLst>
            </p:cNvPr>
            <p:cNvSpPr/>
            <p:nvPr/>
          </p:nvSpPr>
          <p:spPr>
            <a:xfrm>
              <a:off x="467544" y="3587009"/>
              <a:ext cx="8280920" cy="2336384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4D8CBC91-44A3-4CDE-695D-A3816B73811B}"/>
                </a:ext>
              </a:extLst>
            </p:cNvPr>
            <p:cNvSpPr/>
            <p:nvPr/>
          </p:nvSpPr>
          <p:spPr>
            <a:xfrm>
              <a:off x="3779912" y="3684905"/>
              <a:ext cx="1584176" cy="360040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Firma XYZ</a:t>
              </a:r>
            </a:p>
          </p:txBody>
        </p:sp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97D72801-62D5-E6BB-BDAD-1FE9BA8724CF}"/>
                </a:ext>
              </a:extLst>
            </p:cNvPr>
            <p:cNvSpPr/>
            <p:nvPr/>
          </p:nvSpPr>
          <p:spPr>
            <a:xfrm>
              <a:off x="1666588" y="4362066"/>
              <a:ext cx="1484476" cy="5316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Planung</a:t>
              </a:r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A92D110B-6D67-E2BF-F52D-CF78C70B74BA}"/>
                </a:ext>
              </a:extLst>
            </p:cNvPr>
            <p:cNvSpPr/>
            <p:nvPr/>
          </p:nvSpPr>
          <p:spPr>
            <a:xfrm>
              <a:off x="6124808" y="4322530"/>
              <a:ext cx="1368152" cy="5316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Ausführung</a:t>
              </a:r>
            </a:p>
          </p:txBody>
        </p:sp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F528778D-D107-ABC2-475D-D5CE411EFE89}"/>
                </a:ext>
              </a:extLst>
            </p:cNvPr>
            <p:cNvCxnSpPr/>
            <p:nvPr/>
          </p:nvCxnSpPr>
          <p:spPr>
            <a:xfrm flipV="1">
              <a:off x="2471833" y="4149143"/>
              <a:ext cx="4304723" cy="16709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D901B86A-5392-A8C8-ACF2-3D9B61A40299}"/>
                </a:ext>
              </a:extLst>
            </p:cNvPr>
            <p:cNvCxnSpPr/>
            <p:nvPr/>
          </p:nvCxnSpPr>
          <p:spPr>
            <a:xfrm>
              <a:off x="6751111" y="4149143"/>
              <a:ext cx="0" cy="188404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66C90396-5CD6-6F8B-A9A3-5FF3405F5011}"/>
                </a:ext>
              </a:extLst>
            </p:cNvPr>
            <p:cNvCxnSpPr/>
            <p:nvPr/>
          </p:nvCxnSpPr>
          <p:spPr>
            <a:xfrm>
              <a:off x="2471833" y="4165852"/>
              <a:ext cx="0" cy="205831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EEE1C6D8-117A-CE92-EA42-2577F95029DE}"/>
                </a:ext>
              </a:extLst>
            </p:cNvPr>
            <p:cNvSpPr/>
            <p:nvPr/>
          </p:nvSpPr>
          <p:spPr>
            <a:xfrm>
              <a:off x="514460" y="5295786"/>
              <a:ext cx="1836204" cy="5316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Entwurf</a:t>
              </a:r>
            </a:p>
          </p:txBody>
        </p:sp>
        <p:sp>
          <p:nvSpPr>
            <p:cNvPr id="46" name="Rechteck 45">
              <a:extLst>
                <a:ext uri="{FF2B5EF4-FFF2-40B4-BE49-F238E27FC236}">
                  <a16:creationId xmlns:a16="http://schemas.microsoft.com/office/drawing/2014/main" id="{604742AE-FCF6-7C2A-085F-02F62D667225}"/>
                </a:ext>
              </a:extLst>
            </p:cNvPr>
            <p:cNvSpPr/>
            <p:nvPr/>
          </p:nvSpPr>
          <p:spPr>
            <a:xfrm>
              <a:off x="2471833" y="5295786"/>
              <a:ext cx="1836204" cy="5316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Material-beschaffung</a:t>
              </a:r>
            </a:p>
          </p:txBody>
        </p:sp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2144A679-961B-69F6-B6F3-DCB46E60A192}"/>
                </a:ext>
              </a:extLst>
            </p:cNvPr>
            <p:cNvSpPr/>
            <p:nvPr/>
          </p:nvSpPr>
          <p:spPr>
            <a:xfrm>
              <a:off x="4804648" y="5295786"/>
              <a:ext cx="1836204" cy="5316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Gebäude 1 </a:t>
              </a:r>
            </a:p>
          </p:txBody>
        </p:sp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86FBCACA-AA7A-B567-1F78-4F4A0018AE3A}"/>
                </a:ext>
              </a:extLst>
            </p:cNvPr>
            <p:cNvSpPr/>
            <p:nvPr/>
          </p:nvSpPr>
          <p:spPr>
            <a:xfrm>
              <a:off x="6808884" y="5295786"/>
              <a:ext cx="1836204" cy="5316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Lager</a:t>
              </a:r>
            </a:p>
          </p:txBody>
        </p:sp>
        <p:cxnSp>
          <p:nvCxnSpPr>
            <p:cNvPr id="49" name="Gerader Verbinder 48">
              <a:extLst>
                <a:ext uri="{FF2B5EF4-FFF2-40B4-BE49-F238E27FC236}">
                  <a16:creationId xmlns:a16="http://schemas.microsoft.com/office/drawing/2014/main" id="{3B26768E-91D8-1C64-8488-DB567C7EB424}"/>
                </a:ext>
              </a:extLst>
            </p:cNvPr>
            <p:cNvCxnSpPr/>
            <p:nvPr/>
          </p:nvCxnSpPr>
          <p:spPr>
            <a:xfrm>
              <a:off x="2461923" y="4893740"/>
              <a:ext cx="0" cy="205831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r Verbinder 49">
              <a:extLst>
                <a:ext uri="{FF2B5EF4-FFF2-40B4-BE49-F238E27FC236}">
                  <a16:creationId xmlns:a16="http://schemas.microsoft.com/office/drawing/2014/main" id="{BB45527B-2730-B461-B19E-06F24A4A3799}"/>
                </a:ext>
              </a:extLst>
            </p:cNvPr>
            <p:cNvCxnSpPr/>
            <p:nvPr/>
          </p:nvCxnSpPr>
          <p:spPr>
            <a:xfrm>
              <a:off x="6751111" y="4854204"/>
              <a:ext cx="0" cy="205831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r Verbinder 50">
              <a:extLst>
                <a:ext uri="{FF2B5EF4-FFF2-40B4-BE49-F238E27FC236}">
                  <a16:creationId xmlns:a16="http://schemas.microsoft.com/office/drawing/2014/main" id="{481517C9-0DA7-5605-4849-F0F38FFD4EC4}"/>
                </a:ext>
              </a:extLst>
            </p:cNvPr>
            <p:cNvCxnSpPr/>
            <p:nvPr/>
          </p:nvCxnSpPr>
          <p:spPr>
            <a:xfrm>
              <a:off x="1547664" y="5099571"/>
              <a:ext cx="6179322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9F81F5F6-D022-E92F-EA19-E0F6B6A28CAA}"/>
                </a:ext>
              </a:extLst>
            </p:cNvPr>
            <p:cNvCxnSpPr/>
            <p:nvPr/>
          </p:nvCxnSpPr>
          <p:spPr>
            <a:xfrm>
              <a:off x="1547664" y="5099571"/>
              <a:ext cx="0" cy="205831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61A8DF2A-D971-8807-500C-42E89D40865A}"/>
                </a:ext>
              </a:extLst>
            </p:cNvPr>
            <p:cNvCxnSpPr/>
            <p:nvPr/>
          </p:nvCxnSpPr>
          <p:spPr>
            <a:xfrm>
              <a:off x="3389935" y="5099570"/>
              <a:ext cx="0" cy="205831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r Verbinder 53">
              <a:extLst>
                <a:ext uri="{FF2B5EF4-FFF2-40B4-BE49-F238E27FC236}">
                  <a16:creationId xmlns:a16="http://schemas.microsoft.com/office/drawing/2014/main" id="{DE45328D-0D9F-B722-768B-FF5D3FEAD1F3}"/>
                </a:ext>
              </a:extLst>
            </p:cNvPr>
            <p:cNvCxnSpPr/>
            <p:nvPr/>
          </p:nvCxnSpPr>
          <p:spPr>
            <a:xfrm>
              <a:off x="5722750" y="5099570"/>
              <a:ext cx="0" cy="205831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r Verbinder 54">
              <a:extLst>
                <a:ext uri="{FF2B5EF4-FFF2-40B4-BE49-F238E27FC236}">
                  <a16:creationId xmlns:a16="http://schemas.microsoft.com/office/drawing/2014/main" id="{D7B78252-9BBC-872D-1915-E65182F2393B}"/>
                </a:ext>
              </a:extLst>
            </p:cNvPr>
            <p:cNvCxnSpPr/>
            <p:nvPr/>
          </p:nvCxnSpPr>
          <p:spPr>
            <a:xfrm>
              <a:off x="7718351" y="5089955"/>
              <a:ext cx="0" cy="205831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r Verbinder 55">
              <a:extLst>
                <a:ext uri="{FF2B5EF4-FFF2-40B4-BE49-F238E27FC236}">
                  <a16:creationId xmlns:a16="http://schemas.microsoft.com/office/drawing/2014/main" id="{945E07F9-DB6A-C82E-8A29-0D31748DDB22}"/>
                </a:ext>
              </a:extLst>
            </p:cNvPr>
            <p:cNvCxnSpPr>
              <a:cxnSpLocks/>
            </p:cNvCxnSpPr>
            <p:nvPr/>
          </p:nvCxnSpPr>
          <p:spPr>
            <a:xfrm>
              <a:off x="4591224" y="4044945"/>
              <a:ext cx="0" cy="120908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A3E67C64-EEAF-5C3C-5B93-2F269E0A6BC1}"/>
              </a:ext>
            </a:extLst>
          </p:cNvPr>
          <p:cNvCxnSpPr>
            <a:cxnSpLocks/>
          </p:cNvCxnSpPr>
          <p:nvPr/>
        </p:nvCxnSpPr>
        <p:spPr>
          <a:xfrm>
            <a:off x="7507796" y="2103272"/>
            <a:ext cx="0" cy="30653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3" name="object 3">
            <a:extLst>
              <a:ext uri="{FF2B5EF4-FFF2-40B4-BE49-F238E27FC236}">
                <a16:creationId xmlns:a16="http://schemas.microsoft.com/office/drawing/2014/main" id="{869F2374-A4EF-097E-CAF4-D1D76664CA12}"/>
              </a:ext>
            </a:extLst>
          </p:cNvPr>
          <p:cNvSpPr txBox="1"/>
          <p:nvPr/>
        </p:nvSpPr>
        <p:spPr>
          <a:xfrm>
            <a:off x="311626" y="1514976"/>
            <a:ext cx="2583973" cy="12484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0"/>
              </a:spcBef>
            </a:pPr>
            <a:r>
              <a:rPr lang="de-DE" b="1" spc="-10" dirty="0">
                <a:solidFill>
                  <a:srgbClr val="0070B1"/>
                </a:solidFill>
                <a:latin typeface="Source Sans Pro"/>
                <a:cs typeface="Source Sans Pro"/>
              </a:rPr>
              <a:t>Zeitorientierte/Phasen-orientierte Gliederung</a:t>
            </a:r>
          </a:p>
          <a:p>
            <a:pPr>
              <a:lnSpc>
                <a:spcPct val="100000"/>
              </a:lnSpc>
              <a:spcBef>
                <a:spcPts val="950"/>
              </a:spcBef>
            </a:pP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Phasen / Ablauf im Fokus (Wann ist was zu tun?)</a:t>
            </a:r>
            <a:endParaRPr lang="de-DE" dirty="0">
              <a:latin typeface="Source Sans Pro"/>
              <a:cs typeface="Source Sans Pro"/>
            </a:endParaRPr>
          </a:p>
        </p:txBody>
      </p:sp>
      <p:sp>
        <p:nvSpPr>
          <p:cNvPr id="64" name="object 3">
            <a:extLst>
              <a:ext uri="{FF2B5EF4-FFF2-40B4-BE49-F238E27FC236}">
                <a16:creationId xmlns:a16="http://schemas.microsoft.com/office/drawing/2014/main" id="{82166801-9256-3FBD-FC71-8B55C590797F}"/>
              </a:ext>
            </a:extLst>
          </p:cNvPr>
          <p:cNvSpPr txBox="1"/>
          <p:nvPr/>
        </p:nvSpPr>
        <p:spPr>
          <a:xfrm>
            <a:off x="384143" y="3826788"/>
            <a:ext cx="2583973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0"/>
              </a:spcBef>
            </a:pP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Beliebige Mischungen sind möglich</a:t>
            </a:r>
            <a:endParaRPr lang="de-DE" dirty="0">
              <a:latin typeface="Source Sans Pro"/>
              <a:cs typeface="Source Sans Pro"/>
            </a:endParaRPr>
          </a:p>
        </p:txBody>
      </p:sp>
      <p:sp>
        <p:nvSpPr>
          <p:cNvPr id="65" name="Inhaltsplatzhalter 2">
            <a:extLst>
              <a:ext uri="{FF2B5EF4-FFF2-40B4-BE49-F238E27FC236}">
                <a16:creationId xmlns:a16="http://schemas.microsoft.com/office/drawing/2014/main" id="{2EA717B6-FA33-620F-A6C3-E3F89B132D86}"/>
              </a:ext>
            </a:extLst>
          </p:cNvPr>
          <p:cNvSpPr txBox="1">
            <a:spLocks/>
          </p:cNvSpPr>
          <p:nvPr/>
        </p:nvSpPr>
        <p:spPr>
          <a:xfrm>
            <a:off x="3392996" y="3317174"/>
            <a:ext cx="8352928" cy="1846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/>
              <a:t>Gemischtorienter</a:t>
            </a:r>
            <a:r>
              <a:rPr lang="de-DE" dirty="0"/>
              <a:t> Projektstrukturplan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51350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63" grpId="0"/>
      <p:bldP spid="64" grpId="0"/>
      <p:bldP spid="6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CDEB0-ED4A-FEDB-C2B7-B82F23EBC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0F9B6D6-61C8-48AF-057B-6D7B0336B4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>
                <a:latin typeface="Source Sans Pro"/>
                <a:cs typeface="Source Sans Pro"/>
              </a:rPr>
              <a:t>Vorgangsliste, </a:t>
            </a:r>
            <a:r>
              <a:rPr sz="4000" b="1" spc="-10" dirty="0" err="1">
                <a:latin typeface="Source Sans Pro"/>
                <a:cs typeface="Source Sans Pro"/>
              </a:rPr>
              <a:t>Projektablaufplan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88F41F6-0875-3C41-408F-E97E909A130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2E9F589-DE05-D09E-D5E3-A4F8C7A09A97}"/>
              </a:ext>
            </a:extLst>
          </p:cNvPr>
          <p:cNvSpPr txBox="1"/>
          <p:nvPr/>
        </p:nvSpPr>
        <p:spPr>
          <a:xfrm>
            <a:off x="360679" y="1447800"/>
            <a:ext cx="8398358" cy="27821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Aufgabe ist es, eine zeitliche Komponente hinzuzufügen</a:t>
            </a: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endParaRPr lang="de-DE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Der Ablaufplan wird als Balkendiagramm oder Netzplan dargestellt</a:t>
            </a: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endParaRPr lang="de-DE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Arbeitspakete werden um zwei Aspekte ergänzt:</a:t>
            </a: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endParaRPr lang="de-DE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Logische Abhängigkeiten zwischen den Arbeitspaketen werden ermittelt (welches Paket muss abgeschlossen sein, um mit dem nächsten beginnen zu können)</a:t>
            </a: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endParaRPr lang="de-DE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Dauer wird ermittelt, die als Grundlage der Terminplanung dient</a:t>
            </a:r>
            <a:endParaRPr lang="de-DE" dirty="0">
              <a:latin typeface="Source Sans Pro"/>
              <a:cs typeface="Source Sans Pro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6D5F2F-38AE-00C2-EC90-72D86CF7D72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38</a:t>
            </a:fld>
            <a:endParaRPr lang="de-DE" spc="-50" dirty="0"/>
          </a:p>
        </p:txBody>
      </p:sp>
    </p:spTree>
    <p:extLst>
      <p:ext uri="{BB962C8B-B14F-4D97-AF65-F5344CB8AC3E}">
        <p14:creationId xmlns:p14="http://schemas.microsoft.com/office/powerpoint/2010/main" val="2022991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0B642-4459-EF04-CB4D-C3B94782F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2CEA25A-B881-3A06-3146-FF5FB27C06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sz="4000" b="1" spc="-10" dirty="0" err="1">
                <a:latin typeface="Source Sans Pro"/>
                <a:cs typeface="Source Sans Pro"/>
              </a:rPr>
              <a:t>Projektablaufplan</a:t>
            </a:r>
            <a:r>
              <a:rPr lang="de-DE" sz="4000" b="1" spc="-10" dirty="0">
                <a:latin typeface="Source Sans Pro"/>
                <a:cs typeface="Source Sans Pro"/>
              </a:rPr>
              <a:t> (PAP) – Gantt-Diagramm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9C5B260-6D50-E707-8955-CC857A7F19A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81C2CDC-F314-922C-9DD7-ADA4AA0F9202}"/>
              </a:ext>
            </a:extLst>
          </p:cNvPr>
          <p:cNvSpPr txBox="1"/>
          <p:nvPr/>
        </p:nvSpPr>
        <p:spPr>
          <a:xfrm>
            <a:off x="377229" y="1371600"/>
            <a:ext cx="8398358" cy="27975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Stellt die zeitliche Ablauffolge in Form eines Balkendiagramms dar</a:t>
            </a: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endParaRPr lang="de-DE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Ergänzung des Projektstrukturplans</a:t>
            </a: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endParaRPr lang="de-DE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zeitliche Anordnung erfolgt nach Starttermin, Dauer und Ende</a:t>
            </a: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endParaRPr lang="de-DE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240029" indent="-227329">
              <a:buFont typeface="Arial"/>
              <a:buChar char="•"/>
              <a:tabLst>
                <a:tab pos="240029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die Kalenderansicht erleichtert die Terminkontrolle</a:t>
            </a:r>
          </a:p>
          <a:p>
            <a:pPr marL="12700">
              <a:lnSpc>
                <a:spcPct val="100000"/>
              </a:lnSpc>
              <a:tabLst>
                <a:tab pos="240029" algn="l"/>
              </a:tabLst>
            </a:pPr>
            <a:endParaRPr lang="de-DE" sz="1900" dirty="0">
              <a:latin typeface="Source Sans Pro"/>
              <a:cs typeface="Source Sans Pro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einfache,</a:t>
            </a:r>
            <a:r>
              <a:rPr lang="de-DE" spc="-45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anschauliche</a:t>
            </a:r>
            <a:r>
              <a:rPr lang="de-DE" spc="-5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Form</a:t>
            </a:r>
            <a:r>
              <a:rPr lang="de-DE" spc="-4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des</a:t>
            </a:r>
            <a:r>
              <a:rPr lang="de-DE" spc="-4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Ablaufs</a:t>
            </a: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endParaRPr lang="de-DE" dirty="0">
              <a:latin typeface="Source Sans Pro"/>
              <a:cs typeface="Source Sans Pro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D74A95E-F3D1-7DF2-3273-BD0A83F5C83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39</a:t>
            </a:fld>
            <a:endParaRPr lang="de-DE" spc="-50" dirty="0"/>
          </a:p>
        </p:txBody>
      </p:sp>
    </p:spTree>
    <p:extLst>
      <p:ext uri="{BB962C8B-B14F-4D97-AF65-F5344CB8AC3E}">
        <p14:creationId xmlns:p14="http://schemas.microsoft.com/office/powerpoint/2010/main" val="2541961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D2174-1491-C825-5CD0-D1550AAE3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44573CC-F9C3-08FF-598A-E3442A643B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>
                <a:latin typeface="Source Sans Pro"/>
                <a:cs typeface="Source Sans Pro"/>
              </a:rPr>
              <a:t>Phasen der </a:t>
            </a:r>
            <a:r>
              <a:rPr sz="4000" b="1" spc="-10" dirty="0" err="1">
                <a:latin typeface="Source Sans Pro"/>
                <a:cs typeface="Source Sans Pro"/>
              </a:rPr>
              <a:t>Netzplantechnik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4D705E2-7759-757F-B334-B7CB65AB0DE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A3FBA9D-E4CA-B519-6079-34D67DBD6953}"/>
              </a:ext>
            </a:extLst>
          </p:cNvPr>
          <p:cNvSpPr txBox="1"/>
          <p:nvPr/>
        </p:nvSpPr>
        <p:spPr>
          <a:xfrm>
            <a:off x="440842" y="1875041"/>
            <a:ext cx="8131276" cy="3386183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805"/>
              </a:spcBef>
              <a:buFont typeface="+mj-lt"/>
              <a:buAutoNum type="arabicPeriod"/>
              <a:tabLst>
                <a:tab pos="354965" algn="l"/>
              </a:tabLst>
            </a:pPr>
            <a:r>
              <a:rPr lang="de-DE" sz="2400" b="1" spc="-10" dirty="0">
                <a:solidFill>
                  <a:srgbClr val="0070B1"/>
                </a:solidFill>
                <a:latin typeface="Source Sans Pro"/>
                <a:cs typeface="Source Sans Pro"/>
              </a:rPr>
              <a:t> Strukturanalyse</a:t>
            </a:r>
          </a:p>
          <a:p>
            <a:pPr marL="12700" lvl="5">
              <a:spcBef>
                <a:spcPts val="805"/>
              </a:spcBef>
              <a:tabLst>
                <a:tab pos="354965" algn="l"/>
              </a:tabLst>
            </a:pPr>
            <a:r>
              <a:rPr lang="de-DE" sz="2400" spc="-10" dirty="0">
                <a:solidFill>
                  <a:srgbClr val="0070B1"/>
                </a:solidFill>
                <a:latin typeface="Source Sans Pro"/>
                <a:cs typeface="Source Sans Pro"/>
              </a:rPr>
              <a:t>	</a:t>
            </a: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Alle Arbeitspakete werden in ihrer logischen Abhängigkeit grafisch dargestellt</a:t>
            </a:r>
          </a:p>
          <a:p>
            <a:pPr marL="12700" lvl="5">
              <a:spcBef>
                <a:spcPts val="805"/>
              </a:spcBef>
              <a:tabLst>
                <a:tab pos="354965" algn="l"/>
              </a:tabLst>
            </a:pPr>
            <a:endParaRPr lang="de-DE" sz="2400" spc="-10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469900" indent="-457200">
              <a:lnSpc>
                <a:spcPct val="100000"/>
              </a:lnSpc>
              <a:spcBef>
                <a:spcPts val="805"/>
              </a:spcBef>
              <a:buFont typeface="+mj-lt"/>
              <a:buAutoNum type="arabicPeriod"/>
              <a:tabLst>
                <a:tab pos="354965" algn="l"/>
              </a:tabLst>
            </a:pPr>
            <a:r>
              <a:rPr lang="de-DE" sz="2400" b="1" spc="-10" dirty="0">
                <a:solidFill>
                  <a:srgbClr val="0070B1"/>
                </a:solidFill>
                <a:latin typeface="Source Sans Pro"/>
                <a:cs typeface="Source Sans Pro"/>
              </a:rPr>
              <a:t>Vorwärtsrechnung</a:t>
            </a:r>
          </a:p>
          <a:p>
            <a:pPr marL="12700" lvl="3">
              <a:spcBef>
                <a:spcPts val="805"/>
              </a:spcBef>
              <a:tabLst>
                <a:tab pos="354965" algn="l"/>
              </a:tabLst>
            </a:pPr>
            <a:r>
              <a:rPr lang="de-DE" sz="2400" spc="-10" dirty="0">
                <a:solidFill>
                  <a:srgbClr val="0070B1"/>
                </a:solidFill>
                <a:latin typeface="Source Sans Pro"/>
                <a:cs typeface="Source Sans Pro"/>
              </a:rPr>
              <a:t>	</a:t>
            </a: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Bei gegebenen Projektanfangstermine werden die Anfangs- und Endtermine 	entsprechend der Dauer der Arbeitspakete eingetragen. Ermittlung der 	Gesamtdauer</a:t>
            </a:r>
          </a:p>
          <a:p>
            <a:pPr marL="12700" lvl="3">
              <a:spcBef>
                <a:spcPts val="805"/>
              </a:spcBef>
              <a:tabLst>
                <a:tab pos="354965" algn="l"/>
              </a:tabLst>
            </a:pPr>
            <a:endParaRPr lang="de-DE" sz="2400" dirty="0">
              <a:latin typeface="Source Sans Pro"/>
              <a:cs typeface="Source Sans Pro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8AF146C-4346-1242-8547-C1D4DC92D1C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40</a:t>
            </a:fld>
            <a:endParaRPr lang="de-DE" spc="-50" dirty="0"/>
          </a:p>
        </p:txBody>
      </p:sp>
    </p:spTree>
    <p:extLst>
      <p:ext uri="{BB962C8B-B14F-4D97-AF65-F5344CB8AC3E}">
        <p14:creationId xmlns:p14="http://schemas.microsoft.com/office/powerpoint/2010/main" val="505014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EB56E-D7F9-B140-3FB7-7D19B75F9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B39E9CE-90FB-C811-0ABD-D72CEA9110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>
                <a:latin typeface="Source Sans Pro"/>
                <a:cs typeface="Source Sans Pro"/>
              </a:rPr>
              <a:t>Phasen der </a:t>
            </a:r>
            <a:r>
              <a:rPr sz="4000" b="1" spc="-10" dirty="0" err="1">
                <a:latin typeface="Source Sans Pro"/>
                <a:cs typeface="Source Sans Pro"/>
              </a:rPr>
              <a:t>Netzplantechnik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346111D-A265-907B-8AD1-778FCADAE0E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71B9470-4B78-09CA-2D38-DFDC11B00F78}"/>
              </a:ext>
            </a:extLst>
          </p:cNvPr>
          <p:cNvSpPr txBox="1"/>
          <p:nvPr/>
        </p:nvSpPr>
        <p:spPr>
          <a:xfrm>
            <a:off x="440842" y="1875041"/>
            <a:ext cx="7788758" cy="2729593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805"/>
              </a:spcBef>
              <a:buFont typeface="+mj-lt"/>
              <a:buAutoNum type="arabicPeriod" startAt="3"/>
              <a:tabLst>
                <a:tab pos="354965" algn="l"/>
              </a:tabLst>
            </a:pPr>
            <a:r>
              <a:rPr lang="de-DE" sz="2400" b="1" spc="-10" dirty="0">
                <a:solidFill>
                  <a:srgbClr val="0070B1"/>
                </a:solidFill>
                <a:latin typeface="Source Sans Pro"/>
                <a:cs typeface="Source Sans Pro"/>
              </a:rPr>
              <a:t> Rückwärtsrechnung</a:t>
            </a:r>
          </a:p>
          <a:p>
            <a:pPr marL="12700" lvl="5">
              <a:spcBef>
                <a:spcPts val="805"/>
              </a:spcBef>
              <a:tabLst>
                <a:tab pos="354965" algn="l"/>
              </a:tabLst>
            </a:pP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	Ermittlung, wann spätestens mit den Arbeitspaketen begonnen werden muss, 	ohne den frühesten Endtermin zu gefährden.</a:t>
            </a:r>
          </a:p>
          <a:p>
            <a:pPr marL="12700" lvl="5">
              <a:spcBef>
                <a:spcPts val="805"/>
              </a:spcBef>
              <a:tabLst>
                <a:tab pos="354965" algn="l"/>
              </a:tabLst>
            </a:pPr>
            <a:endParaRPr lang="de-DE" sz="2400" spc="-10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469900" indent="-457200">
              <a:lnSpc>
                <a:spcPct val="100000"/>
              </a:lnSpc>
              <a:spcBef>
                <a:spcPts val="805"/>
              </a:spcBef>
              <a:buFont typeface="+mj-lt"/>
              <a:buAutoNum type="arabicPeriod" startAt="3"/>
              <a:tabLst>
                <a:tab pos="354965" algn="l"/>
              </a:tabLst>
            </a:pPr>
            <a:r>
              <a:rPr lang="de-DE" sz="2400" b="1" spc="-10" dirty="0">
                <a:solidFill>
                  <a:srgbClr val="0070B1"/>
                </a:solidFill>
                <a:latin typeface="Source Sans Pro"/>
                <a:cs typeface="Source Sans Pro"/>
              </a:rPr>
              <a:t>Ermittlung der Zeitreserven und des kritischen Weges</a:t>
            </a:r>
          </a:p>
          <a:p>
            <a:pPr marL="12700" lvl="3">
              <a:spcBef>
                <a:spcPts val="805"/>
              </a:spcBef>
              <a:tabLst>
                <a:tab pos="354965" algn="l"/>
              </a:tabLst>
            </a:pP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	Ermittlung von Puffer, besonders kritischer Arbeitspakete (ohne zeitliche 	Reserven)</a:t>
            </a:r>
            <a:endParaRPr lang="de-DE" dirty="0">
              <a:latin typeface="Source Sans Pro"/>
              <a:cs typeface="Source Sans Pro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B8711D4-3928-15C6-3677-C5F8ACF37BC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41</a:t>
            </a:fld>
            <a:endParaRPr lang="de-DE" spc="-50" dirty="0"/>
          </a:p>
        </p:txBody>
      </p:sp>
    </p:spTree>
    <p:extLst>
      <p:ext uri="{BB962C8B-B14F-4D97-AF65-F5344CB8AC3E}">
        <p14:creationId xmlns:p14="http://schemas.microsoft.com/office/powerpoint/2010/main" val="4096520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E0226-06FF-9903-2E41-DCA52F1E9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A6A1DEC-2696-02D8-0D91-EE5B95F8C4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>
                <a:latin typeface="Source Sans Pro"/>
                <a:cs typeface="Source Sans Pro"/>
              </a:rPr>
              <a:t>Phasen der </a:t>
            </a:r>
            <a:r>
              <a:rPr sz="4000" b="1" spc="-10" dirty="0" err="1">
                <a:latin typeface="Source Sans Pro"/>
                <a:cs typeface="Source Sans Pro"/>
              </a:rPr>
              <a:t>Netzplantechnik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9726341-E355-F400-FD25-029329E6313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0C3D08C-F8ED-F97D-0CAA-E54B819A9E6D}"/>
              </a:ext>
            </a:extLst>
          </p:cNvPr>
          <p:cNvSpPr txBox="1"/>
          <p:nvPr/>
        </p:nvSpPr>
        <p:spPr>
          <a:xfrm>
            <a:off x="440842" y="1447800"/>
            <a:ext cx="7560158" cy="3119444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  <a:tabLst>
                <a:tab pos="354965" algn="l"/>
              </a:tabLst>
            </a:pPr>
            <a:r>
              <a:rPr lang="de-DE" sz="2400" b="1" spc="-10" dirty="0">
                <a:solidFill>
                  <a:srgbClr val="0070B1"/>
                </a:solidFill>
                <a:latin typeface="Source Sans Pro"/>
                <a:cs typeface="Source Sans Pro"/>
              </a:rPr>
              <a:t>Strukturanalyse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tabLst>
                <a:tab pos="354965" algn="l"/>
              </a:tabLst>
            </a:pPr>
            <a:endParaRPr lang="de-DE" sz="2400" b="1" spc="-10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469900" indent="-457200">
              <a:lnSpc>
                <a:spcPct val="100000"/>
              </a:lnSpc>
              <a:spcBef>
                <a:spcPts val="805"/>
              </a:spcBef>
              <a:buFont typeface="+mj-lt"/>
              <a:buAutoNum type="arabicPeriod"/>
              <a:tabLst>
                <a:tab pos="354965" algn="l"/>
              </a:tabLst>
            </a:pP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Abhängigkeiten werden durch Pfeile dargestellt Pfeilrichtung: von links nach rechts und vorzugsweise von oben nach unten</a:t>
            </a:r>
          </a:p>
          <a:p>
            <a:pPr marL="469900" indent="-457200">
              <a:lnSpc>
                <a:spcPct val="100000"/>
              </a:lnSpc>
              <a:spcBef>
                <a:spcPts val="805"/>
              </a:spcBef>
              <a:buFont typeface="+mj-lt"/>
              <a:buAutoNum type="arabicPeriod"/>
              <a:tabLst>
                <a:tab pos="354965" algn="l"/>
              </a:tabLst>
            </a:pP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Ein Vorgang kann mehrere Vorgänger und/oder Nachfolger haben</a:t>
            </a:r>
          </a:p>
          <a:p>
            <a:pPr marL="469900" indent="-457200">
              <a:lnSpc>
                <a:spcPct val="100000"/>
              </a:lnSpc>
              <a:spcBef>
                <a:spcPts val="805"/>
              </a:spcBef>
              <a:buFont typeface="+mj-lt"/>
              <a:buAutoNum type="arabicPeriod"/>
              <a:tabLst>
                <a:tab pos="354965" algn="l"/>
              </a:tabLst>
            </a:pP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Ein Netzplan darf KEINE Schleifen enthalten </a:t>
            </a:r>
          </a:p>
          <a:p>
            <a:pPr marL="469900" indent="-457200">
              <a:lnSpc>
                <a:spcPct val="100000"/>
              </a:lnSpc>
              <a:spcBef>
                <a:spcPts val="805"/>
              </a:spcBef>
              <a:buFont typeface="+mj-lt"/>
              <a:buAutoNum type="arabicPeriod"/>
              <a:tabLst>
                <a:tab pos="354965" algn="l"/>
              </a:tabLst>
            </a:pP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Vom Projektanfang (Startknoten) bis zum Projektende 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tabLst>
                <a:tab pos="354965" algn="l"/>
              </a:tabLst>
            </a:pP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	  (Zielknoten) muss ein ununterbrochener Ablauf gegeben sein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F056330-8AE6-CD28-6100-E13B912555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42</a:t>
            </a:fld>
            <a:endParaRPr lang="de-DE" spc="-50" dirty="0"/>
          </a:p>
        </p:txBody>
      </p:sp>
    </p:spTree>
    <p:extLst>
      <p:ext uri="{BB962C8B-B14F-4D97-AF65-F5344CB8AC3E}">
        <p14:creationId xmlns:p14="http://schemas.microsoft.com/office/powerpoint/2010/main" val="30002376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E0226-06FF-9903-2E41-DCA52F1E9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A6A1DEC-2696-02D8-0D91-EE5B95F8C4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>
                <a:latin typeface="Source Sans Pro"/>
                <a:cs typeface="Source Sans Pro"/>
              </a:rPr>
              <a:t>Phasen der </a:t>
            </a:r>
            <a:r>
              <a:rPr sz="4000" b="1" spc="-10" dirty="0" err="1">
                <a:latin typeface="Source Sans Pro"/>
                <a:cs typeface="Source Sans Pro"/>
              </a:rPr>
              <a:t>Netzplantechnik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9726341-E355-F400-FD25-029329E6313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0C3D08C-F8ED-F97D-0CAA-E54B819A9E6D}"/>
              </a:ext>
            </a:extLst>
          </p:cNvPr>
          <p:cNvSpPr txBox="1"/>
          <p:nvPr/>
        </p:nvSpPr>
        <p:spPr>
          <a:xfrm>
            <a:off x="440842" y="1447800"/>
            <a:ext cx="7560158" cy="3119444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  <a:tabLst>
                <a:tab pos="354965" algn="l"/>
              </a:tabLst>
            </a:pPr>
            <a:r>
              <a:rPr lang="de-DE" sz="2400" b="1" spc="-10" dirty="0">
                <a:solidFill>
                  <a:srgbClr val="0070B1"/>
                </a:solidFill>
                <a:latin typeface="Source Sans Pro"/>
                <a:cs typeface="Source Sans Pro"/>
              </a:rPr>
              <a:t>Strukturanalyse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tabLst>
                <a:tab pos="354965" algn="l"/>
              </a:tabLst>
            </a:pPr>
            <a:endParaRPr lang="de-DE" sz="2400" b="1" spc="-10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469900" indent="-457200">
              <a:lnSpc>
                <a:spcPct val="100000"/>
              </a:lnSpc>
              <a:spcBef>
                <a:spcPts val="805"/>
              </a:spcBef>
              <a:buFont typeface="+mj-lt"/>
              <a:buAutoNum type="arabicPeriod"/>
              <a:tabLst>
                <a:tab pos="354965" algn="l"/>
              </a:tabLst>
            </a:pP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Abhängigkeiten werden durch Pfeile dargestellt Pfeilrichtung: von links nach rechts und vorzugsweise von oben nach unten</a:t>
            </a:r>
          </a:p>
          <a:p>
            <a:pPr marL="469900" indent="-457200">
              <a:lnSpc>
                <a:spcPct val="100000"/>
              </a:lnSpc>
              <a:spcBef>
                <a:spcPts val="805"/>
              </a:spcBef>
              <a:buFont typeface="+mj-lt"/>
              <a:buAutoNum type="arabicPeriod"/>
              <a:tabLst>
                <a:tab pos="354965" algn="l"/>
              </a:tabLst>
            </a:pP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Ein Vorgang kann mehrere Vorgänger und/oder Nachfolger haben</a:t>
            </a:r>
          </a:p>
          <a:p>
            <a:pPr marL="469900" indent="-457200">
              <a:lnSpc>
                <a:spcPct val="100000"/>
              </a:lnSpc>
              <a:spcBef>
                <a:spcPts val="805"/>
              </a:spcBef>
              <a:buFont typeface="+mj-lt"/>
              <a:buAutoNum type="arabicPeriod"/>
              <a:tabLst>
                <a:tab pos="354965" algn="l"/>
              </a:tabLst>
            </a:pP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Ein Netzplan darf KEINE Schleifen enthalten </a:t>
            </a:r>
          </a:p>
          <a:p>
            <a:pPr marL="469900" indent="-457200">
              <a:lnSpc>
                <a:spcPct val="100000"/>
              </a:lnSpc>
              <a:spcBef>
                <a:spcPts val="805"/>
              </a:spcBef>
              <a:buFont typeface="+mj-lt"/>
              <a:buAutoNum type="arabicPeriod"/>
              <a:tabLst>
                <a:tab pos="354965" algn="l"/>
              </a:tabLst>
            </a:pP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Vom Projektanfang (Startknoten) bis zum Projektende 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tabLst>
                <a:tab pos="354965" algn="l"/>
              </a:tabLst>
            </a:pPr>
            <a:r>
              <a:rPr lang="de-DE" spc="-10" dirty="0">
                <a:solidFill>
                  <a:srgbClr val="0070B1"/>
                </a:solidFill>
                <a:latin typeface="Source Sans Pro"/>
                <a:cs typeface="Source Sans Pro"/>
              </a:rPr>
              <a:t>	  (Zielknoten) muss ein ununterbrochener Ablauf gegeben sein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F056330-8AE6-CD28-6100-E13B912555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4330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43</a:t>
            </a:fld>
            <a:endParaRPr lang="de-DE" spc="-50" dirty="0"/>
          </a:p>
        </p:txBody>
      </p:sp>
    </p:spTree>
    <p:extLst>
      <p:ext uri="{BB962C8B-B14F-4D97-AF65-F5344CB8AC3E}">
        <p14:creationId xmlns:p14="http://schemas.microsoft.com/office/powerpoint/2010/main" val="38911550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2EBB8-7CD2-1019-BFE6-983696B80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45CF31D-546B-F5AA-BC7A-936ADE77F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>
                <a:latin typeface="Source Sans Pro"/>
                <a:cs typeface="Source Sans Pro"/>
              </a:rPr>
              <a:t>Phasen der </a:t>
            </a:r>
            <a:r>
              <a:rPr sz="4000" b="1" spc="-10" dirty="0" err="1">
                <a:latin typeface="Source Sans Pro"/>
                <a:cs typeface="Source Sans Pro"/>
              </a:rPr>
              <a:t>Netzplantechnik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1BBE7E0-A70D-823C-F3DD-00B97880546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D95E2EC-86D1-408E-0610-B28DBB3102C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44</a:t>
            </a:fld>
            <a:endParaRPr lang="de-DE" spc="-5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8CC38A-404B-684B-BFCF-ECE79E4A85C3}"/>
              </a:ext>
            </a:extLst>
          </p:cNvPr>
          <p:cNvSpPr txBox="1">
            <a:spLocks/>
          </p:cNvSpPr>
          <p:nvPr/>
        </p:nvSpPr>
        <p:spPr>
          <a:xfrm>
            <a:off x="402254" y="1628507"/>
            <a:ext cx="10601394" cy="36009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/>
              <a:t>Vorwärtsrechnung</a:t>
            </a:r>
          </a:p>
          <a:p>
            <a:endParaRPr lang="de-DE" u="sng" dirty="0"/>
          </a:p>
          <a:p>
            <a:pPr marL="457200" indent="-457200">
              <a:buAutoNum type="arabicPeriod" startAt="5"/>
            </a:pPr>
            <a:r>
              <a:rPr lang="de-DE" sz="1800" dirty="0"/>
              <a:t>Der Startvorgang beginnt mit einem FAZ von 0.</a:t>
            </a:r>
          </a:p>
          <a:p>
            <a:endParaRPr lang="de-DE" sz="1800" dirty="0"/>
          </a:p>
          <a:p>
            <a:pPr marL="457200" indent="-457200">
              <a:buAutoNum type="arabicPeriod" startAt="6"/>
            </a:pPr>
            <a:r>
              <a:rPr lang="de-DE" sz="1800" dirty="0"/>
              <a:t>FEZ = FAZ + Dauer</a:t>
            </a:r>
          </a:p>
          <a:p>
            <a:endParaRPr lang="de-DE" sz="1800" dirty="0"/>
          </a:p>
          <a:p>
            <a:pPr marL="457200" indent="-457200">
              <a:buAutoNum type="arabicPeriod" startAt="7"/>
            </a:pPr>
            <a:r>
              <a:rPr lang="de-DE" sz="1800" dirty="0"/>
              <a:t>FEZ eines Vorgangs ist FAZ </a:t>
            </a:r>
            <a:r>
              <a:rPr lang="de-DE" sz="1800" b="1" dirty="0"/>
              <a:t>ALLER</a:t>
            </a:r>
            <a:r>
              <a:rPr lang="de-DE" sz="1800" dirty="0"/>
              <a:t> unmittelbarer nachfolgenden Vorgänge</a:t>
            </a:r>
          </a:p>
          <a:p>
            <a:endParaRPr lang="de-DE" sz="1800" dirty="0"/>
          </a:p>
          <a:p>
            <a:r>
              <a:rPr lang="de-DE" sz="1800" dirty="0"/>
              <a:t>8.     Münden mehrere Vorgänge in einem Knoten, ist dessen FAZ der </a:t>
            </a:r>
          </a:p>
          <a:p>
            <a:r>
              <a:rPr lang="de-DE" sz="1800" dirty="0"/>
              <a:t>         größte FEZ </a:t>
            </a:r>
            <a:r>
              <a:rPr lang="de-DE" sz="1800" b="1" dirty="0"/>
              <a:t>ALLER</a:t>
            </a:r>
            <a:r>
              <a:rPr lang="de-DE" sz="1800" dirty="0"/>
              <a:t> Vorgänger</a:t>
            </a:r>
          </a:p>
          <a:p>
            <a:endParaRPr lang="de-DE" dirty="0"/>
          </a:p>
          <a:p>
            <a:pPr lvl="1"/>
            <a:r>
              <a:rPr lang="de-DE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161087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262E8-BCB1-335E-7161-7175446ED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4BBF705-6FD9-43C8-E8C0-5BB94D078B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>
                <a:latin typeface="Source Sans Pro"/>
                <a:cs typeface="Source Sans Pro"/>
              </a:rPr>
              <a:t>Phasen der </a:t>
            </a:r>
            <a:r>
              <a:rPr sz="4000" b="1" spc="-10" dirty="0" err="1">
                <a:latin typeface="Source Sans Pro"/>
                <a:cs typeface="Source Sans Pro"/>
              </a:rPr>
              <a:t>Netzplantechnik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67E6143-E218-FF74-BB15-66042EE443A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FE5CBE3-A3E3-6663-3651-9D042341E03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4330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45</a:t>
            </a:fld>
            <a:endParaRPr lang="de-DE" spc="-50" dirty="0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CE983066-BD7F-2E0F-9DC9-97F7DEE13B67}"/>
              </a:ext>
            </a:extLst>
          </p:cNvPr>
          <p:cNvSpPr txBox="1">
            <a:spLocks/>
          </p:cNvSpPr>
          <p:nvPr/>
        </p:nvSpPr>
        <p:spPr>
          <a:xfrm>
            <a:off x="432908" y="1687990"/>
            <a:ext cx="7986464" cy="4154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/>
              <a:t>Rückwärtsrechnung</a:t>
            </a:r>
          </a:p>
          <a:p>
            <a:endParaRPr lang="de-DE" u="sng" dirty="0"/>
          </a:p>
          <a:p>
            <a:pPr marL="457200" indent="-457200">
              <a:buAutoNum type="arabicPeriod" startAt="9"/>
            </a:pPr>
            <a:r>
              <a:rPr lang="de-DE" sz="1800" dirty="0"/>
              <a:t>FEZ des Zielknotens ist SEZ des Projekts</a:t>
            </a:r>
          </a:p>
          <a:p>
            <a:endParaRPr lang="de-DE" sz="1800" dirty="0"/>
          </a:p>
          <a:p>
            <a:pPr marL="457200" indent="-457200">
              <a:buAutoNum type="arabicPeriod" startAt="10"/>
            </a:pPr>
            <a:r>
              <a:rPr lang="de-DE" sz="1800" dirty="0"/>
              <a:t>SAZ = SEZ – Dauer</a:t>
            </a:r>
          </a:p>
          <a:p>
            <a:endParaRPr lang="de-DE" sz="1800" dirty="0"/>
          </a:p>
          <a:p>
            <a:pPr marL="457200" indent="-457200">
              <a:buAutoNum type="arabicPeriod" startAt="11"/>
            </a:pPr>
            <a:r>
              <a:rPr lang="de-DE" sz="1800" dirty="0"/>
              <a:t>SAZ eines Vorgangs ist SEZ </a:t>
            </a:r>
            <a:r>
              <a:rPr lang="de-DE" sz="1800" b="1" dirty="0"/>
              <a:t>ALLER</a:t>
            </a:r>
            <a:r>
              <a:rPr lang="de-DE" sz="1800" dirty="0"/>
              <a:t> unmittelbar vorausgehenden Vorgänge</a:t>
            </a:r>
          </a:p>
          <a:p>
            <a:pPr marL="457200" indent="-457200">
              <a:buAutoNum type="arabicPeriod" startAt="11"/>
            </a:pPr>
            <a:endParaRPr lang="de-DE" sz="1800" dirty="0"/>
          </a:p>
          <a:p>
            <a:pPr marL="457200" indent="-457200">
              <a:buAutoNum type="arabicPeriod" startAt="11"/>
            </a:pPr>
            <a:r>
              <a:rPr lang="de-DE" sz="1800" dirty="0"/>
              <a:t>Haben mehrere Vorgänge einen gemeinsamen Vorgänger, so ist </a:t>
            </a:r>
          </a:p>
          <a:p>
            <a:r>
              <a:rPr lang="de-DE" sz="1800" dirty="0"/>
              <a:t>          dessen SEZ der früheste (kleinste) SAZ aller Nachfolger</a:t>
            </a:r>
          </a:p>
          <a:p>
            <a:endParaRPr lang="de-DE" sz="1800" dirty="0"/>
          </a:p>
          <a:p>
            <a:r>
              <a:rPr lang="de-DE" sz="1800" b="1" dirty="0">
                <a:solidFill>
                  <a:srgbClr val="0070C0"/>
                </a:solidFill>
              </a:rPr>
              <a:t>ZUR KONTROLLE: Der SAZ des Startknotens muss den Wert 0 aufweisen</a:t>
            </a:r>
          </a:p>
          <a:p>
            <a:endParaRPr lang="de-DE" dirty="0">
              <a:solidFill>
                <a:srgbClr val="0070C0"/>
              </a:solidFill>
            </a:endParaRP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592646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E296C-B12D-6B67-CDEF-746827565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594123F-2BBE-1218-39AC-C0600EE819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>
                <a:latin typeface="Source Sans Pro"/>
                <a:cs typeface="Source Sans Pro"/>
              </a:rPr>
              <a:t>Phasen der </a:t>
            </a:r>
            <a:r>
              <a:rPr sz="4000" b="1" spc="-10" dirty="0" err="1">
                <a:latin typeface="Source Sans Pro"/>
                <a:cs typeface="Source Sans Pro"/>
              </a:rPr>
              <a:t>Netzplantechnik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BCFAF51-7964-F85A-3564-D57D85C2472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E14F60D-9264-965C-5BD4-FCACD695FE3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46</a:t>
            </a:fld>
            <a:endParaRPr lang="de-DE" spc="-5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0859DE-39B5-F01A-0A08-9547A114EB2C}"/>
              </a:ext>
            </a:extLst>
          </p:cNvPr>
          <p:cNvSpPr txBox="1">
            <a:spLocks/>
          </p:cNvSpPr>
          <p:nvPr/>
        </p:nvSpPr>
        <p:spPr>
          <a:xfrm>
            <a:off x="453927" y="1905000"/>
            <a:ext cx="8740080" cy="42780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/>
              <a:t>Zeitreserven und kritischer Pfad</a:t>
            </a:r>
          </a:p>
          <a:p>
            <a:endParaRPr lang="de-DE" sz="1800" u="sng" dirty="0"/>
          </a:p>
          <a:p>
            <a:pPr marL="457200" indent="-457200">
              <a:buAutoNum type="arabicPeriod" startAt="13"/>
            </a:pPr>
            <a:r>
              <a:rPr lang="de-DE" sz="1800" dirty="0"/>
              <a:t>GP (Gesamtpuffer) = SAZ - FAZ oder GP = SEZ – FEZ</a:t>
            </a:r>
          </a:p>
          <a:p>
            <a:endParaRPr lang="de-DE" sz="1800" dirty="0"/>
          </a:p>
          <a:p>
            <a:pPr marL="457200" indent="-457200">
              <a:buAutoNum type="arabicPeriod" startAt="14"/>
            </a:pPr>
            <a:r>
              <a:rPr lang="de-DE" sz="1800" dirty="0"/>
              <a:t>FP(des Vorgangs A) = FAZ (des Nachfolgers B) - FEZ (des Vorgangs A)</a:t>
            </a:r>
          </a:p>
          <a:p>
            <a:pPr marL="457200" indent="-457200">
              <a:buAutoNum type="arabicPeriod" startAt="14"/>
            </a:pPr>
            <a:endParaRPr lang="de-DE" sz="1800" dirty="0"/>
          </a:p>
          <a:p>
            <a:pPr marL="457200" indent="-457200">
              <a:buAutoNum type="arabicPeriod" startAt="14"/>
            </a:pPr>
            <a:r>
              <a:rPr lang="de-DE" sz="1800" dirty="0"/>
              <a:t>Vorgänge ohne Zeitreserven sind kritische Vorgänge (kritischer Pfad)</a:t>
            </a:r>
          </a:p>
          <a:p>
            <a:pPr marL="457200" indent="-457200">
              <a:buAutoNum type="arabicPeriod" startAt="14"/>
            </a:pPr>
            <a:endParaRPr lang="de-DE" sz="1800" dirty="0"/>
          </a:p>
          <a:p>
            <a:pPr marL="457200" indent="-457200">
              <a:buAutoNum type="arabicPeriod" startAt="14"/>
            </a:pPr>
            <a:r>
              <a:rPr lang="de-DE" sz="1800" dirty="0"/>
              <a:t>Der kritische Weg (Pfad) ist die Kette aller kritischen Vorgänge</a:t>
            </a:r>
          </a:p>
          <a:p>
            <a:endParaRPr lang="de-DE" u="sng" dirty="0"/>
          </a:p>
          <a:p>
            <a:endParaRPr lang="de-DE" u="sng" dirty="0"/>
          </a:p>
          <a:p>
            <a:endParaRPr lang="de-DE" sz="2000" dirty="0"/>
          </a:p>
          <a:p>
            <a:endParaRPr lang="de-DE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213171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Source Sans Pro"/>
                <a:cs typeface="Source Sans Pro"/>
              </a:rPr>
              <a:t>Gesamt-</a:t>
            </a:r>
            <a:r>
              <a:rPr sz="4000" b="1" spc="-85" dirty="0">
                <a:latin typeface="Source Sans Pro"/>
                <a:cs typeface="Source Sans Pro"/>
              </a:rPr>
              <a:t> </a:t>
            </a:r>
            <a:r>
              <a:rPr sz="4000" b="1" dirty="0">
                <a:latin typeface="Source Sans Pro"/>
                <a:cs typeface="Source Sans Pro"/>
              </a:rPr>
              <a:t>und</a:t>
            </a:r>
            <a:r>
              <a:rPr sz="4000" b="1" spc="-110" dirty="0">
                <a:latin typeface="Source Sans Pro"/>
                <a:cs typeface="Source Sans Pro"/>
              </a:rPr>
              <a:t> </a:t>
            </a:r>
            <a:r>
              <a:rPr sz="4000" b="1" dirty="0">
                <a:latin typeface="Source Sans Pro"/>
                <a:cs typeface="Source Sans Pro"/>
              </a:rPr>
              <a:t>Freier</a:t>
            </a:r>
            <a:r>
              <a:rPr sz="4000" b="1" spc="-110" dirty="0">
                <a:latin typeface="Source Sans Pro"/>
                <a:cs typeface="Source Sans Pro"/>
              </a:rPr>
              <a:t> </a:t>
            </a:r>
            <a:r>
              <a:rPr sz="4000" b="1" spc="-10" dirty="0">
                <a:latin typeface="Source Sans Pro"/>
                <a:cs typeface="Source Sans Pro"/>
              </a:rPr>
              <a:t>Puffer</a:t>
            </a:r>
            <a:endParaRPr sz="4000">
              <a:latin typeface="Source Sans Pro"/>
              <a:cs typeface="Source Sans Pro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40" name="Foliennummernplatzhalter 39">
            <a:extLst>
              <a:ext uri="{FF2B5EF4-FFF2-40B4-BE49-F238E27FC236}">
                <a16:creationId xmlns:a16="http://schemas.microsoft.com/office/drawing/2014/main" id="{9DAAC2A9-FFDA-7A55-9E44-7FFC4054438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47</a:t>
            </a:fld>
            <a:endParaRPr lang="de-DE" spc="-50" dirty="0"/>
          </a:p>
        </p:txBody>
      </p:sp>
      <p:sp>
        <p:nvSpPr>
          <p:cNvPr id="39" name="Untertitel 2">
            <a:extLst>
              <a:ext uri="{FF2B5EF4-FFF2-40B4-BE49-F238E27FC236}">
                <a16:creationId xmlns:a16="http://schemas.microsoft.com/office/drawing/2014/main" id="{7C0014D9-F60C-FA14-03CE-8C7E4FABF80D}"/>
              </a:ext>
            </a:extLst>
          </p:cNvPr>
          <p:cNvSpPr txBox="1">
            <a:spLocks/>
          </p:cNvSpPr>
          <p:nvPr/>
        </p:nvSpPr>
        <p:spPr>
          <a:xfrm>
            <a:off x="457200" y="1264198"/>
            <a:ext cx="9144000" cy="44196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algn="l">
              <a:spcBef>
                <a:spcPts val="735"/>
              </a:spcBef>
              <a:tabLst>
                <a:tab pos="240665" algn="l"/>
              </a:tabLst>
            </a:pPr>
            <a:r>
              <a:rPr lang="de-DE" sz="1800" b="1" spc="-20" dirty="0"/>
              <a:t>Gesamtpuffer</a:t>
            </a:r>
          </a:p>
          <a:p>
            <a:pPr marL="12700" algn="l">
              <a:spcBef>
                <a:spcPts val="735"/>
              </a:spcBef>
              <a:tabLst>
                <a:tab pos="240665" algn="l"/>
              </a:tabLst>
            </a:pPr>
            <a:r>
              <a:rPr lang="de-DE" sz="1800" spc="-20" dirty="0"/>
              <a:t>Zeitraum, um den eine Aktivität maximal verschoben werden kann, </a:t>
            </a:r>
          </a:p>
          <a:p>
            <a:pPr marL="12700" algn="l">
              <a:spcBef>
                <a:spcPts val="735"/>
              </a:spcBef>
              <a:tabLst>
                <a:tab pos="240665" algn="l"/>
              </a:tabLst>
            </a:pPr>
            <a:r>
              <a:rPr lang="de-DE" sz="1800" spc="-20" dirty="0"/>
              <a:t>ohne die spätesten Termine seiner Nachfolger zu verschieben</a:t>
            </a:r>
          </a:p>
          <a:p>
            <a:pPr marL="12700" algn="l">
              <a:spcBef>
                <a:spcPts val="735"/>
              </a:spcBef>
              <a:tabLst>
                <a:tab pos="240665" algn="l"/>
              </a:tabLst>
            </a:pPr>
            <a:endParaRPr lang="de-DE" sz="1800" spc="-20" dirty="0"/>
          </a:p>
          <a:p>
            <a:pPr marL="12700" algn="l">
              <a:spcBef>
                <a:spcPts val="735"/>
              </a:spcBef>
              <a:tabLst>
                <a:tab pos="240665" algn="l"/>
              </a:tabLst>
            </a:pPr>
            <a:endParaRPr lang="de-DE" sz="1800" spc="-20" dirty="0"/>
          </a:p>
          <a:p>
            <a:pPr marL="12700" algn="l">
              <a:spcBef>
                <a:spcPts val="735"/>
              </a:spcBef>
              <a:tabLst>
                <a:tab pos="240665" algn="l"/>
              </a:tabLst>
            </a:pPr>
            <a:r>
              <a:rPr lang="de-DE" sz="1800" b="1" spc="-20" dirty="0"/>
              <a:t>Freier Puffer</a:t>
            </a:r>
          </a:p>
          <a:p>
            <a:pPr marL="12700" algn="l">
              <a:spcBef>
                <a:spcPts val="735"/>
              </a:spcBef>
              <a:tabLst>
                <a:tab pos="240665" algn="l"/>
              </a:tabLst>
            </a:pPr>
            <a:r>
              <a:rPr lang="de-DE" sz="1800" spc="-20" dirty="0"/>
              <a:t>Zeitraum, um den eine Aktivität maximal verschoben werden kann, </a:t>
            </a:r>
          </a:p>
          <a:p>
            <a:pPr marL="12700" algn="l">
              <a:spcBef>
                <a:spcPts val="735"/>
              </a:spcBef>
              <a:tabLst>
                <a:tab pos="240665" algn="l"/>
              </a:tabLst>
            </a:pPr>
            <a:r>
              <a:rPr lang="de-DE" sz="1800" spc="-20" dirty="0"/>
              <a:t>ohne die frühesten Termine seiner Nachfolger zu verschieben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30F72-B726-5625-D348-77E96793C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9342B9B-D1F8-9844-4196-45145C9AA6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dirty="0">
                <a:latin typeface="Source Sans Pro"/>
                <a:cs typeface="Source Sans Pro"/>
              </a:rPr>
              <a:t>Netzplan – unterschiedliche Darstellungen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D3B5C6E0-C92D-C7B5-7B4A-EC25D332306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40" name="Foliennummernplatzhalter 39">
            <a:extLst>
              <a:ext uri="{FF2B5EF4-FFF2-40B4-BE49-F238E27FC236}">
                <a16:creationId xmlns:a16="http://schemas.microsoft.com/office/drawing/2014/main" id="{37DC6B35-2914-014E-3BC7-20FA0978E5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48</a:t>
            </a:fld>
            <a:endParaRPr lang="de-DE" spc="-50" dirty="0"/>
          </a:p>
        </p:txBody>
      </p:sp>
      <p:pic>
        <p:nvPicPr>
          <p:cNvPr id="4" name="Grafik 3" descr="Ein Bild, das Text, Reihe, Diagramm, Screenshot enthält.&#10;&#10;Automatisch generierte Beschreibung">
            <a:extLst>
              <a:ext uri="{FF2B5EF4-FFF2-40B4-BE49-F238E27FC236}">
                <a16:creationId xmlns:a16="http://schemas.microsoft.com/office/drawing/2014/main" id="{147C546C-78BB-395D-30DD-2501FB347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139704"/>
            <a:ext cx="9067800" cy="2474965"/>
          </a:xfrm>
          <a:prstGeom prst="rect">
            <a:avLst/>
          </a:prstGeom>
        </p:spPr>
      </p:pic>
      <p:pic>
        <p:nvPicPr>
          <p:cNvPr id="9" name="Grafik 8" descr="Ein Bild, das Text, Reihe, Screenshot, Zahl enthält.&#10;&#10;Automatisch generierte Beschreibung">
            <a:extLst>
              <a:ext uri="{FF2B5EF4-FFF2-40B4-BE49-F238E27FC236}">
                <a16:creationId xmlns:a16="http://schemas.microsoft.com/office/drawing/2014/main" id="{A76471DC-A018-3DFE-3AA2-741DF6D8F3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50" y="3741947"/>
            <a:ext cx="9048750" cy="196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4142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842" y="253844"/>
            <a:ext cx="4246245" cy="859210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4000" b="1" spc="-10" dirty="0" err="1">
                <a:latin typeface="Source Sans Pro"/>
                <a:cs typeface="Source Sans Pro"/>
              </a:rPr>
              <a:t>Nutzwertanalyse</a:t>
            </a:r>
            <a:endParaRPr sz="4000" b="1" spc="-10" dirty="0">
              <a:latin typeface="Source Sans Pro"/>
              <a:cs typeface="Source Sans Pr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2C95B4F2-9DC3-3297-16F0-D483E721445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49</a:t>
            </a:fld>
            <a:endParaRPr lang="de-DE" spc="-50"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F6BD1FFE-EACA-58C0-8612-D915A6B9521C}"/>
              </a:ext>
            </a:extLst>
          </p:cNvPr>
          <p:cNvSpPr txBox="1"/>
          <p:nvPr/>
        </p:nvSpPr>
        <p:spPr>
          <a:xfrm>
            <a:off x="440842" y="1251414"/>
            <a:ext cx="8703158" cy="1951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0"/>
              </a:spcBef>
            </a:pPr>
            <a:endParaRPr lang="de-DE" dirty="0">
              <a:latin typeface="Source Sans Pro"/>
              <a:cs typeface="Source Sans Pro"/>
            </a:endParaRP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Dient zur Entscheidungsfindung</a:t>
            </a: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Hilft bei Vergleichen innerhalb von Projekten</a:t>
            </a: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Umfasst mehr als eine reine Wirtschaftlichkeitsanalyse, da sie auch nicht monetäre Bewertungsfaktoren beinhalten kann</a:t>
            </a:r>
            <a:endParaRPr lang="de-DE" spc="-10" dirty="0">
              <a:solidFill>
                <a:srgbClr val="0070B1"/>
              </a:solidFill>
              <a:latin typeface="Source Sans Pro"/>
              <a:cs typeface="Source Sans Pr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2DA6F-E24A-A708-2062-BA1203BE7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5C953AD-2834-4F39-48DD-90CBDD66BE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0842" y="253844"/>
            <a:ext cx="4246245" cy="859210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4000" b="1" spc="-10" dirty="0" err="1">
                <a:latin typeface="Source Sans Pro"/>
                <a:cs typeface="Source Sans Pro"/>
              </a:rPr>
              <a:t>Nutzwertanalyse</a:t>
            </a:r>
            <a:endParaRPr sz="4000" b="1" spc="-10" dirty="0">
              <a:latin typeface="Source Sans Pro"/>
              <a:cs typeface="Source Sans Pro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A8CC0B9-10BD-20EB-58D3-D03371661ED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FEC181E-6EE4-D7A9-1246-CF47289B631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50</a:t>
            </a:fld>
            <a:endParaRPr lang="de-DE" spc="-50"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9EF02EB0-1C0B-A175-A0A0-D38BE6F9617B}"/>
              </a:ext>
            </a:extLst>
          </p:cNvPr>
          <p:cNvSpPr txBox="1"/>
          <p:nvPr/>
        </p:nvSpPr>
        <p:spPr>
          <a:xfrm>
            <a:off x="440842" y="1600200"/>
            <a:ext cx="8703158" cy="30899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de-DE" sz="2000" b="1" dirty="0">
                <a:solidFill>
                  <a:srgbClr val="0070B1"/>
                </a:solidFill>
                <a:latin typeface="Source Sans Pro"/>
                <a:cs typeface="Source Sans Pro"/>
              </a:rPr>
              <a:t>Wird in 5 Schritten durchgeführt</a:t>
            </a:r>
          </a:p>
          <a:p>
            <a:pPr marL="12700">
              <a:lnSpc>
                <a:spcPct val="100000"/>
              </a:lnSpc>
            </a:pPr>
            <a:endParaRPr lang="de-DE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Ziele bestimmen und gewichten</a:t>
            </a: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Die Projekte hinsichtlich ihrer Ausrichtung auf diese Ziele mit Punkten bewerten</a:t>
            </a: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Die Punktwertungen mit den Gewichtungsfaktoren multiplizieren</a:t>
            </a: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Gewichtete Punktgesamtsumme ermitteln</a:t>
            </a: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0070B1"/>
              </a:solidFill>
              <a:latin typeface="Source Sans Pro"/>
              <a:cs typeface="Source Sans Pro"/>
            </a:endParaRP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B1"/>
                </a:solidFill>
                <a:latin typeface="Source Sans Pro"/>
                <a:cs typeface="Source Sans Pro"/>
              </a:rPr>
              <a:t>Sensitivität des Ergebnisses analysieren</a:t>
            </a:r>
            <a:endParaRPr lang="de-DE" spc="-10" dirty="0">
              <a:solidFill>
                <a:srgbClr val="0070B1"/>
              </a:solidFill>
              <a:latin typeface="Source Sans Pro"/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458880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 err="1">
                <a:latin typeface="Source Sans Pro"/>
                <a:cs typeface="Source Sans Pro"/>
              </a:rPr>
              <a:t>Projektd</a:t>
            </a:r>
            <a:r>
              <a:rPr sz="4000" b="1" spc="-10" dirty="0" err="1">
                <a:latin typeface="Source Sans Pro"/>
                <a:cs typeface="Source Sans Pro"/>
              </a:rPr>
              <a:t>okumentation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F123B89-4D62-5988-A7B7-D42C8EA3BD6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51</a:t>
            </a:fld>
            <a:endParaRPr lang="de-DE" spc="-50" dirty="0"/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EABF7BA3-A9DA-C6B0-E4F7-FAA9D3D93B4C}"/>
              </a:ext>
            </a:extLst>
          </p:cNvPr>
          <p:cNvSpPr txBox="1">
            <a:spLocks/>
          </p:cNvSpPr>
          <p:nvPr/>
        </p:nvSpPr>
        <p:spPr>
          <a:xfrm>
            <a:off x="457200" y="1264198"/>
            <a:ext cx="9144000" cy="44196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55600" indent="-34290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spc="-2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spc="-20" dirty="0"/>
              <a:t>Übernimmt eine wichtige Informationsfunktion für alle Projektbeteiligten in allen Phasen des Projekts</a:t>
            </a: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spc="-2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spc="-20" dirty="0"/>
              <a:t>Projektleiter muss ein „Projektinformationssystem“ einrichten, d.h. ein System, das gewährleistet, dass die Dokumente den Weg zu Ihren Adressaten finden</a:t>
            </a: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spc="-2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spc="-20" dirty="0"/>
              <a:t>Es werden zwei Arten von Dokumentationen unterschieden:</a:t>
            </a:r>
          </a:p>
          <a:p>
            <a:pPr marL="755650" lvl="1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pc="-20" dirty="0">
                <a:solidFill>
                  <a:srgbClr val="0070C0"/>
                </a:solidFill>
              </a:rPr>
              <a:t>Dokumentation des Projektverlaufs (Prozessdokumentation)</a:t>
            </a:r>
          </a:p>
          <a:p>
            <a:pPr marL="755650" lvl="1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pc="-20" dirty="0">
                <a:solidFill>
                  <a:srgbClr val="0070C0"/>
                </a:solidFill>
              </a:rPr>
              <a:t>Dokumentation des Projektergebnisses (Produktdokumentation)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48236-89D3-ED4D-1A8E-258C937EC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2B70CB0-CA63-46C5-3D2D-966A688B9D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 err="1">
                <a:latin typeface="Source Sans Pro"/>
                <a:cs typeface="Source Sans Pro"/>
              </a:rPr>
              <a:t>Prozessdo</a:t>
            </a:r>
            <a:r>
              <a:rPr sz="4000" b="1" spc="-10" dirty="0" err="1">
                <a:latin typeface="Source Sans Pro"/>
                <a:cs typeface="Source Sans Pro"/>
              </a:rPr>
              <a:t>kumentation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4B2CE1B-E91E-C81F-8FD6-EE9D8ACBAD3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0B7157D-B398-0D53-6783-C9921D11C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52</a:t>
            </a:fld>
            <a:endParaRPr lang="de-DE" spc="-50" dirty="0"/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58A0E349-F5EB-0CAC-5161-9218A21C72D3}"/>
              </a:ext>
            </a:extLst>
          </p:cNvPr>
          <p:cNvSpPr txBox="1">
            <a:spLocks/>
          </p:cNvSpPr>
          <p:nvPr/>
        </p:nvSpPr>
        <p:spPr>
          <a:xfrm>
            <a:off x="457200" y="1264198"/>
            <a:ext cx="9144000" cy="44196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55600" indent="-34290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spc="-2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Besprechungsprotokolle von Team- und Gruppenbesprechungen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Statusberichte als Berichte der Projektleitung mit Angaben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C0"/>
                </a:solidFill>
              </a:rPr>
              <a:t>zur Projektentwicklung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C0"/>
                </a:solidFill>
              </a:rPr>
              <a:t>zum Stand der Ergebnisse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C0"/>
                </a:solidFill>
              </a:rPr>
              <a:t>zu Soll-Ist-Vergleichen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C0"/>
                </a:solidFill>
              </a:rPr>
              <a:t>sowie zu Problemen und den dazu geplanten Problemlösungen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Sonderberichte bei größeren unvorhersehbaren Problemen und Risiken.</a:t>
            </a:r>
          </a:p>
          <a:p>
            <a:r>
              <a:rPr lang="de-DE" sz="18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Die Projektleitung beachtet diese besonders, um eine mögliche Gefährdung des gesamten Projektverlaufs zu vermeiden</a:t>
            </a:r>
          </a:p>
        </p:txBody>
      </p:sp>
    </p:spTree>
    <p:extLst>
      <p:ext uri="{BB962C8B-B14F-4D97-AF65-F5344CB8AC3E}">
        <p14:creationId xmlns:p14="http://schemas.microsoft.com/office/powerpoint/2010/main" val="328417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B4722-299E-3CB7-23BF-79F5855B4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5B06730-5D01-804E-7102-AAD141D5A2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 err="1">
                <a:latin typeface="Source Sans Pro"/>
                <a:cs typeface="Source Sans Pro"/>
              </a:rPr>
              <a:t>Produktdo</a:t>
            </a:r>
            <a:r>
              <a:rPr sz="4000" b="1" spc="-10" dirty="0" err="1">
                <a:latin typeface="Source Sans Pro"/>
                <a:cs typeface="Source Sans Pro"/>
              </a:rPr>
              <a:t>kumentation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1803445-273E-6FB6-99FF-C02CE0AF2C0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5A448C67-2BF8-DA58-D762-8E711558D1F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53</a:t>
            </a:fld>
            <a:endParaRPr lang="de-DE" spc="-50" dirty="0"/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9EF95D31-E033-89C0-5ADC-03DCE7D267AF}"/>
              </a:ext>
            </a:extLst>
          </p:cNvPr>
          <p:cNvSpPr txBox="1">
            <a:spLocks/>
          </p:cNvSpPr>
          <p:nvPr/>
        </p:nvSpPr>
        <p:spPr>
          <a:xfrm>
            <a:off x="457200" y="1264198"/>
            <a:ext cx="9144000" cy="44196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55600" indent="-34290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spc="-2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800" dirty="0"/>
              <a:t>Die Entstehung und Struktur des Projektergebnisses wird für Dritte dokumentiert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800" dirty="0"/>
              <a:t>So ist der innere Aufbau eines Produktes auch später noch nachvollziehbar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800" dirty="0"/>
              <a:t>Typische Beispiele für Produktdokumentation sind: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C0"/>
                </a:solidFill>
              </a:rPr>
              <a:t>Technische Zeichnungen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C0"/>
                </a:solidFill>
              </a:rPr>
              <a:t>Grundrisse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C0"/>
                </a:solidFill>
              </a:rPr>
              <a:t>Schaltpläne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C0"/>
                </a:solidFill>
              </a:rPr>
              <a:t>Konzepte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C0"/>
                </a:solidFill>
              </a:rPr>
              <a:t>Bedienungsanleitungen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C0"/>
                </a:solidFill>
              </a:rPr>
              <a:t>Dokumentation einer Ausstellung</a:t>
            </a:r>
          </a:p>
        </p:txBody>
      </p:sp>
    </p:spTree>
    <p:extLst>
      <p:ext uri="{BB962C8B-B14F-4D97-AF65-F5344CB8AC3E}">
        <p14:creationId xmlns:p14="http://schemas.microsoft.com/office/powerpoint/2010/main" val="1012122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7C61D-FCCF-C4E8-4E6B-F0C86DE2D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BE00B0F-1824-5ADC-EA48-C62B6AACDF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>
                <a:latin typeface="Source Sans Pro"/>
                <a:cs typeface="Source Sans Pro"/>
              </a:rPr>
              <a:t>Übersicht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CAC71E8-DE19-FBB7-7E5C-53EE1DBA9CD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1A576B76-AF76-32DF-6884-FE274A0F47B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54</a:t>
            </a:fld>
            <a:endParaRPr lang="de-DE" spc="-50" dirty="0"/>
          </a:p>
        </p:txBody>
      </p:sp>
      <p:graphicFrame>
        <p:nvGraphicFramePr>
          <p:cNvPr id="7" name="Inhaltsplatzhalter 4">
            <a:extLst>
              <a:ext uri="{FF2B5EF4-FFF2-40B4-BE49-F238E27FC236}">
                <a16:creationId xmlns:a16="http://schemas.microsoft.com/office/drawing/2014/main" id="{821AFA0D-206D-F1E5-12F8-AE744C498A00}"/>
              </a:ext>
            </a:extLst>
          </p:cNvPr>
          <p:cNvGraphicFramePr>
            <a:graphicFrameLocks/>
          </p:cNvGraphicFramePr>
          <p:nvPr/>
        </p:nvGraphicFramePr>
        <p:xfrm>
          <a:off x="1219200" y="1292942"/>
          <a:ext cx="8839200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9600">
                  <a:extLst>
                    <a:ext uri="{9D8B030D-6E8A-4147-A177-3AD203B41FA5}">
                      <a16:colId xmlns:a16="http://schemas.microsoft.com/office/drawing/2014/main" val="2351008407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3717624543"/>
                    </a:ext>
                  </a:extLst>
                </a:gridCol>
              </a:tblGrid>
              <a:tr h="397818">
                <a:tc>
                  <a:txBody>
                    <a:bodyPr/>
                    <a:lstStyle/>
                    <a:p>
                      <a:r>
                        <a:rPr lang="de-DE" dirty="0"/>
                        <a:t>Phase / Produkt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Dokument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039084"/>
                  </a:ext>
                </a:extLst>
              </a:tr>
              <a:tr h="882830">
                <a:tc>
                  <a:txBody>
                    <a:bodyPr/>
                    <a:lstStyle/>
                    <a:p>
                      <a:r>
                        <a:rPr lang="de-DE" dirty="0"/>
                        <a:t>Definitionsphase</a:t>
                      </a: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200" dirty="0"/>
                        <a:t>Problembeschreibung und Analyse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200" dirty="0"/>
                        <a:t>Projektantrag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200" dirty="0"/>
                        <a:t>Vorstudie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200" dirty="0"/>
                        <a:t>Projektauftrag (mit Lasten und Pflichtenheft)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912325"/>
                  </a:ext>
                </a:extLst>
              </a:tr>
              <a:tr h="1079015">
                <a:tc>
                  <a:txBody>
                    <a:bodyPr/>
                    <a:lstStyle/>
                    <a:p>
                      <a:r>
                        <a:rPr lang="de-DE" dirty="0"/>
                        <a:t>Planungsphase</a:t>
                      </a: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200" dirty="0"/>
                        <a:t>Projektstrukturplan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200" dirty="0"/>
                        <a:t>Projektablaufplan (Balkendiagramm, Netzplan)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200" dirty="0"/>
                        <a:t>Kapazitätsplan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200" dirty="0"/>
                        <a:t>Kostenplan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200" dirty="0"/>
                        <a:t>Qualitätsplan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281066"/>
                  </a:ext>
                </a:extLst>
              </a:tr>
              <a:tr h="686646">
                <a:tc>
                  <a:txBody>
                    <a:bodyPr/>
                    <a:lstStyle/>
                    <a:p>
                      <a:r>
                        <a:rPr lang="de-DE" dirty="0"/>
                        <a:t>Realisierungsphase</a:t>
                      </a: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200" dirty="0"/>
                        <a:t>Sitzungsprotokolle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200" dirty="0"/>
                        <a:t>Statusberichte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200" dirty="0"/>
                        <a:t>Sonderberichte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581594"/>
                  </a:ext>
                </a:extLst>
              </a:tr>
              <a:tr h="882830">
                <a:tc>
                  <a:txBody>
                    <a:bodyPr/>
                    <a:lstStyle/>
                    <a:p>
                      <a:r>
                        <a:rPr lang="de-DE" dirty="0"/>
                        <a:t>Abschlussphase</a:t>
                      </a: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de-DE" sz="1200" dirty="0"/>
                        <a:t>Präsentationsunterlagen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de-DE" sz="1200" dirty="0"/>
                        <a:t>Abnahmeprotokolle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de-DE" sz="1200" dirty="0"/>
                        <a:t>Abschlussbesprechungsprotokoll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de-DE" sz="1200" dirty="0"/>
                        <a:t>Abschlussbericht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606633"/>
                  </a:ext>
                </a:extLst>
              </a:tr>
              <a:tr h="490461">
                <a:tc>
                  <a:txBody>
                    <a:bodyPr/>
                    <a:lstStyle/>
                    <a:p>
                      <a:r>
                        <a:rPr lang="de-DE" dirty="0"/>
                        <a:t>Produkt</a:t>
                      </a: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de-DE" sz="1200" dirty="0"/>
                        <a:t>Produktdokumentation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de-DE" sz="1200" dirty="0"/>
                        <a:t>Einweisungsunterlagen</a:t>
                      </a:r>
                      <a:r>
                        <a:rPr lang="de-DE" sz="1200" baseline="0" dirty="0"/>
                        <a:t> (Einweisung Auftraggeber)</a:t>
                      </a:r>
                      <a:endParaRPr lang="de-D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803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85349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147" y="492633"/>
            <a:ext cx="69754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latin typeface="Source Sans Pro"/>
                <a:cs typeface="Source Sans Pro"/>
              </a:rPr>
              <a:t>Projektmanagementmethoden</a:t>
            </a:r>
            <a:endParaRPr sz="4000" dirty="0">
              <a:latin typeface="Source Sans Pro"/>
              <a:cs typeface="Source Sans Pr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63853" y="2212594"/>
            <a:ext cx="4629150" cy="3352165"/>
            <a:chOff x="863853" y="2212594"/>
            <a:chExt cx="4629150" cy="3352165"/>
          </a:xfrm>
        </p:grpSpPr>
        <p:sp>
          <p:nvSpPr>
            <p:cNvPr id="4" name="object 4"/>
            <p:cNvSpPr/>
            <p:nvPr/>
          </p:nvSpPr>
          <p:spPr>
            <a:xfrm>
              <a:off x="870203" y="2218944"/>
              <a:ext cx="4616450" cy="3339465"/>
            </a:xfrm>
            <a:custGeom>
              <a:avLst/>
              <a:gdLst/>
              <a:ahLst/>
              <a:cxnLst/>
              <a:rect l="l" t="t" r="r" b="b"/>
              <a:pathLst>
                <a:path w="4616450" h="3339465">
                  <a:moveTo>
                    <a:pt x="2308098" y="0"/>
                  </a:moveTo>
                  <a:lnTo>
                    <a:pt x="0" y="3339083"/>
                  </a:lnTo>
                  <a:lnTo>
                    <a:pt x="4616196" y="3339083"/>
                  </a:lnTo>
                  <a:lnTo>
                    <a:pt x="2308098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0203" y="2218944"/>
              <a:ext cx="4616450" cy="3339465"/>
            </a:xfrm>
            <a:custGeom>
              <a:avLst/>
              <a:gdLst/>
              <a:ahLst/>
              <a:cxnLst/>
              <a:rect l="l" t="t" r="r" b="b"/>
              <a:pathLst>
                <a:path w="4616450" h="3339465">
                  <a:moveTo>
                    <a:pt x="0" y="3339083"/>
                  </a:moveTo>
                  <a:lnTo>
                    <a:pt x="2308098" y="0"/>
                  </a:lnTo>
                  <a:lnTo>
                    <a:pt x="4616196" y="3339083"/>
                  </a:lnTo>
                  <a:lnTo>
                    <a:pt x="0" y="3339083"/>
                  </a:lnTo>
                  <a:close/>
                </a:path>
              </a:pathLst>
            </a:custGeom>
            <a:ln w="12700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282189" y="4510278"/>
            <a:ext cx="1791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D2E8F4"/>
                </a:solidFill>
                <a:latin typeface="Source Sans Pro"/>
                <a:cs typeface="Source Sans Pro"/>
              </a:rPr>
              <a:t>planorientiert</a:t>
            </a:r>
            <a:endParaRPr sz="2400" dirty="0">
              <a:latin typeface="Source Sans Pro"/>
              <a:cs typeface="Source Sans Pr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511797" y="2236977"/>
            <a:ext cx="4518025" cy="3383915"/>
            <a:chOff x="6511797" y="2236977"/>
            <a:chExt cx="4518025" cy="3383915"/>
          </a:xfrm>
        </p:grpSpPr>
        <p:sp>
          <p:nvSpPr>
            <p:cNvPr id="8" name="object 8"/>
            <p:cNvSpPr/>
            <p:nvPr/>
          </p:nvSpPr>
          <p:spPr>
            <a:xfrm>
              <a:off x="6518147" y="2243327"/>
              <a:ext cx="4505325" cy="3371215"/>
            </a:xfrm>
            <a:custGeom>
              <a:avLst/>
              <a:gdLst/>
              <a:ahLst/>
              <a:cxnLst/>
              <a:rect l="l" t="t" r="r" b="b"/>
              <a:pathLst>
                <a:path w="4505325" h="3371215">
                  <a:moveTo>
                    <a:pt x="4504944" y="0"/>
                  </a:moveTo>
                  <a:lnTo>
                    <a:pt x="0" y="0"/>
                  </a:lnTo>
                  <a:lnTo>
                    <a:pt x="2252472" y="3371088"/>
                  </a:lnTo>
                  <a:lnTo>
                    <a:pt x="4504944" y="0"/>
                  </a:lnTo>
                  <a:close/>
                </a:path>
              </a:pathLst>
            </a:custGeom>
            <a:solidFill>
              <a:srgbClr val="007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18147" y="2243327"/>
              <a:ext cx="4505325" cy="3371215"/>
            </a:xfrm>
            <a:custGeom>
              <a:avLst/>
              <a:gdLst/>
              <a:ahLst/>
              <a:cxnLst/>
              <a:rect l="l" t="t" r="r" b="b"/>
              <a:pathLst>
                <a:path w="4505325" h="3371215">
                  <a:moveTo>
                    <a:pt x="0" y="0"/>
                  </a:moveTo>
                  <a:lnTo>
                    <a:pt x="4504944" y="0"/>
                  </a:lnTo>
                  <a:lnTo>
                    <a:pt x="2252472" y="337108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51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734045" y="2906395"/>
            <a:ext cx="20764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D2E8F4"/>
                </a:solidFill>
                <a:latin typeface="Source Sans Pro"/>
                <a:cs typeface="Source Sans Pro"/>
              </a:rPr>
              <a:t>mehrwertorientiert</a:t>
            </a:r>
            <a:endParaRPr sz="2000" dirty="0">
              <a:latin typeface="Source Sans Pro"/>
              <a:cs typeface="Source Sans Pro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11" name="object 11"/>
          <p:cNvSpPr txBox="1"/>
          <p:nvPr/>
        </p:nvSpPr>
        <p:spPr>
          <a:xfrm>
            <a:off x="2494533" y="1222711"/>
            <a:ext cx="165353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0070B1"/>
                </a:solidFill>
                <a:latin typeface="Source Sans Pro"/>
                <a:cs typeface="Source Sans Pro"/>
              </a:rPr>
              <a:t>klassisch</a:t>
            </a:r>
            <a:endParaRPr sz="3200" dirty="0">
              <a:latin typeface="Source Sans Pro"/>
              <a:cs typeface="Source Sans Pr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57370" y="1191220"/>
            <a:ext cx="6870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0" dirty="0">
                <a:solidFill>
                  <a:srgbClr val="0070B1"/>
                </a:solidFill>
                <a:latin typeface="Source Sans Pro"/>
                <a:cs typeface="Source Sans Pro"/>
              </a:rPr>
              <a:t>agil</a:t>
            </a:r>
            <a:endParaRPr sz="3200" dirty="0">
              <a:latin typeface="Source Sans Pro"/>
              <a:cs typeface="Source Sans Pr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774426" y="1848992"/>
            <a:ext cx="1229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70B1"/>
                </a:solidFill>
                <a:latin typeface="Source Sans Pro"/>
                <a:cs typeface="Source Sans Pro"/>
              </a:rPr>
              <a:t>Kosten </a:t>
            </a:r>
            <a:r>
              <a:rPr sz="1800" spc="-10" dirty="0">
                <a:solidFill>
                  <a:srgbClr val="0070B1"/>
                </a:solidFill>
                <a:latin typeface="Source Sans Pro"/>
                <a:cs typeface="Source Sans Pro"/>
              </a:rPr>
              <a:t>(fest)</a:t>
            </a:r>
            <a:endParaRPr sz="1800" dirty="0">
              <a:latin typeface="Source Sans Pro"/>
              <a:cs typeface="Source Sans Pr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2100" y="5653227"/>
            <a:ext cx="1350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70B1"/>
                </a:solidFill>
                <a:latin typeface="Source Sans Pro"/>
                <a:cs typeface="Source Sans Pro"/>
              </a:rPr>
              <a:t>Zeit </a:t>
            </a:r>
            <a:r>
              <a:rPr sz="1800" spc="-10" dirty="0">
                <a:solidFill>
                  <a:srgbClr val="0070B1"/>
                </a:solidFill>
                <a:latin typeface="Source Sans Pro"/>
                <a:cs typeface="Source Sans Pro"/>
              </a:rPr>
              <a:t>(variabel)</a:t>
            </a:r>
            <a:endParaRPr sz="1800">
              <a:latin typeface="Source Sans Pro"/>
              <a:cs typeface="Source Sans Pr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06131" y="5653227"/>
            <a:ext cx="262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70B1"/>
                </a:solidFill>
                <a:latin typeface="Source Sans Pro"/>
                <a:cs typeface="Source Sans Pro"/>
              </a:rPr>
              <a:t>Leistungsumfang</a:t>
            </a:r>
            <a:r>
              <a:rPr sz="1800" spc="-6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z="1800" spc="-10" dirty="0">
                <a:solidFill>
                  <a:srgbClr val="0070B1"/>
                </a:solidFill>
                <a:latin typeface="Source Sans Pro"/>
                <a:cs typeface="Source Sans Pro"/>
              </a:rPr>
              <a:t>(variabel)</a:t>
            </a:r>
            <a:endParaRPr sz="1800">
              <a:latin typeface="Source Sans Pro"/>
              <a:cs typeface="Source Sans Pr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15133" y="1873758"/>
            <a:ext cx="2212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70B1"/>
                </a:solidFill>
                <a:latin typeface="Source Sans Pro"/>
                <a:cs typeface="Source Sans Pro"/>
              </a:rPr>
              <a:t>Leistungsumfang</a:t>
            </a:r>
            <a:r>
              <a:rPr sz="1800" spc="-70" dirty="0">
                <a:solidFill>
                  <a:srgbClr val="0070B1"/>
                </a:solidFill>
                <a:latin typeface="Source Sans Pro"/>
                <a:cs typeface="Source Sans Pro"/>
              </a:rPr>
              <a:t> </a:t>
            </a:r>
            <a:r>
              <a:rPr sz="1800" spc="-10" dirty="0">
                <a:solidFill>
                  <a:srgbClr val="0070B1"/>
                </a:solidFill>
                <a:latin typeface="Source Sans Pro"/>
                <a:cs typeface="Source Sans Pro"/>
              </a:rPr>
              <a:t>(fest)</a:t>
            </a:r>
            <a:endParaRPr sz="1800">
              <a:latin typeface="Source Sans Pro"/>
              <a:cs typeface="Source Sans Pr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15290" y="1842262"/>
            <a:ext cx="932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70B1"/>
                </a:solidFill>
                <a:latin typeface="Source Sans Pro"/>
                <a:cs typeface="Source Sans Pro"/>
              </a:rPr>
              <a:t>Zeit </a:t>
            </a:r>
            <a:r>
              <a:rPr sz="1800" spc="-10" dirty="0">
                <a:solidFill>
                  <a:srgbClr val="0070B1"/>
                </a:solidFill>
                <a:latin typeface="Source Sans Pro"/>
                <a:cs typeface="Source Sans Pro"/>
              </a:rPr>
              <a:t>(fest)</a:t>
            </a:r>
            <a:endParaRPr sz="1800" dirty="0">
              <a:latin typeface="Source Sans Pro"/>
              <a:cs typeface="Source Sans Pr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35829" y="5653227"/>
            <a:ext cx="1647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70B1"/>
                </a:solidFill>
                <a:latin typeface="Source Sans Pro"/>
                <a:cs typeface="Source Sans Pro"/>
              </a:rPr>
              <a:t>Kosten </a:t>
            </a:r>
            <a:r>
              <a:rPr sz="1800" spc="-10" dirty="0">
                <a:solidFill>
                  <a:srgbClr val="0070B1"/>
                </a:solidFill>
                <a:latin typeface="Source Sans Pro"/>
                <a:cs typeface="Source Sans Pro"/>
              </a:rPr>
              <a:t>(variabel)</a:t>
            </a:r>
            <a:endParaRPr sz="1800">
              <a:latin typeface="Source Sans Pro"/>
              <a:cs typeface="Source Sans Pro"/>
            </a:endParaRPr>
          </a:p>
        </p:txBody>
      </p:sp>
      <p:sp>
        <p:nvSpPr>
          <p:cNvPr id="22" name="Foliennummernplatzhalter 21">
            <a:extLst>
              <a:ext uri="{FF2B5EF4-FFF2-40B4-BE49-F238E27FC236}">
                <a16:creationId xmlns:a16="http://schemas.microsoft.com/office/drawing/2014/main" id="{8473D40D-187F-A03D-4863-DF336830EB1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55</a:t>
            </a:fld>
            <a:endParaRPr lang="de-DE" spc="-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44AF4-A985-C278-D42D-3C4541E23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0F83559-8B10-D8A5-8C71-14958604B6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>
                <a:latin typeface="Source Sans Pro"/>
                <a:cs typeface="Source Sans Pro"/>
              </a:rPr>
              <a:t>SCRUM – die Grundidee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7519083-AA10-C422-04E2-11B9D4BA0EE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B8050894-125E-AA96-9442-A25E27801F2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56</a:t>
            </a:fld>
            <a:endParaRPr lang="de-DE" spc="-5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F3E5D64-116C-FF6F-9194-E0636E96F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246627"/>
            <a:ext cx="10529386" cy="4364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1290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F0579-A6B1-B7A0-8106-87143CDB3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757927C-9F96-11B0-76E0-5256C56016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>
                <a:latin typeface="Source Sans Pro"/>
                <a:cs typeface="Source Sans Pro"/>
              </a:rPr>
              <a:t>SCRUM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5D334A0-FF6F-2B9C-718E-3C80895EC03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DE8608A-9913-7FA6-C499-C5E99583360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57</a:t>
            </a:fld>
            <a:endParaRPr lang="de-DE" spc="-50" dirty="0"/>
          </a:p>
        </p:txBody>
      </p:sp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EC95ED98-C331-E048-971B-B8F538D51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260" y="990600"/>
            <a:ext cx="7632848" cy="5176922"/>
          </a:xfrm>
          <a:prstGeom prst="rect">
            <a:avLst/>
          </a:prstGeom>
        </p:spPr>
      </p:pic>
      <p:sp>
        <p:nvSpPr>
          <p:cNvPr id="7" name="Untertitel 2">
            <a:extLst>
              <a:ext uri="{FF2B5EF4-FFF2-40B4-BE49-F238E27FC236}">
                <a16:creationId xmlns:a16="http://schemas.microsoft.com/office/drawing/2014/main" id="{A40518FC-C26A-0BC6-3CB1-4DE4C73837B9}"/>
              </a:ext>
            </a:extLst>
          </p:cNvPr>
          <p:cNvSpPr txBox="1">
            <a:spLocks/>
          </p:cNvSpPr>
          <p:nvPr/>
        </p:nvSpPr>
        <p:spPr>
          <a:xfrm>
            <a:off x="270043" y="1369261"/>
            <a:ext cx="3982721" cy="44196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dirty="0"/>
              <a:t>Auftraggeber auch hier intern/extern möglich </a:t>
            </a: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spc="-20" dirty="0"/>
              <a:t>Produkt </a:t>
            </a:r>
            <a:r>
              <a:rPr lang="de-DE" sz="1800" spc="-20" dirty="0" err="1"/>
              <a:t>Owner</a:t>
            </a:r>
            <a:r>
              <a:rPr lang="de-DE" sz="1800" spc="-20" dirty="0"/>
              <a:t> kann bei internen Projekten auch Auftraggeber sein – hält bei externen Projekten Kontakt zum Kunden und ist für das Projekt verantwortlich</a:t>
            </a: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spc="-2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spc="-20" dirty="0" err="1"/>
              <a:t>Scrum</a:t>
            </a:r>
            <a:r>
              <a:rPr lang="de-DE" sz="1800" spc="-20" dirty="0"/>
              <a:t> Master ist auf Augenhöhe mit dem Team und sorgt dafür das das Team seine Arbeit tun kann</a:t>
            </a: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spc="-2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de-DE" sz="1800" spc="-20" dirty="0" err="1"/>
              <a:t>Scrum</a:t>
            </a:r>
            <a:r>
              <a:rPr lang="de-DE" sz="1800" spc="-20" dirty="0"/>
              <a:t> Team organisiert sich in hohem Maße selbst</a:t>
            </a: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spc="-20" dirty="0"/>
          </a:p>
          <a:p>
            <a:pPr marL="12700" algn="l">
              <a:spcBef>
                <a:spcPts val="735"/>
              </a:spcBef>
              <a:tabLst>
                <a:tab pos="240665" algn="l"/>
              </a:tabLst>
            </a:pPr>
            <a:endParaRPr lang="de-DE" sz="1800" spc="-2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spc="-20" dirty="0"/>
          </a:p>
        </p:txBody>
      </p:sp>
    </p:spTree>
    <p:extLst>
      <p:ext uri="{BB962C8B-B14F-4D97-AF65-F5344CB8AC3E}">
        <p14:creationId xmlns:p14="http://schemas.microsoft.com/office/powerpoint/2010/main" val="3625701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58D8C-5933-BA57-36D3-368266FED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0C332B8-CF00-8F56-5047-C2A00F8EE4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 err="1">
                <a:latin typeface="Source Sans Pro"/>
                <a:cs typeface="Source Sans Pro"/>
              </a:rPr>
              <a:t>Product</a:t>
            </a:r>
            <a:r>
              <a:rPr lang="de-DE" sz="4000" b="1" spc="-10" dirty="0">
                <a:latin typeface="Source Sans Pro"/>
                <a:cs typeface="Source Sans Pro"/>
              </a:rPr>
              <a:t> </a:t>
            </a:r>
            <a:r>
              <a:rPr lang="de-DE" sz="4000" b="1" spc="-10" dirty="0" err="1">
                <a:latin typeface="Source Sans Pro"/>
                <a:cs typeface="Source Sans Pro"/>
              </a:rPr>
              <a:t>Owner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887D79C-C50A-52A2-95B3-CAB8516D969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6C4252A5-E2D8-2A83-B6A6-0E642B2C4D9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58</a:t>
            </a:fld>
            <a:endParaRPr lang="de-DE" spc="-50" dirty="0"/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135DE059-B5D8-88CA-1F12-B7BAF4743690}"/>
              </a:ext>
            </a:extLst>
          </p:cNvPr>
          <p:cNvSpPr txBox="1">
            <a:spLocks/>
          </p:cNvSpPr>
          <p:nvPr/>
        </p:nvSpPr>
        <p:spPr>
          <a:xfrm>
            <a:off x="270043" y="1369261"/>
            <a:ext cx="6587957" cy="44196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Verantwortlich für die Erstellung einer konkreten Produktversion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Stellt fachliche Anforderungen an das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Ist verantwortlich für den Erfolg des Projektes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Regelmäßiger Kontakt zum Auftraggeber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Kommunikation an das Fachteam</a:t>
            </a: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spc="-20" dirty="0"/>
          </a:p>
          <a:p>
            <a:pPr marL="12700" algn="l">
              <a:spcBef>
                <a:spcPts val="735"/>
              </a:spcBef>
              <a:tabLst>
                <a:tab pos="240665" algn="l"/>
              </a:tabLst>
            </a:pPr>
            <a:endParaRPr lang="de-DE" sz="1800" spc="-20" dirty="0"/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spc="-20" dirty="0"/>
          </a:p>
        </p:txBody>
      </p:sp>
      <p:pic>
        <p:nvPicPr>
          <p:cNvPr id="9" name="Picture 2" descr="Weiße Männchen, 3D Model, Freigestellt, 3D, Model">
            <a:extLst>
              <a:ext uri="{FF2B5EF4-FFF2-40B4-BE49-F238E27FC236}">
                <a16:creationId xmlns:a16="http://schemas.microsoft.com/office/drawing/2014/main" id="{682B9C2D-A5D5-F0C1-EDB8-919F817F7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9106" y="2133600"/>
            <a:ext cx="3210894" cy="3210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7335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B24AE-2152-5091-7C8B-F120B59DD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A150FBA-2F5C-722A-9569-3652390EB2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 err="1">
                <a:latin typeface="Source Sans Pro"/>
                <a:cs typeface="Source Sans Pro"/>
              </a:rPr>
              <a:t>Scrum</a:t>
            </a:r>
            <a:r>
              <a:rPr lang="de-DE" sz="4000" b="1" spc="-10" dirty="0">
                <a:latin typeface="Source Sans Pro"/>
                <a:cs typeface="Source Sans Pro"/>
              </a:rPr>
              <a:t> Master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F8E36F6B-5B41-3F1B-50F4-CF0B5E17B89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5BBA437-16C9-8077-D758-995980AB39C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4330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59</a:t>
            </a:fld>
            <a:endParaRPr lang="de-DE" spc="-50" dirty="0"/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5B93E99E-B01A-C415-D2AC-F30389E9C33D}"/>
              </a:ext>
            </a:extLst>
          </p:cNvPr>
          <p:cNvSpPr txBox="1">
            <a:spLocks/>
          </p:cNvSpPr>
          <p:nvPr/>
        </p:nvSpPr>
        <p:spPr>
          <a:xfrm>
            <a:off x="270043" y="1369261"/>
            <a:ext cx="6587957" cy="44196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Keine Rolle des „Projektleiters“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Eher der Moderator des Projektteams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Überwacht, </a:t>
            </a:r>
            <a:r>
              <a:rPr lang="de-DE" sz="1800" dirty="0" err="1"/>
              <a:t>daß</a:t>
            </a:r>
            <a:r>
              <a:rPr lang="de-DE" sz="1800" dirty="0"/>
              <a:t> </a:t>
            </a:r>
            <a:r>
              <a:rPr lang="de-DE" sz="1800" dirty="0" err="1"/>
              <a:t>Scrum</a:t>
            </a:r>
            <a:r>
              <a:rPr lang="de-DE" sz="1800" dirty="0"/>
              <a:t> funktioniert und die Regeln des agilen Projektmanagements eingehalten werden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Weitere Aufgaben: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C0"/>
                </a:solidFill>
              </a:rPr>
              <a:t>Fernhalten von Störungen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 dirty="0">
              <a:solidFill>
                <a:srgbClr val="0070C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C0"/>
                </a:solidFill>
              </a:rPr>
              <a:t>Meetings werden durch Ihn moderiert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 dirty="0">
              <a:solidFill>
                <a:srgbClr val="0070C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C0"/>
                </a:solidFill>
              </a:rPr>
              <a:t>Überwachung der Kommunikation im Team</a:t>
            </a:r>
            <a:endParaRPr lang="de-DE" spc="-20" dirty="0">
              <a:solidFill>
                <a:srgbClr val="0070C0"/>
              </a:solidFill>
            </a:endParaRPr>
          </a:p>
          <a:p>
            <a:pPr marL="298450" indent="-285750" algn="l">
              <a:spcBef>
                <a:spcPts val="73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de-DE" sz="1800" spc="-20" dirty="0"/>
          </a:p>
        </p:txBody>
      </p:sp>
      <p:pic>
        <p:nvPicPr>
          <p:cNvPr id="4" name="Picture 2" descr="Weiße Männchen, 3D Model, Freigestellt, 3D, Model">
            <a:extLst>
              <a:ext uri="{FF2B5EF4-FFF2-40B4-BE49-F238E27FC236}">
                <a16:creationId xmlns:a16="http://schemas.microsoft.com/office/drawing/2014/main" id="{20D98F09-841C-75BA-61A0-0370C194B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1747020"/>
            <a:ext cx="2901180" cy="2901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7084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61602-33E5-2ED3-6C9D-B4E547FC1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598011A-7B50-9145-4518-4BCB7E044D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 err="1">
                <a:latin typeface="Source Sans Pro"/>
                <a:cs typeface="Source Sans Pro"/>
              </a:rPr>
              <a:t>Scrum</a:t>
            </a:r>
            <a:r>
              <a:rPr lang="de-DE" sz="4000" b="1" spc="-10" dirty="0">
                <a:latin typeface="Source Sans Pro"/>
                <a:cs typeface="Source Sans Pro"/>
              </a:rPr>
              <a:t> Team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3F071C0-D44D-AC9B-8DDA-C7186866C8C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89F78DA-5B19-C739-61BB-073F47ABA0A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4330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60</a:t>
            </a:fld>
            <a:endParaRPr lang="de-DE" spc="-50" dirty="0"/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C73D0719-3709-19B7-1293-A9118AAC3BFF}"/>
              </a:ext>
            </a:extLst>
          </p:cNvPr>
          <p:cNvSpPr txBox="1">
            <a:spLocks/>
          </p:cNvSpPr>
          <p:nvPr/>
        </p:nvSpPr>
        <p:spPr>
          <a:xfrm>
            <a:off x="270044" y="1369261"/>
            <a:ext cx="4987756" cy="44196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Steht für die Entwicklung des Produktes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Ist in der Lage das Produkt zu entwickeln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Selbstorganisation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Liefert die Produkte in der Reihenfolge</a:t>
            </a:r>
            <a:r>
              <a:rPr lang="de-DE" sz="1800" dirty="0">
                <a:solidFill>
                  <a:srgbClr val="0070C0"/>
                </a:solidFill>
              </a:rPr>
              <a:t>  wie der </a:t>
            </a:r>
            <a:r>
              <a:rPr lang="de-DE" sz="1800" dirty="0" err="1">
                <a:solidFill>
                  <a:srgbClr val="0070C0"/>
                </a:solidFill>
              </a:rPr>
              <a:t>Product</a:t>
            </a:r>
            <a:r>
              <a:rPr lang="de-DE" sz="1800" dirty="0">
                <a:solidFill>
                  <a:srgbClr val="0070C0"/>
                </a:solidFill>
              </a:rPr>
              <a:t> </a:t>
            </a:r>
            <a:r>
              <a:rPr lang="de-DE" sz="1800" dirty="0" err="1">
                <a:solidFill>
                  <a:srgbClr val="0070C0"/>
                </a:solidFill>
              </a:rPr>
              <a:t>Owner</a:t>
            </a:r>
            <a:r>
              <a:rPr lang="de-DE" sz="1800" dirty="0">
                <a:solidFill>
                  <a:srgbClr val="0070C0"/>
                </a:solidFill>
              </a:rPr>
              <a:t> es vorgegeben hat</a:t>
            </a:r>
            <a:endParaRPr lang="de-DE" sz="1800" spc="-20" dirty="0">
              <a:solidFill>
                <a:srgbClr val="0070C0"/>
              </a:solidFill>
            </a:endParaRPr>
          </a:p>
        </p:txBody>
      </p:sp>
      <p:pic>
        <p:nvPicPr>
          <p:cNvPr id="5" name="Picture 2" descr="Weiße Männchen, 3D Model, Freigestellt">
            <a:extLst>
              <a:ext uri="{FF2B5EF4-FFF2-40B4-BE49-F238E27FC236}">
                <a16:creationId xmlns:a16="http://schemas.microsoft.com/office/drawing/2014/main" id="{32CE163A-D4F3-5AA5-E597-BE93F115F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200" y="1219200"/>
            <a:ext cx="1879518" cy="1879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Fax, Weiße Männchen, 3D Model, Freigestellt, 3D, Model">
            <a:extLst>
              <a:ext uri="{FF2B5EF4-FFF2-40B4-BE49-F238E27FC236}">
                <a16:creationId xmlns:a16="http://schemas.microsoft.com/office/drawing/2014/main" id="{22CBD0BE-98C3-0DAE-5E0E-E9A2686BC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489241"/>
            <a:ext cx="1879518" cy="1879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77E5B70-4759-B304-02C6-A82DE250A9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1418" y="3281584"/>
            <a:ext cx="2507277" cy="250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816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D289C-7311-E8CB-3842-F54A58019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818E316-391D-3162-128E-71EA9D52D7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 err="1">
                <a:latin typeface="Source Sans Pro"/>
                <a:cs typeface="Source Sans Pro"/>
              </a:rPr>
              <a:t>Product</a:t>
            </a:r>
            <a:r>
              <a:rPr lang="de-DE" sz="4000" b="1" spc="-10" dirty="0">
                <a:latin typeface="Source Sans Pro"/>
                <a:cs typeface="Source Sans Pro"/>
              </a:rPr>
              <a:t> Backlog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F07F3C6-C26A-071C-2ED6-2BCCCFFEFC7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715972A-5F9A-4F52-6547-013EE0269CE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61</a:t>
            </a:fld>
            <a:endParaRPr lang="de-DE" spc="-50" dirty="0"/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142AC6FB-3075-F04C-1225-2F9AFF086C24}"/>
              </a:ext>
            </a:extLst>
          </p:cNvPr>
          <p:cNvSpPr txBox="1">
            <a:spLocks/>
          </p:cNvSpPr>
          <p:nvPr/>
        </p:nvSpPr>
        <p:spPr>
          <a:xfrm>
            <a:off x="304800" y="1555682"/>
            <a:ext cx="6587957" cy="44196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0070C0"/>
                </a:solidFill>
              </a:rPr>
              <a:t>Enthält alle Anforderungen an das Produkt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0070C0"/>
                </a:solidFill>
              </a:rPr>
              <a:t>Qualität des </a:t>
            </a:r>
            <a:r>
              <a:rPr lang="de-DE" sz="1800" dirty="0" err="1">
                <a:solidFill>
                  <a:srgbClr val="0070C0"/>
                </a:solidFill>
              </a:rPr>
              <a:t>Product</a:t>
            </a:r>
            <a:r>
              <a:rPr lang="de-DE" sz="1800" dirty="0">
                <a:solidFill>
                  <a:srgbClr val="0070C0"/>
                </a:solidFill>
              </a:rPr>
              <a:t> Backlogs ist für erfolgreiche Abwicklung ausschlaggebend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0070C0"/>
                </a:solidFill>
              </a:rPr>
              <a:t>Zuständigkeit: </a:t>
            </a:r>
            <a:r>
              <a:rPr lang="de-DE" sz="1800" b="1" dirty="0" err="1">
                <a:solidFill>
                  <a:srgbClr val="0070C0"/>
                </a:solidFill>
              </a:rPr>
              <a:t>Product</a:t>
            </a:r>
            <a:r>
              <a:rPr lang="de-DE" sz="1800" b="1" dirty="0">
                <a:solidFill>
                  <a:srgbClr val="0070C0"/>
                </a:solidFill>
              </a:rPr>
              <a:t> </a:t>
            </a:r>
            <a:r>
              <a:rPr lang="de-DE" sz="1800" b="1" dirty="0" err="1">
                <a:solidFill>
                  <a:srgbClr val="0070C0"/>
                </a:solidFill>
              </a:rPr>
              <a:t>Owner</a:t>
            </a:r>
            <a:endParaRPr lang="de-DE" sz="1800" b="1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0070C0"/>
                </a:solidFill>
              </a:rPr>
              <a:t>Ständige Weiterentwicklung und Pflege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0070C0"/>
                </a:solidFill>
              </a:rPr>
              <a:t>Traditionell Lastenheft, bei </a:t>
            </a:r>
            <a:r>
              <a:rPr lang="de-DE" sz="1800" dirty="0" err="1">
                <a:solidFill>
                  <a:srgbClr val="0070C0"/>
                </a:solidFill>
              </a:rPr>
              <a:t>Scrum</a:t>
            </a:r>
            <a:r>
              <a:rPr lang="de-DE" sz="1800" dirty="0">
                <a:solidFill>
                  <a:srgbClr val="0070C0"/>
                </a:solidFill>
              </a:rPr>
              <a:t> = dynamische Liste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0070C0"/>
                </a:solidFill>
              </a:rPr>
              <a:t>Anforderungen werden in Sprints bearbeitet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0070C0"/>
                </a:solidFill>
              </a:rPr>
              <a:t>Anforderungen, die nicht erfüllt wurden, werden wieder in den </a:t>
            </a:r>
            <a:r>
              <a:rPr lang="de-DE" sz="1800" dirty="0" err="1">
                <a:solidFill>
                  <a:srgbClr val="0070C0"/>
                </a:solidFill>
              </a:rPr>
              <a:t>Product</a:t>
            </a:r>
            <a:r>
              <a:rPr lang="de-DE" sz="1800" dirty="0">
                <a:solidFill>
                  <a:srgbClr val="0070C0"/>
                </a:solidFill>
              </a:rPr>
              <a:t> Backlog aufgenommen</a:t>
            </a:r>
            <a:endParaRPr lang="de-DE" sz="1800" spc="-2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3921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D912C-4217-D989-6B6C-6AAE92E38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74C6B1C-08B7-2616-4402-49F300A889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>
                <a:latin typeface="Source Sans Pro"/>
                <a:cs typeface="Source Sans Pro"/>
              </a:rPr>
              <a:t>Sprint Backlog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0AFBEC33-3E3B-2915-FB9C-886BB345728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EF2AA67-6571-6E8D-E118-4C9A134024B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62</a:t>
            </a:fld>
            <a:endParaRPr lang="de-DE" spc="-50" dirty="0"/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3B40720B-F020-FCAF-F57D-D5F6FF263CF3}"/>
              </a:ext>
            </a:extLst>
          </p:cNvPr>
          <p:cNvSpPr txBox="1">
            <a:spLocks/>
          </p:cNvSpPr>
          <p:nvPr/>
        </p:nvSpPr>
        <p:spPr>
          <a:xfrm>
            <a:off x="360679" y="1828800"/>
            <a:ext cx="6587957" cy="27432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Enthält die Projektaufgaben, die in den jeweiligen Sprints erledigt werden sollen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Projektaufgaben werden durch weitere Details ergänzt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Sprintziel soll erreicht werden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Zuständigkeit: </a:t>
            </a:r>
            <a:r>
              <a:rPr lang="de-DE" sz="1800" dirty="0" err="1"/>
              <a:t>Product</a:t>
            </a:r>
            <a:r>
              <a:rPr lang="de-DE" sz="1800" dirty="0"/>
              <a:t> </a:t>
            </a:r>
            <a:r>
              <a:rPr lang="de-DE" sz="1800" dirty="0" err="1"/>
              <a:t>Owner</a:t>
            </a:r>
            <a:r>
              <a:rPr lang="de-DE" sz="1800" dirty="0"/>
              <a:t> und/oder </a:t>
            </a:r>
            <a:r>
              <a:rPr lang="de-DE" sz="1800" dirty="0" err="1"/>
              <a:t>Scrum</a:t>
            </a:r>
            <a:r>
              <a:rPr lang="de-DE" sz="1800" dirty="0"/>
              <a:t> Team (Developer)</a:t>
            </a:r>
          </a:p>
        </p:txBody>
      </p:sp>
    </p:spTree>
    <p:extLst>
      <p:ext uri="{BB962C8B-B14F-4D97-AF65-F5344CB8AC3E}">
        <p14:creationId xmlns:p14="http://schemas.microsoft.com/office/powerpoint/2010/main" val="2307920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AABF3-44A9-F41E-870C-BA32CF11B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C314171-2704-DA15-0CC8-E12BFEB901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>
                <a:latin typeface="Source Sans Pro"/>
                <a:cs typeface="Source Sans Pro"/>
              </a:rPr>
              <a:t>Produkt Inkrement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F8FBD32-5D27-89E9-1C37-F863FC4BA0C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64A365F-5029-08F1-025A-84AFB7CB186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4330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63</a:t>
            </a:fld>
            <a:endParaRPr lang="de-DE" spc="-50" dirty="0"/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414862B6-5431-7C28-EC01-664767D0D8E2}"/>
              </a:ext>
            </a:extLst>
          </p:cNvPr>
          <p:cNvSpPr txBox="1">
            <a:spLocks/>
          </p:cNvSpPr>
          <p:nvPr/>
        </p:nvSpPr>
        <p:spPr>
          <a:xfrm>
            <a:off x="360679" y="1981200"/>
            <a:ext cx="6587957" cy="373613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Ergibt sich aus der Summe aller Anforderungen aus dem </a:t>
            </a:r>
            <a:r>
              <a:rPr lang="de-DE" sz="1800" dirty="0" err="1"/>
              <a:t>Product</a:t>
            </a:r>
            <a:r>
              <a:rPr lang="de-DE" sz="1800" dirty="0"/>
              <a:t> Backlog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die während des aktuellen und der vorangegangenen Sprints fertiggestellt wurden.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Am Ende des Sprints soll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/>
              <a:t>ein lauffähiges (funktionsfähiges, auslieferbares) Zwischenprodukt stehen</a:t>
            </a:r>
          </a:p>
        </p:txBody>
      </p:sp>
    </p:spTree>
    <p:extLst>
      <p:ext uri="{BB962C8B-B14F-4D97-AF65-F5344CB8AC3E}">
        <p14:creationId xmlns:p14="http://schemas.microsoft.com/office/powerpoint/2010/main" val="281213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0B224-C1AA-0BF7-3462-8C0F46052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E2C1736-6CA1-86A2-66AF-7E1EE9C6F9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>
                <a:latin typeface="Source Sans Pro"/>
                <a:cs typeface="Source Sans Pro"/>
              </a:rPr>
              <a:t>Sprint </a:t>
            </a:r>
            <a:r>
              <a:rPr lang="de-DE" sz="4000" b="1" spc="-10" dirty="0" err="1">
                <a:latin typeface="Source Sans Pro"/>
                <a:cs typeface="Source Sans Pro"/>
              </a:rPr>
              <a:t>Planning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5379569-542D-28DD-E174-6A2A4F01FD1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7CCC984-7B42-E82F-936F-BE035327026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64</a:t>
            </a:fld>
            <a:endParaRPr lang="de-DE" spc="-50" dirty="0"/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88E74448-8A44-D2B7-DF80-F8154F648B3F}"/>
              </a:ext>
            </a:extLst>
          </p:cNvPr>
          <p:cNvSpPr txBox="1">
            <a:spLocks/>
          </p:cNvSpPr>
          <p:nvPr/>
        </p:nvSpPr>
        <p:spPr>
          <a:xfrm>
            <a:off x="304800" y="1828800"/>
            <a:ext cx="6587957" cy="351896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Es wird immer die nächste Etappe (Sprint ) geplant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Empfohlen werden für einen Sprint 4 Wochen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Man kann aber abweichen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Anforderungen werden in Aufgaben geteilt, die in überschaubaren Zeiträumen (z.B. einem Tag), erledigt werden können</a:t>
            </a:r>
          </a:p>
        </p:txBody>
      </p:sp>
      <p:pic>
        <p:nvPicPr>
          <p:cNvPr id="3" name="Picture 2" descr="Laufen, Laufsport, Rennen, Sport, Sportlich, Ausdauer">
            <a:extLst>
              <a:ext uri="{FF2B5EF4-FFF2-40B4-BE49-F238E27FC236}">
                <a16:creationId xmlns:a16="http://schemas.microsoft.com/office/drawing/2014/main" id="{33FC1313-626B-B7B0-B04D-C2C3C7010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084883"/>
            <a:ext cx="2688233" cy="2688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7617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6CCD3-DA52-0101-9E53-362FB220B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06A622F-1FE2-9813-87EB-1AF73EC6CE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>
                <a:latin typeface="Source Sans Pro"/>
                <a:cs typeface="Source Sans Pro"/>
              </a:rPr>
              <a:t>Sprint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900BD5B-38B3-635C-E579-7EBEA5B43BA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2260FEF-3357-FEDD-5E3B-C623D3BBDF7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65</a:t>
            </a:fld>
            <a:endParaRPr lang="de-DE" spc="-50" dirty="0"/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AC1D184E-6140-DBB5-3584-3542707AFFD8}"/>
              </a:ext>
            </a:extLst>
          </p:cNvPr>
          <p:cNvSpPr txBox="1">
            <a:spLocks/>
          </p:cNvSpPr>
          <p:nvPr/>
        </p:nvSpPr>
        <p:spPr>
          <a:xfrm>
            <a:off x="270043" y="1369261"/>
            <a:ext cx="6587957" cy="282173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Es werden die Aufgaben umgesetzt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es wird ein Mehrwert generiert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ist der Kern und enthalten alle anderen Aktivitäten</a:t>
            </a:r>
          </a:p>
          <a:p>
            <a:r>
              <a:rPr lang="de-DE" sz="18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C0"/>
                </a:solidFill>
              </a:rPr>
              <a:t>Sprint </a:t>
            </a:r>
            <a:r>
              <a:rPr lang="de-DE" dirty="0" err="1">
                <a:solidFill>
                  <a:srgbClr val="0070C0"/>
                </a:solidFill>
              </a:rPr>
              <a:t>Planning</a:t>
            </a:r>
            <a:endParaRPr lang="de-DE" dirty="0">
              <a:solidFill>
                <a:srgbClr val="0070C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C0"/>
                </a:solidFill>
              </a:rPr>
              <a:t>Daily </a:t>
            </a:r>
            <a:r>
              <a:rPr lang="de-DE" dirty="0" err="1">
                <a:solidFill>
                  <a:srgbClr val="0070C0"/>
                </a:solidFill>
              </a:rPr>
              <a:t>Scrums</a:t>
            </a:r>
            <a:endParaRPr lang="de-DE" dirty="0">
              <a:solidFill>
                <a:srgbClr val="0070C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C0"/>
                </a:solidFill>
              </a:rPr>
              <a:t>Sprint Review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C0"/>
                </a:solidFill>
              </a:rPr>
              <a:t>Sprint </a:t>
            </a:r>
            <a:r>
              <a:rPr lang="de-DE" dirty="0" err="1">
                <a:solidFill>
                  <a:srgbClr val="0070C0"/>
                </a:solidFill>
              </a:rPr>
              <a:t>Retrospective</a:t>
            </a:r>
            <a:endParaRPr lang="de-DE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7057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686DF-1E26-A214-AA4E-EB7DBBBD3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4EA3A28-1267-4FCC-4229-CF6F07546C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>
                <a:latin typeface="Source Sans Pro"/>
                <a:cs typeface="Source Sans Pro"/>
              </a:rPr>
              <a:t>Daily </a:t>
            </a:r>
            <a:r>
              <a:rPr lang="de-DE" sz="4000" b="1" spc="-10" dirty="0" err="1">
                <a:latin typeface="Source Sans Pro"/>
                <a:cs typeface="Source Sans Pro"/>
              </a:rPr>
              <a:t>Scrum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4EC89AC-6C41-6ABC-27D2-927FCE20F47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E466F50-B3B6-D4AA-EA25-27F2409AD9D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14380" y="6407302"/>
            <a:ext cx="36322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66</a:t>
            </a:fld>
            <a:endParaRPr lang="de-DE" spc="-50" dirty="0"/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C0B6B15E-169E-7CD2-429E-979B6BEB0FDB}"/>
              </a:ext>
            </a:extLst>
          </p:cNvPr>
          <p:cNvSpPr txBox="1">
            <a:spLocks/>
          </p:cNvSpPr>
          <p:nvPr/>
        </p:nvSpPr>
        <p:spPr>
          <a:xfrm>
            <a:off x="270043" y="1369261"/>
            <a:ext cx="6587957" cy="388853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Kurze Besprechungen mit den Teammitgliedern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Finden täglich statt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Finden im Stehen statt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Sollten nicht mehr als 15min dauern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Was wurde erledigt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Was soll erledigt werden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Was hindert</a:t>
            </a:r>
          </a:p>
        </p:txBody>
      </p:sp>
      <p:pic>
        <p:nvPicPr>
          <p:cNvPr id="4" name="Picture 4" descr="Fax, Weiße Männchen, 3D Model, Freigestellt, 3D, Model">
            <a:extLst>
              <a:ext uri="{FF2B5EF4-FFF2-40B4-BE49-F238E27FC236}">
                <a16:creationId xmlns:a16="http://schemas.microsoft.com/office/drawing/2014/main" id="{3D140F38-39FB-AF0A-3201-25074567D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1816735"/>
            <a:ext cx="3224530" cy="322453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961706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B16E1-1369-8ECC-D313-0B4BBBD2D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26B7B65-57CF-F00E-8557-9B9A4EA48D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>
                <a:latin typeface="Source Sans Pro"/>
                <a:cs typeface="Source Sans Pro"/>
              </a:rPr>
              <a:t>Sprint Review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0A94F32-E0CB-122C-1D91-7FD980375ED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55DBCF-49B9-715B-E9D8-B5190D0753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67</a:t>
            </a:fld>
            <a:endParaRPr lang="de-DE" spc="-50" dirty="0"/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4C037B92-409B-6C5C-9206-5BCDA73BDEA0}"/>
              </a:ext>
            </a:extLst>
          </p:cNvPr>
          <p:cNvSpPr txBox="1">
            <a:spLocks/>
          </p:cNvSpPr>
          <p:nvPr/>
        </p:nvSpPr>
        <p:spPr>
          <a:xfrm>
            <a:off x="329875" y="1676400"/>
            <a:ext cx="6587957" cy="298556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Das Zwischenprodukt wird präsentiert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Bei Bedarf wird der </a:t>
            </a:r>
            <a:r>
              <a:rPr lang="de-DE" sz="1800" dirty="0" err="1"/>
              <a:t>Product</a:t>
            </a:r>
            <a:r>
              <a:rPr lang="de-DE" sz="1800" dirty="0"/>
              <a:t> Backlog angepasst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Alle interessierten Stakeholder können teilnehmen</a:t>
            </a:r>
            <a:endParaRPr lang="de-DE" sz="1800" spc="-20" dirty="0">
              <a:solidFill>
                <a:srgbClr val="0070C0"/>
              </a:solidFill>
            </a:endParaRPr>
          </a:p>
        </p:txBody>
      </p:sp>
      <p:pic>
        <p:nvPicPr>
          <p:cNvPr id="3" name="Picture 2" descr="Diskussion, Sitzung, Weiße Männchen, 3D Model">
            <a:extLst>
              <a:ext uri="{FF2B5EF4-FFF2-40B4-BE49-F238E27FC236}">
                <a16:creationId xmlns:a16="http://schemas.microsoft.com/office/drawing/2014/main" id="{99B09EFA-3FB0-6515-34A4-6335A56E1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81" b="7681"/>
          <a:stretch>
            <a:fillRect/>
          </a:stretch>
        </p:blipFill>
        <p:spPr bwMode="auto">
          <a:xfrm>
            <a:off x="6781800" y="1600200"/>
            <a:ext cx="4320722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524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0A018-F1D5-159E-311F-803E30551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2DD51AA-978F-A014-842B-C39B8C596D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>
                <a:latin typeface="Source Sans Pro"/>
                <a:cs typeface="Source Sans Pro"/>
              </a:rPr>
              <a:t>Sprint </a:t>
            </a:r>
            <a:r>
              <a:rPr lang="de-DE" sz="4000" b="1" spc="-10" dirty="0" err="1">
                <a:latin typeface="Source Sans Pro"/>
                <a:cs typeface="Source Sans Pro"/>
              </a:rPr>
              <a:t>Retrospective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29A36A8-36B6-2927-DE9E-F8E3E2AA029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9C22A8E4-879A-EC3E-D9FF-BAD0DD5EB2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68</a:t>
            </a:fld>
            <a:endParaRPr lang="de-DE" spc="-50" dirty="0"/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26D4D3FA-9473-C5AF-8E34-498B6F7F0427}"/>
              </a:ext>
            </a:extLst>
          </p:cNvPr>
          <p:cNvSpPr txBox="1">
            <a:spLocks/>
          </p:cNvSpPr>
          <p:nvPr/>
        </p:nvSpPr>
        <p:spPr>
          <a:xfrm>
            <a:off x="533400" y="2015922"/>
            <a:ext cx="6587957" cy="312653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Produkt steht hier nicht im Vordergrund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Hauptaugenmerk hier auf die Arbeit des Entwicklung Teams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Arbeitsweise soll stetig verbessert werden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Meist ohne Stakeholder, nur bei Bedarf sind diese anwesend</a:t>
            </a:r>
          </a:p>
        </p:txBody>
      </p:sp>
      <p:pic>
        <p:nvPicPr>
          <p:cNvPr id="3" name="Picture 2" descr="Besprechung, Meeting, Zusammenarbeit, Treffen, Personen">
            <a:extLst>
              <a:ext uri="{FF2B5EF4-FFF2-40B4-BE49-F238E27FC236}">
                <a16:creationId xmlns:a16="http://schemas.microsoft.com/office/drawing/2014/main" id="{D9F9E5D8-D93E-77BE-52CF-E1E81FE9A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615" y="2286000"/>
            <a:ext cx="2586385" cy="2586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4972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ED49D-7659-4C40-31A9-A61A10D5C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85D1A9A-B110-7587-1C47-A26E65F5A3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679" y="155194"/>
            <a:ext cx="11470640" cy="968469"/>
          </a:xfrm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lang="de-DE" sz="4000" b="1" spc="-10" dirty="0" err="1">
                <a:latin typeface="Source Sans Pro"/>
                <a:cs typeface="Source Sans Pro"/>
              </a:rPr>
              <a:t>Product</a:t>
            </a:r>
            <a:r>
              <a:rPr lang="de-DE" sz="4000" b="1" spc="-10" dirty="0">
                <a:latin typeface="Source Sans Pro"/>
                <a:cs typeface="Source Sans Pro"/>
              </a:rPr>
              <a:t> Backlog </a:t>
            </a:r>
            <a:r>
              <a:rPr lang="de-DE" sz="4000" b="1" spc="-10" dirty="0" err="1">
                <a:latin typeface="Source Sans Pro"/>
                <a:cs typeface="Source Sans Pro"/>
              </a:rPr>
              <a:t>Refinement</a:t>
            </a:r>
            <a:endParaRPr sz="4000" dirty="0">
              <a:latin typeface="Source Sans Pro"/>
              <a:cs typeface="Source Sans Pr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914EB45-A67E-4265-6599-859FB067546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de-DE" spc="-10"/>
              <a:t>Projektmanagement</a:t>
            </a:r>
            <a:endParaRPr spc="-1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55C25C64-F070-19A8-8B34-7E9C5C46AFC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96930" y="6407302"/>
            <a:ext cx="356870" cy="217170"/>
          </a:xfrm>
        </p:spPr>
        <p:txBody>
          <a:bodyPr/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lang="de-DE" spc="-50" smtClean="0"/>
              <a:t>69</a:t>
            </a:fld>
            <a:endParaRPr lang="de-DE" spc="-50" dirty="0"/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91E0A0B9-265A-4385-C705-FF92AF3FAA82}"/>
              </a:ext>
            </a:extLst>
          </p:cNvPr>
          <p:cNvSpPr txBox="1">
            <a:spLocks/>
          </p:cNvSpPr>
          <p:nvPr/>
        </p:nvSpPr>
        <p:spPr>
          <a:xfrm>
            <a:off x="533597" y="1920308"/>
            <a:ext cx="6587957" cy="259313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2400" b="0" i="0">
                <a:solidFill>
                  <a:srgbClr val="0070B1"/>
                </a:solidFill>
                <a:latin typeface="Source Sans Pro"/>
                <a:ea typeface="+mn-ea"/>
                <a:cs typeface="Source Sans Pr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dirty="0"/>
              <a:t>Fortlaufender Prozess der von</a:t>
            </a:r>
          </a:p>
          <a:p>
            <a:endParaRPr lang="de-DE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0070C0"/>
                </a:solidFill>
              </a:rPr>
              <a:t>Product</a:t>
            </a:r>
            <a:r>
              <a:rPr lang="de-DE" dirty="0">
                <a:solidFill>
                  <a:srgbClr val="0070C0"/>
                </a:solidFill>
              </a:rPr>
              <a:t> </a:t>
            </a:r>
            <a:r>
              <a:rPr lang="de-DE" dirty="0" err="1">
                <a:solidFill>
                  <a:srgbClr val="0070C0"/>
                </a:solidFill>
              </a:rPr>
              <a:t>Owner</a:t>
            </a:r>
            <a:r>
              <a:rPr lang="de-DE" dirty="0">
                <a:solidFill>
                  <a:srgbClr val="0070C0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C0"/>
                </a:solidFill>
              </a:rPr>
              <a:t>Vom Team der Developer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 dirty="0">
              <a:solidFill>
                <a:srgbClr val="0070C0"/>
              </a:solidFill>
            </a:endParaRPr>
          </a:p>
          <a:p>
            <a:r>
              <a:rPr lang="de-DE" sz="1800" dirty="0"/>
              <a:t> durchlaufen wird.</a:t>
            </a:r>
          </a:p>
          <a:p>
            <a:endParaRPr lang="de-DE" sz="1800" dirty="0"/>
          </a:p>
          <a:p>
            <a:r>
              <a:rPr lang="de-DE" sz="1800" dirty="0"/>
              <a:t>Der </a:t>
            </a:r>
            <a:r>
              <a:rPr lang="de-DE" sz="1800" dirty="0" err="1"/>
              <a:t>Product</a:t>
            </a:r>
            <a:r>
              <a:rPr lang="de-DE" sz="1800" dirty="0"/>
              <a:t> </a:t>
            </a:r>
            <a:r>
              <a:rPr lang="de-DE" sz="1800" dirty="0" err="1"/>
              <a:t>Owner</a:t>
            </a:r>
            <a:r>
              <a:rPr lang="de-DE" sz="1800" dirty="0"/>
              <a:t> organisiert und aktualisiert den </a:t>
            </a:r>
            <a:r>
              <a:rPr lang="de-DE" sz="1800" dirty="0" err="1"/>
              <a:t>Product</a:t>
            </a:r>
            <a:r>
              <a:rPr lang="de-DE" sz="1800" dirty="0"/>
              <a:t> Backlog</a:t>
            </a:r>
          </a:p>
        </p:txBody>
      </p:sp>
      <p:pic>
        <p:nvPicPr>
          <p:cNvPr id="3" name="Picture 2" descr="Personen, Silhouetten, Menschen, Geschäftsleute">
            <a:extLst>
              <a:ext uri="{FF2B5EF4-FFF2-40B4-BE49-F238E27FC236}">
                <a16:creationId xmlns:a16="http://schemas.microsoft.com/office/drawing/2014/main" id="{CB7245F7-6B13-B3B9-77DD-7352E329A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6908" y="2318234"/>
            <a:ext cx="4104456" cy="2894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5687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Projektmanagement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70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1664955" y="2209800"/>
            <a:ext cx="8686800" cy="1455737"/>
          </a:xfrm>
        </p:spPr>
        <p:txBody>
          <a:bodyPr/>
          <a:lstStyle/>
          <a:p>
            <a:r>
              <a:rPr lang="de-DE" dirty="0"/>
              <a:t>VIELEN DANK FÜR IHRE AUFMERKSAMKEIT!</a:t>
            </a:r>
          </a:p>
        </p:txBody>
      </p:sp>
      <p:grpSp>
        <p:nvGrpSpPr>
          <p:cNvPr id="8" name="Grafik 127" descr="Gruppenerfolg">
            <a:extLst>
              <a:ext uri="{FF2B5EF4-FFF2-40B4-BE49-F238E27FC236}">
                <a16:creationId xmlns:a16="http://schemas.microsoft.com/office/drawing/2014/main" id="{B1AEA3CB-529A-43D3-BF54-B3A291B5B89A}"/>
              </a:ext>
            </a:extLst>
          </p:cNvPr>
          <p:cNvGrpSpPr/>
          <p:nvPr/>
        </p:nvGrpSpPr>
        <p:grpSpPr>
          <a:xfrm>
            <a:off x="5773243" y="4981866"/>
            <a:ext cx="1656909" cy="1118841"/>
            <a:chOff x="6764943" y="3423412"/>
            <a:chExt cx="619669" cy="418437"/>
          </a:xfrm>
          <a:solidFill>
            <a:srgbClr val="0071B2"/>
          </a:solidFill>
        </p:grpSpPr>
        <p:sp>
          <p:nvSpPr>
            <p:cNvPr id="9" name="Freihandform: Form 179">
              <a:extLst>
                <a:ext uri="{FF2B5EF4-FFF2-40B4-BE49-F238E27FC236}">
                  <a16:creationId xmlns:a16="http://schemas.microsoft.com/office/drawing/2014/main" id="{83C0AB4F-B2FF-48B2-8B01-EEAE4874DA4F}"/>
                </a:ext>
              </a:extLst>
            </p:cNvPr>
            <p:cNvSpPr/>
            <p:nvPr/>
          </p:nvSpPr>
          <p:spPr>
            <a:xfrm>
              <a:off x="7259415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10" name="Freihandform: Form 180">
              <a:extLst>
                <a:ext uri="{FF2B5EF4-FFF2-40B4-BE49-F238E27FC236}">
                  <a16:creationId xmlns:a16="http://schemas.microsoft.com/office/drawing/2014/main" id="{0397E236-998B-4584-8060-2EAAEEB496B8}"/>
                </a:ext>
              </a:extLst>
            </p:cNvPr>
            <p:cNvSpPr/>
            <p:nvPr/>
          </p:nvSpPr>
          <p:spPr>
            <a:xfrm>
              <a:off x="7111582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11" name="Freihandform: Form 181">
              <a:extLst>
                <a:ext uri="{FF2B5EF4-FFF2-40B4-BE49-F238E27FC236}">
                  <a16:creationId xmlns:a16="http://schemas.microsoft.com/office/drawing/2014/main" id="{16928ED2-C07E-4785-8197-7CC30C3379AD}"/>
                </a:ext>
              </a:extLst>
            </p:cNvPr>
            <p:cNvSpPr/>
            <p:nvPr/>
          </p:nvSpPr>
          <p:spPr>
            <a:xfrm>
              <a:off x="6963749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12" name="Freihandform: Form 182">
              <a:extLst>
                <a:ext uri="{FF2B5EF4-FFF2-40B4-BE49-F238E27FC236}">
                  <a16:creationId xmlns:a16="http://schemas.microsoft.com/office/drawing/2014/main" id="{EAFD5657-18FA-4723-A9AE-B61E45511EAB}"/>
                </a:ext>
              </a:extLst>
            </p:cNvPr>
            <p:cNvSpPr/>
            <p:nvPr/>
          </p:nvSpPr>
          <p:spPr>
            <a:xfrm>
              <a:off x="6815915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13" name="Freihandform: Form 183">
              <a:extLst>
                <a:ext uri="{FF2B5EF4-FFF2-40B4-BE49-F238E27FC236}">
                  <a16:creationId xmlns:a16="http://schemas.microsoft.com/office/drawing/2014/main" id="{93F96C60-0AEE-4A75-8162-D9D7D87FD848}"/>
                </a:ext>
              </a:extLst>
            </p:cNvPr>
            <p:cNvSpPr/>
            <p:nvPr/>
          </p:nvSpPr>
          <p:spPr>
            <a:xfrm>
              <a:off x="6764943" y="3423412"/>
              <a:ext cx="619669" cy="418437"/>
            </a:xfrm>
            <a:custGeom>
              <a:avLst/>
              <a:gdLst>
                <a:gd name="connsiteX0" fmla="*/ 609633 w 619669"/>
                <a:gd name="connsiteY0" fmla="*/ 882 h 418437"/>
                <a:gd name="connsiteX1" fmla="*/ 590709 w 619669"/>
                <a:gd name="connsiteY1" fmla="*/ 9769 h 418437"/>
                <a:gd name="connsiteX2" fmla="*/ 590562 w 619669"/>
                <a:gd name="connsiteY2" fmla="*/ 10196 h 418437"/>
                <a:gd name="connsiteX3" fmla="*/ 562991 w 619669"/>
                <a:gd name="connsiteY3" fmla="*/ 91504 h 418437"/>
                <a:gd name="connsiteX4" fmla="*/ 531429 w 619669"/>
                <a:gd name="connsiteY4" fmla="*/ 85812 h 418437"/>
                <a:gd name="connsiteX5" fmla="*/ 499497 w 619669"/>
                <a:gd name="connsiteY5" fmla="*/ 91578 h 418437"/>
                <a:gd name="connsiteX6" fmla="*/ 472296 w 619669"/>
                <a:gd name="connsiteY6" fmla="*/ 10196 h 418437"/>
                <a:gd name="connsiteX7" fmla="*/ 452235 w 619669"/>
                <a:gd name="connsiteY7" fmla="*/ 1280 h 418437"/>
                <a:gd name="connsiteX8" fmla="*/ 443320 w 619669"/>
                <a:gd name="connsiteY8" fmla="*/ 10196 h 418437"/>
                <a:gd name="connsiteX9" fmla="*/ 415749 w 619669"/>
                <a:gd name="connsiteY9" fmla="*/ 91504 h 418437"/>
                <a:gd name="connsiteX10" fmla="*/ 383596 w 619669"/>
                <a:gd name="connsiteY10" fmla="*/ 85812 h 418437"/>
                <a:gd name="connsiteX11" fmla="*/ 351664 w 619669"/>
                <a:gd name="connsiteY11" fmla="*/ 91504 h 418437"/>
                <a:gd name="connsiteX12" fmla="*/ 324462 w 619669"/>
                <a:gd name="connsiteY12" fmla="*/ 10196 h 418437"/>
                <a:gd name="connsiteX13" fmla="*/ 304402 w 619669"/>
                <a:gd name="connsiteY13" fmla="*/ 1280 h 418437"/>
                <a:gd name="connsiteX14" fmla="*/ 295487 w 619669"/>
                <a:gd name="connsiteY14" fmla="*/ 10196 h 418437"/>
                <a:gd name="connsiteX15" fmla="*/ 267990 w 619669"/>
                <a:gd name="connsiteY15" fmla="*/ 91504 h 418437"/>
                <a:gd name="connsiteX16" fmla="*/ 235762 w 619669"/>
                <a:gd name="connsiteY16" fmla="*/ 85812 h 418437"/>
                <a:gd name="connsiteX17" fmla="*/ 203830 w 619669"/>
                <a:gd name="connsiteY17" fmla="*/ 91578 h 418437"/>
                <a:gd name="connsiteX18" fmla="*/ 176629 w 619669"/>
                <a:gd name="connsiteY18" fmla="*/ 10196 h 418437"/>
                <a:gd name="connsiteX19" fmla="*/ 156569 w 619669"/>
                <a:gd name="connsiteY19" fmla="*/ 1280 h 418437"/>
                <a:gd name="connsiteX20" fmla="*/ 147654 w 619669"/>
                <a:gd name="connsiteY20" fmla="*/ 10196 h 418437"/>
                <a:gd name="connsiteX21" fmla="*/ 120083 w 619669"/>
                <a:gd name="connsiteY21" fmla="*/ 91504 h 418437"/>
                <a:gd name="connsiteX22" fmla="*/ 87929 w 619669"/>
                <a:gd name="connsiteY22" fmla="*/ 85812 h 418437"/>
                <a:gd name="connsiteX23" fmla="*/ 55997 w 619669"/>
                <a:gd name="connsiteY23" fmla="*/ 91578 h 418437"/>
                <a:gd name="connsiteX24" fmla="*/ 28796 w 619669"/>
                <a:gd name="connsiteY24" fmla="*/ 10196 h 418437"/>
                <a:gd name="connsiteX25" fmla="*/ 10058 w 619669"/>
                <a:gd name="connsiteY25" fmla="*/ 919 h 418437"/>
                <a:gd name="connsiteX26" fmla="*/ 781 w 619669"/>
                <a:gd name="connsiteY26" fmla="*/ 19657 h 418437"/>
                <a:gd name="connsiteX27" fmla="*/ 37296 w 619669"/>
                <a:gd name="connsiteY27" fmla="*/ 127501 h 418437"/>
                <a:gd name="connsiteX28" fmla="*/ 50971 w 619669"/>
                <a:gd name="connsiteY28" fmla="*/ 137554 h 418437"/>
                <a:gd name="connsiteX29" fmla="*/ 50971 w 619669"/>
                <a:gd name="connsiteY29" fmla="*/ 181904 h 418437"/>
                <a:gd name="connsiteX30" fmla="*/ 28796 w 619669"/>
                <a:gd name="connsiteY30" fmla="*/ 292779 h 418437"/>
                <a:gd name="connsiteX31" fmla="*/ 50971 w 619669"/>
                <a:gd name="connsiteY31" fmla="*/ 292779 h 418437"/>
                <a:gd name="connsiteX32" fmla="*/ 50971 w 619669"/>
                <a:gd name="connsiteY32" fmla="*/ 418438 h 418437"/>
                <a:gd name="connsiteX33" fmla="*/ 80537 w 619669"/>
                <a:gd name="connsiteY33" fmla="*/ 418438 h 418437"/>
                <a:gd name="connsiteX34" fmla="*/ 80537 w 619669"/>
                <a:gd name="connsiteY34" fmla="*/ 292779 h 418437"/>
                <a:gd name="connsiteX35" fmla="*/ 95321 w 619669"/>
                <a:gd name="connsiteY35" fmla="*/ 292779 h 418437"/>
                <a:gd name="connsiteX36" fmla="*/ 95321 w 619669"/>
                <a:gd name="connsiteY36" fmla="*/ 418438 h 418437"/>
                <a:gd name="connsiteX37" fmla="*/ 124887 w 619669"/>
                <a:gd name="connsiteY37" fmla="*/ 418438 h 418437"/>
                <a:gd name="connsiteX38" fmla="*/ 124887 w 619669"/>
                <a:gd name="connsiteY38" fmla="*/ 292779 h 418437"/>
                <a:gd name="connsiteX39" fmla="*/ 147062 w 619669"/>
                <a:gd name="connsiteY39" fmla="*/ 292779 h 418437"/>
                <a:gd name="connsiteX40" fmla="*/ 124887 w 619669"/>
                <a:gd name="connsiteY40" fmla="*/ 181904 h 418437"/>
                <a:gd name="connsiteX41" fmla="*/ 124887 w 619669"/>
                <a:gd name="connsiteY41" fmla="*/ 137554 h 418437"/>
                <a:gd name="connsiteX42" fmla="*/ 138858 w 619669"/>
                <a:gd name="connsiteY42" fmla="*/ 127501 h 418437"/>
                <a:gd name="connsiteX43" fmla="*/ 161846 w 619669"/>
                <a:gd name="connsiteY43" fmla="*/ 59646 h 418437"/>
                <a:gd name="connsiteX44" fmla="*/ 184834 w 619669"/>
                <a:gd name="connsiteY44" fmla="*/ 127501 h 418437"/>
                <a:gd name="connsiteX45" fmla="*/ 198804 w 619669"/>
                <a:gd name="connsiteY45" fmla="*/ 137554 h 418437"/>
                <a:gd name="connsiteX46" fmla="*/ 198804 w 619669"/>
                <a:gd name="connsiteY46" fmla="*/ 418438 h 418437"/>
                <a:gd name="connsiteX47" fmla="*/ 228371 w 619669"/>
                <a:gd name="connsiteY47" fmla="*/ 418438 h 418437"/>
                <a:gd name="connsiteX48" fmla="*/ 228371 w 619669"/>
                <a:gd name="connsiteY48" fmla="*/ 248429 h 418437"/>
                <a:gd name="connsiteX49" fmla="*/ 243154 w 619669"/>
                <a:gd name="connsiteY49" fmla="*/ 248429 h 418437"/>
                <a:gd name="connsiteX50" fmla="*/ 243154 w 619669"/>
                <a:gd name="connsiteY50" fmla="*/ 418438 h 418437"/>
                <a:gd name="connsiteX51" fmla="*/ 272721 w 619669"/>
                <a:gd name="connsiteY51" fmla="*/ 418438 h 418437"/>
                <a:gd name="connsiteX52" fmla="*/ 272721 w 619669"/>
                <a:gd name="connsiteY52" fmla="*/ 137554 h 418437"/>
                <a:gd name="connsiteX53" fmla="*/ 286691 w 619669"/>
                <a:gd name="connsiteY53" fmla="*/ 127501 h 418437"/>
                <a:gd name="connsiteX54" fmla="*/ 309679 w 619669"/>
                <a:gd name="connsiteY54" fmla="*/ 59646 h 418437"/>
                <a:gd name="connsiteX55" fmla="*/ 332667 w 619669"/>
                <a:gd name="connsiteY55" fmla="*/ 127501 h 418437"/>
                <a:gd name="connsiteX56" fmla="*/ 346637 w 619669"/>
                <a:gd name="connsiteY56" fmla="*/ 137554 h 418437"/>
                <a:gd name="connsiteX57" fmla="*/ 346637 w 619669"/>
                <a:gd name="connsiteY57" fmla="*/ 181904 h 418437"/>
                <a:gd name="connsiteX58" fmla="*/ 324462 w 619669"/>
                <a:gd name="connsiteY58" fmla="*/ 292779 h 418437"/>
                <a:gd name="connsiteX59" fmla="*/ 346637 w 619669"/>
                <a:gd name="connsiteY59" fmla="*/ 292779 h 418437"/>
                <a:gd name="connsiteX60" fmla="*/ 346637 w 619669"/>
                <a:gd name="connsiteY60" fmla="*/ 418438 h 418437"/>
                <a:gd name="connsiteX61" fmla="*/ 376204 w 619669"/>
                <a:gd name="connsiteY61" fmla="*/ 418438 h 418437"/>
                <a:gd name="connsiteX62" fmla="*/ 376204 w 619669"/>
                <a:gd name="connsiteY62" fmla="*/ 292779 h 418437"/>
                <a:gd name="connsiteX63" fmla="*/ 390987 w 619669"/>
                <a:gd name="connsiteY63" fmla="*/ 292779 h 418437"/>
                <a:gd name="connsiteX64" fmla="*/ 390987 w 619669"/>
                <a:gd name="connsiteY64" fmla="*/ 418438 h 418437"/>
                <a:gd name="connsiteX65" fmla="*/ 420554 w 619669"/>
                <a:gd name="connsiteY65" fmla="*/ 418438 h 418437"/>
                <a:gd name="connsiteX66" fmla="*/ 420554 w 619669"/>
                <a:gd name="connsiteY66" fmla="*/ 292779 h 418437"/>
                <a:gd name="connsiteX67" fmla="*/ 442729 w 619669"/>
                <a:gd name="connsiteY67" fmla="*/ 292779 h 418437"/>
                <a:gd name="connsiteX68" fmla="*/ 420554 w 619669"/>
                <a:gd name="connsiteY68" fmla="*/ 181904 h 418437"/>
                <a:gd name="connsiteX69" fmla="*/ 420554 w 619669"/>
                <a:gd name="connsiteY69" fmla="*/ 137554 h 418437"/>
                <a:gd name="connsiteX70" fmla="*/ 434524 w 619669"/>
                <a:gd name="connsiteY70" fmla="*/ 127501 h 418437"/>
                <a:gd name="connsiteX71" fmla="*/ 457512 w 619669"/>
                <a:gd name="connsiteY71" fmla="*/ 59646 h 418437"/>
                <a:gd name="connsiteX72" fmla="*/ 480500 w 619669"/>
                <a:gd name="connsiteY72" fmla="*/ 127501 h 418437"/>
                <a:gd name="connsiteX73" fmla="*/ 494471 w 619669"/>
                <a:gd name="connsiteY73" fmla="*/ 137554 h 418437"/>
                <a:gd name="connsiteX74" fmla="*/ 494471 w 619669"/>
                <a:gd name="connsiteY74" fmla="*/ 418438 h 418437"/>
                <a:gd name="connsiteX75" fmla="*/ 524037 w 619669"/>
                <a:gd name="connsiteY75" fmla="*/ 418438 h 418437"/>
                <a:gd name="connsiteX76" fmla="*/ 524037 w 619669"/>
                <a:gd name="connsiteY76" fmla="*/ 248429 h 418437"/>
                <a:gd name="connsiteX77" fmla="*/ 538821 w 619669"/>
                <a:gd name="connsiteY77" fmla="*/ 248429 h 418437"/>
                <a:gd name="connsiteX78" fmla="*/ 538821 w 619669"/>
                <a:gd name="connsiteY78" fmla="*/ 418438 h 418437"/>
                <a:gd name="connsiteX79" fmla="*/ 568387 w 619669"/>
                <a:gd name="connsiteY79" fmla="*/ 418438 h 418437"/>
                <a:gd name="connsiteX80" fmla="*/ 568387 w 619669"/>
                <a:gd name="connsiteY80" fmla="*/ 137554 h 418437"/>
                <a:gd name="connsiteX81" fmla="*/ 582358 w 619669"/>
                <a:gd name="connsiteY81" fmla="*/ 127501 h 418437"/>
                <a:gd name="connsiteX82" fmla="*/ 618873 w 619669"/>
                <a:gd name="connsiteY82" fmla="*/ 19657 h 418437"/>
                <a:gd name="connsiteX83" fmla="*/ 609657 w 619669"/>
                <a:gd name="connsiteY83" fmla="*/ 890 h 418437"/>
                <a:gd name="connsiteX84" fmla="*/ 609633 w 619669"/>
                <a:gd name="connsiteY84" fmla="*/ 882 h 41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619669" h="418437">
                  <a:moveTo>
                    <a:pt x="609633" y="882"/>
                  </a:moveTo>
                  <a:cubicBezTo>
                    <a:pt x="601953" y="-1890"/>
                    <a:pt x="593481" y="2089"/>
                    <a:pt x="590709" y="9769"/>
                  </a:cubicBezTo>
                  <a:cubicBezTo>
                    <a:pt x="590658" y="9910"/>
                    <a:pt x="590609" y="10053"/>
                    <a:pt x="590562" y="10196"/>
                  </a:cubicBezTo>
                  <a:lnTo>
                    <a:pt x="562991" y="91504"/>
                  </a:lnTo>
                  <a:cubicBezTo>
                    <a:pt x="552806" y="88074"/>
                    <a:pt x="542171" y="86156"/>
                    <a:pt x="531429" y="85812"/>
                  </a:cubicBezTo>
                  <a:cubicBezTo>
                    <a:pt x="520558" y="86140"/>
                    <a:pt x="509796" y="88082"/>
                    <a:pt x="499497" y="91578"/>
                  </a:cubicBezTo>
                  <a:lnTo>
                    <a:pt x="472296" y="10196"/>
                  </a:lnTo>
                  <a:cubicBezTo>
                    <a:pt x="469218" y="2194"/>
                    <a:pt x="460237" y="-1797"/>
                    <a:pt x="452235" y="1280"/>
                  </a:cubicBezTo>
                  <a:cubicBezTo>
                    <a:pt x="448136" y="2857"/>
                    <a:pt x="444897" y="6097"/>
                    <a:pt x="443320" y="10196"/>
                  </a:cubicBezTo>
                  <a:lnTo>
                    <a:pt x="415749" y="91504"/>
                  </a:lnTo>
                  <a:cubicBezTo>
                    <a:pt x="405376" y="88010"/>
                    <a:pt x="394538" y="86092"/>
                    <a:pt x="383596" y="85812"/>
                  </a:cubicBezTo>
                  <a:cubicBezTo>
                    <a:pt x="372731" y="86148"/>
                    <a:pt x="361974" y="88065"/>
                    <a:pt x="351664" y="91504"/>
                  </a:cubicBezTo>
                  <a:lnTo>
                    <a:pt x="324462" y="10196"/>
                  </a:lnTo>
                  <a:cubicBezTo>
                    <a:pt x="321384" y="2194"/>
                    <a:pt x="312404" y="-1797"/>
                    <a:pt x="304402" y="1280"/>
                  </a:cubicBezTo>
                  <a:cubicBezTo>
                    <a:pt x="300303" y="2857"/>
                    <a:pt x="297064" y="6097"/>
                    <a:pt x="295487" y="10196"/>
                  </a:cubicBezTo>
                  <a:lnTo>
                    <a:pt x="267990" y="91504"/>
                  </a:lnTo>
                  <a:cubicBezTo>
                    <a:pt x="257582" y="88047"/>
                    <a:pt x="246725" y="86129"/>
                    <a:pt x="235762" y="85812"/>
                  </a:cubicBezTo>
                  <a:cubicBezTo>
                    <a:pt x="224891" y="86140"/>
                    <a:pt x="214129" y="88082"/>
                    <a:pt x="203830" y="91578"/>
                  </a:cubicBezTo>
                  <a:lnTo>
                    <a:pt x="176629" y="10196"/>
                  </a:lnTo>
                  <a:cubicBezTo>
                    <a:pt x="173551" y="2194"/>
                    <a:pt x="164570" y="-1797"/>
                    <a:pt x="156569" y="1280"/>
                  </a:cubicBezTo>
                  <a:cubicBezTo>
                    <a:pt x="152469" y="2857"/>
                    <a:pt x="149230" y="6097"/>
                    <a:pt x="147654" y="10196"/>
                  </a:cubicBezTo>
                  <a:lnTo>
                    <a:pt x="120083" y="91504"/>
                  </a:lnTo>
                  <a:cubicBezTo>
                    <a:pt x="109702" y="88042"/>
                    <a:pt x="98868" y="86124"/>
                    <a:pt x="87929" y="85812"/>
                  </a:cubicBezTo>
                  <a:cubicBezTo>
                    <a:pt x="77058" y="86140"/>
                    <a:pt x="66296" y="88082"/>
                    <a:pt x="55997" y="91578"/>
                  </a:cubicBezTo>
                  <a:lnTo>
                    <a:pt x="28796" y="10196"/>
                  </a:lnTo>
                  <a:cubicBezTo>
                    <a:pt x="26183" y="2459"/>
                    <a:pt x="17794" y="-1694"/>
                    <a:pt x="10058" y="919"/>
                  </a:cubicBezTo>
                  <a:cubicBezTo>
                    <a:pt x="2322" y="3532"/>
                    <a:pt x="-1831" y="11921"/>
                    <a:pt x="781" y="19657"/>
                  </a:cubicBezTo>
                  <a:lnTo>
                    <a:pt x="37296" y="127501"/>
                  </a:lnTo>
                  <a:cubicBezTo>
                    <a:pt x="39285" y="133396"/>
                    <a:pt x="44751" y="137414"/>
                    <a:pt x="50971" y="137554"/>
                  </a:cubicBezTo>
                  <a:lnTo>
                    <a:pt x="50971" y="181904"/>
                  </a:lnTo>
                  <a:lnTo>
                    <a:pt x="28796" y="292779"/>
                  </a:lnTo>
                  <a:lnTo>
                    <a:pt x="50971" y="292779"/>
                  </a:lnTo>
                  <a:lnTo>
                    <a:pt x="50971" y="418438"/>
                  </a:lnTo>
                  <a:lnTo>
                    <a:pt x="80537" y="418438"/>
                  </a:lnTo>
                  <a:lnTo>
                    <a:pt x="80537" y="292779"/>
                  </a:lnTo>
                  <a:lnTo>
                    <a:pt x="95321" y="292779"/>
                  </a:lnTo>
                  <a:lnTo>
                    <a:pt x="95321" y="418438"/>
                  </a:lnTo>
                  <a:lnTo>
                    <a:pt x="124887" y="418438"/>
                  </a:lnTo>
                  <a:lnTo>
                    <a:pt x="124887" y="292779"/>
                  </a:lnTo>
                  <a:lnTo>
                    <a:pt x="147062" y="292779"/>
                  </a:lnTo>
                  <a:lnTo>
                    <a:pt x="124887" y="181904"/>
                  </a:lnTo>
                  <a:lnTo>
                    <a:pt x="124887" y="137554"/>
                  </a:lnTo>
                  <a:cubicBezTo>
                    <a:pt x="131216" y="137539"/>
                    <a:pt x="136832" y="133497"/>
                    <a:pt x="138858" y="127501"/>
                  </a:cubicBezTo>
                  <a:lnTo>
                    <a:pt x="161846" y="59646"/>
                  </a:lnTo>
                  <a:lnTo>
                    <a:pt x="184834" y="127501"/>
                  </a:lnTo>
                  <a:cubicBezTo>
                    <a:pt x="186859" y="133497"/>
                    <a:pt x="192475" y="137539"/>
                    <a:pt x="198804" y="137554"/>
                  </a:cubicBezTo>
                  <a:lnTo>
                    <a:pt x="198804" y="418438"/>
                  </a:lnTo>
                  <a:lnTo>
                    <a:pt x="228371" y="418438"/>
                  </a:lnTo>
                  <a:lnTo>
                    <a:pt x="228371" y="248429"/>
                  </a:lnTo>
                  <a:lnTo>
                    <a:pt x="243154" y="248429"/>
                  </a:lnTo>
                  <a:lnTo>
                    <a:pt x="243154" y="418438"/>
                  </a:lnTo>
                  <a:lnTo>
                    <a:pt x="272721" y="418438"/>
                  </a:lnTo>
                  <a:lnTo>
                    <a:pt x="272721" y="137554"/>
                  </a:lnTo>
                  <a:cubicBezTo>
                    <a:pt x="279049" y="137539"/>
                    <a:pt x="284666" y="133497"/>
                    <a:pt x="286691" y="127501"/>
                  </a:cubicBezTo>
                  <a:lnTo>
                    <a:pt x="309679" y="59646"/>
                  </a:lnTo>
                  <a:lnTo>
                    <a:pt x="332667" y="127501"/>
                  </a:lnTo>
                  <a:cubicBezTo>
                    <a:pt x="334692" y="133497"/>
                    <a:pt x="340309" y="137539"/>
                    <a:pt x="346637" y="137554"/>
                  </a:cubicBezTo>
                  <a:lnTo>
                    <a:pt x="346637" y="181904"/>
                  </a:lnTo>
                  <a:lnTo>
                    <a:pt x="324462" y="292779"/>
                  </a:lnTo>
                  <a:lnTo>
                    <a:pt x="346637" y="292779"/>
                  </a:lnTo>
                  <a:lnTo>
                    <a:pt x="346637" y="418438"/>
                  </a:lnTo>
                  <a:lnTo>
                    <a:pt x="376204" y="418438"/>
                  </a:lnTo>
                  <a:lnTo>
                    <a:pt x="376204" y="292779"/>
                  </a:lnTo>
                  <a:lnTo>
                    <a:pt x="390987" y="292779"/>
                  </a:lnTo>
                  <a:lnTo>
                    <a:pt x="390987" y="418438"/>
                  </a:lnTo>
                  <a:lnTo>
                    <a:pt x="420554" y="418438"/>
                  </a:lnTo>
                  <a:lnTo>
                    <a:pt x="420554" y="292779"/>
                  </a:lnTo>
                  <a:lnTo>
                    <a:pt x="442729" y="292779"/>
                  </a:lnTo>
                  <a:lnTo>
                    <a:pt x="420554" y="181904"/>
                  </a:lnTo>
                  <a:lnTo>
                    <a:pt x="420554" y="137554"/>
                  </a:lnTo>
                  <a:cubicBezTo>
                    <a:pt x="426883" y="137539"/>
                    <a:pt x="432499" y="133497"/>
                    <a:pt x="434524" y="127501"/>
                  </a:cubicBezTo>
                  <a:lnTo>
                    <a:pt x="457512" y="59646"/>
                  </a:lnTo>
                  <a:lnTo>
                    <a:pt x="480500" y="127501"/>
                  </a:lnTo>
                  <a:cubicBezTo>
                    <a:pt x="482526" y="133497"/>
                    <a:pt x="488142" y="137539"/>
                    <a:pt x="494471" y="137554"/>
                  </a:cubicBezTo>
                  <a:lnTo>
                    <a:pt x="494471" y="418438"/>
                  </a:lnTo>
                  <a:lnTo>
                    <a:pt x="524037" y="418438"/>
                  </a:lnTo>
                  <a:lnTo>
                    <a:pt x="524037" y="248429"/>
                  </a:lnTo>
                  <a:lnTo>
                    <a:pt x="538821" y="248429"/>
                  </a:lnTo>
                  <a:lnTo>
                    <a:pt x="538821" y="418438"/>
                  </a:lnTo>
                  <a:lnTo>
                    <a:pt x="568387" y="418438"/>
                  </a:lnTo>
                  <a:lnTo>
                    <a:pt x="568387" y="137554"/>
                  </a:lnTo>
                  <a:cubicBezTo>
                    <a:pt x="574716" y="137539"/>
                    <a:pt x="580332" y="133497"/>
                    <a:pt x="582358" y="127501"/>
                  </a:cubicBezTo>
                  <a:lnTo>
                    <a:pt x="618873" y="19657"/>
                  </a:lnTo>
                  <a:cubicBezTo>
                    <a:pt x="621510" y="11930"/>
                    <a:pt x="617385" y="3528"/>
                    <a:pt x="609657" y="890"/>
                  </a:cubicBezTo>
                  <a:cubicBezTo>
                    <a:pt x="609649" y="888"/>
                    <a:pt x="609641" y="885"/>
                    <a:pt x="609633" y="882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</p:grp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3922031" y="4598358"/>
            <a:ext cx="1713537" cy="1713542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1675351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D5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3070</Words>
  <Application>Microsoft Office PowerPoint</Application>
  <PresentationFormat>Breitbild</PresentationFormat>
  <Paragraphs>1101</Paragraphs>
  <Slides>70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70</vt:i4>
      </vt:variant>
    </vt:vector>
  </HeadingPairs>
  <TitlesOfParts>
    <vt:vector size="77" baseType="lpstr">
      <vt:lpstr>Aptos</vt:lpstr>
      <vt:lpstr>Arial</vt:lpstr>
      <vt:lpstr>Calibri</vt:lpstr>
      <vt:lpstr>Source Sans Pro</vt:lpstr>
      <vt:lpstr>Verdana</vt:lpstr>
      <vt:lpstr>Wingdings</vt:lpstr>
      <vt:lpstr>Office Theme</vt:lpstr>
      <vt:lpstr>Projektmanagement</vt:lpstr>
      <vt:lpstr>PowerPoint-Präsentation</vt:lpstr>
      <vt:lpstr>Projekt - Definition</vt:lpstr>
      <vt:lpstr>Projektmanagement - Umsetzung</vt:lpstr>
      <vt:lpstr>Projektphasen - Vorteile</vt:lpstr>
      <vt:lpstr>4 Phasen des Projektablaufs</vt:lpstr>
      <vt:lpstr>Wasserfallmodell</vt:lpstr>
      <vt:lpstr>Rollen im Projekt – Wer macht mit?</vt:lpstr>
      <vt:lpstr>Projektleiter</vt:lpstr>
      <vt:lpstr>Das Lastenheft</vt:lpstr>
      <vt:lpstr>Das Pflichtenheft</vt:lpstr>
      <vt:lpstr>Formulierung der Projektziele</vt:lpstr>
      <vt:lpstr>SMARTe Ziele</vt:lpstr>
      <vt:lpstr>Projektstrukturplan</vt:lpstr>
      <vt:lpstr>Das Magische Dreieck</vt:lpstr>
      <vt:lpstr>Vorgangsliste</vt:lpstr>
      <vt:lpstr>Gantt-Diagramm</vt:lpstr>
      <vt:lpstr>Vorgangsknoten</vt:lpstr>
      <vt:lpstr>Nutzwertanalyse - Beispiel</vt:lpstr>
      <vt:lpstr>Kickoff-Meeting</vt:lpstr>
      <vt:lpstr>Aufgaben des Projektmanagements in der Durchführungsphase</vt:lpstr>
      <vt:lpstr>Teamaufbau nach Tuckman</vt:lpstr>
      <vt:lpstr>Projektmanagementmethoden</vt:lpstr>
      <vt:lpstr>Projektmanagementmethoden</vt:lpstr>
      <vt:lpstr>SCRUM – die Grundidee</vt:lpstr>
      <vt:lpstr>Der SCRUM Prozess</vt:lpstr>
      <vt:lpstr>PowerPoint-Präsentation</vt:lpstr>
      <vt:lpstr>Merkmale eines Projektes</vt:lpstr>
      <vt:lpstr>Beispiele für andere Modelle</vt:lpstr>
      <vt:lpstr>Empfehlung für Ihre Projektarbeit</vt:lpstr>
      <vt:lpstr>Erweitertes Wasserfallmodell</vt:lpstr>
      <vt:lpstr>Stakeholder</vt:lpstr>
      <vt:lpstr>Das Pflichtenheft</vt:lpstr>
      <vt:lpstr>Zielkomponenten</vt:lpstr>
      <vt:lpstr>Projektstrukturplan (PSP)</vt:lpstr>
      <vt:lpstr>Projektstrukturplan - Gliederung</vt:lpstr>
      <vt:lpstr>Projektstrukturplan - Gliederung</vt:lpstr>
      <vt:lpstr>Vorgangsliste, Projektablaufplan</vt:lpstr>
      <vt:lpstr>Projektablaufplan (PAP) – Gantt-Diagramm</vt:lpstr>
      <vt:lpstr>Phasen der Netzplantechnik</vt:lpstr>
      <vt:lpstr>Phasen der Netzplantechnik</vt:lpstr>
      <vt:lpstr>Phasen der Netzplantechnik</vt:lpstr>
      <vt:lpstr>Phasen der Netzplantechnik</vt:lpstr>
      <vt:lpstr>Phasen der Netzplantechnik</vt:lpstr>
      <vt:lpstr>Phasen der Netzplantechnik</vt:lpstr>
      <vt:lpstr>Phasen der Netzplantechnik</vt:lpstr>
      <vt:lpstr>Gesamt- und Freier Puffer</vt:lpstr>
      <vt:lpstr>Netzplan – unterschiedliche Darstellungen</vt:lpstr>
      <vt:lpstr>Nutzwertanalyse</vt:lpstr>
      <vt:lpstr>Nutzwertanalyse</vt:lpstr>
      <vt:lpstr>Projektdokumentation</vt:lpstr>
      <vt:lpstr>Prozessdokumentation</vt:lpstr>
      <vt:lpstr>Produktdokumentation</vt:lpstr>
      <vt:lpstr>Übersicht</vt:lpstr>
      <vt:lpstr>Projektmanagementmethoden</vt:lpstr>
      <vt:lpstr>SCRUM – die Grundidee</vt:lpstr>
      <vt:lpstr>SCRUM</vt:lpstr>
      <vt:lpstr>Product Owner</vt:lpstr>
      <vt:lpstr>Scrum Master</vt:lpstr>
      <vt:lpstr>Scrum Team</vt:lpstr>
      <vt:lpstr>Product Backlog</vt:lpstr>
      <vt:lpstr>Sprint Backlog</vt:lpstr>
      <vt:lpstr>Produkt Inkrement</vt:lpstr>
      <vt:lpstr>Sprint Planning</vt:lpstr>
      <vt:lpstr>Sprint</vt:lpstr>
      <vt:lpstr>Daily Scrum</vt:lpstr>
      <vt:lpstr>Sprint Review</vt:lpstr>
      <vt:lpstr>Sprint Retrospective</vt:lpstr>
      <vt:lpstr>Product Backlog Refinement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WBS TRAINING AG</dc:creator>
  <cp:lastModifiedBy>Roland Pfeifer</cp:lastModifiedBy>
  <cp:revision>43</cp:revision>
  <dcterms:created xsi:type="dcterms:W3CDTF">2024-11-06T14:33:26Z</dcterms:created>
  <dcterms:modified xsi:type="dcterms:W3CDTF">2026-09-16T05:48:44Z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2023-12-14T00:00:00Z</vt:filetime>
  </property>
  <property fmtid="{D5CDD505-2E9C-101B-9397-08002B2CF9AE}" pid="3" name="Creator">
    <vt:lpwstr>Microsoft® PowerPoint® für Microsoft 365</vt:lpwstr>
  </property>
  <property fmtid="{D5CDD505-2E9C-101B-9397-08002B2CF9AE}" pid="4" name="LastSaved">
    <vt:filetime>2024-11-06T00:00:00Z</vt:filetime>
  </property>
  <property fmtid="{D5CDD505-2E9C-101B-9397-08002B2CF9AE}" pid="5" name="Producer">
    <vt:lpwstr>Microsoft® PowerPoint® für Microsoft 365</vt:lpwstr>
  </property>
</Properties>
</file>