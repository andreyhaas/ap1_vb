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5"/>
  </p:notesMasterIdLst>
  <p:sldIdLst>
    <p:sldId id="286" r:id="rId2"/>
    <p:sldId id="388" r:id="rId3"/>
    <p:sldId id="380" r:id="rId4"/>
    <p:sldId id="314" r:id="rId5"/>
    <p:sldId id="335" r:id="rId6"/>
    <p:sldId id="330" r:id="rId7"/>
    <p:sldId id="383" r:id="rId8"/>
    <p:sldId id="258" r:id="rId9"/>
    <p:sldId id="389" r:id="rId10"/>
    <p:sldId id="368" r:id="rId11"/>
    <p:sldId id="283" r:id="rId12"/>
    <p:sldId id="370" r:id="rId13"/>
    <p:sldId id="319" r:id="rId14"/>
    <p:sldId id="263" r:id="rId15"/>
    <p:sldId id="378" r:id="rId16"/>
    <p:sldId id="313" r:id="rId17"/>
    <p:sldId id="337" r:id="rId18"/>
    <p:sldId id="316" r:id="rId19"/>
    <p:sldId id="312" r:id="rId20"/>
    <p:sldId id="259" r:id="rId21"/>
    <p:sldId id="299" r:id="rId22"/>
    <p:sldId id="303" r:id="rId23"/>
    <p:sldId id="376" r:id="rId24"/>
    <p:sldId id="304" r:id="rId25"/>
    <p:sldId id="280" r:id="rId26"/>
    <p:sldId id="300" r:id="rId27"/>
    <p:sldId id="315" r:id="rId28"/>
    <p:sldId id="289" r:id="rId29"/>
    <p:sldId id="327" r:id="rId30"/>
    <p:sldId id="323" r:id="rId31"/>
    <p:sldId id="328" r:id="rId32"/>
    <p:sldId id="386" r:id="rId33"/>
    <p:sldId id="371" r:id="rId34"/>
    <p:sldId id="360" r:id="rId35"/>
    <p:sldId id="373" r:id="rId36"/>
    <p:sldId id="374" r:id="rId37"/>
    <p:sldId id="331" r:id="rId38"/>
    <p:sldId id="401" r:id="rId39"/>
    <p:sldId id="412" r:id="rId40"/>
    <p:sldId id="410" r:id="rId41"/>
    <p:sldId id="411" r:id="rId42"/>
    <p:sldId id="413" r:id="rId43"/>
    <p:sldId id="415" r:id="rId44"/>
    <p:sldId id="416" r:id="rId45"/>
    <p:sldId id="382" r:id="rId46"/>
    <p:sldId id="287" r:id="rId47"/>
    <p:sldId id="288" r:id="rId48"/>
    <p:sldId id="306" r:id="rId49"/>
    <p:sldId id="291" r:id="rId50"/>
    <p:sldId id="398" r:id="rId51"/>
    <p:sldId id="399" r:id="rId52"/>
    <p:sldId id="261" r:id="rId53"/>
    <p:sldId id="351" r:id="rId54"/>
    <p:sldId id="396" r:id="rId55"/>
    <p:sldId id="264" r:id="rId56"/>
    <p:sldId id="326" r:id="rId57"/>
    <p:sldId id="329" r:id="rId58"/>
    <p:sldId id="294" r:id="rId59"/>
    <p:sldId id="394" r:id="rId60"/>
    <p:sldId id="338" r:id="rId61"/>
    <p:sldId id="395" r:id="rId62"/>
    <p:sldId id="295" r:id="rId63"/>
    <p:sldId id="260" r:id="rId64"/>
    <p:sldId id="332" r:id="rId65"/>
    <p:sldId id="270" r:id="rId66"/>
    <p:sldId id="265" r:id="rId67"/>
    <p:sldId id="400" r:id="rId68"/>
    <p:sldId id="269" r:id="rId69"/>
    <p:sldId id="354" r:id="rId70"/>
    <p:sldId id="317" r:id="rId71"/>
    <p:sldId id="339" r:id="rId72"/>
    <p:sldId id="340" r:id="rId73"/>
    <p:sldId id="381" r:id="rId74"/>
    <p:sldId id="392" r:id="rId75"/>
    <p:sldId id="285" r:id="rId76"/>
    <p:sldId id="350" r:id="rId77"/>
    <p:sldId id="282" r:id="rId78"/>
    <p:sldId id="377" r:id="rId79"/>
    <p:sldId id="375" r:id="rId80"/>
    <p:sldId id="262" r:id="rId81"/>
    <p:sldId id="281" r:id="rId82"/>
    <p:sldId id="272" r:id="rId83"/>
    <p:sldId id="301" r:id="rId84"/>
    <p:sldId id="302" r:id="rId85"/>
    <p:sldId id="297" r:id="rId86"/>
    <p:sldId id="346" r:id="rId87"/>
    <p:sldId id="357" r:id="rId88"/>
    <p:sldId id="336" r:id="rId89"/>
    <p:sldId id="334" r:id="rId90"/>
    <p:sldId id="279" r:id="rId91"/>
    <p:sldId id="356" r:id="rId92"/>
    <p:sldId id="284" r:id="rId93"/>
    <p:sldId id="365" r:id="rId94"/>
    <p:sldId id="372" r:id="rId95"/>
    <p:sldId id="341" r:id="rId96"/>
    <p:sldId id="348" r:id="rId97"/>
    <p:sldId id="352" r:id="rId98"/>
    <p:sldId id="397" r:id="rId99"/>
    <p:sldId id="379" r:id="rId100"/>
    <p:sldId id="353" r:id="rId101"/>
    <p:sldId id="384" r:id="rId102"/>
    <p:sldId id="390" r:id="rId103"/>
    <p:sldId id="257" r:id="rId104"/>
    <p:sldId id="342" r:id="rId105"/>
    <p:sldId id="358" r:id="rId106"/>
    <p:sldId id="343" r:id="rId107"/>
    <p:sldId id="347" r:id="rId108"/>
    <p:sldId id="419" r:id="rId109"/>
    <p:sldId id="344" r:id="rId110"/>
    <p:sldId id="385" r:id="rId111"/>
    <p:sldId id="359" r:id="rId112"/>
    <p:sldId id="391" r:id="rId113"/>
    <p:sldId id="366" r:id="rId114"/>
    <p:sldId id="417" r:id="rId115"/>
    <p:sldId id="387" r:id="rId116"/>
    <p:sldId id="367" r:id="rId117"/>
    <p:sldId id="345" r:id="rId118"/>
    <p:sldId id="361" r:id="rId119"/>
    <p:sldId id="362" r:id="rId120"/>
    <p:sldId id="418" r:id="rId121"/>
    <p:sldId id="420" r:id="rId122"/>
    <p:sldId id="349" r:id="rId123"/>
    <p:sldId id="355" r:id="rId124"/>
  </p:sldIdLst>
  <p:sldSz cx="12192000" cy="6858000"/>
  <p:notesSz cx="6797675" cy="9872663"/>
  <p:custDataLst>
    <p:tags r:id="rId12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2D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43" autoAdjust="0"/>
    <p:restoredTop sz="94660"/>
  </p:normalViewPr>
  <p:slideViewPr>
    <p:cSldViewPr snapToGrid="0">
      <p:cViewPr varScale="1">
        <p:scale>
          <a:sx n="111" d="100"/>
          <a:sy n="111" d="100"/>
        </p:scale>
        <p:origin x="324" y="96"/>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 Tillmann" userId="9b310f96-d93b-4b82-862c-66ec06b47469" providerId="ADAL" clId="{65B76C6B-E788-4FBB-8EC5-FA40A55DCDB2}"/>
    <pc:docChg chg="modSld">
      <pc:chgData name="Martin Tillmann" userId="9b310f96-d93b-4b82-862c-66ec06b47469" providerId="ADAL" clId="{65B76C6B-E788-4FBB-8EC5-FA40A55DCDB2}" dt="2026-08-18T12:19:25.402" v="2" actId="20577"/>
      <pc:docMkLst>
        <pc:docMk/>
      </pc:docMkLst>
      <pc:sldChg chg="modSp mod">
        <pc:chgData name="Martin Tillmann" userId="9b310f96-d93b-4b82-862c-66ec06b47469" providerId="ADAL" clId="{65B76C6B-E788-4FBB-8EC5-FA40A55DCDB2}" dt="2026-08-18T12:19:25.402" v="2" actId="20577"/>
        <pc:sldMkLst>
          <pc:docMk/>
          <pc:sldMk cId="1494902189" sldId="335"/>
        </pc:sldMkLst>
        <pc:spChg chg="mod">
          <ac:chgData name="Martin Tillmann" userId="9b310f96-d93b-4b82-862c-66ec06b47469" providerId="ADAL" clId="{65B76C6B-E788-4FBB-8EC5-FA40A55DCDB2}" dt="2026-08-18T12:19:25.402" v="2" actId="20577"/>
          <ac:spMkLst>
            <pc:docMk/>
            <pc:sldMk cId="1494902189" sldId="335"/>
            <ac:spMk id="7" creationId="{D215AFBF-65DA-494E-AAA4-F8E59BC5C7C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B45757-77C2-4A6F-B185-0A859A1A9E1E}" type="doc">
      <dgm:prSet loTypeId="urn:microsoft.com/office/officeart/2005/8/layout/vList2" loCatId="list" qsTypeId="urn:microsoft.com/office/officeart/2005/8/quickstyle/3d2" qsCatId="3D" csTypeId="urn:microsoft.com/office/officeart/2005/8/colors/accent1_2" csCatId="accent1" phldr="1"/>
      <dgm:spPr/>
      <dgm:t>
        <a:bodyPr/>
        <a:lstStyle/>
        <a:p>
          <a:endParaRPr lang="de-DE"/>
        </a:p>
      </dgm:t>
    </dgm:pt>
    <dgm:pt modelId="{03507FB6-CB54-4837-B3EF-FA916E82E967}">
      <dgm:prSet/>
      <dgm:spPr/>
      <dgm:t>
        <a:bodyPr/>
        <a:lstStyle/>
        <a:p>
          <a:pPr algn="ctr"/>
          <a:r>
            <a:rPr lang="en-US" b="1" dirty="0"/>
            <a:t>IT-</a:t>
          </a:r>
          <a:r>
            <a:rPr lang="en-US" b="1" dirty="0" err="1"/>
            <a:t>Mathe</a:t>
          </a:r>
          <a:r>
            <a:rPr lang="en-US" b="1" dirty="0"/>
            <a:t> 2025</a:t>
          </a:r>
          <a:endParaRPr lang="de-DE" dirty="0"/>
        </a:p>
      </dgm:t>
    </dgm:pt>
    <dgm:pt modelId="{10B004B8-9D90-43F1-9A57-BE56B93D54ED}" type="parTrans" cxnId="{67512145-5F31-4DF1-A53C-0644473253D7}">
      <dgm:prSet/>
      <dgm:spPr/>
      <dgm:t>
        <a:bodyPr/>
        <a:lstStyle/>
        <a:p>
          <a:endParaRPr lang="de-DE"/>
        </a:p>
      </dgm:t>
    </dgm:pt>
    <dgm:pt modelId="{6DAB2DA6-A48D-4A5F-8471-4E7D2153AC14}" type="sibTrans" cxnId="{67512145-5F31-4DF1-A53C-0644473253D7}">
      <dgm:prSet/>
      <dgm:spPr/>
      <dgm:t>
        <a:bodyPr/>
        <a:lstStyle/>
        <a:p>
          <a:endParaRPr lang="de-DE"/>
        </a:p>
      </dgm:t>
    </dgm:pt>
    <dgm:pt modelId="{18AAD29F-D6C8-4AEE-8D5C-6BCF52D49147}" type="pres">
      <dgm:prSet presAssocID="{F1B45757-77C2-4A6F-B185-0A859A1A9E1E}" presName="linear" presStyleCnt="0">
        <dgm:presLayoutVars>
          <dgm:animLvl val="lvl"/>
          <dgm:resizeHandles val="exact"/>
        </dgm:presLayoutVars>
      </dgm:prSet>
      <dgm:spPr/>
    </dgm:pt>
    <dgm:pt modelId="{692D1201-FE6B-491A-88C9-63B5C49EAF38}" type="pres">
      <dgm:prSet presAssocID="{03507FB6-CB54-4837-B3EF-FA916E82E967}" presName="parentText" presStyleLbl="node1" presStyleIdx="0" presStyleCnt="1">
        <dgm:presLayoutVars>
          <dgm:chMax val="0"/>
          <dgm:bulletEnabled val="1"/>
        </dgm:presLayoutVars>
      </dgm:prSet>
      <dgm:spPr/>
    </dgm:pt>
  </dgm:ptLst>
  <dgm:cxnLst>
    <dgm:cxn modelId="{BB4BF418-A478-4F64-AC67-5450C17D3D72}" type="presOf" srcId="{F1B45757-77C2-4A6F-B185-0A859A1A9E1E}" destId="{18AAD29F-D6C8-4AEE-8D5C-6BCF52D49147}" srcOrd="0" destOrd="0" presId="urn:microsoft.com/office/officeart/2005/8/layout/vList2"/>
    <dgm:cxn modelId="{67512145-5F31-4DF1-A53C-0644473253D7}" srcId="{F1B45757-77C2-4A6F-B185-0A859A1A9E1E}" destId="{03507FB6-CB54-4837-B3EF-FA916E82E967}" srcOrd="0" destOrd="0" parTransId="{10B004B8-9D90-43F1-9A57-BE56B93D54ED}" sibTransId="{6DAB2DA6-A48D-4A5F-8471-4E7D2153AC14}"/>
    <dgm:cxn modelId="{EE9F1053-F44A-4985-9D8D-D16CA665FC81}" type="presOf" srcId="{03507FB6-CB54-4837-B3EF-FA916E82E967}" destId="{692D1201-FE6B-491A-88C9-63B5C49EAF38}" srcOrd="0" destOrd="0" presId="urn:microsoft.com/office/officeart/2005/8/layout/vList2"/>
    <dgm:cxn modelId="{BA3DE0A8-99A5-487A-AA19-D8D9DE8D0778}" type="presParOf" srcId="{18AAD29F-D6C8-4AEE-8D5C-6BCF52D49147}" destId="{692D1201-FE6B-491A-88C9-63B5C49EAF38}"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4103B9-297B-4E6A-8572-D3C4E3430A50}" type="doc">
      <dgm:prSet loTypeId="urn:microsoft.com/office/officeart/2005/8/layout/vList5" loCatId="list" qsTypeId="urn:microsoft.com/office/officeart/2005/8/quickstyle/3d2" qsCatId="3D" csTypeId="urn:microsoft.com/office/officeart/2005/8/colors/colorful1" csCatId="colorful"/>
      <dgm:spPr/>
      <dgm:t>
        <a:bodyPr/>
        <a:lstStyle/>
        <a:p>
          <a:endParaRPr lang="de-DE"/>
        </a:p>
      </dgm:t>
    </dgm:pt>
    <dgm:pt modelId="{3EEB8150-6438-4BFB-BFC0-35338EFCF93F}">
      <dgm:prSet/>
      <dgm:spPr/>
      <dgm:t>
        <a:bodyPr/>
        <a:lstStyle/>
        <a:p>
          <a:r>
            <a:rPr lang="en-US"/>
            <a:t>Datenübertragungs-Formel</a:t>
          </a:r>
          <a:endParaRPr lang="de-DE"/>
        </a:p>
      </dgm:t>
    </dgm:pt>
    <dgm:pt modelId="{6732EC28-5EB7-4BBD-9C44-460BB71A34C1}" type="parTrans" cxnId="{9DECE630-F29E-417A-BD75-54A323DB1677}">
      <dgm:prSet/>
      <dgm:spPr/>
      <dgm:t>
        <a:bodyPr/>
        <a:lstStyle/>
        <a:p>
          <a:endParaRPr lang="de-DE"/>
        </a:p>
      </dgm:t>
    </dgm:pt>
    <dgm:pt modelId="{6A1526FB-CB57-49CA-8E28-357FA15C43E6}" type="sibTrans" cxnId="{9DECE630-F29E-417A-BD75-54A323DB1677}">
      <dgm:prSet/>
      <dgm:spPr/>
      <dgm:t>
        <a:bodyPr/>
        <a:lstStyle/>
        <a:p>
          <a:endParaRPr lang="de-DE"/>
        </a:p>
      </dgm:t>
    </dgm:pt>
    <dgm:pt modelId="{D17404DB-0EFD-47B8-962F-C1ED210A1DDC}">
      <dgm:prSet/>
      <dgm:spPr/>
      <dgm:t>
        <a:bodyPr/>
        <a:lstStyle/>
        <a:p>
          <a:r>
            <a:rPr lang="en-US"/>
            <a:t>USV-Berechnung</a:t>
          </a:r>
          <a:endParaRPr lang="de-DE"/>
        </a:p>
      </dgm:t>
    </dgm:pt>
    <dgm:pt modelId="{D2527485-34E0-42A7-BD69-7693AFC9AC56}" type="parTrans" cxnId="{D039811E-56FD-4A9B-BFFD-C7390EC93A2D}">
      <dgm:prSet/>
      <dgm:spPr/>
      <dgm:t>
        <a:bodyPr/>
        <a:lstStyle/>
        <a:p>
          <a:endParaRPr lang="de-DE"/>
        </a:p>
      </dgm:t>
    </dgm:pt>
    <dgm:pt modelId="{43F2FEF1-28C3-43F4-B425-F2735C8DA9A4}" type="sibTrans" cxnId="{D039811E-56FD-4A9B-BFFD-C7390EC93A2D}">
      <dgm:prSet/>
      <dgm:spPr/>
      <dgm:t>
        <a:bodyPr/>
        <a:lstStyle/>
        <a:p>
          <a:endParaRPr lang="de-DE"/>
        </a:p>
      </dgm:t>
    </dgm:pt>
    <dgm:pt modelId="{B82C80B7-BF7E-4ACC-B92E-D316AAEE931C}">
      <dgm:prSet/>
      <dgm:spPr/>
      <dgm:t>
        <a:bodyPr/>
        <a:lstStyle/>
        <a:p>
          <a:r>
            <a:rPr lang="en-US"/>
            <a:t>RAID-Formeln</a:t>
          </a:r>
          <a:endParaRPr lang="de-DE"/>
        </a:p>
      </dgm:t>
    </dgm:pt>
    <dgm:pt modelId="{C51D546D-CA3A-49B5-B18F-CDB62E44E5AA}" type="parTrans" cxnId="{1F8598B8-77BB-4E21-ADAA-57A35247D2D0}">
      <dgm:prSet/>
      <dgm:spPr/>
      <dgm:t>
        <a:bodyPr/>
        <a:lstStyle/>
        <a:p>
          <a:endParaRPr lang="de-DE"/>
        </a:p>
      </dgm:t>
    </dgm:pt>
    <dgm:pt modelId="{9DCA9BD6-CAC1-4803-9F8A-14044CF08983}" type="sibTrans" cxnId="{1F8598B8-77BB-4E21-ADAA-57A35247D2D0}">
      <dgm:prSet/>
      <dgm:spPr/>
      <dgm:t>
        <a:bodyPr/>
        <a:lstStyle/>
        <a:p>
          <a:endParaRPr lang="de-DE"/>
        </a:p>
      </dgm:t>
    </dgm:pt>
    <dgm:pt modelId="{A5D85EE2-CAF0-4E27-8ED2-1B6940EE8FE3}">
      <dgm:prSet/>
      <dgm:spPr/>
      <dgm:t>
        <a:bodyPr/>
        <a:lstStyle/>
        <a:p>
          <a:r>
            <a:rPr lang="en-US"/>
            <a:t>Scan / Foto / Video-Berechnung</a:t>
          </a:r>
          <a:endParaRPr lang="de-DE"/>
        </a:p>
      </dgm:t>
    </dgm:pt>
    <dgm:pt modelId="{A66ACB76-6A44-4284-A629-8306D70BA380}" type="parTrans" cxnId="{E95C5813-B15A-49C2-910B-634C055AAE99}">
      <dgm:prSet/>
      <dgm:spPr/>
      <dgm:t>
        <a:bodyPr/>
        <a:lstStyle/>
        <a:p>
          <a:endParaRPr lang="de-DE"/>
        </a:p>
      </dgm:t>
    </dgm:pt>
    <dgm:pt modelId="{B31CDE11-7D9B-4B91-82A6-9090A7919FA7}" type="sibTrans" cxnId="{E95C5813-B15A-49C2-910B-634C055AAE99}">
      <dgm:prSet/>
      <dgm:spPr/>
      <dgm:t>
        <a:bodyPr/>
        <a:lstStyle/>
        <a:p>
          <a:endParaRPr lang="de-DE"/>
        </a:p>
      </dgm:t>
    </dgm:pt>
    <dgm:pt modelId="{D3496883-3275-418C-80BF-B97C25FB993D}">
      <dgm:prSet/>
      <dgm:spPr/>
      <dgm:t>
        <a:bodyPr/>
        <a:lstStyle/>
        <a:p>
          <a:r>
            <a:rPr lang="en-US"/>
            <a:t>VoIP Berechnung</a:t>
          </a:r>
          <a:endParaRPr lang="de-DE"/>
        </a:p>
      </dgm:t>
    </dgm:pt>
    <dgm:pt modelId="{43C46F34-0448-4683-8EE1-DF483720C88A}" type="parTrans" cxnId="{437F7F0A-8AEB-4221-B4C2-E6F6422F38E7}">
      <dgm:prSet/>
      <dgm:spPr/>
      <dgm:t>
        <a:bodyPr/>
        <a:lstStyle/>
        <a:p>
          <a:endParaRPr lang="de-DE"/>
        </a:p>
      </dgm:t>
    </dgm:pt>
    <dgm:pt modelId="{6E604EAC-21E6-42C0-8641-B7068A243DB4}" type="sibTrans" cxnId="{437F7F0A-8AEB-4221-B4C2-E6F6422F38E7}">
      <dgm:prSet/>
      <dgm:spPr/>
      <dgm:t>
        <a:bodyPr/>
        <a:lstStyle/>
        <a:p>
          <a:endParaRPr lang="de-DE"/>
        </a:p>
      </dgm:t>
    </dgm:pt>
    <dgm:pt modelId="{331115AA-44EE-4C78-AA4F-0AF8656206BF}">
      <dgm:prSet/>
      <dgm:spPr/>
      <dgm:t>
        <a:bodyPr/>
        <a:lstStyle/>
        <a:p>
          <a:r>
            <a:rPr lang="en-US"/>
            <a:t>Stromkostenberechnung</a:t>
          </a:r>
          <a:endParaRPr lang="de-DE"/>
        </a:p>
      </dgm:t>
    </dgm:pt>
    <dgm:pt modelId="{CC5408ED-D820-4F3E-BB0E-F17388F8CF69}" type="parTrans" cxnId="{FB966D0F-301E-4B1A-B174-0D6AD024D33D}">
      <dgm:prSet/>
      <dgm:spPr/>
      <dgm:t>
        <a:bodyPr/>
        <a:lstStyle/>
        <a:p>
          <a:endParaRPr lang="de-DE"/>
        </a:p>
      </dgm:t>
    </dgm:pt>
    <dgm:pt modelId="{322BF643-F25F-4D24-A0E1-50A1C6B904AE}" type="sibTrans" cxnId="{FB966D0F-301E-4B1A-B174-0D6AD024D33D}">
      <dgm:prSet/>
      <dgm:spPr/>
      <dgm:t>
        <a:bodyPr/>
        <a:lstStyle/>
        <a:p>
          <a:endParaRPr lang="de-DE"/>
        </a:p>
      </dgm:t>
    </dgm:pt>
    <dgm:pt modelId="{013CC870-BAE5-43B0-BF1B-20C51E693186}" type="pres">
      <dgm:prSet presAssocID="{A54103B9-297B-4E6A-8572-D3C4E3430A50}" presName="Name0" presStyleCnt="0">
        <dgm:presLayoutVars>
          <dgm:dir/>
          <dgm:animLvl val="lvl"/>
          <dgm:resizeHandles val="exact"/>
        </dgm:presLayoutVars>
      </dgm:prSet>
      <dgm:spPr/>
    </dgm:pt>
    <dgm:pt modelId="{E36DA703-6B6E-43CA-A081-E6FFE01DAB97}" type="pres">
      <dgm:prSet presAssocID="{3EEB8150-6438-4BFB-BFC0-35338EFCF93F}" presName="linNode" presStyleCnt="0"/>
      <dgm:spPr/>
    </dgm:pt>
    <dgm:pt modelId="{0E897DB8-DC3C-4151-8A50-D93952A00319}" type="pres">
      <dgm:prSet presAssocID="{3EEB8150-6438-4BFB-BFC0-35338EFCF93F}" presName="parentText" presStyleLbl="node1" presStyleIdx="0" presStyleCnt="6">
        <dgm:presLayoutVars>
          <dgm:chMax val="1"/>
          <dgm:bulletEnabled val="1"/>
        </dgm:presLayoutVars>
      </dgm:prSet>
      <dgm:spPr/>
    </dgm:pt>
    <dgm:pt modelId="{0E897377-2D27-40CF-B7B1-EABE036CFE27}" type="pres">
      <dgm:prSet presAssocID="{6A1526FB-CB57-49CA-8E28-357FA15C43E6}" presName="sp" presStyleCnt="0"/>
      <dgm:spPr/>
    </dgm:pt>
    <dgm:pt modelId="{3FD97A3D-24FC-4A53-9E5B-70D7FA8EDA88}" type="pres">
      <dgm:prSet presAssocID="{D17404DB-0EFD-47B8-962F-C1ED210A1DDC}" presName="linNode" presStyleCnt="0"/>
      <dgm:spPr/>
    </dgm:pt>
    <dgm:pt modelId="{5CA14ABF-86A7-4051-8B3F-84F72CB98E0C}" type="pres">
      <dgm:prSet presAssocID="{D17404DB-0EFD-47B8-962F-C1ED210A1DDC}" presName="parentText" presStyleLbl="node1" presStyleIdx="1" presStyleCnt="6">
        <dgm:presLayoutVars>
          <dgm:chMax val="1"/>
          <dgm:bulletEnabled val="1"/>
        </dgm:presLayoutVars>
      </dgm:prSet>
      <dgm:spPr/>
    </dgm:pt>
    <dgm:pt modelId="{22480502-BD1E-4901-9CF8-222D629DBDE5}" type="pres">
      <dgm:prSet presAssocID="{43F2FEF1-28C3-43F4-B425-F2735C8DA9A4}" presName="sp" presStyleCnt="0"/>
      <dgm:spPr/>
    </dgm:pt>
    <dgm:pt modelId="{5ED72F33-3A2A-40CB-82FA-CA20BBF964D0}" type="pres">
      <dgm:prSet presAssocID="{B82C80B7-BF7E-4ACC-B92E-D316AAEE931C}" presName="linNode" presStyleCnt="0"/>
      <dgm:spPr/>
    </dgm:pt>
    <dgm:pt modelId="{044CBF34-C841-49A5-BB0C-F4535E8ED984}" type="pres">
      <dgm:prSet presAssocID="{B82C80B7-BF7E-4ACC-B92E-D316AAEE931C}" presName="parentText" presStyleLbl="node1" presStyleIdx="2" presStyleCnt="6">
        <dgm:presLayoutVars>
          <dgm:chMax val="1"/>
          <dgm:bulletEnabled val="1"/>
        </dgm:presLayoutVars>
      </dgm:prSet>
      <dgm:spPr/>
    </dgm:pt>
    <dgm:pt modelId="{120621D3-0365-4409-B1E9-F1632C22C9DE}" type="pres">
      <dgm:prSet presAssocID="{9DCA9BD6-CAC1-4803-9F8A-14044CF08983}" presName="sp" presStyleCnt="0"/>
      <dgm:spPr/>
    </dgm:pt>
    <dgm:pt modelId="{3547368A-9192-4548-8EB1-0629DA97339C}" type="pres">
      <dgm:prSet presAssocID="{A5D85EE2-CAF0-4E27-8ED2-1B6940EE8FE3}" presName="linNode" presStyleCnt="0"/>
      <dgm:spPr/>
    </dgm:pt>
    <dgm:pt modelId="{DFAEED58-B894-43E2-A914-5577B71273FE}" type="pres">
      <dgm:prSet presAssocID="{A5D85EE2-CAF0-4E27-8ED2-1B6940EE8FE3}" presName="parentText" presStyleLbl="node1" presStyleIdx="3" presStyleCnt="6">
        <dgm:presLayoutVars>
          <dgm:chMax val="1"/>
          <dgm:bulletEnabled val="1"/>
        </dgm:presLayoutVars>
      </dgm:prSet>
      <dgm:spPr/>
    </dgm:pt>
    <dgm:pt modelId="{44EEA168-0F0E-46FC-8C4F-E96E6196D614}" type="pres">
      <dgm:prSet presAssocID="{B31CDE11-7D9B-4B91-82A6-9090A7919FA7}" presName="sp" presStyleCnt="0"/>
      <dgm:spPr/>
    </dgm:pt>
    <dgm:pt modelId="{66EF5C59-6B39-457D-AE84-D633C7694598}" type="pres">
      <dgm:prSet presAssocID="{D3496883-3275-418C-80BF-B97C25FB993D}" presName="linNode" presStyleCnt="0"/>
      <dgm:spPr/>
    </dgm:pt>
    <dgm:pt modelId="{B9649B56-20A7-4505-A9E6-CB152127B75F}" type="pres">
      <dgm:prSet presAssocID="{D3496883-3275-418C-80BF-B97C25FB993D}" presName="parentText" presStyleLbl="node1" presStyleIdx="4" presStyleCnt="6">
        <dgm:presLayoutVars>
          <dgm:chMax val="1"/>
          <dgm:bulletEnabled val="1"/>
        </dgm:presLayoutVars>
      </dgm:prSet>
      <dgm:spPr/>
    </dgm:pt>
    <dgm:pt modelId="{BAF26051-0A62-499E-AD2E-784AD1D6EEC6}" type="pres">
      <dgm:prSet presAssocID="{6E604EAC-21E6-42C0-8641-B7068A243DB4}" presName="sp" presStyleCnt="0"/>
      <dgm:spPr/>
    </dgm:pt>
    <dgm:pt modelId="{FDAB8176-E8C7-48F8-97A2-0ABCFD12DB60}" type="pres">
      <dgm:prSet presAssocID="{331115AA-44EE-4C78-AA4F-0AF8656206BF}" presName="linNode" presStyleCnt="0"/>
      <dgm:spPr/>
    </dgm:pt>
    <dgm:pt modelId="{E1DFE6A1-350E-46E3-BEB7-F12B055C2087}" type="pres">
      <dgm:prSet presAssocID="{331115AA-44EE-4C78-AA4F-0AF8656206BF}" presName="parentText" presStyleLbl="node1" presStyleIdx="5" presStyleCnt="6">
        <dgm:presLayoutVars>
          <dgm:chMax val="1"/>
          <dgm:bulletEnabled val="1"/>
        </dgm:presLayoutVars>
      </dgm:prSet>
      <dgm:spPr/>
    </dgm:pt>
  </dgm:ptLst>
  <dgm:cxnLst>
    <dgm:cxn modelId="{437F7F0A-8AEB-4221-B4C2-E6F6422F38E7}" srcId="{A54103B9-297B-4E6A-8572-D3C4E3430A50}" destId="{D3496883-3275-418C-80BF-B97C25FB993D}" srcOrd="4" destOrd="0" parTransId="{43C46F34-0448-4683-8EE1-DF483720C88A}" sibTransId="{6E604EAC-21E6-42C0-8641-B7068A243DB4}"/>
    <dgm:cxn modelId="{FB966D0F-301E-4B1A-B174-0D6AD024D33D}" srcId="{A54103B9-297B-4E6A-8572-D3C4E3430A50}" destId="{331115AA-44EE-4C78-AA4F-0AF8656206BF}" srcOrd="5" destOrd="0" parTransId="{CC5408ED-D820-4F3E-BB0E-F17388F8CF69}" sibTransId="{322BF643-F25F-4D24-A0E1-50A1C6B904AE}"/>
    <dgm:cxn modelId="{E95C5813-B15A-49C2-910B-634C055AAE99}" srcId="{A54103B9-297B-4E6A-8572-D3C4E3430A50}" destId="{A5D85EE2-CAF0-4E27-8ED2-1B6940EE8FE3}" srcOrd="3" destOrd="0" parTransId="{A66ACB76-6A44-4284-A629-8306D70BA380}" sibTransId="{B31CDE11-7D9B-4B91-82A6-9090A7919FA7}"/>
    <dgm:cxn modelId="{FA941118-53FD-4797-861D-776DA479F180}" type="presOf" srcId="{A5D85EE2-CAF0-4E27-8ED2-1B6940EE8FE3}" destId="{DFAEED58-B894-43E2-A914-5577B71273FE}" srcOrd="0" destOrd="0" presId="urn:microsoft.com/office/officeart/2005/8/layout/vList5"/>
    <dgm:cxn modelId="{D039811E-56FD-4A9B-BFFD-C7390EC93A2D}" srcId="{A54103B9-297B-4E6A-8572-D3C4E3430A50}" destId="{D17404DB-0EFD-47B8-962F-C1ED210A1DDC}" srcOrd="1" destOrd="0" parTransId="{D2527485-34E0-42A7-BD69-7693AFC9AC56}" sibTransId="{43F2FEF1-28C3-43F4-B425-F2735C8DA9A4}"/>
    <dgm:cxn modelId="{9DECE630-F29E-417A-BD75-54A323DB1677}" srcId="{A54103B9-297B-4E6A-8572-D3C4E3430A50}" destId="{3EEB8150-6438-4BFB-BFC0-35338EFCF93F}" srcOrd="0" destOrd="0" parTransId="{6732EC28-5EB7-4BBD-9C44-460BB71A34C1}" sibTransId="{6A1526FB-CB57-49CA-8E28-357FA15C43E6}"/>
    <dgm:cxn modelId="{C28ACA75-F0B7-4744-B77D-27E31D09192D}" type="presOf" srcId="{D3496883-3275-418C-80BF-B97C25FB993D}" destId="{B9649B56-20A7-4505-A9E6-CB152127B75F}" srcOrd="0" destOrd="0" presId="urn:microsoft.com/office/officeart/2005/8/layout/vList5"/>
    <dgm:cxn modelId="{D4592D77-BF60-4725-98D1-A2ABBB3CB942}" type="presOf" srcId="{A54103B9-297B-4E6A-8572-D3C4E3430A50}" destId="{013CC870-BAE5-43B0-BF1B-20C51E693186}" srcOrd="0" destOrd="0" presId="urn:microsoft.com/office/officeart/2005/8/layout/vList5"/>
    <dgm:cxn modelId="{C8DC0F8A-F297-4E29-AB9B-4535A440ADC4}" type="presOf" srcId="{B82C80B7-BF7E-4ACC-B92E-D316AAEE931C}" destId="{044CBF34-C841-49A5-BB0C-F4535E8ED984}" srcOrd="0" destOrd="0" presId="urn:microsoft.com/office/officeart/2005/8/layout/vList5"/>
    <dgm:cxn modelId="{2ABD1FB2-9F03-4FE7-AAFD-0CBEBEEEA18F}" type="presOf" srcId="{331115AA-44EE-4C78-AA4F-0AF8656206BF}" destId="{E1DFE6A1-350E-46E3-BEB7-F12B055C2087}" srcOrd="0" destOrd="0" presId="urn:microsoft.com/office/officeart/2005/8/layout/vList5"/>
    <dgm:cxn modelId="{1F8598B8-77BB-4E21-ADAA-57A35247D2D0}" srcId="{A54103B9-297B-4E6A-8572-D3C4E3430A50}" destId="{B82C80B7-BF7E-4ACC-B92E-D316AAEE931C}" srcOrd="2" destOrd="0" parTransId="{C51D546D-CA3A-49B5-B18F-CDB62E44E5AA}" sibTransId="{9DCA9BD6-CAC1-4803-9F8A-14044CF08983}"/>
    <dgm:cxn modelId="{100173BA-35B9-4811-9B85-66553BE64B23}" type="presOf" srcId="{3EEB8150-6438-4BFB-BFC0-35338EFCF93F}" destId="{0E897DB8-DC3C-4151-8A50-D93952A00319}" srcOrd="0" destOrd="0" presId="urn:microsoft.com/office/officeart/2005/8/layout/vList5"/>
    <dgm:cxn modelId="{D021E7C7-B177-4DD6-9285-1BA9CD08B9BF}" type="presOf" srcId="{D17404DB-0EFD-47B8-962F-C1ED210A1DDC}" destId="{5CA14ABF-86A7-4051-8B3F-84F72CB98E0C}" srcOrd="0" destOrd="0" presId="urn:microsoft.com/office/officeart/2005/8/layout/vList5"/>
    <dgm:cxn modelId="{EBE14F54-B30A-4DE3-BD17-E7CAB508D3BE}" type="presParOf" srcId="{013CC870-BAE5-43B0-BF1B-20C51E693186}" destId="{E36DA703-6B6E-43CA-A081-E6FFE01DAB97}" srcOrd="0" destOrd="0" presId="urn:microsoft.com/office/officeart/2005/8/layout/vList5"/>
    <dgm:cxn modelId="{5780D40A-4E64-4A66-95BB-A1D68A12B795}" type="presParOf" srcId="{E36DA703-6B6E-43CA-A081-E6FFE01DAB97}" destId="{0E897DB8-DC3C-4151-8A50-D93952A00319}" srcOrd="0" destOrd="0" presId="urn:microsoft.com/office/officeart/2005/8/layout/vList5"/>
    <dgm:cxn modelId="{A6D7757D-7456-4FE4-92C8-F05FA5561659}" type="presParOf" srcId="{013CC870-BAE5-43B0-BF1B-20C51E693186}" destId="{0E897377-2D27-40CF-B7B1-EABE036CFE27}" srcOrd="1" destOrd="0" presId="urn:microsoft.com/office/officeart/2005/8/layout/vList5"/>
    <dgm:cxn modelId="{57C6D4F3-DD76-454A-A702-4B1616C7E095}" type="presParOf" srcId="{013CC870-BAE5-43B0-BF1B-20C51E693186}" destId="{3FD97A3D-24FC-4A53-9E5B-70D7FA8EDA88}" srcOrd="2" destOrd="0" presId="urn:microsoft.com/office/officeart/2005/8/layout/vList5"/>
    <dgm:cxn modelId="{7FFA7F85-7CA1-4C35-A740-49FD18B3347B}" type="presParOf" srcId="{3FD97A3D-24FC-4A53-9E5B-70D7FA8EDA88}" destId="{5CA14ABF-86A7-4051-8B3F-84F72CB98E0C}" srcOrd="0" destOrd="0" presId="urn:microsoft.com/office/officeart/2005/8/layout/vList5"/>
    <dgm:cxn modelId="{54965E9D-E027-4CAF-969E-9F4492DBA3C6}" type="presParOf" srcId="{013CC870-BAE5-43B0-BF1B-20C51E693186}" destId="{22480502-BD1E-4901-9CF8-222D629DBDE5}" srcOrd="3" destOrd="0" presId="urn:microsoft.com/office/officeart/2005/8/layout/vList5"/>
    <dgm:cxn modelId="{912DBE54-8668-4EE8-BBD3-B0BF91D370B9}" type="presParOf" srcId="{013CC870-BAE5-43B0-BF1B-20C51E693186}" destId="{5ED72F33-3A2A-40CB-82FA-CA20BBF964D0}" srcOrd="4" destOrd="0" presId="urn:microsoft.com/office/officeart/2005/8/layout/vList5"/>
    <dgm:cxn modelId="{E54B8EEA-85C8-4267-9DE2-9B7CCF612917}" type="presParOf" srcId="{5ED72F33-3A2A-40CB-82FA-CA20BBF964D0}" destId="{044CBF34-C841-49A5-BB0C-F4535E8ED984}" srcOrd="0" destOrd="0" presId="urn:microsoft.com/office/officeart/2005/8/layout/vList5"/>
    <dgm:cxn modelId="{FD67E309-B281-44CF-89B3-FF9A55264915}" type="presParOf" srcId="{013CC870-BAE5-43B0-BF1B-20C51E693186}" destId="{120621D3-0365-4409-B1E9-F1632C22C9DE}" srcOrd="5" destOrd="0" presId="urn:microsoft.com/office/officeart/2005/8/layout/vList5"/>
    <dgm:cxn modelId="{5C591A86-14A4-4552-A978-3399978E0EF5}" type="presParOf" srcId="{013CC870-BAE5-43B0-BF1B-20C51E693186}" destId="{3547368A-9192-4548-8EB1-0629DA97339C}" srcOrd="6" destOrd="0" presId="urn:microsoft.com/office/officeart/2005/8/layout/vList5"/>
    <dgm:cxn modelId="{A28D8D6F-664E-4744-823F-075A30BD4855}" type="presParOf" srcId="{3547368A-9192-4548-8EB1-0629DA97339C}" destId="{DFAEED58-B894-43E2-A914-5577B71273FE}" srcOrd="0" destOrd="0" presId="urn:microsoft.com/office/officeart/2005/8/layout/vList5"/>
    <dgm:cxn modelId="{34C8D152-66BC-4D5B-A1D4-A78C753380E1}" type="presParOf" srcId="{013CC870-BAE5-43B0-BF1B-20C51E693186}" destId="{44EEA168-0F0E-46FC-8C4F-E96E6196D614}" srcOrd="7" destOrd="0" presId="urn:microsoft.com/office/officeart/2005/8/layout/vList5"/>
    <dgm:cxn modelId="{F6D6A6EE-C6C6-4FA0-B1E4-F250A94A6709}" type="presParOf" srcId="{013CC870-BAE5-43B0-BF1B-20C51E693186}" destId="{66EF5C59-6B39-457D-AE84-D633C7694598}" srcOrd="8" destOrd="0" presId="urn:microsoft.com/office/officeart/2005/8/layout/vList5"/>
    <dgm:cxn modelId="{96A0B699-5E71-444F-9E6C-B7ECA4BA8A60}" type="presParOf" srcId="{66EF5C59-6B39-457D-AE84-D633C7694598}" destId="{B9649B56-20A7-4505-A9E6-CB152127B75F}" srcOrd="0" destOrd="0" presId="urn:microsoft.com/office/officeart/2005/8/layout/vList5"/>
    <dgm:cxn modelId="{F1D00A36-C82D-414F-AF75-243879EEA659}" type="presParOf" srcId="{013CC870-BAE5-43B0-BF1B-20C51E693186}" destId="{BAF26051-0A62-499E-AD2E-784AD1D6EEC6}" srcOrd="9" destOrd="0" presId="urn:microsoft.com/office/officeart/2005/8/layout/vList5"/>
    <dgm:cxn modelId="{FAD62901-9922-46EB-88B1-AEB786095005}" type="presParOf" srcId="{013CC870-BAE5-43B0-BF1B-20C51E693186}" destId="{FDAB8176-E8C7-48F8-97A2-0ABCFD12DB60}" srcOrd="10" destOrd="0" presId="urn:microsoft.com/office/officeart/2005/8/layout/vList5"/>
    <dgm:cxn modelId="{2A408C71-2B26-4366-8430-32445E0B3A8F}" type="presParOf" srcId="{FDAB8176-E8C7-48F8-97A2-0ABCFD12DB60}" destId="{E1DFE6A1-350E-46E3-BEB7-F12B055C2087}" srcOrd="0"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D621C0F-44E9-4CF3-AFD5-9F20F3456B0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de-DE"/>
        </a:p>
      </dgm:t>
    </dgm:pt>
    <dgm:pt modelId="{B7FBC600-BCF4-4880-88DF-4CBDB61F6705}">
      <dgm:prSet/>
      <dgm:spPr/>
      <dgm:t>
        <a:bodyPr/>
        <a:lstStyle/>
        <a:p>
          <a:r>
            <a:rPr lang="de-DE"/>
            <a:t>1. Schritt: Umrechnung cm in Inch (Faktor: 1 Inch -&gt; 2.54 cm)</a:t>
          </a:r>
        </a:p>
      </dgm:t>
    </dgm:pt>
    <dgm:pt modelId="{C58D6070-BD9B-48C2-9837-738D6A3B7DD7}" type="parTrans" cxnId="{F8D92137-6B28-40B2-8493-14D0FF6AE40C}">
      <dgm:prSet/>
      <dgm:spPr/>
      <dgm:t>
        <a:bodyPr/>
        <a:lstStyle/>
        <a:p>
          <a:endParaRPr lang="de-DE"/>
        </a:p>
      </dgm:t>
    </dgm:pt>
    <dgm:pt modelId="{18D6C70A-F226-4941-BF61-08D7CCCCDF79}" type="sibTrans" cxnId="{F8D92137-6B28-40B2-8493-14D0FF6AE40C}">
      <dgm:prSet/>
      <dgm:spPr/>
      <dgm:t>
        <a:bodyPr/>
        <a:lstStyle/>
        <a:p>
          <a:endParaRPr lang="de-DE"/>
        </a:p>
      </dgm:t>
    </dgm:pt>
    <dgm:pt modelId="{8AB179D9-8397-4FEC-8335-538B8B960B72}" type="pres">
      <dgm:prSet presAssocID="{7D621C0F-44E9-4CF3-AFD5-9F20F3456B02}" presName="linear" presStyleCnt="0">
        <dgm:presLayoutVars>
          <dgm:animLvl val="lvl"/>
          <dgm:resizeHandles val="exact"/>
        </dgm:presLayoutVars>
      </dgm:prSet>
      <dgm:spPr/>
    </dgm:pt>
    <dgm:pt modelId="{771283B8-F237-4D2A-B4CA-197DC4A07C92}" type="pres">
      <dgm:prSet presAssocID="{B7FBC600-BCF4-4880-88DF-4CBDB61F6705}" presName="parentText" presStyleLbl="node1" presStyleIdx="0" presStyleCnt="1" custLinFactY="-70554" custLinFactNeighborX="-12716" custLinFactNeighborY="-100000">
        <dgm:presLayoutVars>
          <dgm:chMax val="0"/>
          <dgm:bulletEnabled val="1"/>
        </dgm:presLayoutVars>
      </dgm:prSet>
      <dgm:spPr/>
    </dgm:pt>
  </dgm:ptLst>
  <dgm:cxnLst>
    <dgm:cxn modelId="{F8D92137-6B28-40B2-8493-14D0FF6AE40C}" srcId="{7D621C0F-44E9-4CF3-AFD5-9F20F3456B02}" destId="{B7FBC600-BCF4-4880-88DF-4CBDB61F6705}" srcOrd="0" destOrd="0" parTransId="{C58D6070-BD9B-48C2-9837-738D6A3B7DD7}" sibTransId="{18D6C70A-F226-4941-BF61-08D7CCCCDF79}"/>
    <dgm:cxn modelId="{B06DBD8C-3B0B-41ED-97F3-44E9A614E328}" type="presOf" srcId="{B7FBC600-BCF4-4880-88DF-4CBDB61F6705}" destId="{771283B8-F237-4D2A-B4CA-197DC4A07C92}" srcOrd="0" destOrd="0" presId="urn:microsoft.com/office/officeart/2005/8/layout/vList2"/>
    <dgm:cxn modelId="{C25387E2-8C58-48B2-AB28-3FF1B1599E7D}" type="presOf" srcId="{7D621C0F-44E9-4CF3-AFD5-9F20F3456B02}" destId="{8AB179D9-8397-4FEC-8335-538B8B960B72}" srcOrd="0" destOrd="0" presId="urn:microsoft.com/office/officeart/2005/8/layout/vList2"/>
    <dgm:cxn modelId="{A33C629E-2B88-4E31-8E27-30F71E181A0E}" type="presParOf" srcId="{8AB179D9-8397-4FEC-8335-538B8B960B72}" destId="{771283B8-F237-4D2A-B4CA-197DC4A07C9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4022D8E-931C-4DDF-AE13-7BB71A9354E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de-DE"/>
        </a:p>
      </dgm:t>
    </dgm:pt>
    <dgm:pt modelId="{0C02F0EE-365A-4709-A2DF-189A3ED8FBC2}">
      <dgm:prSet/>
      <dgm:spPr/>
      <dgm:t>
        <a:bodyPr/>
        <a:lstStyle/>
        <a:p>
          <a:r>
            <a:rPr lang="de-DE"/>
            <a:t>2. Schritt: Umrechnung Inch in Pixel (Faktor: Auflösung in der Aufgabenstellung -&gt; dpi)</a:t>
          </a:r>
        </a:p>
      </dgm:t>
    </dgm:pt>
    <dgm:pt modelId="{F75455E0-96F2-4D41-A4A0-67B94BF02198}" type="parTrans" cxnId="{8B1337C5-663A-42B7-BF49-D107244ADD98}">
      <dgm:prSet/>
      <dgm:spPr/>
      <dgm:t>
        <a:bodyPr/>
        <a:lstStyle/>
        <a:p>
          <a:endParaRPr lang="de-DE"/>
        </a:p>
      </dgm:t>
    </dgm:pt>
    <dgm:pt modelId="{D6A5EB3B-CAA8-4614-892D-AA1504417DCB}" type="sibTrans" cxnId="{8B1337C5-663A-42B7-BF49-D107244ADD98}">
      <dgm:prSet/>
      <dgm:spPr/>
      <dgm:t>
        <a:bodyPr/>
        <a:lstStyle/>
        <a:p>
          <a:endParaRPr lang="de-DE"/>
        </a:p>
      </dgm:t>
    </dgm:pt>
    <dgm:pt modelId="{09F7C94C-6446-48BC-8296-97F6BA2ECDB9}" type="pres">
      <dgm:prSet presAssocID="{94022D8E-931C-4DDF-AE13-7BB71A9354E2}" presName="linear" presStyleCnt="0">
        <dgm:presLayoutVars>
          <dgm:animLvl val="lvl"/>
          <dgm:resizeHandles val="exact"/>
        </dgm:presLayoutVars>
      </dgm:prSet>
      <dgm:spPr/>
    </dgm:pt>
    <dgm:pt modelId="{34700F38-EA77-46A4-B859-61F43EB568A6}" type="pres">
      <dgm:prSet presAssocID="{0C02F0EE-365A-4709-A2DF-189A3ED8FBC2}" presName="parentText" presStyleLbl="node1" presStyleIdx="0" presStyleCnt="1" custLinFactNeighborY="30053">
        <dgm:presLayoutVars>
          <dgm:chMax val="0"/>
          <dgm:bulletEnabled val="1"/>
        </dgm:presLayoutVars>
      </dgm:prSet>
      <dgm:spPr/>
    </dgm:pt>
  </dgm:ptLst>
  <dgm:cxnLst>
    <dgm:cxn modelId="{C72FB360-441B-4992-9A03-6C10334A9175}" type="presOf" srcId="{94022D8E-931C-4DDF-AE13-7BB71A9354E2}" destId="{09F7C94C-6446-48BC-8296-97F6BA2ECDB9}" srcOrd="0" destOrd="0" presId="urn:microsoft.com/office/officeart/2005/8/layout/vList2"/>
    <dgm:cxn modelId="{77351695-D01E-4998-A4B8-1642494921CF}" type="presOf" srcId="{0C02F0EE-365A-4709-A2DF-189A3ED8FBC2}" destId="{34700F38-EA77-46A4-B859-61F43EB568A6}" srcOrd="0" destOrd="0" presId="urn:microsoft.com/office/officeart/2005/8/layout/vList2"/>
    <dgm:cxn modelId="{8B1337C5-663A-42B7-BF49-D107244ADD98}" srcId="{94022D8E-931C-4DDF-AE13-7BB71A9354E2}" destId="{0C02F0EE-365A-4709-A2DF-189A3ED8FBC2}" srcOrd="0" destOrd="0" parTransId="{F75455E0-96F2-4D41-A4A0-67B94BF02198}" sibTransId="{D6A5EB3B-CAA8-4614-892D-AA1504417DCB}"/>
    <dgm:cxn modelId="{D6CFDE69-C34F-4344-81B6-AEE995ADF483}" type="presParOf" srcId="{09F7C94C-6446-48BC-8296-97F6BA2ECDB9}" destId="{34700F38-EA77-46A4-B859-61F43EB568A6}"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3809BBC-B12B-449C-9A14-9E5427BB12E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de-DE"/>
        </a:p>
      </dgm:t>
    </dgm:pt>
    <dgm:pt modelId="{C01AB4E3-DDC1-46C3-88F1-5A51F746B100}">
      <dgm:prSet/>
      <dgm:spPr/>
      <dgm:t>
        <a:bodyPr/>
        <a:lstStyle/>
        <a:p>
          <a:r>
            <a:rPr lang="de-DE"/>
            <a:t>3. Schritt: Erstellung des Bruches nach folgender Vorlage</a:t>
          </a:r>
        </a:p>
      </dgm:t>
    </dgm:pt>
    <dgm:pt modelId="{0E80C1FD-0398-4432-8C3F-0817947751C3}" type="parTrans" cxnId="{9A67894E-0179-4EA1-96F7-5B5FEFD19858}">
      <dgm:prSet/>
      <dgm:spPr/>
      <dgm:t>
        <a:bodyPr/>
        <a:lstStyle/>
        <a:p>
          <a:endParaRPr lang="de-DE"/>
        </a:p>
      </dgm:t>
    </dgm:pt>
    <dgm:pt modelId="{BE08C9AE-0C69-45B1-B352-292131B82A0B}" type="sibTrans" cxnId="{9A67894E-0179-4EA1-96F7-5B5FEFD19858}">
      <dgm:prSet/>
      <dgm:spPr/>
      <dgm:t>
        <a:bodyPr/>
        <a:lstStyle/>
        <a:p>
          <a:endParaRPr lang="de-DE"/>
        </a:p>
      </dgm:t>
    </dgm:pt>
    <dgm:pt modelId="{D6796125-340C-42F9-8FB1-173AF2F39EC0}" type="pres">
      <dgm:prSet presAssocID="{F3809BBC-B12B-449C-9A14-9E5427BB12EF}" presName="linear" presStyleCnt="0">
        <dgm:presLayoutVars>
          <dgm:animLvl val="lvl"/>
          <dgm:resizeHandles val="exact"/>
        </dgm:presLayoutVars>
      </dgm:prSet>
      <dgm:spPr/>
    </dgm:pt>
    <dgm:pt modelId="{44504724-AD82-4E1A-9287-65B4FAFD8D21}" type="pres">
      <dgm:prSet presAssocID="{C01AB4E3-DDC1-46C3-88F1-5A51F746B100}" presName="parentText" presStyleLbl="node1" presStyleIdx="0" presStyleCnt="1">
        <dgm:presLayoutVars>
          <dgm:chMax val="0"/>
          <dgm:bulletEnabled val="1"/>
        </dgm:presLayoutVars>
      </dgm:prSet>
      <dgm:spPr/>
    </dgm:pt>
  </dgm:ptLst>
  <dgm:cxnLst>
    <dgm:cxn modelId="{B86F0C05-E95C-4C4F-8D4D-C2DF6DD701F9}" type="presOf" srcId="{F3809BBC-B12B-449C-9A14-9E5427BB12EF}" destId="{D6796125-340C-42F9-8FB1-173AF2F39EC0}" srcOrd="0" destOrd="0" presId="urn:microsoft.com/office/officeart/2005/8/layout/vList2"/>
    <dgm:cxn modelId="{9A67894E-0179-4EA1-96F7-5B5FEFD19858}" srcId="{F3809BBC-B12B-449C-9A14-9E5427BB12EF}" destId="{C01AB4E3-DDC1-46C3-88F1-5A51F746B100}" srcOrd="0" destOrd="0" parTransId="{0E80C1FD-0398-4432-8C3F-0817947751C3}" sibTransId="{BE08C9AE-0C69-45B1-B352-292131B82A0B}"/>
    <dgm:cxn modelId="{4CAFECD6-DA2F-4C9B-AA6F-E2A98FA0B5AB}" type="presOf" srcId="{C01AB4E3-DDC1-46C3-88F1-5A51F746B100}" destId="{44504724-AD82-4E1A-9287-65B4FAFD8D21}" srcOrd="0" destOrd="0" presId="urn:microsoft.com/office/officeart/2005/8/layout/vList2"/>
    <dgm:cxn modelId="{DA9F13B1-F47C-4DF0-A2D9-0C2108DBABAB}" type="presParOf" srcId="{D6796125-340C-42F9-8FB1-173AF2F39EC0}" destId="{44504724-AD82-4E1A-9287-65B4FAFD8D21}"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2D1201-FE6B-491A-88C9-63B5C49EAF38}">
      <dsp:nvSpPr>
        <dsp:cNvPr id="0" name=""/>
        <dsp:cNvSpPr/>
      </dsp:nvSpPr>
      <dsp:spPr>
        <a:xfrm>
          <a:off x="0" y="3193"/>
          <a:ext cx="7164493" cy="131917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5500" b="1" kern="1200" dirty="0"/>
            <a:t>IT-</a:t>
          </a:r>
          <a:r>
            <a:rPr lang="en-US" sz="5500" b="1" kern="1200" dirty="0" err="1"/>
            <a:t>Mathe</a:t>
          </a:r>
          <a:r>
            <a:rPr lang="en-US" sz="5500" b="1" kern="1200" dirty="0"/>
            <a:t> 2025</a:t>
          </a:r>
          <a:endParaRPr lang="de-DE" sz="5500" kern="1200" dirty="0"/>
        </a:p>
      </dsp:txBody>
      <dsp:txXfrm>
        <a:off x="64397" y="67590"/>
        <a:ext cx="7035699" cy="11903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897DB8-DC3C-4151-8A50-D93952A00319}">
      <dsp:nvSpPr>
        <dsp:cNvPr id="0" name=""/>
        <dsp:cNvSpPr/>
      </dsp:nvSpPr>
      <dsp:spPr>
        <a:xfrm>
          <a:off x="2410074" y="1320"/>
          <a:ext cx="2711333" cy="768714"/>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Datenübertragungs-Formel</a:t>
          </a:r>
          <a:endParaRPr lang="de-DE" sz="1800" kern="1200"/>
        </a:p>
      </dsp:txBody>
      <dsp:txXfrm>
        <a:off x="2447600" y="38846"/>
        <a:ext cx="2636281" cy="693662"/>
      </dsp:txXfrm>
    </dsp:sp>
    <dsp:sp modelId="{5CA14ABF-86A7-4051-8B3F-84F72CB98E0C}">
      <dsp:nvSpPr>
        <dsp:cNvPr id="0" name=""/>
        <dsp:cNvSpPr/>
      </dsp:nvSpPr>
      <dsp:spPr>
        <a:xfrm>
          <a:off x="2410074" y="808470"/>
          <a:ext cx="2711333" cy="768714"/>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USV-Berechnung</a:t>
          </a:r>
          <a:endParaRPr lang="de-DE" sz="1800" kern="1200"/>
        </a:p>
      </dsp:txBody>
      <dsp:txXfrm>
        <a:off x="2447600" y="845996"/>
        <a:ext cx="2636281" cy="693662"/>
      </dsp:txXfrm>
    </dsp:sp>
    <dsp:sp modelId="{044CBF34-C841-49A5-BB0C-F4535E8ED984}">
      <dsp:nvSpPr>
        <dsp:cNvPr id="0" name=""/>
        <dsp:cNvSpPr/>
      </dsp:nvSpPr>
      <dsp:spPr>
        <a:xfrm>
          <a:off x="2410074" y="1615621"/>
          <a:ext cx="2711333" cy="768714"/>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RAID-Formeln</a:t>
          </a:r>
          <a:endParaRPr lang="de-DE" sz="1800" kern="1200"/>
        </a:p>
      </dsp:txBody>
      <dsp:txXfrm>
        <a:off x="2447600" y="1653147"/>
        <a:ext cx="2636281" cy="693662"/>
      </dsp:txXfrm>
    </dsp:sp>
    <dsp:sp modelId="{DFAEED58-B894-43E2-A914-5577B71273FE}">
      <dsp:nvSpPr>
        <dsp:cNvPr id="0" name=""/>
        <dsp:cNvSpPr/>
      </dsp:nvSpPr>
      <dsp:spPr>
        <a:xfrm>
          <a:off x="2410074" y="2422771"/>
          <a:ext cx="2711333" cy="768714"/>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Scan / Foto / Video-Berechnung</a:t>
          </a:r>
          <a:endParaRPr lang="de-DE" sz="1800" kern="1200"/>
        </a:p>
      </dsp:txBody>
      <dsp:txXfrm>
        <a:off x="2447600" y="2460297"/>
        <a:ext cx="2636281" cy="693662"/>
      </dsp:txXfrm>
    </dsp:sp>
    <dsp:sp modelId="{B9649B56-20A7-4505-A9E6-CB152127B75F}">
      <dsp:nvSpPr>
        <dsp:cNvPr id="0" name=""/>
        <dsp:cNvSpPr/>
      </dsp:nvSpPr>
      <dsp:spPr>
        <a:xfrm>
          <a:off x="2410074" y="3229922"/>
          <a:ext cx="2711333" cy="768714"/>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VoIP Berechnung</a:t>
          </a:r>
          <a:endParaRPr lang="de-DE" sz="1800" kern="1200"/>
        </a:p>
      </dsp:txBody>
      <dsp:txXfrm>
        <a:off x="2447600" y="3267448"/>
        <a:ext cx="2636281" cy="693662"/>
      </dsp:txXfrm>
    </dsp:sp>
    <dsp:sp modelId="{E1DFE6A1-350E-46E3-BEB7-F12B055C2087}">
      <dsp:nvSpPr>
        <dsp:cNvPr id="0" name=""/>
        <dsp:cNvSpPr/>
      </dsp:nvSpPr>
      <dsp:spPr>
        <a:xfrm>
          <a:off x="2410074" y="4037072"/>
          <a:ext cx="2711333" cy="768714"/>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Stromkostenberechnung</a:t>
          </a:r>
          <a:endParaRPr lang="de-DE" sz="1800" kern="1200"/>
        </a:p>
      </dsp:txBody>
      <dsp:txXfrm>
        <a:off x="2447600" y="4074598"/>
        <a:ext cx="2636281" cy="6936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1283B8-F237-4D2A-B4CA-197DC4A07C92}">
      <dsp:nvSpPr>
        <dsp:cNvPr id="0" name=""/>
        <dsp:cNvSpPr/>
      </dsp:nvSpPr>
      <dsp:spPr>
        <a:xfrm>
          <a:off x="0" y="0"/>
          <a:ext cx="6859966" cy="3597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de-DE" sz="1500" kern="1200"/>
            <a:t>1. Schritt: Umrechnung cm in Inch (Faktor: 1 Inch -&gt; 2.54 cm)</a:t>
          </a:r>
        </a:p>
      </dsp:txBody>
      <dsp:txXfrm>
        <a:off x="17563" y="17563"/>
        <a:ext cx="6824840" cy="3246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700F38-EA77-46A4-B859-61F43EB568A6}">
      <dsp:nvSpPr>
        <dsp:cNvPr id="0" name=""/>
        <dsp:cNvSpPr/>
      </dsp:nvSpPr>
      <dsp:spPr>
        <a:xfrm>
          <a:off x="0" y="9557"/>
          <a:ext cx="6859966" cy="3597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de-DE" sz="1500" kern="1200"/>
            <a:t>2. Schritt: Umrechnung Inch in Pixel (Faktor: Auflösung in der Aufgabenstellung -&gt; dpi)</a:t>
          </a:r>
        </a:p>
      </dsp:txBody>
      <dsp:txXfrm>
        <a:off x="17563" y="27120"/>
        <a:ext cx="6824840" cy="32464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504724-AD82-4E1A-9287-65B4FAFD8D21}">
      <dsp:nvSpPr>
        <dsp:cNvPr id="0" name=""/>
        <dsp:cNvSpPr/>
      </dsp:nvSpPr>
      <dsp:spPr>
        <a:xfrm>
          <a:off x="0" y="4778"/>
          <a:ext cx="6859966" cy="3597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de-DE" sz="1500" kern="1200"/>
            <a:t>3. Schritt: Erstellung des Bruches nach folgender Vorlage</a:t>
          </a:r>
        </a:p>
      </dsp:txBody>
      <dsp:txXfrm>
        <a:off x="17563" y="22341"/>
        <a:ext cx="6824840" cy="32464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9600" units="cm"/>
          <inkml:channel name="Y" type="integer" max="7200" units="cm"/>
          <inkml:channel name="T" type="integer" max="2.14748E9" units="dev"/>
        </inkml:traceFormat>
        <inkml:channelProperties>
          <inkml:channelProperty channel="X" name="resolution" value="336.48792" units="1/cm"/>
          <inkml:channelProperty channel="Y" name="resolution" value="378.54889" units="1/cm"/>
          <inkml:channelProperty channel="T" name="resolution" value="1" units="1/dev"/>
        </inkml:channelProperties>
      </inkml:inkSource>
      <inkml:timestamp xml:id="ts0" timeString="2022-10-26T16:09:44.463"/>
    </inkml:context>
    <inkml:brush xml:id="br0">
      <inkml:brushProperty name="width" value="0.05292" units="cm"/>
      <inkml:brushProperty name="height" value="0.05292" units="cm"/>
    </inkml:brush>
  </inkml:definitions>
  <inkml:trace contextRef="#ctx0" brushRef="#br0">18341 14906 0,'0'-41'31,"0"41"-15,0 0-16,0 0 0,0 0 15,0 0 1,0 0-16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0"/>
            <a:ext cx="2946400" cy="4953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49688" y="0"/>
            <a:ext cx="2946400" cy="495300"/>
          </a:xfrm>
          <a:prstGeom prst="rect">
            <a:avLst/>
          </a:prstGeom>
        </p:spPr>
        <p:txBody>
          <a:bodyPr vert="horz" lIns="91440" tIns="45720" rIns="91440" bIns="45720" rtlCol="0"/>
          <a:lstStyle>
            <a:lvl1pPr algn="r">
              <a:defRPr sz="1200"/>
            </a:lvl1pPr>
          </a:lstStyle>
          <a:p>
            <a:fld id="{A59F17CA-AA4B-40E0-8821-45BA6C4A23ED}" type="datetimeFigureOut">
              <a:rPr lang="de-DE" smtClean="0"/>
              <a:t>18.08.2026</a:t>
            </a:fld>
            <a:endParaRPr lang="de-DE"/>
          </a:p>
        </p:txBody>
      </p:sp>
      <p:sp>
        <p:nvSpPr>
          <p:cNvPr id="4" name="Folienbildplatzhalter 3"/>
          <p:cNvSpPr>
            <a:spLocks noGrp="1" noRot="1" noChangeAspect="1"/>
          </p:cNvSpPr>
          <p:nvPr>
            <p:ph type="sldImg" idx="2"/>
          </p:nvPr>
        </p:nvSpPr>
        <p:spPr>
          <a:xfrm>
            <a:off x="436563" y="1233488"/>
            <a:ext cx="5924550" cy="3332162"/>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451" y="4751389"/>
            <a:ext cx="5438775" cy="3887787"/>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1" y="9377363"/>
            <a:ext cx="2946400" cy="4953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49688" y="9377363"/>
            <a:ext cx="2946400" cy="495300"/>
          </a:xfrm>
          <a:prstGeom prst="rect">
            <a:avLst/>
          </a:prstGeom>
        </p:spPr>
        <p:txBody>
          <a:bodyPr vert="horz" lIns="91440" tIns="45720" rIns="91440" bIns="45720" rtlCol="0" anchor="b"/>
          <a:lstStyle>
            <a:lvl1pPr algn="r">
              <a:defRPr sz="1200"/>
            </a:lvl1pPr>
          </a:lstStyle>
          <a:p>
            <a:fld id="{ABDA05AA-61DD-4514-BA48-F057C49FAB07}" type="slidenum">
              <a:rPr lang="de-DE" smtClean="0"/>
              <a:t>‹Nr.›</a:t>
            </a:fld>
            <a:endParaRPr lang="de-DE"/>
          </a:p>
        </p:txBody>
      </p:sp>
    </p:spTree>
    <p:extLst>
      <p:ext uri="{BB962C8B-B14F-4D97-AF65-F5344CB8AC3E}">
        <p14:creationId xmlns:p14="http://schemas.microsoft.com/office/powerpoint/2010/main" val="1477386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ABDA05AA-61DD-4514-BA48-F057C49FAB07}" type="slidenum">
              <a:rPr lang="de-DE" smtClean="0"/>
              <a:t>5</a:t>
            </a:fld>
            <a:endParaRPr lang="de-DE"/>
          </a:p>
        </p:txBody>
      </p:sp>
    </p:spTree>
    <p:extLst>
      <p:ext uri="{BB962C8B-B14F-4D97-AF65-F5344CB8AC3E}">
        <p14:creationId xmlns:p14="http://schemas.microsoft.com/office/powerpoint/2010/main" val="595498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ABDA05AA-61DD-4514-BA48-F057C49FAB07}" type="slidenum">
              <a:rPr lang="de-DE" smtClean="0"/>
              <a:t>11</a:t>
            </a:fld>
            <a:endParaRPr lang="de-DE"/>
          </a:p>
        </p:txBody>
      </p:sp>
    </p:spTree>
    <p:extLst>
      <p:ext uri="{BB962C8B-B14F-4D97-AF65-F5344CB8AC3E}">
        <p14:creationId xmlns:p14="http://schemas.microsoft.com/office/powerpoint/2010/main" val="3627161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ABDA05AA-61DD-4514-BA48-F057C49FAB07}" type="slidenum">
              <a:rPr lang="de-DE" smtClean="0"/>
              <a:t>18</a:t>
            </a:fld>
            <a:endParaRPr lang="de-DE"/>
          </a:p>
        </p:txBody>
      </p:sp>
    </p:spTree>
    <p:extLst>
      <p:ext uri="{BB962C8B-B14F-4D97-AF65-F5344CB8AC3E}">
        <p14:creationId xmlns:p14="http://schemas.microsoft.com/office/powerpoint/2010/main" val="2612175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66F1338-3993-4D45-AFF6-5F631D53BDC9}" type="slidenum">
              <a:rPr lang="de-DE" smtClean="0"/>
              <a:t>50</a:t>
            </a:fld>
            <a:endParaRPr lang="de-DE"/>
          </a:p>
        </p:txBody>
      </p:sp>
    </p:spTree>
    <p:extLst>
      <p:ext uri="{BB962C8B-B14F-4D97-AF65-F5344CB8AC3E}">
        <p14:creationId xmlns:p14="http://schemas.microsoft.com/office/powerpoint/2010/main" val="3192112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66F1338-3993-4D45-AFF6-5F631D53BDC9}" type="slidenum">
              <a:rPr lang="de-DE" smtClean="0"/>
              <a:t>51</a:t>
            </a:fld>
            <a:endParaRPr lang="de-DE"/>
          </a:p>
        </p:txBody>
      </p:sp>
    </p:spTree>
    <p:extLst>
      <p:ext uri="{BB962C8B-B14F-4D97-AF65-F5344CB8AC3E}">
        <p14:creationId xmlns:p14="http://schemas.microsoft.com/office/powerpoint/2010/main" val="3519863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E85FF859-3DD7-431F-A6DE-84B33EC8DA74}" type="datetimeFigureOut">
              <a:rPr lang="de-DE" smtClean="0"/>
              <a:pPr/>
              <a:t>18.08.2026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88FA3FA-1DEE-47A6-A07A-C8FD58A3521F}" type="slidenum">
              <a:rPr lang="de-DE" smtClean="0"/>
              <a:pPr/>
              <a:t>‹Nr.›</a:t>
            </a:fld>
            <a:endParaRPr lang="de-DE"/>
          </a:p>
        </p:txBody>
      </p:sp>
    </p:spTree>
    <p:extLst>
      <p:ext uri="{BB962C8B-B14F-4D97-AF65-F5344CB8AC3E}">
        <p14:creationId xmlns:p14="http://schemas.microsoft.com/office/powerpoint/2010/main" val="3962813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E85FF859-3DD7-431F-A6DE-84B33EC8DA74}" type="datetimeFigureOut">
              <a:rPr lang="de-DE" smtClean="0"/>
              <a:pPr/>
              <a:t>18.08.2026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88FA3FA-1DEE-47A6-A07A-C8FD58A3521F}" type="slidenum">
              <a:rPr lang="de-DE" smtClean="0"/>
              <a:pPr/>
              <a:t>‹Nr.›</a:t>
            </a:fld>
            <a:endParaRPr lang="de-DE"/>
          </a:p>
        </p:txBody>
      </p:sp>
    </p:spTree>
    <p:extLst>
      <p:ext uri="{BB962C8B-B14F-4D97-AF65-F5344CB8AC3E}">
        <p14:creationId xmlns:p14="http://schemas.microsoft.com/office/powerpoint/2010/main" val="1209716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E85FF859-3DD7-431F-A6DE-84B33EC8DA74}" type="datetimeFigureOut">
              <a:rPr lang="de-DE" smtClean="0"/>
              <a:pPr/>
              <a:t>18.08.2026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88FA3FA-1DEE-47A6-A07A-C8FD58A3521F}" type="slidenum">
              <a:rPr lang="de-DE" smtClean="0"/>
              <a:pPr/>
              <a:t>‹Nr.›</a:t>
            </a:fld>
            <a:endParaRPr lang="de-DE"/>
          </a:p>
        </p:txBody>
      </p:sp>
    </p:spTree>
    <p:extLst>
      <p:ext uri="{BB962C8B-B14F-4D97-AF65-F5344CB8AC3E}">
        <p14:creationId xmlns:p14="http://schemas.microsoft.com/office/powerpoint/2010/main" val="1788045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E85FF859-3DD7-431F-A6DE-84B33EC8DA74}" type="datetimeFigureOut">
              <a:rPr lang="de-DE" smtClean="0"/>
              <a:pPr/>
              <a:t>18.08.2026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188FA3FA-1DEE-47A6-A07A-C8FD58A3521F}" type="slidenum">
              <a:rPr lang="de-DE" smtClean="0"/>
              <a:pPr/>
              <a:t>‹Nr.›</a:t>
            </a:fld>
            <a:endParaRPr lang="de-DE"/>
          </a:p>
        </p:txBody>
      </p:sp>
    </p:spTree>
    <p:extLst>
      <p:ext uri="{BB962C8B-B14F-4D97-AF65-F5344CB8AC3E}">
        <p14:creationId xmlns:p14="http://schemas.microsoft.com/office/powerpoint/2010/main" val="1294858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de-DE"/>
              <a:t>Mastertitelformat bearbeiten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E85FF859-3DD7-431F-A6DE-84B33EC8DA74}" type="datetimeFigureOut">
              <a:rPr lang="de-DE" smtClean="0"/>
              <a:pPr/>
              <a:t>18.08.2026</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188FA3FA-1DEE-47A6-A07A-C8FD58A3521F}" type="slidenum">
              <a:rPr lang="de-DE" smtClean="0"/>
              <a:pPr/>
              <a:t>‹Nr.›</a:t>
            </a:fld>
            <a:endParaRPr lang="de-DE"/>
          </a:p>
        </p:txBody>
      </p:sp>
    </p:spTree>
    <p:extLst>
      <p:ext uri="{BB962C8B-B14F-4D97-AF65-F5344CB8AC3E}">
        <p14:creationId xmlns:p14="http://schemas.microsoft.com/office/powerpoint/2010/main" val="477199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E85FF859-3DD7-431F-A6DE-84B33EC8DA74}" type="datetimeFigureOut">
              <a:rPr lang="de-DE" smtClean="0"/>
              <a:pPr/>
              <a:t>18.08.2026</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188FA3FA-1DEE-47A6-A07A-C8FD58A3521F}" type="slidenum">
              <a:rPr lang="de-DE" smtClean="0"/>
              <a:pPr/>
              <a:t>‹Nr.›</a:t>
            </a:fld>
            <a:endParaRPr lang="de-DE"/>
          </a:p>
        </p:txBody>
      </p:sp>
    </p:spTree>
    <p:extLst>
      <p:ext uri="{BB962C8B-B14F-4D97-AF65-F5344CB8AC3E}">
        <p14:creationId xmlns:p14="http://schemas.microsoft.com/office/powerpoint/2010/main" val="2533328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5FF859-3DD7-431F-A6DE-84B33EC8DA74}" type="datetimeFigureOut">
              <a:rPr lang="de-DE" smtClean="0"/>
              <a:pPr/>
              <a:t>18.08.2026</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188FA3FA-1DEE-47A6-A07A-C8FD58A3521F}" type="slidenum">
              <a:rPr lang="de-DE" smtClean="0"/>
              <a:pPr/>
              <a:t>‹Nr.›</a:t>
            </a:fld>
            <a:endParaRPr lang="de-DE"/>
          </a:p>
        </p:txBody>
      </p:sp>
    </p:spTree>
    <p:extLst>
      <p:ext uri="{BB962C8B-B14F-4D97-AF65-F5344CB8AC3E}">
        <p14:creationId xmlns:p14="http://schemas.microsoft.com/office/powerpoint/2010/main" val="308133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E85FF859-3DD7-431F-A6DE-84B33EC8DA74}" type="datetimeFigureOut">
              <a:rPr lang="de-DE" smtClean="0"/>
              <a:pPr/>
              <a:t>18.08.2026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188FA3FA-1DEE-47A6-A07A-C8FD58A3521F}" type="slidenum">
              <a:rPr lang="de-DE" smtClean="0"/>
              <a:pPr/>
              <a:t>‹Nr.›</a:t>
            </a:fld>
            <a:endParaRPr lang="de-DE"/>
          </a:p>
        </p:txBody>
      </p:sp>
    </p:spTree>
    <p:extLst>
      <p:ext uri="{BB962C8B-B14F-4D97-AF65-F5344CB8AC3E}">
        <p14:creationId xmlns:p14="http://schemas.microsoft.com/office/powerpoint/2010/main" val="3921603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E85FF859-3DD7-431F-A6DE-84B33EC8DA74}" type="datetimeFigureOut">
              <a:rPr lang="de-DE" smtClean="0"/>
              <a:pPr/>
              <a:t>18.08.2026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188FA3FA-1DEE-47A6-A07A-C8FD58A3521F}" type="slidenum">
              <a:rPr lang="de-DE" smtClean="0"/>
              <a:pPr/>
              <a:t>‹Nr.›</a:t>
            </a:fld>
            <a:endParaRPr lang="de-DE"/>
          </a:p>
        </p:txBody>
      </p:sp>
    </p:spTree>
    <p:extLst>
      <p:ext uri="{BB962C8B-B14F-4D97-AF65-F5344CB8AC3E}">
        <p14:creationId xmlns:p14="http://schemas.microsoft.com/office/powerpoint/2010/main" val="374211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E85FF859-3DD7-431F-A6DE-84B33EC8DA74}" type="datetimeFigureOut">
              <a:rPr lang="de-DE" smtClean="0"/>
              <a:pPr/>
              <a:t>18.08.2026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88FA3FA-1DEE-47A6-A07A-C8FD58A3521F}" type="slidenum">
              <a:rPr lang="de-DE" smtClean="0"/>
              <a:pPr/>
              <a:t>‹Nr.›</a:t>
            </a:fld>
            <a:endParaRPr lang="de-DE"/>
          </a:p>
        </p:txBody>
      </p:sp>
    </p:spTree>
    <p:extLst>
      <p:ext uri="{BB962C8B-B14F-4D97-AF65-F5344CB8AC3E}">
        <p14:creationId xmlns:p14="http://schemas.microsoft.com/office/powerpoint/2010/main" val="3220077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E85FF859-3DD7-431F-A6DE-84B33EC8DA74}" type="datetimeFigureOut">
              <a:rPr lang="de-DE" smtClean="0"/>
              <a:pPr/>
              <a:t>18.08.2026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88FA3FA-1DEE-47A6-A07A-C8FD58A3521F}" type="slidenum">
              <a:rPr lang="de-DE" smtClean="0"/>
              <a:pPr/>
              <a:t>‹Nr.›</a:t>
            </a:fld>
            <a:endParaRPr lang="de-DE"/>
          </a:p>
        </p:txBody>
      </p:sp>
    </p:spTree>
    <p:extLst>
      <p:ext uri="{BB962C8B-B14F-4D97-AF65-F5344CB8AC3E}">
        <p14:creationId xmlns:p14="http://schemas.microsoft.com/office/powerpoint/2010/main" val="3143177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060606"/>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extLst>
      <p:ext uri="{BB962C8B-B14F-4D97-AF65-F5344CB8AC3E}">
        <p14:creationId xmlns:p14="http://schemas.microsoft.com/office/powerpoint/2010/main" val="2515631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FF859-3DD7-431F-A6DE-84B33EC8DA74}" type="datetimeFigureOut">
              <a:rPr lang="de-DE" smtClean="0"/>
              <a:pPr/>
              <a:t>18.08.2026</a:t>
            </a:fld>
            <a:endParaRPr lang="de-D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8FA3FA-1DEE-47A6-A07A-C8FD58A3521F}" type="slidenum">
              <a:rPr lang="de-DE" smtClean="0"/>
              <a:pPr/>
              <a:t>‹Nr.›</a:t>
            </a:fld>
            <a:endParaRPr lang="de-DE"/>
          </a:p>
        </p:txBody>
      </p:sp>
    </p:spTree>
    <p:extLst>
      <p:ext uri="{BB962C8B-B14F-4D97-AF65-F5344CB8AC3E}">
        <p14:creationId xmlns:p14="http://schemas.microsoft.com/office/powerpoint/2010/main" val="36584819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Layout" Target="../diagrams/layout1.xml"/><Relationship Id="rId7" Type="http://schemas.openxmlformats.org/officeDocument/2006/relationships/image" Target="../media/image1.png"/><Relationship Id="rId12" Type="http://schemas.microsoft.com/office/2007/relationships/diagramDrawing" Target="../diagrams/drawing2.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11" Type="http://schemas.openxmlformats.org/officeDocument/2006/relationships/diagramColors" Target="../diagrams/colors2.xml"/><Relationship Id="rId5" Type="http://schemas.openxmlformats.org/officeDocument/2006/relationships/diagramColors" Target="../diagrams/colors1.xml"/><Relationship Id="rId10" Type="http://schemas.openxmlformats.org/officeDocument/2006/relationships/diagramQuickStyle" Target="../diagrams/quickStyle2.xml"/><Relationship Id="rId4" Type="http://schemas.openxmlformats.org/officeDocument/2006/relationships/diagramQuickStyle" Target="../diagrams/quickStyle1.xml"/><Relationship Id="rId9" Type="http://schemas.openxmlformats.org/officeDocument/2006/relationships/diagramLayout" Target="../diagrams/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image" Target="../media/image20.emf"/><Relationship Id="rId7" Type="http://schemas.openxmlformats.org/officeDocument/2006/relationships/hyperlink" Target="https://kompendium.infotip.de/netzwerkbefehle-der-windows-kommandozeile.html" TargetMode="External"/><Relationship Id="rId2" Type="http://schemas.openxmlformats.org/officeDocument/2006/relationships/image" Target="../media/image19.emf"/><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2.emf"/><Relationship Id="rId4" Type="http://schemas.openxmlformats.org/officeDocument/2006/relationships/image" Target="../media/image21.emf"/><Relationship Id="rId9"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image" Target="../media/image20.emf"/><Relationship Id="rId7" Type="http://schemas.openxmlformats.org/officeDocument/2006/relationships/hyperlink" Target="https://kompendium.infotip.de/netzwerkbefehle-der-windows-kommandozeile.html" TargetMode="External"/><Relationship Id="rId2" Type="http://schemas.openxmlformats.org/officeDocument/2006/relationships/image" Target="../media/image19.emf"/><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2.emf"/><Relationship Id="rId4" Type="http://schemas.openxmlformats.org/officeDocument/2006/relationships/image" Target="../media/image21.emf"/></Relationships>
</file>

<file path=ppt/slides/_rels/slide36.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image" Target="../media/image20.emf"/><Relationship Id="rId7" Type="http://schemas.openxmlformats.org/officeDocument/2006/relationships/image" Target="../media/image24.emf"/><Relationship Id="rId2" Type="http://schemas.openxmlformats.org/officeDocument/2006/relationships/image" Target="../media/image19.emf"/><Relationship Id="rId1" Type="http://schemas.openxmlformats.org/officeDocument/2006/relationships/slideLayout" Target="../slideLayouts/slideLayout7.xml"/><Relationship Id="rId6" Type="http://schemas.openxmlformats.org/officeDocument/2006/relationships/image" Target="../media/image23.emf"/><Relationship Id="rId5" Type="http://schemas.openxmlformats.org/officeDocument/2006/relationships/image" Target="../media/image22.emf"/><Relationship Id="rId10" Type="http://schemas.openxmlformats.org/officeDocument/2006/relationships/hyperlink" Target="https://kompendium.infotip.de/netzwerkbefehle-der-windows-kommandozeile.html" TargetMode="External"/><Relationship Id="rId4" Type="http://schemas.openxmlformats.org/officeDocument/2006/relationships/image" Target="../media/image21.emf"/><Relationship Id="rId9"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160.png"/></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65.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jp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jp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7.xml"/><Relationship Id="rId5" Type="http://schemas.openxmlformats.org/officeDocument/2006/relationships/image" Target="../media/image50.emf"/><Relationship Id="rId4" Type="http://schemas.openxmlformats.org/officeDocument/2006/relationships/image" Target="../media/image49.emf"/></Relationships>
</file>

<file path=ppt/slides/_rels/slide72.x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image" Target="../media/image48.emf"/><Relationship Id="rId7" Type="http://schemas.openxmlformats.org/officeDocument/2006/relationships/image" Target="../media/image52.emf"/><Relationship Id="rId2" Type="http://schemas.openxmlformats.org/officeDocument/2006/relationships/image" Target="../media/image47.emf"/><Relationship Id="rId1" Type="http://schemas.openxmlformats.org/officeDocument/2006/relationships/slideLayout" Target="../slideLayouts/slideLayout7.xml"/><Relationship Id="rId6" Type="http://schemas.openxmlformats.org/officeDocument/2006/relationships/image" Target="../media/image51.emf"/><Relationship Id="rId5" Type="http://schemas.openxmlformats.org/officeDocument/2006/relationships/image" Target="../media/image50.emf"/><Relationship Id="rId10" Type="http://schemas.openxmlformats.org/officeDocument/2006/relationships/image" Target="../media/image34.jpeg"/><Relationship Id="rId4" Type="http://schemas.openxmlformats.org/officeDocument/2006/relationships/image" Target="../media/image49.emf"/><Relationship Id="rId9" Type="http://schemas.openxmlformats.org/officeDocument/2006/relationships/image" Target="../media/image54.emf"/></Relationships>
</file>

<file path=ppt/slides/_rels/slide73.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57.png"/></Relationships>
</file>

<file path=ppt/slides/_rels/slide7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emf"/><Relationship Id="rId1" Type="http://schemas.openxmlformats.org/officeDocument/2006/relationships/slideLayout" Target="../slideLayouts/slideLayout7.xml"/><Relationship Id="rId4" Type="http://schemas.openxmlformats.org/officeDocument/2006/relationships/image" Target="../media/image65.emf"/></Relationships>
</file>

<file path=ppt/slides/_rels/slide83.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66.emf"/><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image" Target="../media/image66.emf"/><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image" Target="../media/image69.emf"/><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71.emf"/><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image" Target="../media/image71.emf"/><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8" Type="http://schemas.openxmlformats.org/officeDocument/2006/relationships/diagramLayout" Target="../diagrams/layout4.xml"/><Relationship Id="rId13" Type="http://schemas.openxmlformats.org/officeDocument/2006/relationships/diagramLayout" Target="../diagrams/layout5.xml"/><Relationship Id="rId3" Type="http://schemas.openxmlformats.org/officeDocument/2006/relationships/diagramLayout" Target="../diagrams/layout3.xml"/><Relationship Id="rId7" Type="http://schemas.openxmlformats.org/officeDocument/2006/relationships/diagramData" Target="../diagrams/data4.xml"/><Relationship Id="rId12" Type="http://schemas.openxmlformats.org/officeDocument/2006/relationships/diagramData" Target="../diagrams/data5.xml"/><Relationship Id="rId17" Type="http://schemas.openxmlformats.org/officeDocument/2006/relationships/image" Target="../media/image78.jpeg"/><Relationship Id="rId2" Type="http://schemas.openxmlformats.org/officeDocument/2006/relationships/diagramData" Target="../diagrams/data3.xml"/><Relationship Id="rId16" Type="http://schemas.microsoft.com/office/2007/relationships/diagramDrawing" Target="../diagrams/drawing5.xml"/><Relationship Id="rId1" Type="http://schemas.openxmlformats.org/officeDocument/2006/relationships/slideLayout" Target="../slideLayouts/slideLayout7.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5" Type="http://schemas.openxmlformats.org/officeDocument/2006/relationships/diagramColors" Target="../diagrams/colors5.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 Id="rId14" Type="http://schemas.openxmlformats.org/officeDocument/2006/relationships/diagramQuickStyle" Target="../diagrams/quickStyle5.xml"/></Relationships>
</file>

<file path=ppt/slides/_rels/slide9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emf"/><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image" Target="../media/image79.emf"/><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image" Target="../media/image79.emf"/><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emf"/><Relationship Id="rId1" Type="http://schemas.openxmlformats.org/officeDocument/2006/relationships/slideLayout" Target="../slideLayouts/slideLayout7.xml"/><Relationship Id="rId5" Type="http://schemas.openxmlformats.org/officeDocument/2006/relationships/image" Target="../media/image85.emf"/><Relationship Id="rId4" Type="http://schemas.openxmlformats.org/officeDocument/2006/relationships/image" Target="../media/image84.emf"/></Relationships>
</file>

<file path=ppt/slides/_rels/slide102.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image" Target="../media/image86.emf"/><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88.emf"/><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89.emf"/><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image" Target="../media/image89.emf"/><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91.gif"/><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image" Target="../media/image92.emf"/><Relationship Id="rId1" Type="http://schemas.openxmlformats.org/officeDocument/2006/relationships/slideLayout" Target="../slideLayouts/slideLayout6.xml"/><Relationship Id="rId4" Type="http://schemas.openxmlformats.org/officeDocument/2006/relationships/image" Target="../media/image94.emf"/></Relationships>
</file>

<file path=ppt/slides/_rels/slide110.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image" Target="../media/image92.emf"/><Relationship Id="rId1" Type="http://schemas.openxmlformats.org/officeDocument/2006/relationships/slideLayout" Target="../slideLayouts/slideLayout6.xml"/><Relationship Id="rId5" Type="http://schemas.openxmlformats.org/officeDocument/2006/relationships/image" Target="../media/image91.gif"/><Relationship Id="rId4" Type="http://schemas.openxmlformats.org/officeDocument/2006/relationships/image" Target="../media/image94.emf"/></Relationships>
</file>

<file path=ppt/slides/_rels/slide111.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image" Target="../media/image92.emf"/><Relationship Id="rId1" Type="http://schemas.openxmlformats.org/officeDocument/2006/relationships/slideLayout" Target="../slideLayouts/slideLayout7.xml"/><Relationship Id="rId4" Type="http://schemas.openxmlformats.org/officeDocument/2006/relationships/image" Target="../media/image94.emf"/></Relationships>
</file>

<file path=ppt/slides/_rels/slide112.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image" Target="../media/image92.emf"/><Relationship Id="rId1" Type="http://schemas.openxmlformats.org/officeDocument/2006/relationships/slideLayout" Target="../slideLayouts/slideLayout7.xml"/><Relationship Id="rId4" Type="http://schemas.openxmlformats.org/officeDocument/2006/relationships/image" Target="../media/image94.emf"/></Relationships>
</file>

<file path=ppt/slides/_rels/slide113.xml.rels><?xml version="1.0" encoding="UTF-8" standalone="yes"?>
<Relationships xmlns="http://schemas.openxmlformats.org/package/2006/relationships"><Relationship Id="rId2" Type="http://schemas.openxmlformats.org/officeDocument/2006/relationships/image" Target="../media/image95.emf"/><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2" Type="http://schemas.openxmlformats.org/officeDocument/2006/relationships/image" Target="../media/image95.emf"/><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2" Type="http://schemas.openxmlformats.org/officeDocument/2006/relationships/image" Target="../media/image95.emf"/><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95.emf"/><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17">
            <a:extLst>
              <a:ext uri="{FF2B5EF4-FFF2-40B4-BE49-F238E27FC236}">
                <a16:creationId xmlns:a16="http://schemas.microsoft.com/office/drawing/2014/main" id="{56C20283-73E0-40EC-8AD8-057F581F64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8">
            <a:extLst>
              <a:ext uri="{FF2B5EF4-FFF2-40B4-BE49-F238E27FC236}">
                <a16:creationId xmlns:a16="http://schemas.microsoft.com/office/drawing/2014/main" id="{3FCC729B-E528-40C3-82D3-BA4375575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60120" y="0"/>
            <a:ext cx="11218661" cy="6858000"/>
          </a:xfrm>
          <a:custGeom>
            <a:avLst/>
            <a:gdLst>
              <a:gd name="connsiteX0" fmla="*/ 0 w 11218661"/>
              <a:gd name="connsiteY0" fmla="*/ 0 h 6858000"/>
              <a:gd name="connsiteX1" fmla="*/ 8042507 w 11218661"/>
              <a:gd name="connsiteY1" fmla="*/ 0 h 6858000"/>
              <a:gd name="connsiteX2" fmla="*/ 11218661 w 11218661"/>
              <a:gd name="connsiteY2" fmla="*/ 6858000 h 6858000"/>
              <a:gd name="connsiteX3" fmla="*/ 0 w 1121866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218661" h="6858000">
                <a:moveTo>
                  <a:pt x="0" y="0"/>
                </a:moveTo>
                <a:lnTo>
                  <a:pt x="8042507" y="0"/>
                </a:lnTo>
                <a:lnTo>
                  <a:pt x="11218661" y="6858000"/>
                </a:lnTo>
                <a:lnTo>
                  <a:pt x="0" y="685800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6">
            <a:extLst>
              <a:ext uri="{FF2B5EF4-FFF2-40B4-BE49-F238E27FC236}">
                <a16:creationId xmlns:a16="http://schemas.microsoft.com/office/drawing/2014/main" id="{58F1FB8D-1842-4A04-998D-6CF047AB2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420248" y="0"/>
            <a:ext cx="10771752" cy="6858000"/>
          </a:xfrm>
          <a:custGeom>
            <a:avLst/>
            <a:gdLst>
              <a:gd name="connsiteX0" fmla="*/ 0 w 10771752"/>
              <a:gd name="connsiteY0" fmla="*/ 0 h 6858000"/>
              <a:gd name="connsiteX1" fmla="*/ 7595598 w 10771752"/>
              <a:gd name="connsiteY1" fmla="*/ 0 h 6858000"/>
              <a:gd name="connsiteX2" fmla="*/ 10771752 w 10771752"/>
              <a:gd name="connsiteY2" fmla="*/ 6858000 h 6858000"/>
              <a:gd name="connsiteX3" fmla="*/ 0 w 1077175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771752" h="6858000">
                <a:moveTo>
                  <a:pt x="0" y="0"/>
                </a:moveTo>
                <a:lnTo>
                  <a:pt x="7595598" y="0"/>
                </a:lnTo>
                <a:lnTo>
                  <a:pt x="10771752"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6" name="Diagramm 5">
            <a:extLst>
              <a:ext uri="{FF2B5EF4-FFF2-40B4-BE49-F238E27FC236}">
                <a16:creationId xmlns:a16="http://schemas.microsoft.com/office/drawing/2014/main" id="{DC46488D-8159-AD46-7D68-7AE79C3B09AD}"/>
              </a:ext>
            </a:extLst>
          </p:cNvPr>
          <p:cNvGraphicFramePr/>
          <p:nvPr>
            <p:extLst>
              <p:ext uri="{D42A27DB-BD31-4B8C-83A1-F6EECF244321}">
                <p14:modId xmlns:p14="http://schemas.microsoft.com/office/powerpoint/2010/main" val="803870862"/>
              </p:ext>
            </p:extLst>
          </p:nvPr>
        </p:nvGraphicFramePr>
        <p:xfrm>
          <a:off x="4384039" y="365125"/>
          <a:ext cx="7164493"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Grafik 3" descr="Ein Bild, das Elektronik, schwarz, Rechner, sitzend enthält.&#10;&#10;Automatisch generierte Beschreibung">
            <a:extLst>
              <a:ext uri="{FF2B5EF4-FFF2-40B4-BE49-F238E27FC236}">
                <a16:creationId xmlns:a16="http://schemas.microsoft.com/office/drawing/2014/main" id="{4A63F95A-0ADE-4435-A5C3-298196C99A7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7819" y="643228"/>
            <a:ext cx="2702198" cy="5571543"/>
          </a:xfrm>
          <a:prstGeom prst="rect">
            <a:avLst/>
          </a:prstGeom>
        </p:spPr>
      </p:pic>
      <p:graphicFrame>
        <p:nvGraphicFramePr>
          <p:cNvPr id="5" name="Diagramm 4">
            <a:extLst>
              <a:ext uri="{FF2B5EF4-FFF2-40B4-BE49-F238E27FC236}">
                <a16:creationId xmlns:a16="http://schemas.microsoft.com/office/drawing/2014/main" id="{AD7429C7-ADBF-E459-B8A0-54F9A4DF40BB}"/>
              </a:ext>
            </a:extLst>
          </p:cNvPr>
          <p:cNvGraphicFramePr/>
          <p:nvPr>
            <p:extLst>
              <p:ext uri="{D42A27DB-BD31-4B8C-83A1-F6EECF244321}">
                <p14:modId xmlns:p14="http://schemas.microsoft.com/office/powerpoint/2010/main" val="1514197920"/>
              </p:ext>
            </p:extLst>
          </p:nvPr>
        </p:nvGraphicFramePr>
        <p:xfrm>
          <a:off x="4307165" y="1824755"/>
          <a:ext cx="7531483" cy="480710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6089395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3524"/>
    </mc:Choice>
    <mc:Fallback xmlns="">
      <p:transition spd="slow" advTm="3524"/>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descr="Quellbild anzeigen">
            <a:extLst>
              <a:ext uri="{FF2B5EF4-FFF2-40B4-BE49-F238E27FC236}">
                <a16:creationId xmlns:a16="http://schemas.microsoft.com/office/drawing/2014/main" id="{659D3F54-A704-4AFF-9BC9-A484823720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0"/>
            <a:ext cx="109728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763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descr="Quellbild anzeigen">
            <a:extLst>
              <a:ext uri="{FF2B5EF4-FFF2-40B4-BE49-F238E27FC236}">
                <a16:creationId xmlns:a16="http://schemas.microsoft.com/office/drawing/2014/main" id="{6E3273A8-62BA-7070-67E8-C53A2B8C43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6638" y="0"/>
            <a:ext cx="1011872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a:extLst>
              <a:ext uri="{FF2B5EF4-FFF2-40B4-BE49-F238E27FC236}">
                <a16:creationId xmlns:a16="http://schemas.microsoft.com/office/drawing/2014/main" id="{8E6C2137-FC15-6F24-C8BD-3D262C8D62A9}"/>
              </a:ext>
            </a:extLst>
          </p:cNvPr>
          <p:cNvSpPr txBox="1"/>
          <p:nvPr/>
        </p:nvSpPr>
        <p:spPr>
          <a:xfrm>
            <a:off x="1604513" y="897147"/>
            <a:ext cx="4403578" cy="369332"/>
          </a:xfrm>
          <a:prstGeom prst="rect">
            <a:avLst/>
          </a:prstGeom>
          <a:noFill/>
        </p:spPr>
        <p:txBody>
          <a:bodyPr wrap="none" rtlCol="0">
            <a:spAutoFit/>
          </a:bodyPr>
          <a:lstStyle/>
          <a:p>
            <a:r>
              <a:rPr lang="de-DE" dirty="0"/>
              <a:t>DQR-Stufe x 10.000,- € = Jahresgehalt brutto </a:t>
            </a:r>
          </a:p>
        </p:txBody>
      </p:sp>
    </p:spTree>
    <p:extLst>
      <p:ext uri="{BB962C8B-B14F-4D97-AF65-F5344CB8AC3E}">
        <p14:creationId xmlns:p14="http://schemas.microsoft.com/office/powerpoint/2010/main" val="2288969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BE9D2BE1-8310-4546-BBDD-F6D54D01F9C8}"/>
              </a:ext>
            </a:extLst>
          </p:cNvPr>
          <p:cNvPicPr>
            <a:picLocks noChangeAspect="1"/>
          </p:cNvPicPr>
          <p:nvPr/>
        </p:nvPicPr>
        <p:blipFill>
          <a:blip r:embed="rId2"/>
          <a:stretch>
            <a:fillRect/>
          </a:stretch>
        </p:blipFill>
        <p:spPr>
          <a:xfrm>
            <a:off x="44668" y="117230"/>
            <a:ext cx="12147332" cy="3899878"/>
          </a:xfrm>
          <a:prstGeom prst="rect">
            <a:avLst/>
          </a:prstGeom>
        </p:spPr>
      </p:pic>
      <p:sp>
        <p:nvSpPr>
          <p:cNvPr id="6" name="Textfeld 5">
            <a:extLst>
              <a:ext uri="{FF2B5EF4-FFF2-40B4-BE49-F238E27FC236}">
                <a16:creationId xmlns:a16="http://schemas.microsoft.com/office/drawing/2014/main" id="{93E583A2-BDAF-41F3-9AAD-165F3C132823}"/>
              </a:ext>
            </a:extLst>
          </p:cNvPr>
          <p:cNvSpPr txBox="1"/>
          <p:nvPr/>
        </p:nvSpPr>
        <p:spPr>
          <a:xfrm>
            <a:off x="2423616" y="4017108"/>
            <a:ext cx="6057152" cy="147732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de-DE" b="1" u="sng" dirty="0"/>
              <a:t>Grundgleichung:</a:t>
            </a:r>
          </a:p>
          <a:p>
            <a:endParaRPr lang="de-DE" b="1" dirty="0"/>
          </a:p>
          <a:p>
            <a:r>
              <a:rPr lang="de-DE" b="1" dirty="0"/>
              <a:t>			Datengröße * 1024</a:t>
            </a:r>
            <a:r>
              <a:rPr lang="de-DE" b="1" baseline="30000" dirty="0"/>
              <a:t>x   *</a:t>
            </a:r>
            <a:r>
              <a:rPr lang="de-DE" b="1" dirty="0"/>
              <a:t> 8 			Bit</a:t>
            </a:r>
          </a:p>
          <a:p>
            <a:r>
              <a:rPr lang="de-DE" b="1" dirty="0"/>
              <a:t>Sekunden = 	-------------------------------------         --------------------</a:t>
            </a:r>
          </a:p>
          <a:p>
            <a:r>
              <a:rPr lang="de-DE" b="1" dirty="0"/>
              <a:t>			Geschwindigkeit * 1000</a:t>
            </a:r>
            <a:r>
              <a:rPr lang="de-DE" b="1" baseline="30000" dirty="0"/>
              <a:t>y   		</a:t>
            </a:r>
            <a:r>
              <a:rPr lang="de-DE" b="1" dirty="0"/>
              <a:t>Bit / Sekunde</a:t>
            </a:r>
          </a:p>
        </p:txBody>
      </p:sp>
      <p:sp>
        <p:nvSpPr>
          <p:cNvPr id="3" name="Textfeld 2">
            <a:extLst>
              <a:ext uri="{FF2B5EF4-FFF2-40B4-BE49-F238E27FC236}">
                <a16:creationId xmlns:a16="http://schemas.microsoft.com/office/drawing/2014/main" id="{D83DD19D-5848-40AA-BA2E-576CC452229F}"/>
              </a:ext>
            </a:extLst>
          </p:cNvPr>
          <p:cNvSpPr txBox="1"/>
          <p:nvPr/>
        </p:nvSpPr>
        <p:spPr>
          <a:xfrm>
            <a:off x="8489061" y="4017107"/>
            <a:ext cx="2322687" cy="1200329"/>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r>
              <a:rPr lang="de-DE" dirty="0" err="1"/>
              <a:t>KiB</a:t>
            </a:r>
            <a:r>
              <a:rPr lang="de-DE" dirty="0"/>
              <a:t> auf Byte = 	* </a:t>
            </a:r>
            <a:r>
              <a:rPr lang="de-DE" b="1" dirty="0"/>
              <a:t>1024</a:t>
            </a:r>
          </a:p>
          <a:p>
            <a:r>
              <a:rPr lang="de-DE" dirty="0"/>
              <a:t>MiB auf Byte = *</a:t>
            </a:r>
            <a:r>
              <a:rPr lang="de-DE" b="1" dirty="0"/>
              <a:t>1024</a:t>
            </a:r>
            <a:r>
              <a:rPr lang="de-DE" b="1" baseline="30000" dirty="0"/>
              <a:t>2</a:t>
            </a:r>
          </a:p>
          <a:p>
            <a:r>
              <a:rPr lang="de-DE" dirty="0" err="1"/>
              <a:t>GiB</a:t>
            </a:r>
            <a:r>
              <a:rPr lang="de-DE" dirty="0"/>
              <a:t> auf Byte = </a:t>
            </a:r>
            <a:r>
              <a:rPr lang="de-DE" b="1" baseline="30000" dirty="0"/>
              <a:t>	</a:t>
            </a:r>
            <a:r>
              <a:rPr lang="de-DE" dirty="0"/>
              <a:t>*</a:t>
            </a:r>
            <a:r>
              <a:rPr lang="de-DE" b="1" baseline="30000" dirty="0"/>
              <a:t> </a:t>
            </a:r>
            <a:r>
              <a:rPr lang="de-DE" b="1" dirty="0"/>
              <a:t>1024</a:t>
            </a:r>
            <a:r>
              <a:rPr lang="de-DE" b="1" baseline="30000" dirty="0"/>
              <a:t>3</a:t>
            </a:r>
          </a:p>
          <a:p>
            <a:r>
              <a:rPr lang="de-DE" dirty="0"/>
              <a:t>TiB auf Byte = </a:t>
            </a:r>
            <a:r>
              <a:rPr lang="de-DE" b="1" baseline="30000" dirty="0"/>
              <a:t>	</a:t>
            </a:r>
            <a:r>
              <a:rPr lang="de-DE" dirty="0"/>
              <a:t>*</a:t>
            </a:r>
            <a:r>
              <a:rPr lang="de-DE" b="1" baseline="30000" dirty="0"/>
              <a:t> </a:t>
            </a:r>
            <a:r>
              <a:rPr lang="de-DE" b="1" dirty="0"/>
              <a:t>1024</a:t>
            </a:r>
            <a:r>
              <a:rPr lang="de-DE" b="1" baseline="30000" dirty="0"/>
              <a:t>4</a:t>
            </a:r>
            <a:endParaRPr lang="de-DE" dirty="0"/>
          </a:p>
        </p:txBody>
      </p:sp>
      <p:sp>
        <p:nvSpPr>
          <p:cNvPr id="7" name="Textfeld 6">
            <a:extLst>
              <a:ext uri="{FF2B5EF4-FFF2-40B4-BE49-F238E27FC236}">
                <a16:creationId xmlns:a16="http://schemas.microsoft.com/office/drawing/2014/main" id="{D215AFBF-65DA-494E-AAA4-F8E59BC5C7CF}"/>
              </a:ext>
            </a:extLst>
          </p:cNvPr>
          <p:cNvSpPr txBox="1"/>
          <p:nvPr/>
        </p:nvSpPr>
        <p:spPr>
          <a:xfrm>
            <a:off x="100929" y="5494436"/>
            <a:ext cx="2322687" cy="1200329"/>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r>
              <a:rPr lang="de-DE" dirty="0" err="1"/>
              <a:t>Kb</a:t>
            </a:r>
            <a:r>
              <a:rPr lang="de-DE" dirty="0"/>
              <a:t> auf Bit = 	* </a:t>
            </a:r>
            <a:r>
              <a:rPr lang="de-DE" b="1" dirty="0"/>
              <a:t>1000</a:t>
            </a:r>
          </a:p>
          <a:p>
            <a:r>
              <a:rPr lang="de-DE" dirty="0"/>
              <a:t>Mb auf Bit =    * </a:t>
            </a:r>
            <a:r>
              <a:rPr lang="de-DE" b="1" dirty="0"/>
              <a:t>1000</a:t>
            </a:r>
            <a:r>
              <a:rPr lang="de-DE" b="1" baseline="30000" dirty="0"/>
              <a:t>2</a:t>
            </a:r>
          </a:p>
          <a:p>
            <a:r>
              <a:rPr lang="de-DE" dirty="0" err="1"/>
              <a:t>Gb</a:t>
            </a:r>
            <a:r>
              <a:rPr lang="de-DE" dirty="0"/>
              <a:t> auf Bit = </a:t>
            </a:r>
            <a:r>
              <a:rPr lang="de-DE" b="1" baseline="30000" dirty="0"/>
              <a:t>	</a:t>
            </a:r>
            <a:r>
              <a:rPr lang="de-DE" dirty="0"/>
              <a:t>*</a:t>
            </a:r>
            <a:r>
              <a:rPr lang="de-DE" b="1" baseline="30000" dirty="0"/>
              <a:t> </a:t>
            </a:r>
            <a:r>
              <a:rPr lang="de-DE" b="1" dirty="0"/>
              <a:t>1000</a:t>
            </a:r>
            <a:r>
              <a:rPr lang="de-DE" b="1" baseline="30000" dirty="0"/>
              <a:t>3</a:t>
            </a:r>
          </a:p>
          <a:p>
            <a:r>
              <a:rPr lang="de-DE" dirty="0"/>
              <a:t>Tb auf Bit = </a:t>
            </a:r>
            <a:r>
              <a:rPr lang="de-DE" b="1" baseline="30000" dirty="0"/>
              <a:t>	</a:t>
            </a:r>
            <a:r>
              <a:rPr lang="de-DE" dirty="0"/>
              <a:t>*</a:t>
            </a:r>
            <a:r>
              <a:rPr lang="de-DE" b="1" baseline="30000" dirty="0"/>
              <a:t> </a:t>
            </a:r>
            <a:r>
              <a:rPr lang="de-DE" b="1" dirty="0"/>
              <a:t>1000</a:t>
            </a:r>
            <a:r>
              <a:rPr lang="de-DE" b="1" baseline="30000" dirty="0"/>
              <a:t>4</a:t>
            </a:r>
            <a:endParaRPr lang="de-DE" dirty="0"/>
          </a:p>
        </p:txBody>
      </p:sp>
      <p:cxnSp>
        <p:nvCxnSpPr>
          <p:cNvPr id="9" name="Gerade Verbindung mit Pfeil 8">
            <a:extLst>
              <a:ext uri="{FF2B5EF4-FFF2-40B4-BE49-F238E27FC236}">
                <a16:creationId xmlns:a16="http://schemas.microsoft.com/office/drawing/2014/main" id="{8278FB29-A501-450A-8072-F5FCDE42079E}"/>
              </a:ext>
            </a:extLst>
          </p:cNvPr>
          <p:cNvCxnSpPr>
            <a:cxnSpLocks/>
          </p:cNvCxnSpPr>
          <p:nvPr/>
        </p:nvCxnSpPr>
        <p:spPr>
          <a:xfrm flipV="1">
            <a:off x="5452192" y="4386439"/>
            <a:ext cx="2944749" cy="230833"/>
          </a:xfrm>
          <a:prstGeom prst="straightConnector1">
            <a:avLst/>
          </a:prstGeom>
          <a:ln w="57150">
            <a:tailEnd type="triangle"/>
          </a:ln>
        </p:spPr>
        <p:style>
          <a:lnRef idx="3">
            <a:schemeClr val="accent5"/>
          </a:lnRef>
          <a:fillRef idx="0">
            <a:schemeClr val="accent5"/>
          </a:fillRef>
          <a:effectRef idx="2">
            <a:schemeClr val="accent5"/>
          </a:effectRef>
          <a:fontRef idx="minor">
            <a:schemeClr val="tx1"/>
          </a:fontRef>
        </p:style>
      </p:cxnSp>
      <p:cxnSp>
        <p:nvCxnSpPr>
          <p:cNvPr id="10" name="Gerade Verbindung mit Pfeil 9">
            <a:extLst>
              <a:ext uri="{FF2B5EF4-FFF2-40B4-BE49-F238E27FC236}">
                <a16:creationId xmlns:a16="http://schemas.microsoft.com/office/drawing/2014/main" id="{A41BE1DD-EF85-4BAF-9D05-BE7CA39F304F}"/>
              </a:ext>
            </a:extLst>
          </p:cNvPr>
          <p:cNvCxnSpPr>
            <a:cxnSpLocks/>
          </p:cNvCxnSpPr>
          <p:nvPr/>
        </p:nvCxnSpPr>
        <p:spPr>
          <a:xfrm flipH="1">
            <a:off x="2707341" y="5450541"/>
            <a:ext cx="3191436" cy="597647"/>
          </a:xfrm>
          <a:prstGeom prst="straightConnector1">
            <a:avLst/>
          </a:prstGeom>
          <a:ln w="57150">
            <a:tailEnd type="triangle"/>
          </a:ln>
        </p:spPr>
        <p:style>
          <a:lnRef idx="3">
            <a:schemeClr val="accent5"/>
          </a:lnRef>
          <a:fillRef idx="0">
            <a:schemeClr val="accent5"/>
          </a:fillRef>
          <a:effectRef idx="2">
            <a:schemeClr val="accent5"/>
          </a:effectRef>
          <a:fontRef idx="minor">
            <a:schemeClr val="tx1"/>
          </a:fontRef>
        </p:style>
      </p:cxnSp>
      <p:pic>
        <p:nvPicPr>
          <p:cNvPr id="12" name="Grafik 11" descr="Ein Bild, das Objekt, Uhr, sitzend enthält.&#10;&#10;Automatisch generierte Beschreibung">
            <a:extLst>
              <a:ext uri="{FF2B5EF4-FFF2-40B4-BE49-F238E27FC236}">
                <a16:creationId xmlns:a16="http://schemas.microsoft.com/office/drawing/2014/main" id="{3BCC9B19-2992-4969-9255-55DAB95410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91697" y="5432711"/>
            <a:ext cx="1630831" cy="554354"/>
          </a:xfrm>
          <a:prstGeom prst="rect">
            <a:avLst/>
          </a:prstGeom>
        </p:spPr>
      </p:pic>
    </p:spTree>
    <p:extLst>
      <p:ext uri="{BB962C8B-B14F-4D97-AF65-F5344CB8AC3E}">
        <p14:creationId xmlns:p14="http://schemas.microsoft.com/office/powerpoint/2010/main" val="2910195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93E583A2-BDAF-41F3-9AAD-165F3C132823}"/>
              </a:ext>
            </a:extLst>
          </p:cNvPr>
          <p:cNvSpPr txBox="1"/>
          <p:nvPr/>
        </p:nvSpPr>
        <p:spPr>
          <a:xfrm>
            <a:off x="158677" y="5300010"/>
            <a:ext cx="11790413" cy="1200329"/>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endParaRPr lang="de-DE" b="1" dirty="0"/>
          </a:p>
          <a:p>
            <a:pPr algn="ctr"/>
            <a:r>
              <a:rPr lang="de-DE" b="1" dirty="0"/>
              <a:t>			Datengröße * 1024</a:t>
            </a:r>
            <a:r>
              <a:rPr lang="de-DE" b="1" baseline="30000" dirty="0"/>
              <a:t>x   *</a:t>
            </a:r>
            <a:r>
              <a:rPr lang="de-DE" b="1" dirty="0"/>
              <a:t> 8 			Bit</a:t>
            </a:r>
          </a:p>
          <a:p>
            <a:pPr algn="ctr"/>
            <a:r>
              <a:rPr lang="de-DE" b="1" dirty="0"/>
              <a:t>Sekunden = 	         -------------------------------------         --------------------</a:t>
            </a:r>
          </a:p>
          <a:p>
            <a:pPr algn="ctr"/>
            <a:r>
              <a:rPr lang="de-DE" b="1" dirty="0"/>
              <a:t>			            Geschwindigkeit * 1000</a:t>
            </a:r>
            <a:r>
              <a:rPr lang="de-DE" b="1" baseline="30000" dirty="0"/>
              <a:t>y   		</a:t>
            </a:r>
            <a:r>
              <a:rPr lang="de-DE" b="1" dirty="0"/>
              <a:t>Bit / Sekunde</a:t>
            </a:r>
          </a:p>
        </p:txBody>
      </p:sp>
      <p:sp>
        <p:nvSpPr>
          <p:cNvPr id="3" name="Textfeld 2">
            <a:extLst>
              <a:ext uri="{FF2B5EF4-FFF2-40B4-BE49-F238E27FC236}">
                <a16:creationId xmlns:a16="http://schemas.microsoft.com/office/drawing/2014/main" id="{D83DD19D-5848-40AA-BA2E-576CC452229F}"/>
              </a:ext>
            </a:extLst>
          </p:cNvPr>
          <p:cNvSpPr txBox="1"/>
          <p:nvPr/>
        </p:nvSpPr>
        <p:spPr>
          <a:xfrm>
            <a:off x="6924566" y="4120371"/>
            <a:ext cx="5024525" cy="1200329"/>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r>
              <a:rPr lang="de-DE" dirty="0" err="1"/>
              <a:t>KiB</a:t>
            </a:r>
            <a:r>
              <a:rPr lang="de-DE" dirty="0"/>
              <a:t> auf Byte = 	* </a:t>
            </a:r>
            <a:r>
              <a:rPr lang="de-DE" b="1" dirty="0"/>
              <a:t>1024</a:t>
            </a:r>
          </a:p>
          <a:p>
            <a:r>
              <a:rPr lang="de-DE" dirty="0"/>
              <a:t>MiB auf Byte = *</a:t>
            </a:r>
            <a:r>
              <a:rPr lang="de-DE" b="1" dirty="0"/>
              <a:t>1024</a:t>
            </a:r>
            <a:r>
              <a:rPr lang="de-DE" b="1" baseline="30000" dirty="0"/>
              <a:t>2</a:t>
            </a:r>
          </a:p>
          <a:p>
            <a:r>
              <a:rPr lang="de-DE" dirty="0" err="1"/>
              <a:t>GiB</a:t>
            </a:r>
            <a:r>
              <a:rPr lang="de-DE" dirty="0"/>
              <a:t> auf Byte = </a:t>
            </a:r>
            <a:r>
              <a:rPr lang="de-DE" b="1" baseline="30000" dirty="0"/>
              <a:t>	</a:t>
            </a:r>
            <a:r>
              <a:rPr lang="de-DE" dirty="0"/>
              <a:t>*</a:t>
            </a:r>
            <a:r>
              <a:rPr lang="de-DE" b="1" baseline="30000" dirty="0"/>
              <a:t> </a:t>
            </a:r>
            <a:r>
              <a:rPr lang="de-DE" b="1" dirty="0"/>
              <a:t>1024</a:t>
            </a:r>
            <a:r>
              <a:rPr lang="de-DE" b="1" baseline="30000" dirty="0"/>
              <a:t>3</a:t>
            </a:r>
          </a:p>
          <a:p>
            <a:r>
              <a:rPr lang="de-DE" dirty="0"/>
              <a:t>TiB auf Byte = </a:t>
            </a:r>
            <a:r>
              <a:rPr lang="de-DE" b="1" baseline="30000" dirty="0"/>
              <a:t>	</a:t>
            </a:r>
            <a:r>
              <a:rPr lang="de-DE" dirty="0"/>
              <a:t>*</a:t>
            </a:r>
            <a:r>
              <a:rPr lang="de-DE" b="1" baseline="30000" dirty="0"/>
              <a:t> </a:t>
            </a:r>
            <a:r>
              <a:rPr lang="de-DE" b="1" dirty="0"/>
              <a:t>1024</a:t>
            </a:r>
            <a:r>
              <a:rPr lang="de-DE" b="1" baseline="30000" dirty="0"/>
              <a:t>4</a:t>
            </a:r>
            <a:endParaRPr lang="de-DE" dirty="0"/>
          </a:p>
        </p:txBody>
      </p:sp>
      <p:sp>
        <p:nvSpPr>
          <p:cNvPr id="7" name="Textfeld 6">
            <a:extLst>
              <a:ext uri="{FF2B5EF4-FFF2-40B4-BE49-F238E27FC236}">
                <a16:creationId xmlns:a16="http://schemas.microsoft.com/office/drawing/2014/main" id="{D215AFBF-65DA-494E-AAA4-F8E59BC5C7CF}"/>
              </a:ext>
            </a:extLst>
          </p:cNvPr>
          <p:cNvSpPr txBox="1"/>
          <p:nvPr/>
        </p:nvSpPr>
        <p:spPr>
          <a:xfrm>
            <a:off x="158678" y="4120371"/>
            <a:ext cx="5024525" cy="1200329"/>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r>
              <a:rPr lang="de-DE" dirty="0" err="1"/>
              <a:t>Kb</a:t>
            </a:r>
            <a:r>
              <a:rPr lang="de-DE" dirty="0"/>
              <a:t> auf Bit = 	* </a:t>
            </a:r>
            <a:r>
              <a:rPr lang="de-DE" b="1" dirty="0"/>
              <a:t>1000</a:t>
            </a:r>
          </a:p>
          <a:p>
            <a:r>
              <a:rPr lang="de-DE" dirty="0"/>
              <a:t>Mb auf Bit =    * </a:t>
            </a:r>
            <a:r>
              <a:rPr lang="de-DE" b="1" dirty="0"/>
              <a:t>1000</a:t>
            </a:r>
            <a:r>
              <a:rPr lang="de-DE" b="1" baseline="30000" dirty="0"/>
              <a:t>2</a:t>
            </a:r>
          </a:p>
          <a:p>
            <a:r>
              <a:rPr lang="de-DE" dirty="0" err="1"/>
              <a:t>Gb</a:t>
            </a:r>
            <a:r>
              <a:rPr lang="de-DE" dirty="0"/>
              <a:t> auf Bit = </a:t>
            </a:r>
            <a:r>
              <a:rPr lang="de-DE" b="1" baseline="30000" dirty="0"/>
              <a:t>	</a:t>
            </a:r>
            <a:r>
              <a:rPr lang="de-DE" dirty="0"/>
              <a:t>*</a:t>
            </a:r>
            <a:r>
              <a:rPr lang="de-DE" b="1" baseline="30000" dirty="0"/>
              <a:t> </a:t>
            </a:r>
            <a:r>
              <a:rPr lang="de-DE" b="1" dirty="0"/>
              <a:t>1000</a:t>
            </a:r>
            <a:r>
              <a:rPr lang="de-DE" b="1" baseline="30000" dirty="0"/>
              <a:t>3</a:t>
            </a:r>
          </a:p>
          <a:p>
            <a:r>
              <a:rPr lang="de-DE" dirty="0"/>
              <a:t>Tb auf Bit = </a:t>
            </a:r>
            <a:r>
              <a:rPr lang="de-DE" b="1" baseline="30000" dirty="0"/>
              <a:t>	</a:t>
            </a:r>
            <a:r>
              <a:rPr lang="de-DE"/>
              <a:t>*</a:t>
            </a:r>
            <a:r>
              <a:rPr lang="de-DE" b="1" baseline="30000"/>
              <a:t> </a:t>
            </a:r>
            <a:r>
              <a:rPr lang="de-DE" b="1"/>
              <a:t>1000</a:t>
            </a:r>
            <a:r>
              <a:rPr lang="de-DE" b="1" baseline="30000"/>
              <a:t>45</a:t>
            </a:r>
          </a:p>
        </p:txBody>
      </p:sp>
      <p:pic>
        <p:nvPicPr>
          <p:cNvPr id="12" name="Grafik 11" descr="Ein Bild, das Objekt, Uhr, sitzend enthält.&#10;&#10;Automatisch generierte Beschreibung">
            <a:extLst>
              <a:ext uri="{FF2B5EF4-FFF2-40B4-BE49-F238E27FC236}">
                <a16:creationId xmlns:a16="http://schemas.microsoft.com/office/drawing/2014/main" id="{3BCC9B19-2992-4969-9255-55DAB95410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59036" y="4443358"/>
            <a:ext cx="1630831" cy="554354"/>
          </a:xfrm>
          <a:prstGeom prst="rect">
            <a:avLst/>
          </a:prstGeom>
        </p:spPr>
      </p:pic>
      <p:graphicFrame>
        <p:nvGraphicFramePr>
          <p:cNvPr id="8" name="Tabelle 10">
            <a:extLst>
              <a:ext uri="{FF2B5EF4-FFF2-40B4-BE49-F238E27FC236}">
                <a16:creationId xmlns:a16="http://schemas.microsoft.com/office/drawing/2014/main" id="{BE9E5E0F-20BF-4EDE-A891-CD8C8F276FB8}"/>
              </a:ext>
            </a:extLst>
          </p:cNvPr>
          <p:cNvGraphicFramePr>
            <a:graphicFrameLocks noGrp="1"/>
          </p:cNvGraphicFramePr>
          <p:nvPr>
            <p:extLst>
              <p:ext uri="{D42A27DB-BD31-4B8C-83A1-F6EECF244321}">
                <p14:modId xmlns:p14="http://schemas.microsoft.com/office/powerpoint/2010/main" val="1788461562"/>
              </p:ext>
            </p:extLst>
          </p:nvPr>
        </p:nvGraphicFramePr>
        <p:xfrm>
          <a:off x="158678" y="1895331"/>
          <a:ext cx="5024525" cy="2225040"/>
        </p:xfrm>
        <a:graphic>
          <a:graphicData uri="http://schemas.openxmlformats.org/drawingml/2006/table">
            <a:tbl>
              <a:tblPr firstRow="1" bandRow="1">
                <a:tableStyleId>{93296810-A885-4BE3-A3E7-6D5BEEA58F35}</a:tableStyleId>
              </a:tblPr>
              <a:tblGrid>
                <a:gridCol w="1819313">
                  <a:extLst>
                    <a:ext uri="{9D8B030D-6E8A-4147-A177-3AD203B41FA5}">
                      <a16:colId xmlns:a16="http://schemas.microsoft.com/office/drawing/2014/main" val="1525731831"/>
                    </a:ext>
                  </a:extLst>
                </a:gridCol>
                <a:gridCol w="3205212">
                  <a:extLst>
                    <a:ext uri="{9D8B030D-6E8A-4147-A177-3AD203B41FA5}">
                      <a16:colId xmlns:a16="http://schemas.microsoft.com/office/drawing/2014/main" val="943222359"/>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Dezimalpräfix</a:t>
                      </a:r>
                    </a:p>
                  </a:txBody>
                  <a:tcPr/>
                </a:tc>
                <a:tc>
                  <a:txBody>
                    <a:bodyPr/>
                    <a:lstStyle/>
                    <a:p>
                      <a:r>
                        <a:rPr lang="de-DE" dirty="0">
                          <a:solidFill>
                            <a:schemeClr val="tx1"/>
                          </a:solidFill>
                        </a:rPr>
                        <a:t>Geschwindigkeit</a:t>
                      </a:r>
                    </a:p>
                  </a:txBody>
                  <a:tcPr/>
                </a:tc>
                <a:extLst>
                  <a:ext uri="{0D108BD9-81ED-4DB2-BD59-A6C34878D82A}">
                    <a16:rowId xmlns:a16="http://schemas.microsoft.com/office/drawing/2014/main" val="1860769791"/>
                  </a:ext>
                </a:extLst>
              </a:tr>
              <a:tr h="370840">
                <a:tc>
                  <a:txBody>
                    <a:bodyPr/>
                    <a:lstStyle/>
                    <a:p>
                      <a:r>
                        <a:rPr lang="de-DE" dirty="0"/>
                        <a:t>Bit (b)</a:t>
                      </a:r>
                    </a:p>
                  </a:txBody>
                  <a:tcPr/>
                </a:tc>
                <a:tc>
                  <a:txBody>
                    <a:bodyPr/>
                    <a:lstStyle/>
                    <a:p>
                      <a:endParaRPr lang="de-DE" dirty="0"/>
                    </a:p>
                  </a:txBody>
                  <a:tcPr/>
                </a:tc>
                <a:extLst>
                  <a:ext uri="{0D108BD9-81ED-4DB2-BD59-A6C34878D82A}">
                    <a16:rowId xmlns:a16="http://schemas.microsoft.com/office/drawing/2014/main" val="1745947108"/>
                  </a:ext>
                </a:extLst>
              </a:tr>
              <a:tr h="370840">
                <a:tc>
                  <a:txBody>
                    <a:bodyPr/>
                    <a:lstStyle/>
                    <a:p>
                      <a:r>
                        <a:rPr lang="de-DE" dirty="0"/>
                        <a:t>Kilobit (</a:t>
                      </a:r>
                      <a:r>
                        <a:rPr lang="de-DE" dirty="0" err="1"/>
                        <a:t>Kb</a:t>
                      </a:r>
                      <a:r>
                        <a:rPr lang="de-DE" dirty="0"/>
                        <a:t>)</a:t>
                      </a:r>
                    </a:p>
                  </a:txBody>
                  <a:tcPr/>
                </a:tc>
                <a:tc>
                  <a:txBody>
                    <a:bodyPr/>
                    <a:lstStyle/>
                    <a:p>
                      <a:r>
                        <a:rPr lang="de-DE" dirty="0"/>
                        <a:t>10</a:t>
                      </a:r>
                      <a:r>
                        <a:rPr lang="de-DE" baseline="30000" dirty="0"/>
                        <a:t>3</a:t>
                      </a:r>
                      <a:r>
                        <a:rPr lang="de-DE" baseline="0" dirty="0"/>
                        <a:t> = 1.000 Bit</a:t>
                      </a:r>
                      <a:endParaRPr lang="de-DE" baseline="30000" dirty="0"/>
                    </a:p>
                  </a:txBody>
                  <a:tcPr/>
                </a:tc>
                <a:extLst>
                  <a:ext uri="{0D108BD9-81ED-4DB2-BD59-A6C34878D82A}">
                    <a16:rowId xmlns:a16="http://schemas.microsoft.com/office/drawing/2014/main" val="3824570249"/>
                  </a:ext>
                </a:extLst>
              </a:tr>
              <a:tr h="370840">
                <a:tc>
                  <a:txBody>
                    <a:bodyPr/>
                    <a:lstStyle/>
                    <a:p>
                      <a:r>
                        <a:rPr lang="de-DE" dirty="0"/>
                        <a:t>Megabit (</a:t>
                      </a:r>
                      <a:r>
                        <a:rPr lang="de-DE" dirty="0" err="1"/>
                        <a:t>Mb</a:t>
                      </a:r>
                      <a:r>
                        <a:rPr lang="de-DE" dirty="0"/>
                        <a:t>)</a:t>
                      </a:r>
                    </a:p>
                  </a:txBody>
                  <a:tcPr/>
                </a:tc>
                <a:tc>
                  <a:txBody>
                    <a:bodyPr/>
                    <a:lstStyle/>
                    <a:p>
                      <a:r>
                        <a:rPr lang="de-DE" dirty="0"/>
                        <a:t>10</a:t>
                      </a:r>
                      <a:r>
                        <a:rPr lang="de-DE" baseline="30000" dirty="0"/>
                        <a:t>6</a:t>
                      </a:r>
                      <a:r>
                        <a:rPr lang="de-DE" baseline="0" dirty="0"/>
                        <a:t> = 1.000.000 Bit</a:t>
                      </a:r>
                      <a:endParaRPr lang="de-DE" dirty="0"/>
                    </a:p>
                  </a:txBody>
                  <a:tcPr/>
                </a:tc>
                <a:extLst>
                  <a:ext uri="{0D108BD9-81ED-4DB2-BD59-A6C34878D82A}">
                    <a16:rowId xmlns:a16="http://schemas.microsoft.com/office/drawing/2014/main" val="4279327751"/>
                  </a:ext>
                </a:extLst>
              </a:tr>
              <a:tr h="370840">
                <a:tc>
                  <a:txBody>
                    <a:bodyPr/>
                    <a:lstStyle/>
                    <a:p>
                      <a:r>
                        <a:rPr lang="de-DE" dirty="0"/>
                        <a:t>Gigabit (</a:t>
                      </a:r>
                      <a:r>
                        <a:rPr lang="de-DE" dirty="0" err="1"/>
                        <a:t>Gb</a:t>
                      </a:r>
                      <a:r>
                        <a:rPr lang="de-DE" dirty="0"/>
                        <a:t>)</a:t>
                      </a:r>
                    </a:p>
                  </a:txBody>
                  <a:tcPr/>
                </a:tc>
                <a:tc>
                  <a:txBody>
                    <a:bodyPr/>
                    <a:lstStyle/>
                    <a:p>
                      <a:r>
                        <a:rPr lang="de-DE" dirty="0"/>
                        <a:t>10</a:t>
                      </a:r>
                      <a:r>
                        <a:rPr lang="de-DE" baseline="30000" dirty="0"/>
                        <a:t>9</a:t>
                      </a:r>
                      <a:r>
                        <a:rPr lang="de-DE" baseline="0" dirty="0"/>
                        <a:t> = 1.000.000.000 Bit</a:t>
                      </a:r>
                      <a:endParaRPr lang="de-DE" dirty="0"/>
                    </a:p>
                  </a:txBody>
                  <a:tcPr/>
                </a:tc>
                <a:extLst>
                  <a:ext uri="{0D108BD9-81ED-4DB2-BD59-A6C34878D82A}">
                    <a16:rowId xmlns:a16="http://schemas.microsoft.com/office/drawing/2014/main" val="372518851"/>
                  </a:ext>
                </a:extLst>
              </a:tr>
              <a:tr h="370840">
                <a:tc>
                  <a:txBody>
                    <a:bodyPr/>
                    <a:lstStyle/>
                    <a:p>
                      <a:r>
                        <a:rPr lang="de-DE" dirty="0"/>
                        <a:t>Terabit (Tb)</a:t>
                      </a:r>
                    </a:p>
                  </a:txBody>
                  <a:tcPr/>
                </a:tc>
                <a:tc>
                  <a:txBody>
                    <a:bodyPr/>
                    <a:lstStyle/>
                    <a:p>
                      <a:r>
                        <a:rPr lang="de-DE" dirty="0"/>
                        <a:t>10</a:t>
                      </a:r>
                      <a:r>
                        <a:rPr lang="de-DE" baseline="30000" dirty="0"/>
                        <a:t>12</a:t>
                      </a:r>
                      <a:r>
                        <a:rPr lang="de-DE" baseline="0" dirty="0"/>
                        <a:t> = 1.000.000.000.000 Bit</a:t>
                      </a:r>
                    </a:p>
                  </a:txBody>
                  <a:tcPr/>
                </a:tc>
                <a:extLst>
                  <a:ext uri="{0D108BD9-81ED-4DB2-BD59-A6C34878D82A}">
                    <a16:rowId xmlns:a16="http://schemas.microsoft.com/office/drawing/2014/main" val="2008814279"/>
                  </a:ext>
                </a:extLst>
              </a:tr>
            </a:tbl>
          </a:graphicData>
        </a:graphic>
      </p:graphicFrame>
      <p:graphicFrame>
        <p:nvGraphicFramePr>
          <p:cNvPr id="13" name="Tabelle 10">
            <a:extLst>
              <a:ext uri="{FF2B5EF4-FFF2-40B4-BE49-F238E27FC236}">
                <a16:creationId xmlns:a16="http://schemas.microsoft.com/office/drawing/2014/main" id="{4F9FFA91-FC5D-4E83-B2B6-5DD2949A492D}"/>
              </a:ext>
            </a:extLst>
          </p:cNvPr>
          <p:cNvGraphicFramePr>
            <a:graphicFrameLocks noGrp="1"/>
          </p:cNvGraphicFramePr>
          <p:nvPr>
            <p:extLst>
              <p:ext uri="{D42A27DB-BD31-4B8C-83A1-F6EECF244321}">
                <p14:modId xmlns:p14="http://schemas.microsoft.com/office/powerpoint/2010/main" val="1049502187"/>
              </p:ext>
            </p:extLst>
          </p:nvPr>
        </p:nvGraphicFramePr>
        <p:xfrm>
          <a:off x="6924566" y="1895331"/>
          <a:ext cx="5024525" cy="2225040"/>
        </p:xfrm>
        <a:graphic>
          <a:graphicData uri="http://schemas.openxmlformats.org/drawingml/2006/table">
            <a:tbl>
              <a:tblPr firstRow="1" bandRow="1">
                <a:tableStyleId>{93296810-A885-4BE3-A3E7-6D5BEEA58F35}</a:tableStyleId>
              </a:tblPr>
              <a:tblGrid>
                <a:gridCol w="1819313">
                  <a:extLst>
                    <a:ext uri="{9D8B030D-6E8A-4147-A177-3AD203B41FA5}">
                      <a16:colId xmlns:a16="http://schemas.microsoft.com/office/drawing/2014/main" val="1525731831"/>
                    </a:ext>
                  </a:extLst>
                </a:gridCol>
                <a:gridCol w="3205212">
                  <a:extLst>
                    <a:ext uri="{9D8B030D-6E8A-4147-A177-3AD203B41FA5}">
                      <a16:colId xmlns:a16="http://schemas.microsoft.com/office/drawing/2014/main" val="943222359"/>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Binärpräfix</a:t>
                      </a:r>
                    </a:p>
                  </a:txBody>
                  <a:tcPr/>
                </a:tc>
                <a:tc>
                  <a:txBody>
                    <a:bodyPr/>
                    <a:lstStyle/>
                    <a:p>
                      <a:r>
                        <a:rPr lang="de-DE" b="1" dirty="0">
                          <a:solidFill>
                            <a:schemeClr val="tx1"/>
                          </a:solidFill>
                        </a:rPr>
                        <a:t>Datengröße</a:t>
                      </a:r>
                      <a:endParaRPr lang="de-DE" dirty="0">
                        <a:solidFill>
                          <a:schemeClr val="tx1"/>
                        </a:solidFill>
                      </a:endParaRPr>
                    </a:p>
                  </a:txBody>
                  <a:tcPr/>
                </a:tc>
                <a:extLst>
                  <a:ext uri="{0D108BD9-81ED-4DB2-BD59-A6C34878D82A}">
                    <a16:rowId xmlns:a16="http://schemas.microsoft.com/office/drawing/2014/main" val="1860769791"/>
                  </a:ext>
                </a:extLst>
              </a:tr>
              <a:tr h="370840">
                <a:tc>
                  <a:txBody>
                    <a:bodyPr/>
                    <a:lstStyle/>
                    <a:p>
                      <a:r>
                        <a:rPr lang="de-DE" dirty="0"/>
                        <a:t>Byte (B)</a:t>
                      </a:r>
                    </a:p>
                  </a:txBody>
                  <a:tcPr/>
                </a:tc>
                <a:tc>
                  <a:txBody>
                    <a:bodyPr/>
                    <a:lstStyle/>
                    <a:p>
                      <a:endParaRPr lang="de-DE" dirty="0"/>
                    </a:p>
                  </a:txBody>
                  <a:tcPr/>
                </a:tc>
                <a:extLst>
                  <a:ext uri="{0D108BD9-81ED-4DB2-BD59-A6C34878D82A}">
                    <a16:rowId xmlns:a16="http://schemas.microsoft.com/office/drawing/2014/main" val="1745947108"/>
                  </a:ext>
                </a:extLst>
              </a:tr>
              <a:tr h="370840">
                <a:tc>
                  <a:txBody>
                    <a:bodyPr/>
                    <a:lstStyle/>
                    <a:p>
                      <a:r>
                        <a:rPr lang="de-DE" dirty="0"/>
                        <a:t>Kibibyte (</a:t>
                      </a:r>
                      <a:r>
                        <a:rPr lang="de-DE" dirty="0" err="1"/>
                        <a:t>KiB</a:t>
                      </a:r>
                      <a:r>
                        <a:rPr lang="de-DE" dirty="0"/>
                        <a:t>)</a:t>
                      </a:r>
                    </a:p>
                  </a:txBody>
                  <a:tcPr/>
                </a:tc>
                <a:tc>
                  <a:txBody>
                    <a:bodyPr/>
                    <a:lstStyle/>
                    <a:p>
                      <a:r>
                        <a:rPr lang="de-DE" baseline="0" dirty="0"/>
                        <a:t>2</a:t>
                      </a:r>
                      <a:r>
                        <a:rPr lang="de-DE" baseline="30000" dirty="0"/>
                        <a:t>10</a:t>
                      </a:r>
                      <a:r>
                        <a:rPr lang="de-DE" baseline="0" dirty="0"/>
                        <a:t> = 1.024 </a:t>
                      </a:r>
                      <a:r>
                        <a:rPr lang="de-DE" dirty="0"/>
                        <a:t>Byte</a:t>
                      </a:r>
                      <a:endParaRPr lang="de-DE" baseline="30000" dirty="0"/>
                    </a:p>
                  </a:txBody>
                  <a:tcPr/>
                </a:tc>
                <a:extLst>
                  <a:ext uri="{0D108BD9-81ED-4DB2-BD59-A6C34878D82A}">
                    <a16:rowId xmlns:a16="http://schemas.microsoft.com/office/drawing/2014/main" val="3824570249"/>
                  </a:ext>
                </a:extLst>
              </a:tr>
              <a:tr h="370840">
                <a:tc>
                  <a:txBody>
                    <a:bodyPr/>
                    <a:lstStyle/>
                    <a:p>
                      <a:r>
                        <a:rPr lang="de-DE" dirty="0"/>
                        <a:t>Mebibyte (MiB)</a:t>
                      </a:r>
                    </a:p>
                  </a:txBody>
                  <a:tcPr/>
                </a:tc>
                <a:tc>
                  <a:txBody>
                    <a:bodyPr/>
                    <a:lstStyle/>
                    <a:p>
                      <a:r>
                        <a:rPr lang="de-DE" baseline="0" dirty="0"/>
                        <a:t>2</a:t>
                      </a:r>
                      <a:r>
                        <a:rPr lang="de-DE" baseline="30000" dirty="0"/>
                        <a:t>20</a:t>
                      </a:r>
                      <a:r>
                        <a:rPr lang="de-DE" baseline="0" dirty="0"/>
                        <a:t> = 1.048.576 </a:t>
                      </a:r>
                      <a:r>
                        <a:rPr lang="de-DE" dirty="0"/>
                        <a:t>Byte</a:t>
                      </a:r>
                    </a:p>
                  </a:txBody>
                  <a:tcPr/>
                </a:tc>
                <a:extLst>
                  <a:ext uri="{0D108BD9-81ED-4DB2-BD59-A6C34878D82A}">
                    <a16:rowId xmlns:a16="http://schemas.microsoft.com/office/drawing/2014/main" val="4279327751"/>
                  </a:ext>
                </a:extLst>
              </a:tr>
              <a:tr h="370840">
                <a:tc>
                  <a:txBody>
                    <a:bodyPr/>
                    <a:lstStyle/>
                    <a:p>
                      <a:r>
                        <a:rPr lang="de-DE" dirty="0"/>
                        <a:t>Gibibyte (GiB)</a:t>
                      </a:r>
                    </a:p>
                  </a:txBody>
                  <a:tcPr/>
                </a:tc>
                <a:tc>
                  <a:txBody>
                    <a:bodyPr/>
                    <a:lstStyle/>
                    <a:p>
                      <a:r>
                        <a:rPr lang="de-DE" baseline="0" dirty="0"/>
                        <a:t>2</a:t>
                      </a:r>
                      <a:r>
                        <a:rPr lang="de-DE" baseline="30000" dirty="0"/>
                        <a:t>30</a:t>
                      </a:r>
                      <a:r>
                        <a:rPr lang="de-DE" baseline="0" dirty="0"/>
                        <a:t> = 1.073.741.824 </a:t>
                      </a:r>
                      <a:r>
                        <a:rPr lang="de-DE" dirty="0"/>
                        <a:t>Byte</a:t>
                      </a:r>
                    </a:p>
                  </a:txBody>
                  <a:tcPr/>
                </a:tc>
                <a:extLst>
                  <a:ext uri="{0D108BD9-81ED-4DB2-BD59-A6C34878D82A}">
                    <a16:rowId xmlns:a16="http://schemas.microsoft.com/office/drawing/2014/main" val="372518851"/>
                  </a:ext>
                </a:extLst>
              </a:tr>
              <a:tr h="370840">
                <a:tc>
                  <a:txBody>
                    <a:bodyPr/>
                    <a:lstStyle/>
                    <a:p>
                      <a:r>
                        <a:rPr lang="de-DE" dirty="0"/>
                        <a:t>Tebibyte (TiB)</a:t>
                      </a:r>
                    </a:p>
                  </a:txBody>
                  <a:tcPr/>
                </a:tc>
                <a:tc>
                  <a:txBody>
                    <a:bodyPr/>
                    <a:lstStyle/>
                    <a:p>
                      <a:r>
                        <a:rPr lang="de-DE" baseline="0" dirty="0"/>
                        <a:t>2</a:t>
                      </a:r>
                      <a:r>
                        <a:rPr lang="de-DE" baseline="30000" dirty="0"/>
                        <a:t>40</a:t>
                      </a:r>
                      <a:r>
                        <a:rPr lang="de-DE" baseline="0" dirty="0"/>
                        <a:t> = 1.099.511.627.776 </a:t>
                      </a:r>
                      <a:r>
                        <a:rPr lang="de-DE" dirty="0"/>
                        <a:t>Byte</a:t>
                      </a:r>
                      <a:endParaRPr lang="de-DE" baseline="0" dirty="0"/>
                    </a:p>
                  </a:txBody>
                  <a:tcPr/>
                </a:tc>
                <a:extLst>
                  <a:ext uri="{0D108BD9-81ED-4DB2-BD59-A6C34878D82A}">
                    <a16:rowId xmlns:a16="http://schemas.microsoft.com/office/drawing/2014/main" val="2008814279"/>
                  </a:ext>
                </a:extLst>
              </a:tr>
            </a:tbl>
          </a:graphicData>
        </a:graphic>
      </p:graphicFrame>
      <p:sp>
        <p:nvSpPr>
          <p:cNvPr id="15" name="Textfeld 14">
            <a:extLst>
              <a:ext uri="{FF2B5EF4-FFF2-40B4-BE49-F238E27FC236}">
                <a16:creationId xmlns:a16="http://schemas.microsoft.com/office/drawing/2014/main" id="{F49C58BF-F0BF-42E4-8348-4E7DC1889A85}"/>
              </a:ext>
            </a:extLst>
          </p:cNvPr>
          <p:cNvSpPr txBox="1"/>
          <p:nvPr/>
        </p:nvSpPr>
        <p:spPr>
          <a:xfrm>
            <a:off x="6053883" y="428868"/>
            <a:ext cx="6095198" cy="707886"/>
          </a:xfrm>
          <a:prstGeom prst="rect">
            <a:avLst/>
          </a:prstGeom>
          <a:noFill/>
        </p:spPr>
        <p:txBody>
          <a:bodyPr wrap="square">
            <a:spAutoFit/>
          </a:bodyPr>
          <a:lstStyle/>
          <a:p>
            <a:pPr algn="ctr"/>
            <a:r>
              <a:rPr lang="de-DE" sz="4000" b="1" dirty="0"/>
              <a:t>Meine Grundgleichung</a:t>
            </a:r>
          </a:p>
        </p:txBody>
      </p:sp>
      <p:sp>
        <p:nvSpPr>
          <p:cNvPr id="4" name="Textfeld 3">
            <a:extLst>
              <a:ext uri="{FF2B5EF4-FFF2-40B4-BE49-F238E27FC236}">
                <a16:creationId xmlns:a16="http://schemas.microsoft.com/office/drawing/2014/main" id="{A4123BCE-8C3B-96AE-2B96-B8C6C209B156}"/>
              </a:ext>
            </a:extLst>
          </p:cNvPr>
          <p:cNvSpPr txBox="1"/>
          <p:nvPr/>
        </p:nvSpPr>
        <p:spPr>
          <a:xfrm>
            <a:off x="158677" y="74944"/>
            <a:ext cx="6094428" cy="1754326"/>
          </a:xfrm>
          <a:prstGeom prst="rect">
            <a:avLst/>
          </a:prstGeom>
          <a:noFill/>
        </p:spPr>
        <p:txBody>
          <a:bodyPr wrap="square">
            <a:spAutoFit/>
          </a:bodyPr>
          <a:lstStyle/>
          <a:p>
            <a:pPr>
              <a:buNone/>
            </a:pPr>
            <a:r>
              <a:rPr lang="de-DE" b="1" dirty="0"/>
              <a:t>Warum nutzen Hersteller TB statt TiB?</a:t>
            </a:r>
          </a:p>
          <a:p>
            <a:pPr>
              <a:buFont typeface="+mj-lt"/>
              <a:buAutoNum type="arabicPeriod"/>
            </a:pPr>
            <a:r>
              <a:rPr lang="de-DE" b="1" dirty="0"/>
              <a:t>Marketing-Effekt:</a:t>
            </a:r>
            <a:r>
              <a:rPr lang="de-DE" dirty="0"/>
              <a:t> 1 TB klingt größer als 0,91 TiB.</a:t>
            </a:r>
          </a:p>
          <a:p>
            <a:pPr>
              <a:buFont typeface="+mj-lt"/>
              <a:buAutoNum type="arabicPeriod"/>
            </a:pPr>
            <a:r>
              <a:rPr lang="de-DE" b="1" dirty="0"/>
              <a:t>Normung:</a:t>
            </a:r>
            <a:r>
              <a:rPr lang="de-DE" dirty="0"/>
              <a:t> Das </a:t>
            </a:r>
            <a:r>
              <a:rPr lang="de-DE" b="1" dirty="0"/>
              <a:t>SI-System</a:t>
            </a:r>
            <a:r>
              <a:rPr lang="de-DE" dirty="0"/>
              <a:t> (Dezimalpräfixe: Kilo, </a:t>
            </a:r>
            <a:r>
              <a:rPr lang="de-DE" dirty="0" err="1"/>
              <a:t>Mega</a:t>
            </a:r>
            <a:r>
              <a:rPr lang="de-DE" dirty="0"/>
              <a:t>, </a:t>
            </a:r>
            <a:r>
              <a:rPr lang="de-DE" dirty="0" err="1"/>
              <a:t>Giga</a:t>
            </a:r>
            <a:r>
              <a:rPr lang="de-DE" dirty="0"/>
              <a:t>, </a:t>
            </a:r>
            <a:r>
              <a:rPr lang="de-DE" dirty="0" err="1"/>
              <a:t>Tera</a:t>
            </a:r>
            <a:r>
              <a:rPr lang="de-DE" dirty="0"/>
              <a:t> …) ist weltweit anerkannt.</a:t>
            </a:r>
          </a:p>
          <a:p>
            <a:pPr>
              <a:buFont typeface="+mj-lt"/>
              <a:buAutoNum type="arabicPeriod"/>
            </a:pPr>
            <a:r>
              <a:rPr lang="de-DE" b="1" dirty="0"/>
              <a:t>Tradition:</a:t>
            </a:r>
            <a:r>
              <a:rPr lang="de-DE" dirty="0"/>
              <a:t> Schon seit den ersten Festplatten haben Hersteller mit Dezimalpräfixen geworben</a:t>
            </a:r>
          </a:p>
        </p:txBody>
      </p:sp>
    </p:spTree>
    <p:extLst>
      <p:ext uri="{BB962C8B-B14F-4D97-AF65-F5344CB8AC3E}">
        <p14:creationId xmlns:p14="http://schemas.microsoft.com/office/powerpoint/2010/main" val="1494902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2520AF2D-F40F-4841-BC99-F327E0215B74}"/>
              </a:ext>
            </a:extLst>
          </p:cNvPr>
          <p:cNvSpPr txBox="1"/>
          <p:nvPr/>
        </p:nvSpPr>
        <p:spPr>
          <a:xfrm>
            <a:off x="185272" y="1163089"/>
            <a:ext cx="11821458" cy="3170099"/>
          </a:xfrm>
          <a:prstGeom prst="rect">
            <a:avLst/>
          </a:prstGeom>
          <a:noFill/>
        </p:spPr>
        <p:txBody>
          <a:bodyPr wrap="square" rtlCol="0">
            <a:spAutoFit/>
          </a:bodyPr>
          <a:lstStyle/>
          <a:p>
            <a:r>
              <a:rPr lang="de-DE" sz="4000" b="1" u="sng" dirty="0"/>
              <a:t>Grundgleichung:</a:t>
            </a:r>
          </a:p>
          <a:p>
            <a:endParaRPr lang="de-DE" sz="4000" b="1" dirty="0"/>
          </a:p>
          <a:p>
            <a:r>
              <a:rPr lang="de-DE" sz="4000" b="1" dirty="0"/>
              <a:t>						Datengröße * 1024</a:t>
            </a:r>
            <a:r>
              <a:rPr lang="de-DE" sz="4000" b="1" baseline="30000" dirty="0"/>
              <a:t>x   *</a:t>
            </a:r>
            <a:r>
              <a:rPr lang="de-DE" sz="4000" b="1" dirty="0"/>
              <a:t> 8 		Bit</a:t>
            </a:r>
          </a:p>
          <a:p>
            <a:r>
              <a:rPr lang="de-DE" sz="4000" b="1" dirty="0"/>
              <a:t>Sekunden = 	---------------------------------		------------------</a:t>
            </a:r>
          </a:p>
          <a:p>
            <a:r>
              <a:rPr lang="de-DE" sz="4000" b="1" dirty="0"/>
              <a:t>						Geschwindigkeit * 1000</a:t>
            </a:r>
            <a:r>
              <a:rPr lang="de-DE" sz="4000" b="1" baseline="30000" dirty="0"/>
              <a:t>y   		</a:t>
            </a:r>
            <a:r>
              <a:rPr lang="de-DE" sz="4000" b="1" dirty="0"/>
              <a:t>Bit / Sekunde</a:t>
            </a:r>
          </a:p>
        </p:txBody>
      </p:sp>
      <p:sp>
        <p:nvSpPr>
          <p:cNvPr id="3" name="Textfeld 2">
            <a:extLst>
              <a:ext uri="{FF2B5EF4-FFF2-40B4-BE49-F238E27FC236}">
                <a16:creationId xmlns:a16="http://schemas.microsoft.com/office/drawing/2014/main" id="{193F2448-50C4-4D8C-97D1-BE9466914A22}"/>
              </a:ext>
            </a:extLst>
          </p:cNvPr>
          <p:cNvSpPr txBox="1"/>
          <p:nvPr/>
        </p:nvSpPr>
        <p:spPr>
          <a:xfrm>
            <a:off x="1092130" y="6217920"/>
            <a:ext cx="9791335" cy="523220"/>
          </a:xfrm>
          <a:prstGeom prst="rect">
            <a:avLst/>
          </a:prstGeom>
          <a:noFill/>
        </p:spPr>
        <p:txBody>
          <a:bodyPr wrap="none" rtlCol="0">
            <a:spAutoFit/>
          </a:bodyPr>
          <a:lstStyle/>
          <a:p>
            <a:r>
              <a:rPr lang="de-DE" sz="2800" b="1" dirty="0">
                <a:solidFill>
                  <a:srgbClr val="FF0000"/>
                </a:solidFill>
              </a:rPr>
              <a:t>! Bitte diese Grundgleichung auf einen Collegeblock übertragen !</a:t>
            </a:r>
          </a:p>
        </p:txBody>
      </p:sp>
    </p:spTree>
    <p:extLst>
      <p:ext uri="{BB962C8B-B14F-4D97-AF65-F5344CB8AC3E}">
        <p14:creationId xmlns:p14="http://schemas.microsoft.com/office/powerpoint/2010/main" val="1263023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FD98F159-B5E9-BDF0-326E-55E3DBC99BF1}"/>
              </a:ext>
            </a:extLst>
          </p:cNvPr>
          <p:cNvPicPr>
            <a:picLocks noChangeAspect="1"/>
          </p:cNvPicPr>
          <p:nvPr/>
        </p:nvPicPr>
        <p:blipFill>
          <a:blip r:embed="rId2"/>
          <a:stretch>
            <a:fillRect/>
          </a:stretch>
        </p:blipFill>
        <p:spPr>
          <a:xfrm>
            <a:off x="-64655" y="127170"/>
            <a:ext cx="12192000" cy="1913964"/>
          </a:xfrm>
          <a:prstGeom prst="rect">
            <a:avLst/>
          </a:prstGeom>
        </p:spPr>
      </p:pic>
      <p:sp>
        <p:nvSpPr>
          <p:cNvPr id="4" name="Rechteck 3">
            <a:extLst>
              <a:ext uri="{FF2B5EF4-FFF2-40B4-BE49-F238E27FC236}">
                <a16:creationId xmlns:a16="http://schemas.microsoft.com/office/drawing/2014/main" id="{C92F4E11-4C1E-2C4A-5FA2-0D6FCA1872CE}"/>
              </a:ext>
            </a:extLst>
          </p:cNvPr>
          <p:cNvSpPr/>
          <p:nvPr/>
        </p:nvSpPr>
        <p:spPr>
          <a:xfrm>
            <a:off x="6881090" y="2284969"/>
            <a:ext cx="6096000" cy="2288062"/>
          </a:xfrm>
          <a:prstGeom prst="rect">
            <a:avLst/>
          </a:prstGeom>
          <a:solidFill>
            <a:schemeClr val="tx1">
              <a:lumMod val="65000"/>
              <a:lumOff val="35000"/>
            </a:schemeClr>
          </a:solidFill>
        </p:spPr>
        <p:txBody>
          <a:bodyPr>
            <a:spAutoFit/>
          </a:bodyPr>
          <a:lstStyle/>
          <a:p>
            <a:pPr>
              <a:lnSpc>
                <a:spcPct val="115000"/>
              </a:lnSpc>
              <a:spcAft>
                <a:spcPts val="1000"/>
              </a:spcAft>
            </a:pPr>
            <a:r>
              <a:rPr lang="de-DE" b="1" dirty="0">
                <a:solidFill>
                  <a:schemeClr val="bg1"/>
                </a:solidFill>
                <a:latin typeface="Calibri" panose="020F0502020204030204" pitchFamily="34" charset="0"/>
                <a:ea typeface="Calibri" panose="020F0502020204030204" pitchFamily="34" charset="0"/>
                <a:cs typeface="Times New Roman" panose="02020603050405020304" pitchFamily="18" charset="0"/>
              </a:rPr>
              <a:t>Lösung:</a:t>
            </a:r>
            <a:endParaRPr lang="de-DE"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endParaRPr lang="de-DE" sz="2000" b="1" dirty="0">
              <a:solidFill>
                <a:schemeClr val="bg1"/>
              </a:solidFill>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sz="2000" b="1" u="sng" dirty="0">
                <a:solidFill>
                  <a:schemeClr val="bg1"/>
                </a:solidFill>
                <a:latin typeface="Calibri" panose="020F0502020204030204" pitchFamily="34" charset="0"/>
                <a:ea typeface="Calibri" panose="020F0502020204030204" pitchFamily="34" charset="0"/>
                <a:cs typeface="NimbusRomNo9L"/>
              </a:rPr>
              <a:t>170 </a:t>
            </a:r>
            <a:r>
              <a:rPr lang="de-DE" sz="2000" b="1" u="sng" dirty="0" err="1">
                <a:solidFill>
                  <a:schemeClr val="bg1"/>
                </a:solidFill>
                <a:latin typeface="Calibri" panose="020F0502020204030204" pitchFamily="34" charset="0"/>
                <a:ea typeface="Calibri" panose="020F0502020204030204" pitchFamily="34" charset="0"/>
                <a:cs typeface="NimbusRomNo9L"/>
              </a:rPr>
              <a:t>MiByte</a:t>
            </a:r>
            <a:r>
              <a:rPr lang="de-DE" sz="2000" b="1" u="sng" dirty="0">
                <a:solidFill>
                  <a:schemeClr val="bg1"/>
                </a:solidFill>
                <a:latin typeface="Calibri" panose="020F0502020204030204" pitchFamily="34" charset="0"/>
                <a:ea typeface="Calibri" panose="020F0502020204030204" pitchFamily="34" charset="0"/>
                <a:cs typeface="NimbusRomNo9L"/>
              </a:rPr>
              <a:t> * </a:t>
            </a:r>
            <a:r>
              <a:rPr lang="de-DE" sz="2000" b="1" u="sng" dirty="0">
                <a:solidFill>
                  <a:schemeClr val="bg1"/>
                </a:solidFill>
              </a:rPr>
              <a:t>1024²</a:t>
            </a:r>
            <a:r>
              <a:rPr lang="de-DE" sz="2000" b="1" u="sng" dirty="0">
                <a:solidFill>
                  <a:schemeClr val="bg1"/>
                </a:solidFill>
                <a:latin typeface="Calibri" panose="020F0502020204030204" pitchFamily="34" charset="0"/>
                <a:ea typeface="Calibri" panose="020F0502020204030204" pitchFamily="34" charset="0"/>
                <a:cs typeface="NimbusRomNo9L"/>
              </a:rPr>
              <a:t> * 8 Bit </a:t>
            </a:r>
          </a:p>
          <a:p>
            <a:pPr>
              <a:lnSpc>
                <a:spcPct val="115000"/>
              </a:lnSpc>
              <a:spcAft>
                <a:spcPts val="0"/>
              </a:spcAft>
            </a:pPr>
            <a:r>
              <a:rPr lang="de-DE" sz="2000" b="1" dirty="0">
                <a:solidFill>
                  <a:schemeClr val="bg1"/>
                </a:solidFill>
                <a:latin typeface="Calibri" panose="020F0502020204030204" pitchFamily="34" charset="0"/>
                <a:ea typeface="Calibri" panose="020F0502020204030204" pitchFamily="34" charset="0"/>
                <a:cs typeface="NimbusRomNo9L"/>
              </a:rPr>
              <a:t>16 </a:t>
            </a:r>
            <a:r>
              <a:rPr lang="de-DE" sz="2000" b="1" dirty="0" err="1">
                <a:solidFill>
                  <a:schemeClr val="bg1"/>
                </a:solidFill>
                <a:latin typeface="Calibri" panose="020F0502020204030204" pitchFamily="34" charset="0"/>
                <a:ea typeface="Calibri" panose="020F0502020204030204" pitchFamily="34" charset="0"/>
                <a:cs typeface="NimbusRomNo9L"/>
              </a:rPr>
              <a:t>Mb</a:t>
            </a:r>
            <a:r>
              <a:rPr lang="de-DE" sz="2000" b="1" dirty="0">
                <a:solidFill>
                  <a:schemeClr val="bg1"/>
                </a:solidFill>
                <a:latin typeface="Calibri" panose="020F0502020204030204" pitchFamily="34" charset="0"/>
                <a:ea typeface="Calibri" panose="020F0502020204030204" pitchFamily="34" charset="0"/>
                <a:cs typeface="NimbusRomNo9L"/>
              </a:rPr>
              <a:t>/s * </a:t>
            </a:r>
            <a:r>
              <a:rPr lang="de-DE" sz="2000" b="1" dirty="0">
                <a:solidFill>
                  <a:schemeClr val="bg1"/>
                </a:solidFill>
              </a:rPr>
              <a:t>1000²</a:t>
            </a:r>
            <a:endParaRPr lang="de-DE" sz="2000" b="1" dirty="0">
              <a:solidFill>
                <a:schemeClr val="bg1"/>
              </a:solidFill>
              <a:latin typeface="Calibri" panose="020F0502020204030204" pitchFamily="34" charset="0"/>
              <a:ea typeface="Calibri" panose="020F0502020204030204" pitchFamily="34" charset="0"/>
              <a:cs typeface="NimbusRomNo9L"/>
            </a:endParaRPr>
          </a:p>
          <a:p>
            <a:pPr>
              <a:lnSpc>
                <a:spcPct val="115000"/>
              </a:lnSpc>
            </a:pPr>
            <a:endParaRPr lang="de-DE" sz="2000" b="1" dirty="0">
              <a:solidFill>
                <a:schemeClr val="bg1"/>
              </a:solidFill>
              <a:latin typeface="Calibri" panose="020F0502020204030204" pitchFamily="34" charset="0"/>
              <a:ea typeface="Calibri" panose="020F0502020204030204" pitchFamily="34" charset="0"/>
              <a:cs typeface="NimbusRomNo9L"/>
            </a:endParaRPr>
          </a:p>
          <a:p>
            <a:pPr>
              <a:lnSpc>
                <a:spcPct val="115000"/>
              </a:lnSpc>
            </a:pPr>
            <a:r>
              <a:rPr lang="de-DE" sz="2000" b="1" dirty="0">
                <a:solidFill>
                  <a:schemeClr val="bg1"/>
                </a:solidFill>
                <a:latin typeface="Calibri" panose="020F0502020204030204" pitchFamily="34" charset="0"/>
                <a:ea typeface="Calibri" panose="020F0502020204030204" pitchFamily="34" charset="0"/>
                <a:cs typeface="NimbusRomNo9L"/>
              </a:rPr>
              <a:t>= 89,13 s -&gt; Aufgerundet 90 Sekunden</a:t>
            </a:r>
            <a:endParaRPr lang="de-DE" sz="2000" b="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1277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a:xfrm>
            <a:off x="366345" y="197670"/>
            <a:ext cx="11547231" cy="2003625"/>
          </a:xfrm>
          <a:prstGeom prst="rect">
            <a:avLst/>
          </a:prstGeom>
        </p:spPr>
        <p:txBody>
          <a:bodyPr wrap="square">
            <a:spAutoFit/>
          </a:bodyPr>
          <a:lstStyle/>
          <a:p>
            <a:pPr>
              <a:lnSpc>
                <a:spcPct val="115000"/>
              </a:lnSpc>
              <a:spcAft>
                <a:spcPts val="0"/>
              </a:spcAft>
            </a:pPr>
            <a:r>
              <a:rPr lang="de-DE" b="1" dirty="0">
                <a:solidFill>
                  <a:srgbClr val="000000"/>
                </a:solidFill>
                <a:latin typeface="Calibri" panose="020F0502020204030204" pitchFamily="34" charset="0"/>
                <a:ea typeface="Calibri" panose="020F0502020204030204" pitchFamily="34" charset="0"/>
                <a:cs typeface="NimbusRomNo9L"/>
              </a:rPr>
              <a:t>1) Die IT-Revolution AG soll für die </a:t>
            </a:r>
            <a:r>
              <a:rPr lang="de-DE" b="1" dirty="0" err="1">
                <a:solidFill>
                  <a:srgbClr val="000000"/>
                </a:solidFill>
                <a:latin typeface="Calibri" panose="020F0502020204030204" pitchFamily="34" charset="0"/>
                <a:ea typeface="Calibri" panose="020F0502020204030204" pitchFamily="34" charset="0"/>
                <a:cs typeface="NimbusRomNo9L"/>
              </a:rPr>
              <a:t>TeNi</a:t>
            </a:r>
            <a:r>
              <a:rPr lang="de-DE" b="1" dirty="0">
                <a:solidFill>
                  <a:srgbClr val="000000"/>
                </a:solidFill>
                <a:latin typeface="Calibri" panose="020F0502020204030204" pitchFamily="34" charset="0"/>
                <a:ea typeface="Calibri" panose="020F0502020204030204" pitchFamily="34" charset="0"/>
                <a:cs typeface="NimbusRomNo9L"/>
              </a:rPr>
              <a:t> GmbH eine Datensicherung konzipieren.</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b="1" dirty="0">
                <a:solidFill>
                  <a:srgbClr val="000000"/>
                </a:solidFill>
                <a:latin typeface="Calibri" panose="020F0502020204030204" pitchFamily="34" charset="0"/>
                <a:ea typeface="Calibri" panose="020F0502020204030204" pitchFamily="34" charset="0"/>
                <a:cs typeface="NimbusRomNo9L"/>
              </a:rPr>
              <a:t>Die Daten der Filialen Hamburg und Frankfurt sollen auf einem Backup-Server in der Zentrale in Köln gesichert werden.</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dirty="0">
                <a:solidFill>
                  <a:srgbClr val="000000"/>
                </a:solidFill>
                <a:latin typeface="Calibri" panose="020F0502020204030204" pitchFamily="34" charset="0"/>
                <a:ea typeface="Calibri" panose="020F0502020204030204" pitchFamily="34" charset="0"/>
                <a:cs typeface="NimbusRomNo9L"/>
              </a:rPr>
              <a:t>a) Über die zur Verfügung stehende Netzwerkverbindung (1 </a:t>
            </a:r>
            <a:r>
              <a:rPr lang="de-DE" dirty="0" err="1">
                <a:solidFill>
                  <a:srgbClr val="000000"/>
                </a:solidFill>
                <a:latin typeface="Calibri" panose="020F0502020204030204" pitchFamily="34" charset="0"/>
                <a:ea typeface="Calibri" panose="020F0502020204030204" pitchFamily="34" charset="0"/>
                <a:cs typeface="NimbusRomNo9L"/>
              </a:rPr>
              <a:t>Gb</a:t>
            </a:r>
            <a:r>
              <a:rPr lang="de-DE" dirty="0">
                <a:solidFill>
                  <a:srgbClr val="000000"/>
                </a:solidFill>
                <a:latin typeface="Calibri" panose="020F0502020204030204" pitchFamily="34" charset="0"/>
                <a:ea typeface="Calibri" panose="020F0502020204030204" pitchFamily="34" charset="0"/>
                <a:cs typeface="NimbusRomNo9L"/>
              </a:rPr>
              <a:t>/s) soll einmal pro Woche ein Voll-Backup erfolgen. Die zu</a:t>
            </a:r>
            <a:r>
              <a:rPr lang="de-DE" dirty="0">
                <a:latin typeface="Calibri" panose="020F0502020204030204" pitchFamily="34" charset="0"/>
                <a:ea typeface="Calibri" panose="020F0502020204030204" pitchFamily="34" charset="0"/>
                <a:cs typeface="Times New Roman" panose="02020603050405020304" pitchFamily="18" charset="0"/>
              </a:rPr>
              <a:t> </a:t>
            </a:r>
            <a:r>
              <a:rPr lang="de-DE" dirty="0">
                <a:solidFill>
                  <a:srgbClr val="000000"/>
                </a:solidFill>
                <a:latin typeface="Calibri" panose="020F0502020204030204" pitchFamily="34" charset="0"/>
                <a:ea typeface="Calibri" panose="020F0502020204030204" pitchFamily="34" charset="0"/>
                <a:cs typeface="NimbusRomNo9L"/>
              </a:rPr>
              <a:t>sichernde Datenmenge beträgt maximal 700 </a:t>
            </a:r>
            <a:r>
              <a:rPr lang="de-DE" dirty="0" err="1">
                <a:solidFill>
                  <a:srgbClr val="000000"/>
                </a:solidFill>
                <a:latin typeface="Calibri" panose="020F0502020204030204" pitchFamily="34" charset="0"/>
                <a:ea typeface="Calibri" panose="020F0502020204030204" pitchFamily="34" charset="0"/>
                <a:cs typeface="NimbusRomNo9L"/>
              </a:rPr>
              <a:t>GiByte</a:t>
            </a:r>
            <a:r>
              <a:rPr lang="de-DE" dirty="0">
                <a:solidFill>
                  <a:srgbClr val="000000"/>
                </a:solidFill>
                <a:latin typeface="Calibri" panose="020F0502020204030204" pitchFamily="34" charset="0"/>
                <a:ea typeface="Calibri" panose="020F0502020204030204" pitchFamily="34" charset="0"/>
                <a:cs typeface="NimbusRomNo9L"/>
              </a:rPr>
              <a:t>. Berechnen Sie die maximale Übertragungszeit in Stunden und Minuten.</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dirty="0">
                <a:solidFill>
                  <a:srgbClr val="000000"/>
                </a:solidFill>
                <a:latin typeface="Calibri" panose="020F0502020204030204" pitchFamily="34" charset="0"/>
                <a:ea typeface="Calibri" panose="020F0502020204030204" pitchFamily="34" charset="0"/>
                <a:cs typeface="NimbusRomNo9L"/>
              </a:rPr>
              <a:t>Der Rechenweg ist anzugeben.</a:t>
            </a:r>
            <a:endParaRPr lang="de-DE"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hteck 2"/>
          <p:cNvSpPr/>
          <p:nvPr/>
        </p:nvSpPr>
        <p:spPr>
          <a:xfrm>
            <a:off x="4310332" y="2334917"/>
            <a:ext cx="6096000" cy="3349891"/>
          </a:xfrm>
          <a:prstGeom prst="rect">
            <a:avLst/>
          </a:prstGeom>
          <a:solidFill>
            <a:schemeClr val="tx1">
              <a:lumMod val="65000"/>
              <a:lumOff val="35000"/>
            </a:schemeClr>
          </a:solidFill>
        </p:spPr>
        <p:txBody>
          <a:bodyPr>
            <a:spAutoFit/>
          </a:bodyPr>
          <a:lstStyle/>
          <a:p>
            <a:pPr>
              <a:lnSpc>
                <a:spcPct val="115000"/>
              </a:lnSpc>
              <a:spcAft>
                <a:spcPts val="1000"/>
              </a:spcAft>
            </a:pPr>
            <a:r>
              <a:rPr lang="de-DE" b="1" dirty="0">
                <a:solidFill>
                  <a:schemeClr val="bg1"/>
                </a:solidFill>
                <a:latin typeface="Calibri" panose="020F0502020204030204" pitchFamily="34" charset="0"/>
                <a:ea typeface="Calibri" panose="020F0502020204030204" pitchFamily="34" charset="0"/>
                <a:cs typeface="Times New Roman" panose="02020603050405020304" pitchFamily="18" charset="0"/>
              </a:rPr>
              <a:t>Lösung:</a:t>
            </a:r>
            <a:endParaRPr lang="de-DE"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sz="2000" b="1" dirty="0">
                <a:solidFill>
                  <a:srgbClr val="FFFF00"/>
                </a:solidFill>
                <a:latin typeface="Calibri" panose="020F0502020204030204" pitchFamily="34" charset="0"/>
                <a:ea typeface="Calibri" panose="020F0502020204030204" pitchFamily="34" charset="0"/>
                <a:cs typeface="NimbusRomNo9L"/>
              </a:rPr>
              <a:t>1 h 41 min</a:t>
            </a:r>
          </a:p>
          <a:p>
            <a:pPr>
              <a:lnSpc>
                <a:spcPct val="115000"/>
              </a:lnSpc>
              <a:spcAft>
                <a:spcPts val="0"/>
              </a:spcAft>
            </a:pPr>
            <a:endParaRPr lang="de-DE" sz="2000" b="1" dirty="0">
              <a:solidFill>
                <a:schemeClr val="bg1"/>
              </a:solidFill>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sz="2000" b="1" u="sng" dirty="0">
                <a:solidFill>
                  <a:schemeClr val="bg1"/>
                </a:solidFill>
                <a:latin typeface="Calibri" panose="020F0502020204030204" pitchFamily="34" charset="0"/>
                <a:ea typeface="Calibri" panose="020F0502020204030204" pitchFamily="34" charset="0"/>
                <a:cs typeface="NimbusRomNo9L"/>
              </a:rPr>
              <a:t>700 </a:t>
            </a:r>
            <a:r>
              <a:rPr lang="de-DE" sz="2000" b="1" u="sng" dirty="0" err="1">
                <a:solidFill>
                  <a:schemeClr val="bg1"/>
                </a:solidFill>
                <a:latin typeface="Calibri" panose="020F0502020204030204" pitchFamily="34" charset="0"/>
                <a:ea typeface="Calibri" panose="020F0502020204030204" pitchFamily="34" charset="0"/>
                <a:cs typeface="NimbusRomNo9L"/>
              </a:rPr>
              <a:t>GiByte</a:t>
            </a:r>
            <a:r>
              <a:rPr lang="de-DE" sz="2000" b="1" u="sng" dirty="0">
                <a:solidFill>
                  <a:schemeClr val="bg1"/>
                </a:solidFill>
                <a:latin typeface="Calibri" panose="020F0502020204030204" pitchFamily="34" charset="0"/>
                <a:ea typeface="Calibri" panose="020F0502020204030204" pitchFamily="34" charset="0"/>
                <a:cs typeface="NimbusRomNo9L"/>
              </a:rPr>
              <a:t> * 1024³ * 8 Bit </a:t>
            </a:r>
          </a:p>
          <a:p>
            <a:pPr>
              <a:lnSpc>
                <a:spcPct val="115000"/>
              </a:lnSpc>
              <a:spcAft>
                <a:spcPts val="0"/>
              </a:spcAft>
            </a:pPr>
            <a:r>
              <a:rPr lang="de-DE" sz="2000" b="1" dirty="0">
                <a:solidFill>
                  <a:schemeClr val="bg1"/>
                </a:solidFill>
                <a:latin typeface="Calibri" panose="020F0502020204030204" pitchFamily="34" charset="0"/>
                <a:ea typeface="Calibri" panose="020F0502020204030204" pitchFamily="34" charset="0"/>
                <a:cs typeface="NimbusRomNo9L"/>
              </a:rPr>
              <a:t>1 </a:t>
            </a:r>
            <a:r>
              <a:rPr lang="de-DE" sz="2000" b="1" dirty="0" err="1">
                <a:solidFill>
                  <a:schemeClr val="bg1"/>
                </a:solidFill>
                <a:latin typeface="Calibri" panose="020F0502020204030204" pitchFamily="34" charset="0"/>
                <a:ea typeface="Calibri" panose="020F0502020204030204" pitchFamily="34" charset="0"/>
                <a:cs typeface="NimbusRomNo9L"/>
              </a:rPr>
              <a:t>Gb</a:t>
            </a:r>
            <a:r>
              <a:rPr lang="de-DE" sz="2000" b="1" dirty="0">
                <a:solidFill>
                  <a:schemeClr val="bg1"/>
                </a:solidFill>
                <a:latin typeface="Calibri" panose="020F0502020204030204" pitchFamily="34" charset="0"/>
                <a:ea typeface="Calibri" panose="020F0502020204030204" pitchFamily="34" charset="0"/>
                <a:cs typeface="NimbusRomNo9L"/>
              </a:rPr>
              <a:t>/s * 1000³</a:t>
            </a:r>
          </a:p>
          <a:p>
            <a:pPr>
              <a:lnSpc>
                <a:spcPct val="115000"/>
              </a:lnSpc>
              <a:spcAft>
                <a:spcPts val="0"/>
              </a:spcAft>
            </a:pPr>
            <a:endParaRPr lang="de-DE" sz="2000" b="1" dirty="0">
              <a:solidFill>
                <a:schemeClr val="bg1"/>
              </a:solidFill>
              <a:latin typeface="Calibri" panose="020F0502020204030204" pitchFamily="34" charset="0"/>
              <a:ea typeface="Calibri" panose="020F0502020204030204" pitchFamily="34" charset="0"/>
              <a:cs typeface="NimbusRomNo9L"/>
            </a:endParaRPr>
          </a:p>
          <a:p>
            <a:pPr>
              <a:lnSpc>
                <a:spcPct val="115000"/>
              </a:lnSpc>
            </a:pPr>
            <a:r>
              <a:rPr lang="de-DE" sz="2000" b="1" dirty="0">
                <a:solidFill>
                  <a:schemeClr val="bg1"/>
                </a:solidFill>
                <a:latin typeface="Calibri" panose="020F0502020204030204" pitchFamily="34" charset="0"/>
                <a:ea typeface="Calibri" panose="020F0502020204030204" pitchFamily="34" charset="0"/>
                <a:cs typeface="NimbusRomNo9L"/>
              </a:rPr>
              <a:t>6.012,95 s / 60 = 100,22 min</a:t>
            </a:r>
            <a:endParaRPr lang="de-DE" sz="2000" b="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sz="2000" b="1" dirty="0">
                <a:solidFill>
                  <a:schemeClr val="bg1"/>
                </a:solidFill>
                <a:latin typeface="Calibri" panose="020F0502020204030204" pitchFamily="34" charset="0"/>
                <a:ea typeface="Calibri" panose="020F0502020204030204" pitchFamily="34" charset="0"/>
                <a:cs typeface="NimbusRomNo9L"/>
              </a:rPr>
              <a:t>100,22 min/60 = 1,67 h</a:t>
            </a:r>
            <a:endParaRPr lang="de-DE" sz="2000" b="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de-DE" sz="2000" b="1" dirty="0">
                <a:solidFill>
                  <a:schemeClr val="bg1"/>
                </a:solidFill>
                <a:latin typeface="Calibri" panose="020F0502020204030204" pitchFamily="34" charset="0"/>
                <a:ea typeface="Calibri" panose="020F0502020204030204" pitchFamily="34" charset="0"/>
                <a:cs typeface="NimbusRomNo9L"/>
              </a:rPr>
              <a:t>0,67 h *60 = 40,2 Min -&gt; 41 min</a:t>
            </a:r>
            <a:endParaRPr lang="de-DE" sz="2000" b="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4" name="Grafik 3" descr="Ein Bild, das Elektronik, schwarz, Rechner, sitzend enthält.&#10;&#10;Automatisch generierte Beschreibung">
            <a:extLst>
              <a:ext uri="{FF2B5EF4-FFF2-40B4-BE49-F238E27FC236}">
                <a16:creationId xmlns:a16="http://schemas.microsoft.com/office/drawing/2014/main" id="{96677E6A-EF3C-58E1-389A-8B16EBA107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7819" y="2700068"/>
            <a:ext cx="1704631" cy="3514703"/>
          </a:xfrm>
          <a:prstGeom prst="rect">
            <a:avLst/>
          </a:prstGeom>
        </p:spPr>
      </p:pic>
    </p:spTree>
    <p:extLst>
      <p:ext uri="{BB962C8B-B14F-4D97-AF65-F5344CB8AC3E}">
        <p14:creationId xmlns:p14="http://schemas.microsoft.com/office/powerpoint/2010/main" val="3421626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a:xfrm>
            <a:off x="366345" y="197670"/>
            <a:ext cx="11547231" cy="2003625"/>
          </a:xfrm>
          <a:prstGeom prst="rect">
            <a:avLst/>
          </a:prstGeom>
        </p:spPr>
        <p:txBody>
          <a:bodyPr wrap="square">
            <a:spAutoFit/>
          </a:bodyPr>
          <a:lstStyle/>
          <a:p>
            <a:pPr>
              <a:lnSpc>
                <a:spcPct val="115000"/>
              </a:lnSpc>
              <a:spcAft>
                <a:spcPts val="0"/>
              </a:spcAft>
            </a:pPr>
            <a:r>
              <a:rPr lang="de-DE" b="1" dirty="0">
                <a:solidFill>
                  <a:srgbClr val="000000"/>
                </a:solidFill>
                <a:latin typeface="Calibri" panose="020F0502020204030204" pitchFamily="34" charset="0"/>
                <a:ea typeface="Calibri" panose="020F0502020204030204" pitchFamily="34" charset="0"/>
                <a:cs typeface="NimbusRomNo9L"/>
              </a:rPr>
              <a:t>1) Die IT-Revolution AG soll für die </a:t>
            </a:r>
            <a:r>
              <a:rPr lang="de-DE" b="1" dirty="0" err="1">
                <a:solidFill>
                  <a:srgbClr val="000000"/>
                </a:solidFill>
                <a:latin typeface="Calibri" panose="020F0502020204030204" pitchFamily="34" charset="0"/>
                <a:ea typeface="Calibri" panose="020F0502020204030204" pitchFamily="34" charset="0"/>
                <a:cs typeface="NimbusRomNo9L"/>
              </a:rPr>
              <a:t>TeNi</a:t>
            </a:r>
            <a:r>
              <a:rPr lang="de-DE" b="1" dirty="0">
                <a:solidFill>
                  <a:srgbClr val="000000"/>
                </a:solidFill>
                <a:latin typeface="Calibri" panose="020F0502020204030204" pitchFamily="34" charset="0"/>
                <a:ea typeface="Calibri" panose="020F0502020204030204" pitchFamily="34" charset="0"/>
                <a:cs typeface="NimbusRomNo9L"/>
              </a:rPr>
              <a:t> GmbH eine Datensicherung konzipieren.</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b="1" dirty="0">
                <a:solidFill>
                  <a:srgbClr val="000000"/>
                </a:solidFill>
                <a:latin typeface="Calibri" panose="020F0502020204030204" pitchFamily="34" charset="0"/>
                <a:ea typeface="Calibri" panose="020F0502020204030204" pitchFamily="34" charset="0"/>
                <a:cs typeface="NimbusRomNo9L"/>
              </a:rPr>
              <a:t>Die Daten der Filialen Hamburg und Frankfurt sollen auf einem Backup-Server in der Zentrale in Köln gesichert werden.</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dirty="0">
                <a:solidFill>
                  <a:srgbClr val="000000"/>
                </a:solidFill>
                <a:latin typeface="Calibri" panose="020F0502020204030204" pitchFamily="34" charset="0"/>
                <a:ea typeface="Calibri" panose="020F0502020204030204" pitchFamily="34" charset="0"/>
                <a:cs typeface="NimbusRomNo9L"/>
              </a:rPr>
              <a:t>a) Über die zur Verfügung stehende Netzwerkverbindung (1 </a:t>
            </a:r>
            <a:r>
              <a:rPr lang="de-DE" dirty="0" err="1">
                <a:solidFill>
                  <a:srgbClr val="000000"/>
                </a:solidFill>
                <a:latin typeface="Calibri" panose="020F0502020204030204" pitchFamily="34" charset="0"/>
                <a:ea typeface="Calibri" panose="020F0502020204030204" pitchFamily="34" charset="0"/>
                <a:cs typeface="NimbusRomNo9L"/>
              </a:rPr>
              <a:t>Gb</a:t>
            </a:r>
            <a:r>
              <a:rPr lang="de-DE" dirty="0">
                <a:solidFill>
                  <a:srgbClr val="000000"/>
                </a:solidFill>
                <a:latin typeface="Calibri" panose="020F0502020204030204" pitchFamily="34" charset="0"/>
                <a:ea typeface="Calibri" panose="020F0502020204030204" pitchFamily="34" charset="0"/>
                <a:cs typeface="NimbusRomNo9L"/>
              </a:rPr>
              <a:t>/s) soll einmal pro Woche ein Voll-Backup erfolgen. Die zu</a:t>
            </a:r>
            <a:r>
              <a:rPr lang="de-DE" dirty="0">
                <a:latin typeface="Calibri" panose="020F0502020204030204" pitchFamily="34" charset="0"/>
                <a:ea typeface="Calibri" panose="020F0502020204030204" pitchFamily="34" charset="0"/>
                <a:cs typeface="Times New Roman" panose="02020603050405020304" pitchFamily="18" charset="0"/>
              </a:rPr>
              <a:t> </a:t>
            </a:r>
            <a:r>
              <a:rPr lang="de-DE" dirty="0">
                <a:solidFill>
                  <a:srgbClr val="000000"/>
                </a:solidFill>
                <a:latin typeface="Calibri" panose="020F0502020204030204" pitchFamily="34" charset="0"/>
                <a:ea typeface="Calibri" panose="020F0502020204030204" pitchFamily="34" charset="0"/>
                <a:cs typeface="NimbusRomNo9L"/>
              </a:rPr>
              <a:t>sichernde Datenmenge beträgt maximal 700 </a:t>
            </a:r>
            <a:r>
              <a:rPr lang="de-DE" dirty="0" err="1">
                <a:solidFill>
                  <a:srgbClr val="000000"/>
                </a:solidFill>
                <a:latin typeface="Calibri" panose="020F0502020204030204" pitchFamily="34" charset="0"/>
                <a:ea typeface="Calibri" panose="020F0502020204030204" pitchFamily="34" charset="0"/>
                <a:cs typeface="NimbusRomNo9L"/>
              </a:rPr>
              <a:t>GiByte</a:t>
            </a:r>
            <a:r>
              <a:rPr lang="de-DE" dirty="0">
                <a:solidFill>
                  <a:srgbClr val="000000"/>
                </a:solidFill>
                <a:latin typeface="Calibri" panose="020F0502020204030204" pitchFamily="34" charset="0"/>
                <a:ea typeface="Calibri" panose="020F0502020204030204" pitchFamily="34" charset="0"/>
                <a:cs typeface="NimbusRomNo9L"/>
              </a:rPr>
              <a:t>. Berechnen Sie die maximale Übertragungszeit in Stunden und Minuten.</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dirty="0">
                <a:solidFill>
                  <a:srgbClr val="000000"/>
                </a:solidFill>
                <a:latin typeface="Calibri" panose="020F0502020204030204" pitchFamily="34" charset="0"/>
                <a:ea typeface="Calibri" panose="020F0502020204030204" pitchFamily="34" charset="0"/>
                <a:cs typeface="NimbusRomNo9L"/>
              </a:rPr>
              <a:t>Der Rechenweg ist anzugeben.</a:t>
            </a:r>
            <a:endParaRPr lang="de-DE"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feld 5">
            <a:extLst>
              <a:ext uri="{FF2B5EF4-FFF2-40B4-BE49-F238E27FC236}">
                <a16:creationId xmlns:a16="http://schemas.microsoft.com/office/drawing/2014/main" id="{E3F8C4AC-A5F8-9EB5-E40A-A352302A2FE9}"/>
              </a:ext>
            </a:extLst>
          </p:cNvPr>
          <p:cNvSpPr txBox="1"/>
          <p:nvPr/>
        </p:nvSpPr>
        <p:spPr>
          <a:xfrm>
            <a:off x="677635" y="2440099"/>
            <a:ext cx="2744834" cy="710707"/>
          </a:xfrm>
          <a:prstGeom prst="rect">
            <a:avLst/>
          </a:prstGeom>
          <a:noFill/>
        </p:spPr>
        <p:txBody>
          <a:bodyPr wrap="square">
            <a:spAutoFit/>
          </a:bodyPr>
          <a:lstStyle/>
          <a:p>
            <a:pPr>
              <a:lnSpc>
                <a:spcPct val="115000"/>
              </a:lnSpc>
              <a:spcAft>
                <a:spcPts val="0"/>
              </a:spcAft>
            </a:pPr>
            <a:r>
              <a:rPr lang="de-DE" sz="1800" b="1" u="sng" dirty="0">
                <a:latin typeface="Calibri" panose="020F0502020204030204" pitchFamily="34" charset="0"/>
                <a:ea typeface="Calibri" panose="020F0502020204030204" pitchFamily="34" charset="0"/>
                <a:cs typeface="NimbusRomNo9L"/>
              </a:rPr>
              <a:t>700 GiByte * 1024³ * 8 Bit </a:t>
            </a:r>
          </a:p>
          <a:p>
            <a:pPr>
              <a:lnSpc>
                <a:spcPct val="115000"/>
              </a:lnSpc>
              <a:spcAft>
                <a:spcPts val="0"/>
              </a:spcAft>
            </a:pPr>
            <a:r>
              <a:rPr lang="de-DE" sz="1800" b="1" dirty="0">
                <a:latin typeface="Calibri" panose="020F0502020204030204" pitchFamily="34" charset="0"/>
                <a:ea typeface="Calibri" panose="020F0502020204030204" pitchFamily="34" charset="0"/>
                <a:cs typeface="NimbusRomNo9L"/>
              </a:rPr>
              <a:t>1 </a:t>
            </a:r>
            <a:r>
              <a:rPr lang="de-DE" sz="1800" b="1" dirty="0" err="1">
                <a:latin typeface="Calibri" panose="020F0502020204030204" pitchFamily="34" charset="0"/>
                <a:ea typeface="Calibri" panose="020F0502020204030204" pitchFamily="34" charset="0"/>
                <a:cs typeface="NimbusRomNo9L"/>
              </a:rPr>
              <a:t>Gb</a:t>
            </a:r>
            <a:r>
              <a:rPr lang="de-DE" sz="1800" b="1" dirty="0">
                <a:latin typeface="Calibri" panose="020F0502020204030204" pitchFamily="34" charset="0"/>
                <a:ea typeface="Calibri" panose="020F0502020204030204" pitchFamily="34" charset="0"/>
                <a:cs typeface="NimbusRomNo9L"/>
              </a:rPr>
              <a:t>/s * 1000³</a:t>
            </a:r>
          </a:p>
        </p:txBody>
      </p:sp>
      <p:sp>
        <p:nvSpPr>
          <p:cNvPr id="7" name="Textfeld 6">
            <a:extLst>
              <a:ext uri="{FF2B5EF4-FFF2-40B4-BE49-F238E27FC236}">
                <a16:creationId xmlns:a16="http://schemas.microsoft.com/office/drawing/2014/main" id="{04E00AC8-3489-F22B-E0F5-6801F7B3FDCB}"/>
              </a:ext>
            </a:extLst>
          </p:cNvPr>
          <p:cNvSpPr txBox="1"/>
          <p:nvPr/>
        </p:nvSpPr>
        <p:spPr>
          <a:xfrm>
            <a:off x="677635" y="4301352"/>
            <a:ext cx="2640331" cy="710707"/>
          </a:xfrm>
          <a:prstGeom prst="rect">
            <a:avLst/>
          </a:prstGeom>
          <a:noFill/>
        </p:spPr>
        <p:txBody>
          <a:bodyPr wrap="square">
            <a:spAutoFit/>
          </a:bodyPr>
          <a:lstStyle/>
          <a:p>
            <a:pPr>
              <a:lnSpc>
                <a:spcPct val="115000"/>
              </a:lnSpc>
              <a:spcAft>
                <a:spcPts val="0"/>
              </a:spcAft>
            </a:pPr>
            <a:r>
              <a:rPr lang="de-DE" sz="1800" b="1" u="sng" dirty="0">
                <a:latin typeface="Calibri" panose="020F0502020204030204" pitchFamily="34" charset="0"/>
                <a:ea typeface="Calibri" panose="020F0502020204030204" pitchFamily="34" charset="0"/>
                <a:cs typeface="NimbusRomNo9L"/>
              </a:rPr>
              <a:t>700 GiByte * 1024³ * 8 Bit </a:t>
            </a:r>
          </a:p>
          <a:p>
            <a:pPr>
              <a:lnSpc>
                <a:spcPct val="115000"/>
              </a:lnSpc>
              <a:spcAft>
                <a:spcPts val="0"/>
              </a:spcAft>
            </a:pPr>
            <a:r>
              <a:rPr lang="de-DE" sz="1800" b="1" dirty="0">
                <a:latin typeface="Calibri" panose="020F0502020204030204" pitchFamily="34" charset="0"/>
                <a:ea typeface="Calibri" panose="020F0502020204030204" pitchFamily="34" charset="0"/>
                <a:cs typeface="NimbusRomNo9L"/>
              </a:rPr>
              <a:t>100 </a:t>
            </a:r>
            <a:r>
              <a:rPr lang="de-DE" sz="1800" b="1" dirty="0" err="1">
                <a:latin typeface="Calibri" panose="020F0502020204030204" pitchFamily="34" charset="0"/>
                <a:ea typeface="Calibri" panose="020F0502020204030204" pitchFamily="34" charset="0"/>
                <a:cs typeface="NimbusRomNo9L"/>
              </a:rPr>
              <a:t>Mb</a:t>
            </a:r>
            <a:r>
              <a:rPr lang="de-DE" sz="1800" b="1" dirty="0">
                <a:latin typeface="Calibri" panose="020F0502020204030204" pitchFamily="34" charset="0"/>
                <a:ea typeface="Calibri" panose="020F0502020204030204" pitchFamily="34" charset="0"/>
                <a:cs typeface="NimbusRomNo9L"/>
              </a:rPr>
              <a:t>/s * 1000</a:t>
            </a:r>
            <a:r>
              <a:rPr lang="de-DE" sz="1800" b="1" baseline="30000" dirty="0">
                <a:latin typeface="Calibri" panose="020F0502020204030204" pitchFamily="34" charset="0"/>
                <a:ea typeface="Calibri" panose="020F0502020204030204" pitchFamily="34" charset="0"/>
                <a:cs typeface="NimbusRomNo9L"/>
              </a:rPr>
              <a:t>2</a:t>
            </a:r>
            <a:endParaRPr lang="de-DE" sz="1800" b="1" dirty="0">
              <a:latin typeface="Calibri" panose="020F0502020204030204" pitchFamily="34" charset="0"/>
              <a:ea typeface="Calibri" panose="020F0502020204030204" pitchFamily="34" charset="0"/>
              <a:cs typeface="NimbusRomNo9L"/>
            </a:endParaRPr>
          </a:p>
        </p:txBody>
      </p:sp>
      <p:sp>
        <p:nvSpPr>
          <p:cNvPr id="8" name="Textfeld 7">
            <a:extLst>
              <a:ext uri="{FF2B5EF4-FFF2-40B4-BE49-F238E27FC236}">
                <a16:creationId xmlns:a16="http://schemas.microsoft.com/office/drawing/2014/main" id="{E16BD7E8-E729-7F00-85F4-6D37456F7ED7}"/>
              </a:ext>
            </a:extLst>
          </p:cNvPr>
          <p:cNvSpPr txBox="1"/>
          <p:nvPr/>
        </p:nvSpPr>
        <p:spPr>
          <a:xfrm>
            <a:off x="3909059" y="4301352"/>
            <a:ext cx="2792187" cy="710707"/>
          </a:xfrm>
          <a:prstGeom prst="rect">
            <a:avLst/>
          </a:prstGeom>
          <a:noFill/>
        </p:spPr>
        <p:txBody>
          <a:bodyPr wrap="square">
            <a:spAutoFit/>
          </a:bodyPr>
          <a:lstStyle/>
          <a:p>
            <a:pPr>
              <a:lnSpc>
                <a:spcPct val="115000"/>
              </a:lnSpc>
              <a:spcAft>
                <a:spcPts val="0"/>
              </a:spcAft>
            </a:pPr>
            <a:r>
              <a:rPr lang="de-DE" sz="1800" b="1" u="sng" dirty="0">
                <a:latin typeface="Calibri" panose="020F0502020204030204" pitchFamily="34" charset="0"/>
                <a:ea typeface="Calibri" panose="020F0502020204030204" pitchFamily="34" charset="0"/>
                <a:cs typeface="NimbusRomNo9L"/>
              </a:rPr>
              <a:t>700 </a:t>
            </a:r>
            <a:r>
              <a:rPr lang="de-DE" sz="1800" b="1" u="sng" dirty="0" err="1">
                <a:latin typeface="Calibri" panose="020F0502020204030204" pitchFamily="34" charset="0"/>
                <a:ea typeface="Calibri" panose="020F0502020204030204" pitchFamily="34" charset="0"/>
                <a:cs typeface="NimbusRomNo9L"/>
              </a:rPr>
              <a:t>MiByte</a:t>
            </a:r>
            <a:r>
              <a:rPr lang="de-DE" sz="1800" b="1" u="sng" dirty="0">
                <a:latin typeface="Calibri" panose="020F0502020204030204" pitchFamily="34" charset="0"/>
                <a:ea typeface="Calibri" panose="020F0502020204030204" pitchFamily="34" charset="0"/>
                <a:cs typeface="NimbusRomNo9L"/>
              </a:rPr>
              <a:t> * 1024</a:t>
            </a:r>
            <a:r>
              <a:rPr lang="de-DE" b="1" u="sng" baseline="30000" dirty="0">
                <a:latin typeface="Calibri" panose="020F0502020204030204" pitchFamily="34" charset="0"/>
                <a:ea typeface="Calibri" panose="020F0502020204030204" pitchFamily="34" charset="0"/>
                <a:cs typeface="NimbusRomNo9L"/>
              </a:rPr>
              <a:t>2</a:t>
            </a:r>
            <a:r>
              <a:rPr lang="de-DE" sz="1800" b="1" u="sng" dirty="0">
                <a:latin typeface="Calibri" panose="020F0502020204030204" pitchFamily="34" charset="0"/>
                <a:ea typeface="Calibri" panose="020F0502020204030204" pitchFamily="34" charset="0"/>
                <a:cs typeface="NimbusRomNo9L"/>
              </a:rPr>
              <a:t> * 8 Bit </a:t>
            </a:r>
          </a:p>
          <a:p>
            <a:pPr>
              <a:lnSpc>
                <a:spcPct val="115000"/>
              </a:lnSpc>
              <a:spcAft>
                <a:spcPts val="0"/>
              </a:spcAft>
            </a:pPr>
            <a:r>
              <a:rPr lang="de-DE" sz="1800" b="1" dirty="0">
                <a:latin typeface="Calibri" panose="020F0502020204030204" pitchFamily="34" charset="0"/>
                <a:ea typeface="Calibri" panose="020F0502020204030204" pitchFamily="34" charset="0"/>
                <a:cs typeface="NimbusRomNo9L"/>
              </a:rPr>
              <a:t>100 </a:t>
            </a:r>
            <a:r>
              <a:rPr lang="de-DE" sz="1800" b="1" dirty="0" err="1">
                <a:latin typeface="Calibri" panose="020F0502020204030204" pitchFamily="34" charset="0"/>
                <a:ea typeface="Calibri" panose="020F0502020204030204" pitchFamily="34" charset="0"/>
                <a:cs typeface="NimbusRomNo9L"/>
              </a:rPr>
              <a:t>Mb</a:t>
            </a:r>
            <a:r>
              <a:rPr lang="de-DE" sz="1800" b="1" dirty="0">
                <a:latin typeface="Calibri" panose="020F0502020204030204" pitchFamily="34" charset="0"/>
                <a:ea typeface="Calibri" panose="020F0502020204030204" pitchFamily="34" charset="0"/>
                <a:cs typeface="NimbusRomNo9L"/>
              </a:rPr>
              <a:t>/s * 1000</a:t>
            </a:r>
            <a:r>
              <a:rPr lang="de-DE" sz="1800" b="1" baseline="30000" dirty="0">
                <a:latin typeface="Calibri" panose="020F0502020204030204" pitchFamily="34" charset="0"/>
                <a:ea typeface="Calibri" panose="020F0502020204030204" pitchFamily="34" charset="0"/>
                <a:cs typeface="NimbusRomNo9L"/>
              </a:rPr>
              <a:t>2</a:t>
            </a:r>
            <a:endParaRPr lang="de-DE" sz="1800" b="1" dirty="0">
              <a:latin typeface="Calibri" panose="020F0502020204030204" pitchFamily="34" charset="0"/>
              <a:ea typeface="Calibri" panose="020F0502020204030204" pitchFamily="34" charset="0"/>
              <a:cs typeface="NimbusRomNo9L"/>
            </a:endParaRPr>
          </a:p>
        </p:txBody>
      </p:sp>
      <p:sp>
        <p:nvSpPr>
          <p:cNvPr id="9" name="Textfeld 8">
            <a:extLst>
              <a:ext uri="{FF2B5EF4-FFF2-40B4-BE49-F238E27FC236}">
                <a16:creationId xmlns:a16="http://schemas.microsoft.com/office/drawing/2014/main" id="{C02414D1-7B07-F7C0-C365-72B99C9D4AD9}"/>
              </a:ext>
            </a:extLst>
          </p:cNvPr>
          <p:cNvSpPr txBox="1"/>
          <p:nvPr/>
        </p:nvSpPr>
        <p:spPr>
          <a:xfrm>
            <a:off x="7131231" y="4301352"/>
            <a:ext cx="2792187" cy="710707"/>
          </a:xfrm>
          <a:prstGeom prst="rect">
            <a:avLst/>
          </a:prstGeom>
          <a:noFill/>
        </p:spPr>
        <p:txBody>
          <a:bodyPr wrap="square">
            <a:spAutoFit/>
          </a:bodyPr>
          <a:lstStyle/>
          <a:p>
            <a:pPr>
              <a:lnSpc>
                <a:spcPct val="115000"/>
              </a:lnSpc>
              <a:spcAft>
                <a:spcPts val="0"/>
              </a:spcAft>
            </a:pPr>
            <a:r>
              <a:rPr lang="de-DE" sz="1800" b="1" u="sng" dirty="0">
                <a:latin typeface="Calibri" panose="020F0502020204030204" pitchFamily="34" charset="0"/>
                <a:ea typeface="Calibri" panose="020F0502020204030204" pitchFamily="34" charset="0"/>
                <a:cs typeface="NimbusRomNo9L"/>
              </a:rPr>
              <a:t>700 </a:t>
            </a:r>
            <a:r>
              <a:rPr lang="de-DE" b="1" u="sng" dirty="0" err="1">
                <a:latin typeface="Calibri" panose="020F0502020204030204" pitchFamily="34" charset="0"/>
                <a:ea typeface="Calibri" panose="020F0502020204030204" pitchFamily="34" charset="0"/>
                <a:cs typeface="NimbusRomNo9L"/>
              </a:rPr>
              <a:t>T</a:t>
            </a:r>
            <a:r>
              <a:rPr lang="de-DE" sz="1800" b="1" u="sng" dirty="0" err="1">
                <a:latin typeface="Calibri" panose="020F0502020204030204" pitchFamily="34" charset="0"/>
                <a:ea typeface="Calibri" panose="020F0502020204030204" pitchFamily="34" charset="0"/>
                <a:cs typeface="NimbusRomNo9L"/>
              </a:rPr>
              <a:t>iByte</a:t>
            </a:r>
            <a:r>
              <a:rPr lang="de-DE" sz="1800" b="1" u="sng" dirty="0">
                <a:latin typeface="Calibri" panose="020F0502020204030204" pitchFamily="34" charset="0"/>
                <a:ea typeface="Calibri" panose="020F0502020204030204" pitchFamily="34" charset="0"/>
                <a:cs typeface="NimbusRomNo9L"/>
              </a:rPr>
              <a:t> * 1024</a:t>
            </a:r>
            <a:r>
              <a:rPr lang="de-DE" b="1" u="sng" baseline="30000" dirty="0">
                <a:latin typeface="Calibri" panose="020F0502020204030204" pitchFamily="34" charset="0"/>
                <a:ea typeface="Calibri" panose="020F0502020204030204" pitchFamily="34" charset="0"/>
                <a:cs typeface="NimbusRomNo9L"/>
              </a:rPr>
              <a:t>4</a:t>
            </a:r>
            <a:r>
              <a:rPr lang="de-DE" sz="1800" b="1" u="sng" dirty="0">
                <a:latin typeface="Calibri" panose="020F0502020204030204" pitchFamily="34" charset="0"/>
                <a:ea typeface="Calibri" panose="020F0502020204030204" pitchFamily="34" charset="0"/>
                <a:cs typeface="NimbusRomNo9L"/>
              </a:rPr>
              <a:t> * 8 Bit </a:t>
            </a:r>
          </a:p>
          <a:p>
            <a:pPr>
              <a:lnSpc>
                <a:spcPct val="115000"/>
              </a:lnSpc>
              <a:spcAft>
                <a:spcPts val="0"/>
              </a:spcAft>
            </a:pPr>
            <a:r>
              <a:rPr lang="de-DE" sz="1800" b="1" dirty="0">
                <a:latin typeface="Calibri" panose="020F0502020204030204" pitchFamily="34" charset="0"/>
                <a:ea typeface="Calibri" panose="020F0502020204030204" pitchFamily="34" charset="0"/>
                <a:cs typeface="NimbusRomNo9L"/>
              </a:rPr>
              <a:t>100 </a:t>
            </a:r>
            <a:r>
              <a:rPr lang="de-DE" sz="1800" b="1" dirty="0" err="1">
                <a:latin typeface="Calibri" panose="020F0502020204030204" pitchFamily="34" charset="0"/>
                <a:ea typeface="Calibri" panose="020F0502020204030204" pitchFamily="34" charset="0"/>
                <a:cs typeface="NimbusRomNo9L"/>
              </a:rPr>
              <a:t>Mb</a:t>
            </a:r>
            <a:r>
              <a:rPr lang="de-DE" sz="1800" b="1" dirty="0">
                <a:latin typeface="Calibri" panose="020F0502020204030204" pitchFamily="34" charset="0"/>
                <a:ea typeface="Calibri" panose="020F0502020204030204" pitchFamily="34" charset="0"/>
                <a:cs typeface="NimbusRomNo9L"/>
              </a:rPr>
              <a:t>/s * 1000</a:t>
            </a:r>
            <a:r>
              <a:rPr lang="de-DE" sz="1800" b="1" baseline="30000" dirty="0">
                <a:latin typeface="Calibri" panose="020F0502020204030204" pitchFamily="34" charset="0"/>
                <a:ea typeface="Calibri" panose="020F0502020204030204" pitchFamily="34" charset="0"/>
                <a:cs typeface="NimbusRomNo9L"/>
              </a:rPr>
              <a:t>2</a:t>
            </a:r>
            <a:endParaRPr lang="de-DE" sz="1800" b="1" dirty="0">
              <a:latin typeface="Calibri" panose="020F0502020204030204" pitchFamily="34" charset="0"/>
              <a:ea typeface="Calibri" panose="020F0502020204030204" pitchFamily="34" charset="0"/>
              <a:cs typeface="NimbusRomNo9L"/>
            </a:endParaRPr>
          </a:p>
        </p:txBody>
      </p:sp>
      <p:sp>
        <p:nvSpPr>
          <p:cNvPr id="10" name="Textfeld 9">
            <a:extLst>
              <a:ext uri="{FF2B5EF4-FFF2-40B4-BE49-F238E27FC236}">
                <a16:creationId xmlns:a16="http://schemas.microsoft.com/office/drawing/2014/main" id="{A99E8CD0-4F73-525C-9B14-B5EB256EA4A6}"/>
              </a:ext>
            </a:extLst>
          </p:cNvPr>
          <p:cNvSpPr txBox="1"/>
          <p:nvPr/>
        </p:nvSpPr>
        <p:spPr>
          <a:xfrm>
            <a:off x="3956412" y="2440098"/>
            <a:ext cx="2744834" cy="710707"/>
          </a:xfrm>
          <a:prstGeom prst="rect">
            <a:avLst/>
          </a:prstGeom>
          <a:noFill/>
        </p:spPr>
        <p:txBody>
          <a:bodyPr wrap="square">
            <a:spAutoFit/>
          </a:bodyPr>
          <a:lstStyle/>
          <a:p>
            <a:pPr>
              <a:lnSpc>
                <a:spcPct val="115000"/>
              </a:lnSpc>
              <a:spcAft>
                <a:spcPts val="0"/>
              </a:spcAft>
            </a:pPr>
            <a:r>
              <a:rPr lang="de-DE" sz="1800" b="1" u="sng" dirty="0">
                <a:latin typeface="Calibri" panose="020F0502020204030204" pitchFamily="34" charset="0"/>
                <a:ea typeface="Calibri" panose="020F0502020204030204" pitchFamily="34" charset="0"/>
                <a:cs typeface="NimbusRomNo9L"/>
              </a:rPr>
              <a:t>700 </a:t>
            </a:r>
            <a:r>
              <a:rPr lang="de-DE" sz="1800" b="1" u="sng" dirty="0" err="1">
                <a:latin typeface="Calibri" panose="020F0502020204030204" pitchFamily="34" charset="0"/>
                <a:ea typeface="Calibri" panose="020F0502020204030204" pitchFamily="34" charset="0"/>
                <a:cs typeface="NimbusRomNo9L"/>
              </a:rPr>
              <a:t>MiByte</a:t>
            </a:r>
            <a:r>
              <a:rPr lang="de-DE" sz="1800" b="1" u="sng" dirty="0">
                <a:latin typeface="Calibri" panose="020F0502020204030204" pitchFamily="34" charset="0"/>
                <a:ea typeface="Calibri" panose="020F0502020204030204" pitchFamily="34" charset="0"/>
                <a:cs typeface="NimbusRomNo9L"/>
              </a:rPr>
              <a:t> * 1024</a:t>
            </a:r>
            <a:r>
              <a:rPr lang="de-DE" b="1" u="sng" baseline="30000" dirty="0">
                <a:latin typeface="Calibri" panose="020F0502020204030204" pitchFamily="34" charset="0"/>
                <a:ea typeface="Calibri" panose="020F0502020204030204" pitchFamily="34" charset="0"/>
                <a:cs typeface="NimbusRomNo9L"/>
              </a:rPr>
              <a:t>2</a:t>
            </a:r>
            <a:r>
              <a:rPr lang="de-DE" sz="1800" b="1" u="sng" dirty="0">
                <a:latin typeface="Calibri" panose="020F0502020204030204" pitchFamily="34" charset="0"/>
                <a:ea typeface="Calibri" panose="020F0502020204030204" pitchFamily="34" charset="0"/>
                <a:cs typeface="NimbusRomNo9L"/>
              </a:rPr>
              <a:t> * 8 Bit </a:t>
            </a:r>
          </a:p>
          <a:p>
            <a:pPr>
              <a:lnSpc>
                <a:spcPct val="115000"/>
              </a:lnSpc>
              <a:spcAft>
                <a:spcPts val="0"/>
              </a:spcAft>
            </a:pPr>
            <a:r>
              <a:rPr lang="de-DE" sz="1800" b="1" dirty="0">
                <a:latin typeface="Calibri" panose="020F0502020204030204" pitchFamily="34" charset="0"/>
                <a:ea typeface="Calibri" panose="020F0502020204030204" pitchFamily="34" charset="0"/>
                <a:cs typeface="NimbusRomNo9L"/>
              </a:rPr>
              <a:t>1 </a:t>
            </a:r>
            <a:r>
              <a:rPr lang="de-DE" sz="1800" b="1" dirty="0" err="1">
                <a:latin typeface="Calibri" panose="020F0502020204030204" pitchFamily="34" charset="0"/>
                <a:ea typeface="Calibri" panose="020F0502020204030204" pitchFamily="34" charset="0"/>
                <a:cs typeface="NimbusRomNo9L"/>
              </a:rPr>
              <a:t>Gb</a:t>
            </a:r>
            <a:r>
              <a:rPr lang="de-DE" sz="1800" b="1" dirty="0">
                <a:latin typeface="Calibri" panose="020F0502020204030204" pitchFamily="34" charset="0"/>
                <a:ea typeface="Calibri" panose="020F0502020204030204" pitchFamily="34" charset="0"/>
                <a:cs typeface="NimbusRomNo9L"/>
              </a:rPr>
              <a:t>/s * 1000³</a:t>
            </a:r>
          </a:p>
        </p:txBody>
      </p:sp>
      <p:sp>
        <p:nvSpPr>
          <p:cNvPr id="11" name="Textfeld 10">
            <a:extLst>
              <a:ext uri="{FF2B5EF4-FFF2-40B4-BE49-F238E27FC236}">
                <a16:creationId xmlns:a16="http://schemas.microsoft.com/office/drawing/2014/main" id="{C206EA15-CD38-1272-B966-E6C9964C9C83}"/>
              </a:ext>
            </a:extLst>
          </p:cNvPr>
          <p:cNvSpPr txBox="1"/>
          <p:nvPr/>
        </p:nvSpPr>
        <p:spPr>
          <a:xfrm>
            <a:off x="7131231" y="2440098"/>
            <a:ext cx="2744834" cy="710707"/>
          </a:xfrm>
          <a:prstGeom prst="rect">
            <a:avLst/>
          </a:prstGeom>
          <a:noFill/>
        </p:spPr>
        <p:txBody>
          <a:bodyPr wrap="square">
            <a:spAutoFit/>
          </a:bodyPr>
          <a:lstStyle/>
          <a:p>
            <a:pPr>
              <a:lnSpc>
                <a:spcPct val="115000"/>
              </a:lnSpc>
              <a:spcAft>
                <a:spcPts val="0"/>
              </a:spcAft>
            </a:pPr>
            <a:r>
              <a:rPr lang="de-DE" sz="1800" b="1" u="sng" dirty="0">
                <a:latin typeface="Calibri" panose="020F0502020204030204" pitchFamily="34" charset="0"/>
                <a:ea typeface="Calibri" panose="020F0502020204030204" pitchFamily="34" charset="0"/>
                <a:cs typeface="NimbusRomNo9L"/>
              </a:rPr>
              <a:t>700 </a:t>
            </a:r>
            <a:r>
              <a:rPr lang="de-DE" sz="1800" b="1" u="sng" dirty="0" err="1">
                <a:latin typeface="Calibri" panose="020F0502020204030204" pitchFamily="34" charset="0"/>
                <a:ea typeface="Calibri" panose="020F0502020204030204" pitchFamily="34" charset="0"/>
                <a:cs typeface="NimbusRomNo9L"/>
              </a:rPr>
              <a:t>TiByte</a:t>
            </a:r>
            <a:r>
              <a:rPr lang="de-DE" sz="1800" b="1" u="sng" dirty="0">
                <a:latin typeface="Calibri" panose="020F0502020204030204" pitchFamily="34" charset="0"/>
                <a:ea typeface="Calibri" panose="020F0502020204030204" pitchFamily="34" charset="0"/>
                <a:cs typeface="NimbusRomNo9L"/>
              </a:rPr>
              <a:t> * 1024</a:t>
            </a:r>
            <a:r>
              <a:rPr lang="de-DE" b="1" u="sng" baseline="30000" dirty="0">
                <a:latin typeface="Calibri" panose="020F0502020204030204" pitchFamily="34" charset="0"/>
                <a:ea typeface="Calibri" panose="020F0502020204030204" pitchFamily="34" charset="0"/>
                <a:cs typeface="NimbusRomNo9L"/>
              </a:rPr>
              <a:t>4</a:t>
            </a:r>
            <a:r>
              <a:rPr lang="de-DE" sz="1800" b="1" u="sng" dirty="0">
                <a:latin typeface="Calibri" panose="020F0502020204030204" pitchFamily="34" charset="0"/>
                <a:ea typeface="Calibri" panose="020F0502020204030204" pitchFamily="34" charset="0"/>
                <a:cs typeface="NimbusRomNo9L"/>
              </a:rPr>
              <a:t> * 8 Bit </a:t>
            </a:r>
          </a:p>
          <a:p>
            <a:pPr>
              <a:lnSpc>
                <a:spcPct val="115000"/>
              </a:lnSpc>
              <a:spcAft>
                <a:spcPts val="0"/>
              </a:spcAft>
            </a:pPr>
            <a:r>
              <a:rPr lang="de-DE" sz="1800" b="1" dirty="0">
                <a:latin typeface="Calibri" panose="020F0502020204030204" pitchFamily="34" charset="0"/>
                <a:ea typeface="Calibri" panose="020F0502020204030204" pitchFamily="34" charset="0"/>
                <a:cs typeface="NimbusRomNo9L"/>
              </a:rPr>
              <a:t>1 </a:t>
            </a:r>
            <a:r>
              <a:rPr lang="de-DE" sz="1800" b="1" dirty="0" err="1">
                <a:latin typeface="Calibri" panose="020F0502020204030204" pitchFamily="34" charset="0"/>
                <a:ea typeface="Calibri" panose="020F0502020204030204" pitchFamily="34" charset="0"/>
                <a:cs typeface="NimbusRomNo9L"/>
              </a:rPr>
              <a:t>Gb</a:t>
            </a:r>
            <a:r>
              <a:rPr lang="de-DE" sz="1800" b="1" dirty="0">
                <a:latin typeface="Calibri" panose="020F0502020204030204" pitchFamily="34" charset="0"/>
                <a:ea typeface="Calibri" panose="020F0502020204030204" pitchFamily="34" charset="0"/>
                <a:cs typeface="NimbusRomNo9L"/>
              </a:rPr>
              <a:t>/s * 1000³</a:t>
            </a:r>
          </a:p>
        </p:txBody>
      </p:sp>
      <p:sp>
        <p:nvSpPr>
          <p:cNvPr id="12" name="Textfeld 11">
            <a:extLst>
              <a:ext uri="{FF2B5EF4-FFF2-40B4-BE49-F238E27FC236}">
                <a16:creationId xmlns:a16="http://schemas.microsoft.com/office/drawing/2014/main" id="{89B954F0-35F1-7693-8C8D-31EC9FFC1EC1}"/>
              </a:ext>
            </a:extLst>
          </p:cNvPr>
          <p:cNvSpPr txBox="1"/>
          <p:nvPr/>
        </p:nvSpPr>
        <p:spPr>
          <a:xfrm>
            <a:off x="855617" y="3244334"/>
            <a:ext cx="1922578" cy="369332"/>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de-DE" dirty="0"/>
              <a:t>6012,95 Sekunden</a:t>
            </a:r>
          </a:p>
        </p:txBody>
      </p:sp>
      <p:sp>
        <p:nvSpPr>
          <p:cNvPr id="13" name="Textfeld 12">
            <a:extLst>
              <a:ext uri="{FF2B5EF4-FFF2-40B4-BE49-F238E27FC236}">
                <a16:creationId xmlns:a16="http://schemas.microsoft.com/office/drawing/2014/main" id="{6B2CA214-11C2-248F-6781-B8405C96A1EB}"/>
              </a:ext>
            </a:extLst>
          </p:cNvPr>
          <p:cNvSpPr txBox="1"/>
          <p:nvPr/>
        </p:nvSpPr>
        <p:spPr>
          <a:xfrm>
            <a:off x="4123508" y="3244334"/>
            <a:ext cx="1571520" cy="369332"/>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de-DE" dirty="0"/>
              <a:t>5,87 Sekunden</a:t>
            </a:r>
          </a:p>
        </p:txBody>
      </p:sp>
      <p:sp>
        <p:nvSpPr>
          <p:cNvPr id="14" name="Textfeld 13">
            <a:extLst>
              <a:ext uri="{FF2B5EF4-FFF2-40B4-BE49-F238E27FC236}">
                <a16:creationId xmlns:a16="http://schemas.microsoft.com/office/drawing/2014/main" id="{789C1031-E104-480E-C7AB-9C91E4CDD5A3}"/>
              </a:ext>
            </a:extLst>
          </p:cNvPr>
          <p:cNvSpPr txBox="1"/>
          <p:nvPr/>
        </p:nvSpPr>
        <p:spPr>
          <a:xfrm>
            <a:off x="7310845" y="3244334"/>
            <a:ext cx="2389052" cy="369332"/>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de-DE" dirty="0"/>
              <a:t>6.157.265,12 Sekunden</a:t>
            </a:r>
          </a:p>
        </p:txBody>
      </p:sp>
      <p:sp>
        <p:nvSpPr>
          <p:cNvPr id="15" name="Textfeld 14">
            <a:extLst>
              <a:ext uri="{FF2B5EF4-FFF2-40B4-BE49-F238E27FC236}">
                <a16:creationId xmlns:a16="http://schemas.microsoft.com/office/drawing/2014/main" id="{B3122FA1-9EE3-191D-02A4-E01AB71A625A}"/>
              </a:ext>
            </a:extLst>
          </p:cNvPr>
          <p:cNvSpPr txBox="1"/>
          <p:nvPr/>
        </p:nvSpPr>
        <p:spPr>
          <a:xfrm>
            <a:off x="955766" y="5066196"/>
            <a:ext cx="2097305" cy="369332"/>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de-DE" dirty="0"/>
              <a:t>60.129,54 Sekunden</a:t>
            </a:r>
          </a:p>
        </p:txBody>
      </p:sp>
      <p:sp>
        <p:nvSpPr>
          <p:cNvPr id="16" name="Textfeld 15">
            <a:extLst>
              <a:ext uri="{FF2B5EF4-FFF2-40B4-BE49-F238E27FC236}">
                <a16:creationId xmlns:a16="http://schemas.microsoft.com/office/drawing/2014/main" id="{6A719D94-C81B-BAED-19F2-52A98C5DCFBF}"/>
              </a:ext>
            </a:extLst>
          </p:cNvPr>
          <p:cNvSpPr txBox="1"/>
          <p:nvPr/>
        </p:nvSpPr>
        <p:spPr>
          <a:xfrm>
            <a:off x="4223657" y="5066196"/>
            <a:ext cx="1688539" cy="369332"/>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de-DE" dirty="0"/>
              <a:t>58,72 Sekunden</a:t>
            </a:r>
          </a:p>
        </p:txBody>
      </p:sp>
      <p:sp>
        <p:nvSpPr>
          <p:cNvPr id="17" name="Textfeld 16">
            <a:extLst>
              <a:ext uri="{FF2B5EF4-FFF2-40B4-BE49-F238E27FC236}">
                <a16:creationId xmlns:a16="http://schemas.microsoft.com/office/drawing/2014/main" id="{0D39FFEB-F26C-9648-72B0-9B1B980CC5F9}"/>
              </a:ext>
            </a:extLst>
          </p:cNvPr>
          <p:cNvSpPr txBox="1"/>
          <p:nvPr/>
        </p:nvSpPr>
        <p:spPr>
          <a:xfrm>
            <a:off x="7410994" y="5066196"/>
            <a:ext cx="2506071" cy="369332"/>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de-DE" dirty="0"/>
              <a:t>61.572.651,16 Sekunden</a:t>
            </a:r>
          </a:p>
        </p:txBody>
      </p:sp>
    </p:spTree>
    <p:extLst>
      <p:ext uri="{BB962C8B-B14F-4D97-AF65-F5344CB8AC3E}">
        <p14:creationId xmlns:p14="http://schemas.microsoft.com/office/powerpoint/2010/main" val="268232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a:xfrm>
            <a:off x="366345" y="197670"/>
            <a:ext cx="11547231" cy="2003625"/>
          </a:xfrm>
          <a:prstGeom prst="rect">
            <a:avLst/>
          </a:prstGeom>
        </p:spPr>
        <p:txBody>
          <a:bodyPr wrap="square">
            <a:spAutoFit/>
          </a:bodyPr>
          <a:lstStyle/>
          <a:p>
            <a:pPr>
              <a:lnSpc>
                <a:spcPct val="115000"/>
              </a:lnSpc>
              <a:spcAft>
                <a:spcPts val="0"/>
              </a:spcAft>
            </a:pPr>
            <a:r>
              <a:rPr lang="de-DE" b="1" dirty="0">
                <a:solidFill>
                  <a:srgbClr val="000000"/>
                </a:solidFill>
                <a:latin typeface="Calibri" panose="020F0502020204030204" pitchFamily="34" charset="0"/>
                <a:ea typeface="Calibri" panose="020F0502020204030204" pitchFamily="34" charset="0"/>
                <a:cs typeface="NimbusRomNo9L"/>
              </a:rPr>
              <a:t>1) Die IT-Revolution AG soll für die </a:t>
            </a:r>
            <a:r>
              <a:rPr lang="de-DE" b="1" dirty="0" err="1">
                <a:solidFill>
                  <a:srgbClr val="000000"/>
                </a:solidFill>
                <a:latin typeface="Calibri" panose="020F0502020204030204" pitchFamily="34" charset="0"/>
                <a:ea typeface="Calibri" panose="020F0502020204030204" pitchFamily="34" charset="0"/>
                <a:cs typeface="NimbusRomNo9L"/>
              </a:rPr>
              <a:t>TeNi</a:t>
            </a:r>
            <a:r>
              <a:rPr lang="de-DE" b="1" dirty="0">
                <a:solidFill>
                  <a:srgbClr val="000000"/>
                </a:solidFill>
                <a:latin typeface="Calibri" panose="020F0502020204030204" pitchFamily="34" charset="0"/>
                <a:ea typeface="Calibri" panose="020F0502020204030204" pitchFamily="34" charset="0"/>
                <a:cs typeface="NimbusRomNo9L"/>
              </a:rPr>
              <a:t> GmbH eine Datensicherung konzipieren.</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b="1" dirty="0">
                <a:solidFill>
                  <a:srgbClr val="000000"/>
                </a:solidFill>
                <a:latin typeface="Calibri" panose="020F0502020204030204" pitchFamily="34" charset="0"/>
                <a:ea typeface="Calibri" panose="020F0502020204030204" pitchFamily="34" charset="0"/>
                <a:cs typeface="NimbusRomNo9L"/>
              </a:rPr>
              <a:t>Die Daten der Filialen Hamburg und Frankfurt sollen auf einem Backup-Server in der Zentrale in Köln gesichert werden.</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dirty="0">
                <a:solidFill>
                  <a:srgbClr val="000000"/>
                </a:solidFill>
                <a:latin typeface="Calibri" panose="020F0502020204030204" pitchFamily="34" charset="0"/>
                <a:ea typeface="Calibri" panose="020F0502020204030204" pitchFamily="34" charset="0"/>
                <a:cs typeface="NimbusRomNo9L"/>
              </a:rPr>
              <a:t>a) Über die zur Verfügung stehende Netzwerkverbindung (1 </a:t>
            </a:r>
            <a:r>
              <a:rPr lang="de-DE" dirty="0" err="1">
                <a:solidFill>
                  <a:srgbClr val="000000"/>
                </a:solidFill>
                <a:latin typeface="Calibri" panose="020F0502020204030204" pitchFamily="34" charset="0"/>
                <a:ea typeface="Calibri" panose="020F0502020204030204" pitchFamily="34" charset="0"/>
                <a:cs typeface="NimbusRomNo9L"/>
              </a:rPr>
              <a:t>Gb</a:t>
            </a:r>
            <a:r>
              <a:rPr lang="de-DE" dirty="0">
                <a:solidFill>
                  <a:srgbClr val="000000"/>
                </a:solidFill>
                <a:latin typeface="Calibri" panose="020F0502020204030204" pitchFamily="34" charset="0"/>
                <a:ea typeface="Calibri" panose="020F0502020204030204" pitchFamily="34" charset="0"/>
                <a:cs typeface="NimbusRomNo9L"/>
              </a:rPr>
              <a:t>/s) soll einmal pro Woche ein Voll-Backup erfolgen. Die zu</a:t>
            </a:r>
            <a:r>
              <a:rPr lang="de-DE" dirty="0">
                <a:latin typeface="Calibri" panose="020F0502020204030204" pitchFamily="34" charset="0"/>
                <a:ea typeface="Calibri" panose="020F0502020204030204" pitchFamily="34" charset="0"/>
                <a:cs typeface="Times New Roman" panose="02020603050405020304" pitchFamily="18" charset="0"/>
              </a:rPr>
              <a:t> </a:t>
            </a:r>
            <a:r>
              <a:rPr lang="de-DE" dirty="0">
                <a:solidFill>
                  <a:srgbClr val="000000"/>
                </a:solidFill>
                <a:latin typeface="Calibri" panose="020F0502020204030204" pitchFamily="34" charset="0"/>
                <a:ea typeface="Calibri" panose="020F0502020204030204" pitchFamily="34" charset="0"/>
                <a:cs typeface="NimbusRomNo9L"/>
              </a:rPr>
              <a:t>sichernde Datenmenge beträgt maximal 700 </a:t>
            </a:r>
            <a:r>
              <a:rPr lang="de-DE" dirty="0" err="1">
                <a:solidFill>
                  <a:srgbClr val="000000"/>
                </a:solidFill>
                <a:latin typeface="Calibri" panose="020F0502020204030204" pitchFamily="34" charset="0"/>
                <a:ea typeface="Calibri" panose="020F0502020204030204" pitchFamily="34" charset="0"/>
                <a:cs typeface="NimbusRomNo9L"/>
              </a:rPr>
              <a:t>GiByte</a:t>
            </a:r>
            <a:r>
              <a:rPr lang="de-DE" dirty="0">
                <a:solidFill>
                  <a:srgbClr val="000000"/>
                </a:solidFill>
                <a:latin typeface="Calibri" panose="020F0502020204030204" pitchFamily="34" charset="0"/>
                <a:ea typeface="Calibri" panose="020F0502020204030204" pitchFamily="34" charset="0"/>
                <a:cs typeface="NimbusRomNo9L"/>
              </a:rPr>
              <a:t>. Es stehen 25 % der Datenübertragungsrate zur Verfügung.</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dirty="0">
                <a:solidFill>
                  <a:srgbClr val="000000"/>
                </a:solidFill>
                <a:latin typeface="Calibri" panose="020F0502020204030204" pitchFamily="34" charset="0"/>
                <a:ea typeface="Calibri" panose="020F0502020204030204" pitchFamily="34" charset="0"/>
                <a:cs typeface="NimbusRomNo9L"/>
              </a:rPr>
              <a:t>Berechnen Sie die maximale Übertragungszeit in Stunden und Minuten.</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dirty="0">
                <a:solidFill>
                  <a:srgbClr val="000000"/>
                </a:solidFill>
                <a:latin typeface="Calibri" panose="020F0502020204030204" pitchFamily="34" charset="0"/>
                <a:ea typeface="Calibri" panose="020F0502020204030204" pitchFamily="34" charset="0"/>
                <a:cs typeface="NimbusRomNo9L"/>
              </a:rPr>
              <a:t>Der Rechenweg ist anzugeben.</a:t>
            </a:r>
            <a:endParaRPr lang="de-DE"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hteck 2"/>
          <p:cNvSpPr/>
          <p:nvPr/>
        </p:nvSpPr>
        <p:spPr>
          <a:xfrm>
            <a:off x="6096000" y="3508109"/>
            <a:ext cx="6096000" cy="3349891"/>
          </a:xfrm>
          <a:prstGeom prst="rect">
            <a:avLst/>
          </a:prstGeom>
          <a:solidFill>
            <a:schemeClr val="tx1">
              <a:lumMod val="65000"/>
              <a:lumOff val="35000"/>
            </a:schemeClr>
          </a:solidFill>
        </p:spPr>
        <p:txBody>
          <a:bodyPr>
            <a:spAutoFit/>
          </a:bodyPr>
          <a:lstStyle/>
          <a:p>
            <a:pPr>
              <a:lnSpc>
                <a:spcPct val="115000"/>
              </a:lnSpc>
              <a:spcAft>
                <a:spcPts val="1000"/>
              </a:spcAft>
            </a:pPr>
            <a:r>
              <a:rPr lang="de-DE" b="1" dirty="0">
                <a:solidFill>
                  <a:schemeClr val="bg1"/>
                </a:solidFill>
                <a:latin typeface="Calibri" panose="020F0502020204030204" pitchFamily="34" charset="0"/>
                <a:ea typeface="Calibri" panose="020F0502020204030204" pitchFamily="34" charset="0"/>
                <a:cs typeface="Times New Roman" panose="02020603050405020304" pitchFamily="18" charset="0"/>
              </a:rPr>
              <a:t>Lösung:</a:t>
            </a:r>
            <a:endParaRPr lang="de-DE"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sz="2000" b="1" dirty="0">
                <a:solidFill>
                  <a:srgbClr val="FFFF00"/>
                </a:solidFill>
                <a:latin typeface="Calibri" panose="020F0502020204030204" pitchFamily="34" charset="0"/>
                <a:ea typeface="Calibri" panose="020F0502020204030204" pitchFamily="34" charset="0"/>
                <a:cs typeface="NimbusRomNo9L"/>
              </a:rPr>
              <a:t>6 h 41 min</a:t>
            </a:r>
          </a:p>
          <a:p>
            <a:pPr>
              <a:lnSpc>
                <a:spcPct val="115000"/>
              </a:lnSpc>
              <a:spcAft>
                <a:spcPts val="0"/>
              </a:spcAft>
            </a:pPr>
            <a:endParaRPr lang="de-DE" sz="2000" b="1" dirty="0">
              <a:solidFill>
                <a:schemeClr val="bg1"/>
              </a:solidFill>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sz="2000" b="1" u="sng" dirty="0">
                <a:solidFill>
                  <a:schemeClr val="bg1"/>
                </a:solidFill>
                <a:latin typeface="Calibri" panose="020F0502020204030204" pitchFamily="34" charset="0"/>
                <a:ea typeface="Calibri" panose="020F0502020204030204" pitchFamily="34" charset="0"/>
                <a:cs typeface="NimbusRomNo9L"/>
              </a:rPr>
              <a:t>700 </a:t>
            </a:r>
            <a:r>
              <a:rPr lang="de-DE" sz="2000" b="1" u="sng" dirty="0" err="1">
                <a:solidFill>
                  <a:schemeClr val="bg1"/>
                </a:solidFill>
                <a:latin typeface="Calibri" panose="020F0502020204030204" pitchFamily="34" charset="0"/>
                <a:ea typeface="Calibri" panose="020F0502020204030204" pitchFamily="34" charset="0"/>
                <a:cs typeface="NimbusRomNo9L"/>
              </a:rPr>
              <a:t>GiByte</a:t>
            </a:r>
            <a:r>
              <a:rPr lang="de-DE" sz="2000" b="1" u="sng" dirty="0">
                <a:solidFill>
                  <a:schemeClr val="bg1"/>
                </a:solidFill>
                <a:latin typeface="Calibri" panose="020F0502020204030204" pitchFamily="34" charset="0"/>
                <a:ea typeface="Calibri" panose="020F0502020204030204" pitchFamily="34" charset="0"/>
                <a:cs typeface="NimbusRomNo9L"/>
              </a:rPr>
              <a:t> * 1024³ * 8 Bit </a:t>
            </a:r>
          </a:p>
          <a:p>
            <a:pPr>
              <a:lnSpc>
                <a:spcPct val="115000"/>
              </a:lnSpc>
              <a:spcAft>
                <a:spcPts val="0"/>
              </a:spcAft>
            </a:pPr>
            <a:r>
              <a:rPr lang="de-DE" sz="2000" b="1" dirty="0">
                <a:solidFill>
                  <a:schemeClr val="bg1"/>
                </a:solidFill>
                <a:latin typeface="Calibri" panose="020F0502020204030204" pitchFamily="34" charset="0"/>
                <a:ea typeface="Calibri" panose="020F0502020204030204" pitchFamily="34" charset="0"/>
                <a:cs typeface="NimbusRomNo9L"/>
              </a:rPr>
              <a:t>1 </a:t>
            </a:r>
            <a:r>
              <a:rPr lang="de-DE" sz="2000" b="1" dirty="0" err="1">
                <a:solidFill>
                  <a:schemeClr val="bg1"/>
                </a:solidFill>
                <a:latin typeface="Calibri" panose="020F0502020204030204" pitchFamily="34" charset="0"/>
                <a:ea typeface="Calibri" panose="020F0502020204030204" pitchFamily="34" charset="0"/>
                <a:cs typeface="NimbusRomNo9L"/>
              </a:rPr>
              <a:t>Gb</a:t>
            </a:r>
            <a:r>
              <a:rPr lang="de-DE" sz="2000" b="1" dirty="0">
                <a:solidFill>
                  <a:schemeClr val="bg1"/>
                </a:solidFill>
                <a:latin typeface="Calibri" panose="020F0502020204030204" pitchFamily="34" charset="0"/>
                <a:ea typeface="Calibri" panose="020F0502020204030204" pitchFamily="34" charset="0"/>
                <a:cs typeface="NimbusRomNo9L"/>
              </a:rPr>
              <a:t>/s * 0,25 * 1000³</a:t>
            </a:r>
          </a:p>
          <a:p>
            <a:pPr>
              <a:lnSpc>
                <a:spcPct val="115000"/>
              </a:lnSpc>
              <a:spcAft>
                <a:spcPts val="0"/>
              </a:spcAft>
            </a:pPr>
            <a:endParaRPr lang="de-DE" sz="2000" b="1" dirty="0">
              <a:solidFill>
                <a:schemeClr val="bg1"/>
              </a:solidFill>
              <a:latin typeface="Calibri" panose="020F0502020204030204" pitchFamily="34" charset="0"/>
              <a:ea typeface="Calibri" panose="020F0502020204030204" pitchFamily="34" charset="0"/>
              <a:cs typeface="NimbusRomNo9L"/>
            </a:endParaRPr>
          </a:p>
          <a:p>
            <a:pPr>
              <a:lnSpc>
                <a:spcPct val="115000"/>
              </a:lnSpc>
            </a:pPr>
            <a:r>
              <a:rPr lang="de-DE" sz="2000" b="1" dirty="0">
                <a:solidFill>
                  <a:schemeClr val="bg1"/>
                </a:solidFill>
                <a:latin typeface="Calibri" panose="020F0502020204030204" pitchFamily="34" charset="0"/>
                <a:ea typeface="Calibri" panose="020F0502020204030204" pitchFamily="34" charset="0"/>
                <a:cs typeface="NimbusRomNo9L"/>
              </a:rPr>
              <a:t>24.051,81 s / 60 = 400,86 min</a:t>
            </a:r>
            <a:endParaRPr lang="de-DE" sz="2000" b="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sz="2000" b="1" dirty="0">
                <a:solidFill>
                  <a:schemeClr val="bg1"/>
                </a:solidFill>
                <a:latin typeface="Calibri" panose="020F0502020204030204" pitchFamily="34" charset="0"/>
                <a:ea typeface="Calibri" panose="020F0502020204030204" pitchFamily="34" charset="0"/>
                <a:cs typeface="NimbusRomNo9L"/>
              </a:rPr>
              <a:t>401 min/60 = 6,68 h</a:t>
            </a:r>
            <a:endParaRPr lang="de-DE" sz="2000" b="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de-DE" sz="2000" b="1" dirty="0">
                <a:solidFill>
                  <a:schemeClr val="bg1"/>
                </a:solidFill>
                <a:latin typeface="Calibri" panose="020F0502020204030204" pitchFamily="34" charset="0"/>
                <a:ea typeface="Calibri" panose="020F0502020204030204" pitchFamily="34" charset="0"/>
                <a:cs typeface="NimbusRomNo9L"/>
              </a:rPr>
              <a:t>0,68 h *60 = 40,86 Min -&gt; 41 min</a:t>
            </a:r>
            <a:endParaRPr lang="de-DE" sz="2000" b="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feld 4">
            <a:extLst>
              <a:ext uri="{FF2B5EF4-FFF2-40B4-BE49-F238E27FC236}">
                <a16:creationId xmlns:a16="http://schemas.microsoft.com/office/drawing/2014/main" id="{4DD3C0F9-CDE1-4036-B9C9-E8C00D950147}"/>
              </a:ext>
            </a:extLst>
          </p:cNvPr>
          <p:cNvSpPr txBox="1"/>
          <p:nvPr/>
        </p:nvSpPr>
        <p:spPr>
          <a:xfrm>
            <a:off x="3616569" y="3970157"/>
            <a:ext cx="6096000" cy="392159"/>
          </a:xfrm>
          <a:prstGeom prst="rect">
            <a:avLst/>
          </a:prstGeom>
          <a:noFill/>
        </p:spPr>
        <p:txBody>
          <a:bodyPr wrap="square">
            <a:spAutoFit/>
          </a:bodyPr>
          <a:lstStyle/>
          <a:p>
            <a:pPr>
              <a:lnSpc>
                <a:spcPct val="115000"/>
              </a:lnSpc>
              <a:spcAft>
                <a:spcPts val="0"/>
              </a:spcAft>
            </a:pPr>
            <a:r>
              <a:rPr lang="de-DE" sz="1800" b="1" i="1" dirty="0">
                <a:solidFill>
                  <a:schemeClr val="bg1"/>
                </a:solidFill>
                <a:latin typeface="Calibri" panose="020F0502020204030204" pitchFamily="34" charset="0"/>
                <a:ea typeface="Calibri" panose="020F0502020204030204" pitchFamily="34" charset="0"/>
                <a:cs typeface="NimbusRomNo9L"/>
              </a:rPr>
              <a:t>= 24.051,81 s </a:t>
            </a:r>
          </a:p>
        </p:txBody>
      </p:sp>
    </p:spTree>
    <p:extLst>
      <p:ext uri="{BB962C8B-B14F-4D97-AF65-F5344CB8AC3E}">
        <p14:creationId xmlns:p14="http://schemas.microsoft.com/office/powerpoint/2010/main" val="1618803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p:cNvPicPr>
            <a:picLocks noChangeAspect="1"/>
          </p:cNvPicPr>
          <p:nvPr/>
        </p:nvPicPr>
        <p:blipFill>
          <a:blip r:embed="rId3" cstate="print"/>
          <a:stretch>
            <a:fillRect/>
          </a:stretch>
        </p:blipFill>
        <p:spPr>
          <a:xfrm>
            <a:off x="307138" y="957263"/>
            <a:ext cx="11655895" cy="1577081"/>
          </a:xfrm>
          <a:prstGeom prst="rect">
            <a:avLst/>
          </a:prstGeom>
        </p:spPr>
      </p:pic>
      <p:sp>
        <p:nvSpPr>
          <p:cNvPr id="4" name="Textfeld 3">
            <a:extLst>
              <a:ext uri="{FF2B5EF4-FFF2-40B4-BE49-F238E27FC236}">
                <a16:creationId xmlns:a16="http://schemas.microsoft.com/office/drawing/2014/main" id="{B66C33A7-324C-4C08-BB56-EA058EDE8205}"/>
              </a:ext>
            </a:extLst>
          </p:cNvPr>
          <p:cNvSpPr txBox="1"/>
          <p:nvPr/>
        </p:nvSpPr>
        <p:spPr>
          <a:xfrm>
            <a:off x="609599" y="3446494"/>
            <a:ext cx="10863533" cy="1908215"/>
          </a:xfrm>
          <a:prstGeom prst="rect">
            <a:avLst/>
          </a:prstGeom>
          <a:noFill/>
        </p:spPr>
        <p:txBody>
          <a:bodyPr wrap="square" rtlCol="0">
            <a:spAutoFit/>
          </a:bodyPr>
          <a:lstStyle/>
          <a:p>
            <a:r>
              <a:rPr lang="de-DE" sz="2000" b="1" dirty="0">
                <a:solidFill>
                  <a:srgbClr val="FF0000"/>
                </a:solidFill>
              </a:rPr>
              <a:t>5 </a:t>
            </a:r>
            <a:r>
              <a:rPr lang="de-DE" sz="2000" b="1" dirty="0" err="1">
                <a:solidFill>
                  <a:srgbClr val="FF0000"/>
                </a:solidFill>
              </a:rPr>
              <a:t>GiB</a:t>
            </a:r>
            <a:r>
              <a:rPr lang="de-DE" sz="2000" b="1" dirty="0">
                <a:solidFill>
                  <a:srgbClr val="FF0000"/>
                </a:solidFill>
              </a:rPr>
              <a:t> * 1024³ * 8</a:t>
            </a:r>
          </a:p>
          <a:p>
            <a:r>
              <a:rPr lang="de-DE" sz="2000" b="1" baseline="-25000" dirty="0">
                <a:solidFill>
                  <a:srgbClr val="FF0000"/>
                </a:solidFill>
              </a:rPr>
              <a:t>----------------------------------------------  = </a:t>
            </a:r>
            <a:r>
              <a:rPr lang="de-DE" sz="2000" b="1" dirty="0">
                <a:solidFill>
                  <a:srgbClr val="FF0000"/>
                </a:solidFill>
              </a:rPr>
              <a:t> 143,17 Sekunden (5 * 1024³ * 8) : (1000 * 0,3 * 1000²)</a:t>
            </a:r>
          </a:p>
          <a:p>
            <a:r>
              <a:rPr lang="de-DE" sz="2000" b="1" dirty="0">
                <a:solidFill>
                  <a:srgbClr val="FF0000"/>
                </a:solidFill>
              </a:rPr>
              <a:t>1000Mb * 0,3 * 1000² </a:t>
            </a:r>
          </a:p>
          <a:p>
            <a:endParaRPr lang="de-DE" sz="2000" b="1" dirty="0">
              <a:solidFill>
                <a:srgbClr val="FF0000"/>
              </a:solidFill>
            </a:endParaRPr>
          </a:p>
          <a:p>
            <a:r>
              <a:rPr lang="de-DE" sz="2000" b="1" dirty="0">
                <a:solidFill>
                  <a:srgbClr val="FF0000"/>
                </a:solidFill>
                <a:highlight>
                  <a:srgbClr val="FFFF00"/>
                </a:highlight>
              </a:rPr>
              <a:t>Aufgerundet:  </a:t>
            </a:r>
            <a:r>
              <a:rPr lang="de-DE" sz="2000" b="1" u="sng" dirty="0">
                <a:solidFill>
                  <a:srgbClr val="FF0000"/>
                </a:solidFill>
                <a:highlight>
                  <a:srgbClr val="FFFF00"/>
                </a:highlight>
              </a:rPr>
              <a:t>144 Sekunden</a:t>
            </a:r>
          </a:p>
          <a:p>
            <a:endParaRPr lang="de-DE" dirty="0"/>
          </a:p>
        </p:txBody>
      </p:sp>
    </p:spTree>
    <p:extLst>
      <p:ext uri="{BB962C8B-B14F-4D97-AF65-F5344CB8AC3E}">
        <p14:creationId xmlns:p14="http://schemas.microsoft.com/office/powerpoint/2010/main" val="596830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Quellbild anzeigen">
            <a:extLst>
              <a:ext uri="{FF2B5EF4-FFF2-40B4-BE49-F238E27FC236}">
                <a16:creationId xmlns:a16="http://schemas.microsoft.com/office/drawing/2014/main" id="{BDCC2F57-6D4D-3E4E-9D14-7EBFAA6E25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4125" y="195263"/>
            <a:ext cx="7143750" cy="6467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4802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BC2B6D6E-DF6A-418B-A2B6-D51C73D85CF8}"/>
              </a:ext>
            </a:extLst>
          </p:cNvPr>
          <p:cNvPicPr>
            <a:picLocks noChangeAspect="1"/>
          </p:cNvPicPr>
          <p:nvPr/>
        </p:nvPicPr>
        <p:blipFill rotWithShape="1">
          <a:blip r:embed="rId2"/>
          <a:srcRect t="34035" b="46980"/>
          <a:stretch/>
        </p:blipFill>
        <p:spPr>
          <a:xfrm>
            <a:off x="312057" y="101600"/>
            <a:ext cx="10336984" cy="1290782"/>
          </a:xfrm>
          <a:prstGeom prst="rect">
            <a:avLst/>
          </a:prstGeom>
        </p:spPr>
      </p:pic>
      <p:pic>
        <p:nvPicPr>
          <p:cNvPr id="4" name="Grafik 3">
            <a:extLst>
              <a:ext uri="{FF2B5EF4-FFF2-40B4-BE49-F238E27FC236}">
                <a16:creationId xmlns:a16="http://schemas.microsoft.com/office/drawing/2014/main" id="{35697E11-CD4A-472C-8EF8-7BED0A17655E}"/>
              </a:ext>
            </a:extLst>
          </p:cNvPr>
          <p:cNvPicPr>
            <a:picLocks noChangeAspect="1"/>
          </p:cNvPicPr>
          <p:nvPr/>
        </p:nvPicPr>
        <p:blipFill rotWithShape="1">
          <a:blip r:embed="rId2"/>
          <a:srcRect t="65416"/>
          <a:stretch/>
        </p:blipFill>
        <p:spPr>
          <a:xfrm>
            <a:off x="532191" y="2821819"/>
            <a:ext cx="10336984" cy="2351314"/>
          </a:xfrm>
          <a:prstGeom prst="rect">
            <a:avLst/>
          </a:prstGeom>
        </p:spPr>
      </p:pic>
    </p:spTree>
    <p:extLst>
      <p:ext uri="{BB962C8B-B14F-4D97-AF65-F5344CB8AC3E}">
        <p14:creationId xmlns:p14="http://schemas.microsoft.com/office/powerpoint/2010/main" val="1342642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a:xfrm>
            <a:off x="243253" y="109747"/>
            <a:ext cx="11626361" cy="2322174"/>
          </a:xfrm>
          <a:prstGeom prst="rect">
            <a:avLst/>
          </a:prstGeom>
        </p:spPr>
        <p:txBody>
          <a:bodyPr wrap="square">
            <a:spAutoFit/>
          </a:bodyPr>
          <a:lstStyle/>
          <a:p>
            <a:pPr>
              <a:lnSpc>
                <a:spcPct val="115000"/>
              </a:lnSpc>
              <a:spcAft>
                <a:spcPts val="0"/>
              </a:spcAft>
            </a:pPr>
            <a:r>
              <a:rPr lang="de-DE" dirty="0">
                <a:solidFill>
                  <a:srgbClr val="070707"/>
                </a:solidFill>
                <a:latin typeface="Calibri" panose="020F0502020204030204" pitchFamily="34" charset="0"/>
                <a:ea typeface="Calibri" panose="020F0502020204030204" pitchFamily="34" charset="0"/>
                <a:cs typeface="Times New Roman" panose="02020603050405020304" pitchFamily="18" charset="0"/>
              </a:rPr>
              <a:t>2) Es soll ein 2 Gbit/s FC-SAN eingerichtet werden. Die Daten des FC-SAN sollen über ein externes System gesichert werden.</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dirty="0">
                <a:solidFill>
                  <a:srgbClr val="070707"/>
                </a:solidFill>
                <a:latin typeface="Calibri" panose="020F0502020204030204" pitchFamily="34" charset="0"/>
                <a:ea typeface="Calibri" panose="020F0502020204030204" pitchFamily="34" charset="0"/>
                <a:cs typeface="Times New Roman" panose="02020603050405020304" pitchFamily="18" charset="0"/>
              </a:rPr>
              <a:t> </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dirty="0">
                <a:solidFill>
                  <a:srgbClr val="070707"/>
                </a:solidFill>
                <a:latin typeface="Calibri" panose="020F0502020204030204" pitchFamily="34" charset="0"/>
                <a:ea typeface="Calibri" panose="020F0502020204030204" pitchFamily="34" charset="0"/>
                <a:cs typeface="Times New Roman" panose="02020603050405020304" pitchFamily="18" charset="0"/>
              </a:rPr>
              <a:t>- Der aktuelle Datenbestand beträgt 4 </a:t>
            </a:r>
            <a:r>
              <a:rPr lang="de-DE" dirty="0" err="1">
                <a:solidFill>
                  <a:srgbClr val="070707"/>
                </a:solidFill>
                <a:latin typeface="Calibri" panose="020F0502020204030204" pitchFamily="34" charset="0"/>
                <a:ea typeface="Calibri" panose="020F0502020204030204" pitchFamily="34" charset="0"/>
                <a:cs typeface="Times New Roman" panose="02020603050405020304" pitchFamily="18" charset="0"/>
              </a:rPr>
              <a:t>TiByte</a:t>
            </a:r>
            <a:r>
              <a:rPr lang="de-DE" dirty="0">
                <a:solidFill>
                  <a:srgbClr val="070707"/>
                </a:solidFill>
                <a:latin typeface="Calibri" panose="020F0502020204030204" pitchFamily="34" charset="0"/>
                <a:ea typeface="Calibri" panose="020F0502020204030204" pitchFamily="34" charset="0"/>
                <a:cs typeface="Times New Roman" panose="02020603050405020304" pitchFamily="18" charset="0"/>
              </a:rPr>
              <a:t>. </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dirty="0">
                <a:solidFill>
                  <a:srgbClr val="070707"/>
                </a:solidFill>
                <a:latin typeface="Calibri" panose="020F0502020204030204" pitchFamily="34" charset="0"/>
                <a:ea typeface="Calibri" panose="020F0502020204030204" pitchFamily="34" charset="0"/>
                <a:cs typeface="Times New Roman" panose="02020603050405020304" pitchFamily="18" charset="0"/>
              </a:rPr>
              <a:t>- Die Daten sollen über das FC-Netzwerk auf das Datensicherungssystem übertragen werden.</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dirty="0">
                <a:solidFill>
                  <a:srgbClr val="080808"/>
                </a:solidFill>
                <a:latin typeface="Calibri" panose="020F0502020204030204" pitchFamily="34" charset="0"/>
                <a:ea typeface="Calibri" panose="020F0502020204030204" pitchFamily="34" charset="0"/>
                <a:cs typeface="Times New Roman" panose="02020603050405020304" pitchFamily="18" charset="0"/>
              </a:rPr>
              <a:t>- Der Wirkdatendurchsatz im 2 Gbit/s FC-SAN beträgt 150 </a:t>
            </a:r>
            <a:r>
              <a:rPr lang="de-DE" dirty="0" err="1">
                <a:solidFill>
                  <a:srgbClr val="080808"/>
                </a:solidFill>
                <a:latin typeface="Calibri" panose="020F0502020204030204" pitchFamily="34" charset="0"/>
                <a:ea typeface="Calibri" panose="020F0502020204030204" pitchFamily="34" charset="0"/>
                <a:cs typeface="Times New Roman" panose="02020603050405020304" pitchFamily="18" charset="0"/>
              </a:rPr>
              <a:t>MiByte</a:t>
            </a:r>
            <a:r>
              <a:rPr lang="de-DE" dirty="0">
                <a:solidFill>
                  <a:srgbClr val="080808"/>
                </a:solidFill>
                <a:latin typeface="Calibri" panose="020F0502020204030204" pitchFamily="34" charset="0"/>
                <a:ea typeface="Calibri" panose="020F0502020204030204" pitchFamily="34" charset="0"/>
                <a:cs typeface="Times New Roman" panose="02020603050405020304" pitchFamily="18" charset="0"/>
              </a:rPr>
              <a:t>/s. </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dirty="0">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spcAft>
                <a:spcPts val="1000"/>
              </a:spcAft>
            </a:pPr>
            <a:r>
              <a:rPr lang="de-DE" dirty="0">
                <a:solidFill>
                  <a:srgbClr val="070707"/>
                </a:solidFill>
                <a:latin typeface="Calibri" panose="020F0502020204030204" pitchFamily="34" charset="0"/>
                <a:ea typeface="Calibri" panose="020F0502020204030204" pitchFamily="34" charset="0"/>
                <a:cs typeface="Times New Roman" panose="02020603050405020304" pitchFamily="18" charset="0"/>
              </a:rPr>
              <a:t>Ermitteln Sie die Datenübertragungszeit in Stunden und Minuten. (Der Rechenweg ist anzugeben.)</a:t>
            </a:r>
            <a:endParaRPr lang="de-DE"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23606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a:xfrm>
            <a:off x="243253" y="109747"/>
            <a:ext cx="11626361" cy="2322174"/>
          </a:xfrm>
          <a:prstGeom prst="rect">
            <a:avLst/>
          </a:prstGeom>
        </p:spPr>
        <p:txBody>
          <a:bodyPr wrap="square">
            <a:spAutoFit/>
          </a:bodyPr>
          <a:lstStyle/>
          <a:p>
            <a:pPr>
              <a:lnSpc>
                <a:spcPct val="115000"/>
              </a:lnSpc>
              <a:spcAft>
                <a:spcPts val="0"/>
              </a:spcAft>
            </a:pPr>
            <a:r>
              <a:rPr lang="de-DE" dirty="0">
                <a:solidFill>
                  <a:srgbClr val="070707"/>
                </a:solidFill>
                <a:latin typeface="Calibri" panose="020F0502020204030204" pitchFamily="34" charset="0"/>
                <a:ea typeface="Calibri" panose="020F0502020204030204" pitchFamily="34" charset="0"/>
                <a:cs typeface="Times New Roman" panose="02020603050405020304" pitchFamily="18" charset="0"/>
              </a:rPr>
              <a:t>2) Es soll ein 2 Gbit/s FC-SAN eingerichtet werden. Die Daten des FC-SAN sollen über ein externes System gesichert werden.</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dirty="0">
                <a:solidFill>
                  <a:srgbClr val="070707"/>
                </a:solidFill>
                <a:latin typeface="Calibri" panose="020F0502020204030204" pitchFamily="34" charset="0"/>
                <a:ea typeface="Calibri" panose="020F0502020204030204" pitchFamily="34" charset="0"/>
                <a:cs typeface="Times New Roman" panose="02020603050405020304" pitchFamily="18" charset="0"/>
              </a:rPr>
              <a:t> </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dirty="0">
                <a:solidFill>
                  <a:srgbClr val="070707"/>
                </a:solidFill>
                <a:latin typeface="Calibri" panose="020F0502020204030204" pitchFamily="34" charset="0"/>
                <a:ea typeface="Calibri" panose="020F0502020204030204" pitchFamily="34" charset="0"/>
                <a:cs typeface="Times New Roman" panose="02020603050405020304" pitchFamily="18" charset="0"/>
              </a:rPr>
              <a:t>- Der aktuelle Datenbestand beträgt 4 </a:t>
            </a:r>
            <a:r>
              <a:rPr lang="de-DE" dirty="0" err="1">
                <a:solidFill>
                  <a:srgbClr val="070707"/>
                </a:solidFill>
                <a:latin typeface="Calibri" panose="020F0502020204030204" pitchFamily="34" charset="0"/>
                <a:ea typeface="Calibri" panose="020F0502020204030204" pitchFamily="34" charset="0"/>
                <a:cs typeface="Times New Roman" panose="02020603050405020304" pitchFamily="18" charset="0"/>
              </a:rPr>
              <a:t>TiByte</a:t>
            </a:r>
            <a:r>
              <a:rPr lang="de-DE" dirty="0">
                <a:solidFill>
                  <a:srgbClr val="070707"/>
                </a:solidFill>
                <a:latin typeface="Calibri" panose="020F0502020204030204" pitchFamily="34" charset="0"/>
                <a:ea typeface="Calibri" panose="020F0502020204030204" pitchFamily="34" charset="0"/>
                <a:cs typeface="Times New Roman" panose="02020603050405020304" pitchFamily="18" charset="0"/>
              </a:rPr>
              <a:t>. </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dirty="0">
                <a:solidFill>
                  <a:srgbClr val="070707"/>
                </a:solidFill>
                <a:latin typeface="Calibri" panose="020F0502020204030204" pitchFamily="34" charset="0"/>
                <a:ea typeface="Calibri" panose="020F0502020204030204" pitchFamily="34" charset="0"/>
                <a:cs typeface="Times New Roman" panose="02020603050405020304" pitchFamily="18" charset="0"/>
              </a:rPr>
              <a:t>- Die Daten sollen über das FC-Netzwerk auf das Datensicherungssystem übertragen werden.</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dirty="0">
                <a:solidFill>
                  <a:srgbClr val="080808"/>
                </a:solidFill>
                <a:latin typeface="Calibri" panose="020F0502020204030204" pitchFamily="34" charset="0"/>
                <a:ea typeface="Calibri" panose="020F0502020204030204" pitchFamily="34" charset="0"/>
                <a:cs typeface="Times New Roman" panose="02020603050405020304" pitchFamily="18" charset="0"/>
              </a:rPr>
              <a:t>- Der Wirkdatendurchsatz im 2 Gbit/s FC-SAN beträgt 150 </a:t>
            </a:r>
            <a:r>
              <a:rPr lang="de-DE" dirty="0" err="1">
                <a:solidFill>
                  <a:srgbClr val="080808"/>
                </a:solidFill>
                <a:highlight>
                  <a:srgbClr val="FFFF00"/>
                </a:highlight>
                <a:latin typeface="Calibri" panose="020F0502020204030204" pitchFamily="34" charset="0"/>
                <a:ea typeface="Calibri" panose="020F0502020204030204" pitchFamily="34" charset="0"/>
                <a:cs typeface="Times New Roman" panose="02020603050405020304" pitchFamily="18" charset="0"/>
              </a:rPr>
              <a:t>MiByte</a:t>
            </a:r>
            <a:r>
              <a:rPr lang="de-DE" dirty="0">
                <a:solidFill>
                  <a:srgbClr val="080808"/>
                </a:solidFill>
                <a:highlight>
                  <a:srgbClr val="FFFF00"/>
                </a:highlight>
                <a:latin typeface="Calibri" panose="020F0502020204030204" pitchFamily="34" charset="0"/>
                <a:ea typeface="Calibri" panose="020F0502020204030204" pitchFamily="34" charset="0"/>
                <a:cs typeface="Times New Roman" panose="02020603050405020304" pitchFamily="18" charset="0"/>
              </a:rPr>
              <a:t>/s. </a:t>
            </a:r>
            <a:endParaRPr lang="de-DE" dirty="0">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de-DE" dirty="0">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spcAft>
                <a:spcPts val="1000"/>
              </a:spcAft>
            </a:pPr>
            <a:r>
              <a:rPr lang="de-DE" dirty="0">
                <a:solidFill>
                  <a:srgbClr val="070707"/>
                </a:solidFill>
                <a:latin typeface="Calibri" panose="020F0502020204030204" pitchFamily="34" charset="0"/>
                <a:ea typeface="Calibri" panose="020F0502020204030204" pitchFamily="34" charset="0"/>
                <a:cs typeface="Times New Roman" panose="02020603050405020304" pitchFamily="18" charset="0"/>
              </a:rPr>
              <a:t>Ermitteln Sie die Datenübertragungszeit in Stunden und Minuten. (Der Rechenweg ist anzugeben.)</a:t>
            </a:r>
            <a:endParaRPr lang="de-DE"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feld 3">
            <a:extLst>
              <a:ext uri="{FF2B5EF4-FFF2-40B4-BE49-F238E27FC236}">
                <a16:creationId xmlns:a16="http://schemas.microsoft.com/office/drawing/2014/main" id="{AB3508E3-F714-4CFE-AC25-E2BA2FF7A0BB}"/>
              </a:ext>
            </a:extLst>
          </p:cNvPr>
          <p:cNvSpPr txBox="1"/>
          <p:nvPr/>
        </p:nvSpPr>
        <p:spPr>
          <a:xfrm>
            <a:off x="492368" y="2598143"/>
            <a:ext cx="9498655" cy="4154984"/>
          </a:xfrm>
          <a:prstGeom prst="rect">
            <a:avLst/>
          </a:prstGeom>
          <a:noFill/>
        </p:spPr>
        <p:txBody>
          <a:bodyPr wrap="square" rtlCol="0">
            <a:spAutoFit/>
          </a:bodyPr>
          <a:lstStyle/>
          <a:p>
            <a:r>
              <a:rPr lang="de-DE" sz="2400" b="1" dirty="0">
                <a:solidFill>
                  <a:srgbClr val="FF0000"/>
                </a:solidFill>
              </a:rPr>
              <a:t>4 TiB * 1024⁴ * 8</a:t>
            </a:r>
          </a:p>
          <a:p>
            <a:r>
              <a:rPr lang="de-DE" sz="2400" b="1" baseline="-25000" dirty="0">
                <a:solidFill>
                  <a:srgbClr val="FF0000"/>
                </a:solidFill>
              </a:rPr>
              <a:t>-------------------------------------  =           </a:t>
            </a:r>
            <a:r>
              <a:rPr lang="de-DE" sz="2400" b="1" dirty="0">
                <a:solidFill>
                  <a:srgbClr val="FF0000"/>
                </a:solidFill>
              </a:rPr>
              <a:t>27.962 Sekunden</a:t>
            </a:r>
          </a:p>
          <a:p>
            <a:r>
              <a:rPr lang="de-DE" sz="2400" b="1" dirty="0">
                <a:solidFill>
                  <a:srgbClr val="FF0000"/>
                </a:solidFill>
              </a:rPr>
              <a:t>150 * 1024² * 8</a:t>
            </a:r>
          </a:p>
          <a:p>
            <a:endParaRPr lang="de-DE" sz="2400" b="1" dirty="0">
              <a:solidFill>
                <a:srgbClr val="FF0000"/>
              </a:solidFill>
            </a:endParaRPr>
          </a:p>
          <a:p>
            <a:r>
              <a:rPr lang="de-DE" sz="2400" b="1" dirty="0">
                <a:solidFill>
                  <a:srgbClr val="FF0000"/>
                </a:solidFill>
              </a:rPr>
              <a:t>27.962 Sekunden / 60 = 466 Minuten</a:t>
            </a:r>
          </a:p>
          <a:p>
            <a:endParaRPr lang="de-DE" sz="2400" b="1" dirty="0">
              <a:solidFill>
                <a:srgbClr val="FF0000"/>
              </a:solidFill>
            </a:endParaRPr>
          </a:p>
          <a:p>
            <a:r>
              <a:rPr lang="de-DE" sz="2400" b="1" dirty="0">
                <a:solidFill>
                  <a:srgbClr val="FF0000"/>
                </a:solidFill>
              </a:rPr>
              <a:t>466 Minuten /60 = 7,767 Stunden</a:t>
            </a:r>
          </a:p>
          <a:p>
            <a:endParaRPr lang="de-DE" sz="2400" b="1" dirty="0">
              <a:solidFill>
                <a:srgbClr val="FF0000"/>
              </a:solidFill>
            </a:endParaRPr>
          </a:p>
          <a:p>
            <a:r>
              <a:rPr lang="de-DE" sz="2400" b="1" dirty="0">
                <a:solidFill>
                  <a:srgbClr val="FF0000"/>
                </a:solidFill>
              </a:rPr>
              <a:t>60 Minuten * 0,767 = 46 Minuten</a:t>
            </a:r>
          </a:p>
          <a:p>
            <a:endParaRPr lang="de-DE" sz="2400" b="1" dirty="0">
              <a:solidFill>
                <a:srgbClr val="FF0000"/>
              </a:solidFill>
            </a:endParaRPr>
          </a:p>
          <a:p>
            <a:r>
              <a:rPr lang="de-DE" sz="2400" b="1" dirty="0">
                <a:solidFill>
                  <a:srgbClr val="FF0000"/>
                </a:solidFill>
                <a:highlight>
                  <a:srgbClr val="FFFF00"/>
                </a:highlight>
              </a:rPr>
              <a:t>Lösung: 7 Stunden und 46 Minuten (7h 47 Minuten sind auch OK)</a:t>
            </a:r>
          </a:p>
        </p:txBody>
      </p:sp>
    </p:spTree>
    <p:extLst>
      <p:ext uri="{BB962C8B-B14F-4D97-AF65-F5344CB8AC3E}">
        <p14:creationId xmlns:p14="http://schemas.microsoft.com/office/powerpoint/2010/main" val="1630132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9579"/>
            <a:ext cx="9879106" cy="67220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57850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B3D25A9C-781C-4325-980B-BFBAB16F6C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9579"/>
            <a:ext cx="4518212" cy="3074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4864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9579"/>
            <a:ext cx="7189694" cy="4892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feld 4">
            <a:extLst>
              <a:ext uri="{FF2B5EF4-FFF2-40B4-BE49-F238E27FC236}">
                <a16:creationId xmlns:a16="http://schemas.microsoft.com/office/drawing/2014/main" id="{D6F3F395-98EF-4C66-BE17-A98844DC92C8}"/>
              </a:ext>
            </a:extLst>
          </p:cNvPr>
          <p:cNvSpPr txBox="1"/>
          <p:nvPr/>
        </p:nvSpPr>
        <p:spPr>
          <a:xfrm>
            <a:off x="8024130" y="492411"/>
            <a:ext cx="4804263" cy="2246769"/>
          </a:xfrm>
          <a:prstGeom prst="rect">
            <a:avLst/>
          </a:prstGeom>
          <a:noFill/>
        </p:spPr>
        <p:txBody>
          <a:bodyPr wrap="square" rtlCol="0">
            <a:spAutoFit/>
          </a:bodyPr>
          <a:lstStyle/>
          <a:p>
            <a:r>
              <a:rPr lang="de-DE" sz="2800" b="1" dirty="0">
                <a:solidFill>
                  <a:srgbClr val="FF0000"/>
                </a:solidFill>
              </a:rPr>
              <a:t>50GiB x 1024³ x 8</a:t>
            </a:r>
            <a:endParaRPr lang="de-DE" sz="2800" dirty="0">
              <a:solidFill>
                <a:srgbClr val="FF0000"/>
              </a:solidFill>
            </a:endParaRPr>
          </a:p>
          <a:p>
            <a:r>
              <a:rPr lang="de-DE" sz="2800" b="1" dirty="0">
                <a:solidFill>
                  <a:srgbClr val="FF0000"/>
                </a:solidFill>
              </a:rPr>
              <a:t>--------------------------</a:t>
            </a:r>
          </a:p>
          <a:p>
            <a:r>
              <a:rPr lang="de-DE" sz="2800" b="1" dirty="0">
                <a:solidFill>
                  <a:srgbClr val="FF0000"/>
                </a:solidFill>
              </a:rPr>
              <a:t>3 x 60 x 60 Sekunden</a:t>
            </a:r>
          </a:p>
          <a:p>
            <a:endParaRPr lang="de-DE" sz="2800" dirty="0">
              <a:solidFill>
                <a:srgbClr val="FF0000"/>
              </a:solidFill>
            </a:endParaRPr>
          </a:p>
          <a:p>
            <a:endParaRPr lang="de-DE" sz="2800" dirty="0">
              <a:solidFill>
                <a:srgbClr val="FF0000"/>
              </a:solidFill>
            </a:endParaRPr>
          </a:p>
        </p:txBody>
      </p:sp>
      <p:sp>
        <p:nvSpPr>
          <p:cNvPr id="6" name="Rechteck 5">
            <a:extLst>
              <a:ext uri="{FF2B5EF4-FFF2-40B4-BE49-F238E27FC236}">
                <a16:creationId xmlns:a16="http://schemas.microsoft.com/office/drawing/2014/main" id="{E24244DE-6BBB-4749-B8A5-62E90EBFB515}"/>
              </a:ext>
            </a:extLst>
          </p:cNvPr>
          <p:cNvSpPr/>
          <p:nvPr/>
        </p:nvSpPr>
        <p:spPr>
          <a:xfrm>
            <a:off x="7944318" y="2000516"/>
            <a:ext cx="4963886" cy="461665"/>
          </a:xfrm>
          <a:prstGeom prst="rect">
            <a:avLst/>
          </a:prstGeom>
        </p:spPr>
        <p:txBody>
          <a:bodyPr wrap="square">
            <a:spAutoFit/>
          </a:bodyPr>
          <a:lstStyle/>
          <a:p>
            <a:r>
              <a:rPr lang="de-DE" sz="2400" b="1" dirty="0"/>
              <a:t>= 39.768.215 Bit/Sekunde</a:t>
            </a:r>
          </a:p>
        </p:txBody>
      </p:sp>
      <p:sp>
        <p:nvSpPr>
          <p:cNvPr id="8" name="Rechteck 7">
            <a:extLst>
              <a:ext uri="{FF2B5EF4-FFF2-40B4-BE49-F238E27FC236}">
                <a16:creationId xmlns:a16="http://schemas.microsoft.com/office/drawing/2014/main" id="{1173E83E-4FE0-48DB-9259-0A4E31AC33CE}"/>
              </a:ext>
            </a:extLst>
          </p:cNvPr>
          <p:cNvSpPr/>
          <p:nvPr/>
        </p:nvSpPr>
        <p:spPr>
          <a:xfrm>
            <a:off x="7385278" y="4833324"/>
            <a:ext cx="6096000" cy="707886"/>
          </a:xfrm>
          <a:prstGeom prst="rect">
            <a:avLst/>
          </a:prstGeom>
        </p:spPr>
        <p:txBody>
          <a:bodyPr>
            <a:spAutoFit/>
          </a:bodyPr>
          <a:lstStyle/>
          <a:p>
            <a:r>
              <a:rPr lang="de-DE" sz="2000" b="1" dirty="0">
                <a:highlight>
                  <a:srgbClr val="FFFF00"/>
                </a:highlight>
              </a:rPr>
              <a:t>-&gt; VDSL 100 (70%) = 70 Mbit Download</a:t>
            </a:r>
          </a:p>
          <a:p>
            <a:r>
              <a:rPr lang="de-DE" sz="2000" b="1" dirty="0">
                <a:solidFill>
                  <a:srgbClr val="FF0000"/>
                </a:solidFill>
              </a:rPr>
              <a:t>-&gt; VDSL 50   (70%) =  </a:t>
            </a:r>
            <a:r>
              <a:rPr lang="de-DE" sz="2000" b="1" u="sng" dirty="0">
                <a:solidFill>
                  <a:srgbClr val="FF0000"/>
                </a:solidFill>
              </a:rPr>
              <a:t>nur</a:t>
            </a:r>
            <a:r>
              <a:rPr lang="de-DE" sz="2000" b="1" dirty="0">
                <a:solidFill>
                  <a:srgbClr val="FF0000"/>
                </a:solidFill>
              </a:rPr>
              <a:t> 35 Mbit Download</a:t>
            </a:r>
          </a:p>
        </p:txBody>
      </p:sp>
      <p:sp>
        <p:nvSpPr>
          <p:cNvPr id="2" name="Rechteck 1">
            <a:extLst>
              <a:ext uri="{FF2B5EF4-FFF2-40B4-BE49-F238E27FC236}">
                <a16:creationId xmlns:a16="http://schemas.microsoft.com/office/drawing/2014/main" id="{C5FC2F1B-2524-4C1B-A8CF-56D8E1AD6C1E}"/>
              </a:ext>
            </a:extLst>
          </p:cNvPr>
          <p:cNvSpPr/>
          <p:nvPr/>
        </p:nvSpPr>
        <p:spPr>
          <a:xfrm>
            <a:off x="7598229" y="3278420"/>
            <a:ext cx="4408579" cy="1015663"/>
          </a:xfrm>
          <a:prstGeom prst="rect">
            <a:avLst/>
          </a:prstGeom>
        </p:spPr>
        <p:txBody>
          <a:bodyPr wrap="none">
            <a:spAutoFit/>
          </a:bodyPr>
          <a:lstStyle/>
          <a:p>
            <a:r>
              <a:rPr lang="de-DE" sz="2000" b="1" dirty="0"/>
              <a:t>39.768.215 Bit/Sekunde</a:t>
            </a:r>
          </a:p>
          <a:p>
            <a:r>
              <a:rPr lang="de-DE" sz="2000" b="1" dirty="0"/>
              <a:t>--------------------------------- = </a:t>
            </a:r>
            <a:r>
              <a:rPr lang="de-DE" sz="2000" b="1" dirty="0">
                <a:highlight>
                  <a:srgbClr val="FFFF00"/>
                </a:highlight>
              </a:rPr>
              <a:t>39,77 Mbit/s</a:t>
            </a:r>
          </a:p>
          <a:p>
            <a:r>
              <a:rPr lang="de-DE" sz="2000" b="1" dirty="0"/>
              <a:t>1000²</a:t>
            </a:r>
            <a:endParaRPr lang="de-DE" sz="2000" dirty="0"/>
          </a:p>
        </p:txBody>
      </p:sp>
      <p:sp>
        <p:nvSpPr>
          <p:cNvPr id="3" name="Rechteck 2">
            <a:extLst>
              <a:ext uri="{FF2B5EF4-FFF2-40B4-BE49-F238E27FC236}">
                <a16:creationId xmlns:a16="http://schemas.microsoft.com/office/drawing/2014/main" id="{D0910C63-0AC5-4028-9230-CB24062E9E83}"/>
              </a:ext>
            </a:extLst>
          </p:cNvPr>
          <p:cNvSpPr/>
          <p:nvPr/>
        </p:nvSpPr>
        <p:spPr>
          <a:xfrm>
            <a:off x="3548185" y="1414584"/>
            <a:ext cx="1625600" cy="2985477"/>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245915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2" grpId="0"/>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srcRect/>
          <a:stretch>
            <a:fillRect/>
          </a:stretch>
        </p:blipFill>
        <p:spPr bwMode="auto">
          <a:xfrm>
            <a:off x="143341" y="1"/>
            <a:ext cx="11645900" cy="3019425"/>
          </a:xfrm>
          <a:prstGeom prst="rect">
            <a:avLst/>
          </a:prstGeom>
          <a:noFill/>
          <a:ln w="9525">
            <a:noFill/>
            <a:miter lim="800000"/>
            <a:headEnd/>
            <a:tailEnd/>
          </a:ln>
        </p:spPr>
      </p:pic>
      <p:sp>
        <p:nvSpPr>
          <p:cNvPr id="9" name="Textfeld 8">
            <a:extLst>
              <a:ext uri="{FF2B5EF4-FFF2-40B4-BE49-F238E27FC236}">
                <a16:creationId xmlns:a16="http://schemas.microsoft.com/office/drawing/2014/main" id="{15394BC4-74A8-4B5E-8888-91F0DE1F991F}"/>
              </a:ext>
            </a:extLst>
          </p:cNvPr>
          <p:cNvSpPr txBox="1"/>
          <p:nvPr/>
        </p:nvSpPr>
        <p:spPr>
          <a:xfrm>
            <a:off x="966839" y="4502094"/>
            <a:ext cx="7723869" cy="1323439"/>
          </a:xfrm>
          <a:prstGeom prst="rect">
            <a:avLst/>
          </a:prstGeom>
          <a:noFill/>
        </p:spPr>
        <p:txBody>
          <a:bodyPr wrap="square" rtlCol="0">
            <a:spAutoFit/>
          </a:bodyPr>
          <a:lstStyle/>
          <a:p>
            <a:r>
              <a:rPr lang="de-DE" sz="2000" b="1" dirty="0">
                <a:solidFill>
                  <a:srgbClr val="FF0000"/>
                </a:solidFill>
              </a:rPr>
              <a:t>20.276 Sekunden /60 = 338 Minuten</a:t>
            </a:r>
          </a:p>
          <a:p>
            <a:r>
              <a:rPr lang="de-DE" sz="2000" b="1" dirty="0">
                <a:solidFill>
                  <a:srgbClr val="FF0000"/>
                </a:solidFill>
              </a:rPr>
              <a:t>338 Minuten</a:t>
            </a:r>
            <a:r>
              <a:rPr lang="de-DE" sz="2000" dirty="0">
                <a:solidFill>
                  <a:srgbClr val="FF0000"/>
                </a:solidFill>
              </a:rPr>
              <a:t> </a:t>
            </a:r>
            <a:r>
              <a:rPr lang="de-DE" sz="2000" b="1" dirty="0">
                <a:solidFill>
                  <a:srgbClr val="FF0000"/>
                </a:solidFill>
              </a:rPr>
              <a:t>/ 60 = 5,63 Stunden</a:t>
            </a:r>
          </a:p>
          <a:p>
            <a:r>
              <a:rPr lang="de-DE" sz="2000" b="1" dirty="0">
                <a:solidFill>
                  <a:srgbClr val="FF0000"/>
                </a:solidFill>
              </a:rPr>
              <a:t>5 Stunden -&gt; 0,63 Stunden X 60 = 38 Minuten</a:t>
            </a:r>
          </a:p>
          <a:p>
            <a:r>
              <a:rPr lang="de-DE" sz="2000" b="1" dirty="0">
                <a:solidFill>
                  <a:srgbClr val="FF0000"/>
                </a:solidFill>
                <a:highlight>
                  <a:srgbClr val="FFFF00"/>
                </a:highlight>
              </a:rPr>
              <a:t>5 Stunden und 38 Minuten  </a:t>
            </a:r>
          </a:p>
        </p:txBody>
      </p:sp>
      <p:sp>
        <p:nvSpPr>
          <p:cNvPr id="7" name="Textfeld 6">
            <a:extLst>
              <a:ext uri="{FF2B5EF4-FFF2-40B4-BE49-F238E27FC236}">
                <a16:creationId xmlns:a16="http://schemas.microsoft.com/office/drawing/2014/main" id="{95877E6E-3E95-4F8E-BDC7-D2384F25AC62}"/>
              </a:ext>
            </a:extLst>
          </p:cNvPr>
          <p:cNvSpPr txBox="1"/>
          <p:nvPr/>
        </p:nvSpPr>
        <p:spPr>
          <a:xfrm>
            <a:off x="966838" y="3252928"/>
            <a:ext cx="6686291" cy="1015663"/>
          </a:xfrm>
          <a:prstGeom prst="rect">
            <a:avLst/>
          </a:prstGeom>
          <a:noFill/>
        </p:spPr>
        <p:txBody>
          <a:bodyPr wrap="square">
            <a:spAutoFit/>
          </a:bodyPr>
          <a:lstStyle/>
          <a:p>
            <a:r>
              <a:rPr lang="de-DE" sz="2000" b="1" dirty="0">
                <a:solidFill>
                  <a:srgbClr val="FF0000"/>
                </a:solidFill>
              </a:rPr>
              <a:t>(750 GiB + (6 x 40 GiB)) x 1024³ x 8</a:t>
            </a:r>
          </a:p>
          <a:p>
            <a:r>
              <a:rPr lang="de-DE" sz="2000" b="1" dirty="0">
                <a:solidFill>
                  <a:srgbClr val="FF0000"/>
                </a:solidFill>
              </a:rPr>
              <a:t>---------------------------------------------        = 20.276 Sekunden </a:t>
            </a:r>
          </a:p>
          <a:p>
            <a:r>
              <a:rPr lang="de-DE" sz="2000" b="1" dirty="0">
                <a:solidFill>
                  <a:srgbClr val="FF0000"/>
                </a:solidFill>
              </a:rPr>
              <a:t>50 MiB/s x 1024² x 8</a:t>
            </a:r>
          </a:p>
        </p:txBody>
      </p:sp>
    </p:spTree>
    <p:extLst>
      <p:ext uri="{BB962C8B-B14F-4D97-AF65-F5344CB8AC3E}">
        <p14:creationId xmlns:p14="http://schemas.microsoft.com/office/powerpoint/2010/main" val="2712153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304799" y="300519"/>
            <a:ext cx="11556023" cy="1751249"/>
          </a:xfrm>
          <a:prstGeom prst="rect">
            <a:avLst/>
          </a:prstGeom>
        </p:spPr>
        <p:txBody>
          <a:bodyPr wrap="square">
            <a:spAutoFit/>
          </a:bodyPr>
          <a:lstStyle/>
          <a:p>
            <a:pPr>
              <a:lnSpc>
                <a:spcPct val="115000"/>
              </a:lnSpc>
              <a:spcAft>
                <a:spcPts val="1000"/>
              </a:spcAft>
            </a:pPr>
            <a:r>
              <a:rPr lang="de-DE" dirty="0">
                <a:latin typeface="Calibri" panose="020F0502020204030204" pitchFamily="34" charset="0"/>
                <a:ea typeface="Calibri" panose="020F0502020204030204" pitchFamily="34" charset="0"/>
                <a:cs typeface="Times New Roman" panose="02020603050405020304" pitchFamily="18" charset="0"/>
              </a:rPr>
              <a:t>3) Sie sollen einen reibungslosen Netzwerkbetrieb sicherstellen.</a:t>
            </a:r>
          </a:p>
          <a:p>
            <a:pPr>
              <a:lnSpc>
                <a:spcPct val="115000"/>
              </a:lnSpc>
              <a:spcAft>
                <a:spcPts val="1000"/>
              </a:spcAft>
            </a:pPr>
            <a:r>
              <a:rPr lang="de-DE" dirty="0">
                <a:latin typeface="Calibri" panose="020F0502020204030204" pitchFamily="34" charset="0"/>
                <a:ea typeface="Calibri" panose="020F0502020204030204" pitchFamily="34" charset="0"/>
                <a:cs typeface="Times New Roman" panose="02020603050405020304" pitchFamily="18" charset="0"/>
              </a:rPr>
              <a:t>Sie testen mit einem Hilfsprogramm den Datendurchsatz an einem Switch. Das Ergebnis lautet:</a:t>
            </a:r>
          </a:p>
          <a:p>
            <a:pPr>
              <a:lnSpc>
                <a:spcPct val="115000"/>
              </a:lnSpc>
              <a:spcAft>
                <a:spcPts val="1000"/>
              </a:spcAft>
            </a:pPr>
            <a:r>
              <a:rPr lang="de-DE" dirty="0">
                <a:latin typeface="Calibri" panose="020F0502020204030204" pitchFamily="34" charset="0"/>
                <a:ea typeface="Calibri" panose="020F0502020204030204" pitchFamily="34" charset="0"/>
                <a:cs typeface="Times New Roman" panose="02020603050405020304" pitchFamily="18" charset="0"/>
              </a:rPr>
              <a:t>10.000 Pakete wurden in 25 </a:t>
            </a:r>
            <a:r>
              <a:rPr lang="de-DE" dirty="0" err="1">
                <a:latin typeface="Calibri" panose="020F0502020204030204" pitchFamily="34" charset="0"/>
                <a:ea typeface="Calibri" panose="020F0502020204030204" pitchFamily="34" charset="0"/>
                <a:cs typeface="Times New Roman" panose="02020603050405020304" pitchFamily="18" charset="0"/>
              </a:rPr>
              <a:t>ms</a:t>
            </a:r>
            <a:r>
              <a:rPr lang="de-DE" dirty="0">
                <a:latin typeface="Calibri" panose="020F0502020204030204" pitchFamily="34" charset="0"/>
                <a:ea typeface="Calibri" panose="020F0502020204030204" pitchFamily="34" charset="0"/>
                <a:cs typeface="Times New Roman" panose="02020603050405020304" pitchFamily="18" charset="0"/>
              </a:rPr>
              <a:t> übertragen. Jedes Paket war 175 Bytes groß.</a:t>
            </a:r>
          </a:p>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Ermitteln Sie den Netto-Datendurchsatz in Mbits/s.</a:t>
            </a:r>
            <a:endParaRPr lang="de-DE"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Rechteck 3"/>
          <p:cNvSpPr/>
          <p:nvPr/>
        </p:nvSpPr>
        <p:spPr>
          <a:xfrm>
            <a:off x="498229" y="2624811"/>
            <a:ext cx="9044355" cy="3168753"/>
          </a:xfrm>
          <a:prstGeom prst="rect">
            <a:avLst/>
          </a:prstGeom>
        </p:spPr>
        <p:txBody>
          <a:bodyPr wrap="square">
            <a:spAutoFit/>
          </a:bodyPr>
          <a:lstStyle/>
          <a:p>
            <a:pPr>
              <a:lnSpc>
                <a:spcPct val="115000"/>
              </a:lnSpc>
              <a:spcAft>
                <a:spcPts val="1000"/>
              </a:spcAft>
            </a:pPr>
            <a:r>
              <a:rPr lang="de-DE"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Lösung:</a:t>
            </a:r>
          </a:p>
          <a:p>
            <a:pPr marL="342900" lvl="0" indent="-342900">
              <a:lnSpc>
                <a:spcPct val="115000"/>
              </a:lnSpc>
              <a:spcAft>
                <a:spcPts val="0"/>
              </a:spcAft>
              <a:buFont typeface="+mj-lt"/>
              <a:buAutoNum type="arabicPeriod"/>
            </a:pPr>
            <a:r>
              <a:rPr lang="de-DE"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Ermitteln der Gesamtgröße ( 10.000 X 175 Byte = 1.750.000 Bytes)</a:t>
            </a:r>
          </a:p>
          <a:p>
            <a:pPr marL="342900" lvl="0" indent="-342900">
              <a:lnSpc>
                <a:spcPct val="115000"/>
              </a:lnSpc>
              <a:spcAft>
                <a:spcPts val="0"/>
              </a:spcAft>
              <a:buFont typeface="+mj-lt"/>
              <a:buAutoNum type="arabicPeriod"/>
            </a:pPr>
            <a:r>
              <a:rPr lang="de-DE"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1.750.000 Bytes * 8 = 14.000.000 Bits</a:t>
            </a:r>
          </a:p>
          <a:p>
            <a:pPr marL="342900" lvl="0" indent="-342900">
              <a:lnSpc>
                <a:spcPct val="115000"/>
              </a:lnSpc>
              <a:spcAft>
                <a:spcPts val="0"/>
              </a:spcAft>
              <a:buFont typeface="+mj-lt"/>
              <a:buAutoNum type="arabicPeriod"/>
            </a:pPr>
            <a:r>
              <a:rPr lang="de-DE"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25 </a:t>
            </a:r>
            <a:r>
              <a:rPr lang="de-DE" sz="2400" dirty="0" err="1">
                <a:solidFill>
                  <a:srgbClr val="FF0000"/>
                </a:solidFill>
                <a:latin typeface="Calibri" panose="020F0502020204030204" pitchFamily="34" charset="0"/>
                <a:ea typeface="Calibri" panose="020F0502020204030204" pitchFamily="34" charset="0"/>
                <a:cs typeface="Times New Roman" panose="02020603050405020304" pitchFamily="18" charset="0"/>
              </a:rPr>
              <a:t>ms</a:t>
            </a:r>
            <a:r>
              <a:rPr lang="de-DE"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-&gt; 0,025 Sekunden</a:t>
            </a:r>
          </a:p>
          <a:p>
            <a:pPr marL="342900" lvl="0" indent="-342900">
              <a:lnSpc>
                <a:spcPct val="115000"/>
              </a:lnSpc>
              <a:spcAft>
                <a:spcPts val="0"/>
              </a:spcAft>
              <a:buFont typeface="+mj-lt"/>
              <a:buAutoNum type="arabicPeriod"/>
            </a:pPr>
            <a:r>
              <a:rPr lang="de-DE"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14.000.000 Bit / 0,025 = 560.000.000 Bit/s</a:t>
            </a:r>
          </a:p>
          <a:p>
            <a:pPr marL="342900" lvl="0" indent="-342900">
              <a:lnSpc>
                <a:spcPct val="115000"/>
              </a:lnSpc>
              <a:spcAft>
                <a:spcPts val="0"/>
              </a:spcAft>
              <a:buFont typeface="+mj-lt"/>
              <a:buAutoNum type="arabicPeriod"/>
            </a:pPr>
            <a:r>
              <a:rPr lang="de-DE"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560.000.000 Bit/s / 1000 = 560.000 </a:t>
            </a:r>
            <a:r>
              <a:rPr lang="de-DE" sz="2400" dirty="0" err="1">
                <a:solidFill>
                  <a:srgbClr val="FF0000"/>
                </a:solidFill>
                <a:latin typeface="Calibri" panose="020F0502020204030204" pitchFamily="34" charset="0"/>
                <a:ea typeface="Calibri" panose="020F0502020204030204" pitchFamily="34" charset="0"/>
                <a:cs typeface="Times New Roman" panose="02020603050405020304" pitchFamily="18" charset="0"/>
              </a:rPr>
              <a:t>KBit</a:t>
            </a:r>
            <a:r>
              <a:rPr lang="de-DE"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/s</a:t>
            </a:r>
          </a:p>
          <a:p>
            <a:pPr marL="342900" lvl="0" indent="-342900">
              <a:lnSpc>
                <a:spcPct val="115000"/>
              </a:lnSpc>
              <a:spcAft>
                <a:spcPts val="1000"/>
              </a:spcAft>
              <a:buFont typeface="+mj-lt"/>
              <a:buAutoNum type="arabicPeriod"/>
            </a:pPr>
            <a:r>
              <a:rPr lang="de-DE"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560.000 </a:t>
            </a:r>
            <a:r>
              <a:rPr lang="de-DE" sz="2400" dirty="0" err="1">
                <a:solidFill>
                  <a:srgbClr val="FF0000"/>
                </a:solidFill>
                <a:latin typeface="Calibri" panose="020F0502020204030204" pitchFamily="34" charset="0"/>
                <a:ea typeface="Calibri" panose="020F0502020204030204" pitchFamily="34" charset="0"/>
                <a:cs typeface="Times New Roman" panose="02020603050405020304" pitchFamily="18" charset="0"/>
              </a:rPr>
              <a:t>kBit</a:t>
            </a:r>
            <a:r>
              <a:rPr lang="de-DE"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/s / 1000 = </a:t>
            </a:r>
            <a:r>
              <a:rPr lang="de-DE" sz="2400" dirty="0">
                <a:solidFill>
                  <a:srgbClr val="FF0000"/>
                </a:solidFill>
                <a:highlight>
                  <a:srgbClr val="FFFF00"/>
                </a:highlight>
                <a:latin typeface="Calibri" panose="020F0502020204030204" pitchFamily="34" charset="0"/>
                <a:ea typeface="Calibri" panose="020F0502020204030204" pitchFamily="34" charset="0"/>
                <a:cs typeface="Times New Roman" panose="02020603050405020304" pitchFamily="18" charset="0"/>
              </a:rPr>
              <a:t>560 Mbit/s</a:t>
            </a:r>
          </a:p>
        </p:txBody>
      </p:sp>
      <p:sp>
        <p:nvSpPr>
          <p:cNvPr id="2" name="Rechteck 1">
            <a:extLst>
              <a:ext uri="{FF2B5EF4-FFF2-40B4-BE49-F238E27FC236}">
                <a16:creationId xmlns:a16="http://schemas.microsoft.com/office/drawing/2014/main" id="{B647AD96-22DC-4662-812C-4E47DDD15225}"/>
              </a:ext>
            </a:extLst>
          </p:cNvPr>
          <p:cNvSpPr/>
          <p:nvPr/>
        </p:nvSpPr>
        <p:spPr>
          <a:xfrm>
            <a:off x="498229" y="5793564"/>
            <a:ext cx="8835218" cy="150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557636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srcRect/>
          <a:stretch>
            <a:fillRect/>
          </a:stretch>
        </p:blipFill>
        <p:spPr bwMode="auto">
          <a:xfrm>
            <a:off x="143341" y="1"/>
            <a:ext cx="11645900" cy="3019425"/>
          </a:xfrm>
          <a:prstGeom prst="rect">
            <a:avLst/>
          </a:prstGeom>
          <a:noFill/>
          <a:ln w="9525">
            <a:noFill/>
            <a:miter lim="800000"/>
            <a:headEnd/>
            <a:tailEnd/>
          </a:ln>
        </p:spPr>
      </p:pic>
      <p:sp>
        <p:nvSpPr>
          <p:cNvPr id="6" name="Textfeld 5">
            <a:extLst>
              <a:ext uri="{FF2B5EF4-FFF2-40B4-BE49-F238E27FC236}">
                <a16:creationId xmlns:a16="http://schemas.microsoft.com/office/drawing/2014/main" id="{39B232BF-89AE-4E0A-98B7-E87ECEF233EF}"/>
              </a:ext>
            </a:extLst>
          </p:cNvPr>
          <p:cNvSpPr txBox="1"/>
          <p:nvPr/>
        </p:nvSpPr>
        <p:spPr>
          <a:xfrm>
            <a:off x="966839" y="3212555"/>
            <a:ext cx="4261654" cy="1631216"/>
          </a:xfrm>
          <a:prstGeom prst="rect">
            <a:avLst/>
          </a:prstGeom>
          <a:noFill/>
        </p:spPr>
        <p:txBody>
          <a:bodyPr wrap="square" rtlCol="0">
            <a:spAutoFit/>
          </a:bodyPr>
          <a:lstStyle/>
          <a:p>
            <a:r>
              <a:rPr lang="de-DE" sz="2000" b="1" dirty="0">
                <a:solidFill>
                  <a:srgbClr val="FF0000"/>
                </a:solidFill>
              </a:rPr>
              <a:t>750GiB x 1024 </a:t>
            </a:r>
            <a:endParaRPr lang="de-DE" sz="2000" dirty="0">
              <a:solidFill>
                <a:srgbClr val="FF0000"/>
              </a:solidFill>
            </a:endParaRPr>
          </a:p>
          <a:p>
            <a:r>
              <a:rPr lang="de-DE" sz="2000" b="1" dirty="0">
                <a:solidFill>
                  <a:srgbClr val="FF0000"/>
                </a:solidFill>
              </a:rPr>
              <a:t>-------------------------- = 15.360 Sekunden </a:t>
            </a:r>
          </a:p>
          <a:p>
            <a:r>
              <a:rPr lang="de-DE" sz="2000" b="1" dirty="0">
                <a:solidFill>
                  <a:srgbClr val="FF0000"/>
                </a:solidFill>
              </a:rPr>
              <a:t>50 </a:t>
            </a:r>
            <a:r>
              <a:rPr lang="de-DE" sz="2000" b="1" dirty="0" err="1">
                <a:solidFill>
                  <a:srgbClr val="FF0000"/>
                </a:solidFill>
              </a:rPr>
              <a:t>MiB</a:t>
            </a:r>
            <a:r>
              <a:rPr lang="de-DE" sz="2000" b="1" dirty="0">
                <a:solidFill>
                  <a:srgbClr val="FF0000"/>
                </a:solidFill>
              </a:rPr>
              <a:t>/Sek</a:t>
            </a:r>
          </a:p>
          <a:p>
            <a:endParaRPr lang="de-DE" sz="2000" dirty="0">
              <a:solidFill>
                <a:srgbClr val="FF0000"/>
              </a:solidFill>
            </a:endParaRPr>
          </a:p>
          <a:p>
            <a:endParaRPr lang="de-DE" sz="2000" dirty="0">
              <a:solidFill>
                <a:srgbClr val="FF0000"/>
              </a:solidFill>
            </a:endParaRPr>
          </a:p>
        </p:txBody>
      </p:sp>
      <p:sp>
        <p:nvSpPr>
          <p:cNvPr id="7" name="Textfeld 6">
            <a:extLst>
              <a:ext uri="{FF2B5EF4-FFF2-40B4-BE49-F238E27FC236}">
                <a16:creationId xmlns:a16="http://schemas.microsoft.com/office/drawing/2014/main" id="{0B38156B-A36B-4F74-BB29-BF555F566B35}"/>
              </a:ext>
            </a:extLst>
          </p:cNvPr>
          <p:cNvSpPr txBox="1"/>
          <p:nvPr/>
        </p:nvSpPr>
        <p:spPr>
          <a:xfrm>
            <a:off x="5228493" y="3271170"/>
            <a:ext cx="6560748" cy="1631216"/>
          </a:xfrm>
          <a:prstGeom prst="rect">
            <a:avLst/>
          </a:prstGeom>
          <a:noFill/>
        </p:spPr>
        <p:txBody>
          <a:bodyPr wrap="square" rtlCol="0">
            <a:spAutoFit/>
          </a:bodyPr>
          <a:lstStyle/>
          <a:p>
            <a:r>
              <a:rPr lang="de-DE" sz="2000" b="1" dirty="0">
                <a:solidFill>
                  <a:srgbClr val="FF0000"/>
                </a:solidFill>
              </a:rPr>
              <a:t>40GiB x 1024 </a:t>
            </a:r>
            <a:endParaRPr lang="de-DE" sz="2000" dirty="0">
              <a:solidFill>
                <a:srgbClr val="FF0000"/>
              </a:solidFill>
            </a:endParaRPr>
          </a:p>
          <a:p>
            <a:r>
              <a:rPr lang="de-DE" sz="2000" b="1" dirty="0">
                <a:solidFill>
                  <a:srgbClr val="FF0000"/>
                </a:solidFill>
              </a:rPr>
              <a:t>-------------------------- = 819,2 Sekunden * 6 = 4.916 Sekunden  </a:t>
            </a:r>
          </a:p>
          <a:p>
            <a:r>
              <a:rPr lang="de-DE" sz="2000" b="1" dirty="0">
                <a:solidFill>
                  <a:srgbClr val="FF0000"/>
                </a:solidFill>
              </a:rPr>
              <a:t>50 </a:t>
            </a:r>
            <a:r>
              <a:rPr lang="de-DE" sz="2000" b="1" dirty="0" err="1">
                <a:solidFill>
                  <a:srgbClr val="FF0000"/>
                </a:solidFill>
              </a:rPr>
              <a:t>MiB</a:t>
            </a:r>
            <a:r>
              <a:rPr lang="de-DE" sz="2000" b="1" dirty="0">
                <a:solidFill>
                  <a:srgbClr val="FF0000"/>
                </a:solidFill>
              </a:rPr>
              <a:t>/Sek</a:t>
            </a:r>
          </a:p>
          <a:p>
            <a:endParaRPr lang="de-DE" sz="2000" dirty="0">
              <a:solidFill>
                <a:srgbClr val="FF0000"/>
              </a:solidFill>
            </a:endParaRPr>
          </a:p>
          <a:p>
            <a:endParaRPr lang="de-DE" sz="2000" dirty="0">
              <a:solidFill>
                <a:srgbClr val="FF0000"/>
              </a:solidFill>
            </a:endParaRPr>
          </a:p>
        </p:txBody>
      </p:sp>
      <p:sp>
        <p:nvSpPr>
          <p:cNvPr id="8" name="Textfeld 7">
            <a:extLst>
              <a:ext uri="{FF2B5EF4-FFF2-40B4-BE49-F238E27FC236}">
                <a16:creationId xmlns:a16="http://schemas.microsoft.com/office/drawing/2014/main" id="{45E322F7-CBC4-49AE-9D7B-C48469FAE61A}"/>
              </a:ext>
            </a:extLst>
          </p:cNvPr>
          <p:cNvSpPr txBox="1"/>
          <p:nvPr/>
        </p:nvSpPr>
        <p:spPr>
          <a:xfrm>
            <a:off x="966838" y="4576339"/>
            <a:ext cx="7723869" cy="400110"/>
          </a:xfrm>
          <a:prstGeom prst="rect">
            <a:avLst/>
          </a:prstGeom>
          <a:noFill/>
        </p:spPr>
        <p:txBody>
          <a:bodyPr wrap="square" rtlCol="0">
            <a:spAutoFit/>
          </a:bodyPr>
          <a:lstStyle/>
          <a:p>
            <a:r>
              <a:rPr lang="de-DE" sz="2000" b="1" dirty="0">
                <a:solidFill>
                  <a:srgbClr val="FF0000"/>
                </a:solidFill>
              </a:rPr>
              <a:t>15.360 Sekunden + 4.916 Sekunden = 20.276 Sekunden </a:t>
            </a:r>
            <a:endParaRPr lang="de-DE" sz="2000" dirty="0">
              <a:solidFill>
                <a:srgbClr val="FF0000"/>
              </a:solidFill>
            </a:endParaRPr>
          </a:p>
        </p:txBody>
      </p:sp>
      <p:sp>
        <p:nvSpPr>
          <p:cNvPr id="9" name="Textfeld 8">
            <a:extLst>
              <a:ext uri="{FF2B5EF4-FFF2-40B4-BE49-F238E27FC236}">
                <a16:creationId xmlns:a16="http://schemas.microsoft.com/office/drawing/2014/main" id="{15394BC4-74A8-4B5E-8888-91F0DE1F991F}"/>
              </a:ext>
            </a:extLst>
          </p:cNvPr>
          <p:cNvSpPr txBox="1"/>
          <p:nvPr/>
        </p:nvSpPr>
        <p:spPr>
          <a:xfrm>
            <a:off x="966838" y="5299262"/>
            <a:ext cx="7723869" cy="1323439"/>
          </a:xfrm>
          <a:prstGeom prst="rect">
            <a:avLst/>
          </a:prstGeom>
          <a:noFill/>
        </p:spPr>
        <p:txBody>
          <a:bodyPr wrap="square" rtlCol="0">
            <a:spAutoFit/>
          </a:bodyPr>
          <a:lstStyle/>
          <a:p>
            <a:r>
              <a:rPr lang="de-DE" sz="2000" b="1" dirty="0">
                <a:solidFill>
                  <a:srgbClr val="FF0000"/>
                </a:solidFill>
              </a:rPr>
              <a:t>20.276 Sekunden /60 = 338 Minuten</a:t>
            </a:r>
          </a:p>
          <a:p>
            <a:r>
              <a:rPr lang="de-DE" sz="2000" b="1" dirty="0">
                <a:solidFill>
                  <a:srgbClr val="FF0000"/>
                </a:solidFill>
              </a:rPr>
              <a:t>338 Minuten</a:t>
            </a:r>
            <a:r>
              <a:rPr lang="de-DE" sz="2000" dirty="0">
                <a:solidFill>
                  <a:srgbClr val="FF0000"/>
                </a:solidFill>
              </a:rPr>
              <a:t> </a:t>
            </a:r>
            <a:r>
              <a:rPr lang="de-DE" sz="2000" b="1" dirty="0">
                <a:solidFill>
                  <a:srgbClr val="FF0000"/>
                </a:solidFill>
              </a:rPr>
              <a:t>/ 60 = 5,632 Stunden</a:t>
            </a:r>
          </a:p>
          <a:p>
            <a:r>
              <a:rPr lang="de-DE" sz="2000" b="1" dirty="0">
                <a:solidFill>
                  <a:srgbClr val="FF0000"/>
                </a:solidFill>
              </a:rPr>
              <a:t>5 Stunden </a:t>
            </a:r>
            <a:r>
              <a:rPr lang="de-DE" sz="2000" b="1">
                <a:solidFill>
                  <a:srgbClr val="FF0000"/>
                </a:solidFill>
              </a:rPr>
              <a:t>-&gt; 0,632 </a:t>
            </a:r>
            <a:r>
              <a:rPr lang="de-DE" sz="2000" b="1" dirty="0">
                <a:solidFill>
                  <a:srgbClr val="FF0000"/>
                </a:solidFill>
              </a:rPr>
              <a:t>Stunden X 60 = 38 Minuten</a:t>
            </a:r>
          </a:p>
          <a:p>
            <a:r>
              <a:rPr lang="de-DE" sz="2000" b="1" dirty="0">
                <a:solidFill>
                  <a:srgbClr val="FF0000"/>
                </a:solidFill>
                <a:highlight>
                  <a:srgbClr val="FFFF00"/>
                </a:highlight>
              </a:rPr>
              <a:t>5 Stunden und 38 Minuten  </a:t>
            </a:r>
          </a:p>
        </p:txBody>
      </p:sp>
    </p:spTree>
    <p:extLst>
      <p:ext uri="{BB962C8B-B14F-4D97-AF65-F5344CB8AC3E}">
        <p14:creationId xmlns:p14="http://schemas.microsoft.com/office/powerpoint/2010/main" val="3671061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CDD3C787-3CD6-4781-94FF-D46F9F07FF3F}"/>
              </a:ext>
            </a:extLst>
          </p:cNvPr>
          <p:cNvSpPr/>
          <p:nvPr/>
        </p:nvSpPr>
        <p:spPr>
          <a:xfrm>
            <a:off x="343875" y="335728"/>
            <a:ext cx="10886831" cy="523220"/>
          </a:xfrm>
          <a:prstGeom prst="rect">
            <a:avLst/>
          </a:prstGeom>
        </p:spPr>
        <p:txBody>
          <a:bodyPr wrap="square">
            <a:spAutoFit/>
          </a:bodyPr>
          <a:lstStyle/>
          <a:p>
            <a:r>
              <a:rPr lang="de-DE" sz="1400" dirty="0"/>
              <a:t>Auf den Server der Kanzlei wurde eine Software mit einer Größe von 10 GB heruntergeladen. Die Software soll auf allen PCs der Kanzlei installiert werden. Zur Übertragung der Software stehen folgende zwei Möglichkeiten zur Verfügung: </a:t>
            </a:r>
          </a:p>
        </p:txBody>
      </p:sp>
      <p:sp>
        <p:nvSpPr>
          <p:cNvPr id="4" name="Rechteck 3">
            <a:extLst>
              <a:ext uri="{FF2B5EF4-FFF2-40B4-BE49-F238E27FC236}">
                <a16:creationId xmlns:a16="http://schemas.microsoft.com/office/drawing/2014/main" id="{6325A55F-C812-4F0C-A6A9-344DFF7FFE33}"/>
              </a:ext>
            </a:extLst>
          </p:cNvPr>
          <p:cNvSpPr/>
          <p:nvPr/>
        </p:nvSpPr>
        <p:spPr>
          <a:xfrm>
            <a:off x="293073" y="858948"/>
            <a:ext cx="10988434" cy="738664"/>
          </a:xfrm>
          <a:prstGeom prst="rect">
            <a:avLst/>
          </a:prstGeom>
        </p:spPr>
        <p:txBody>
          <a:bodyPr wrap="square">
            <a:spAutoFit/>
          </a:bodyPr>
          <a:lstStyle/>
          <a:p>
            <a:r>
              <a:rPr lang="de-DE" sz="1400" dirty="0"/>
              <a:t>- Per USB-Stick, effektive Datenübertragungsrate 32 MB/s</a:t>
            </a:r>
          </a:p>
          <a:p>
            <a:r>
              <a:rPr lang="de-DE" sz="1400" dirty="0"/>
              <a:t>- Über das LAN, effektive Datenübertragungsrate 800 Mbit/s</a:t>
            </a:r>
          </a:p>
          <a:p>
            <a:r>
              <a:rPr lang="de-DE" sz="1400" dirty="0"/>
              <a:t>Ermitteln Sie die Übertragungsdauer der Software auf einen PC in Minuten für die Übertragung</a:t>
            </a:r>
          </a:p>
        </p:txBody>
      </p:sp>
      <p:sp>
        <p:nvSpPr>
          <p:cNvPr id="5" name="Rechteck 4">
            <a:extLst>
              <a:ext uri="{FF2B5EF4-FFF2-40B4-BE49-F238E27FC236}">
                <a16:creationId xmlns:a16="http://schemas.microsoft.com/office/drawing/2014/main" id="{9585BA42-7C8F-45FC-932D-37B44591E763}"/>
              </a:ext>
            </a:extLst>
          </p:cNvPr>
          <p:cNvSpPr/>
          <p:nvPr/>
        </p:nvSpPr>
        <p:spPr>
          <a:xfrm>
            <a:off x="343875" y="1597612"/>
            <a:ext cx="7643446" cy="738664"/>
          </a:xfrm>
          <a:prstGeom prst="rect">
            <a:avLst/>
          </a:prstGeom>
        </p:spPr>
        <p:txBody>
          <a:bodyPr wrap="square">
            <a:spAutoFit/>
          </a:bodyPr>
          <a:lstStyle/>
          <a:p>
            <a:r>
              <a:rPr lang="de-DE" sz="1400" dirty="0"/>
              <a:t>a) vom USB-Stick.</a:t>
            </a:r>
          </a:p>
          <a:p>
            <a:r>
              <a:rPr lang="de-DE" sz="1400" dirty="0"/>
              <a:t>b) über das LAN.</a:t>
            </a:r>
          </a:p>
          <a:p>
            <a:r>
              <a:rPr lang="de-DE" sz="1400" dirty="0"/>
              <a:t>Runden Sie jeweils auf volle Minuten auf.</a:t>
            </a:r>
          </a:p>
        </p:txBody>
      </p:sp>
    </p:spTree>
    <p:extLst>
      <p:ext uri="{BB962C8B-B14F-4D97-AF65-F5344CB8AC3E}">
        <p14:creationId xmlns:p14="http://schemas.microsoft.com/office/powerpoint/2010/main" val="2233438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CDD3C787-3CD6-4781-94FF-D46F9F07FF3F}"/>
              </a:ext>
            </a:extLst>
          </p:cNvPr>
          <p:cNvSpPr/>
          <p:nvPr/>
        </p:nvSpPr>
        <p:spPr>
          <a:xfrm>
            <a:off x="343875" y="335728"/>
            <a:ext cx="10886831" cy="923330"/>
          </a:xfrm>
          <a:prstGeom prst="rect">
            <a:avLst/>
          </a:prstGeom>
        </p:spPr>
        <p:txBody>
          <a:bodyPr wrap="square">
            <a:spAutoFit/>
          </a:bodyPr>
          <a:lstStyle/>
          <a:p>
            <a:r>
              <a:rPr lang="de-DE" dirty="0"/>
              <a:t>Auf den Server der Kanzlei wurde eine Software mit einer Größe von 10 GB heruntergeladen. Die Software soll auf allen PCs der Kanzlei installiert werden. Zur Übertragung der Software stehen folgende zwei Möglichkeiten zur Verfügung: </a:t>
            </a:r>
          </a:p>
        </p:txBody>
      </p:sp>
      <p:sp>
        <p:nvSpPr>
          <p:cNvPr id="4" name="Rechteck 3">
            <a:extLst>
              <a:ext uri="{FF2B5EF4-FFF2-40B4-BE49-F238E27FC236}">
                <a16:creationId xmlns:a16="http://schemas.microsoft.com/office/drawing/2014/main" id="{6325A55F-C812-4F0C-A6A9-344DFF7FFE33}"/>
              </a:ext>
            </a:extLst>
          </p:cNvPr>
          <p:cNvSpPr/>
          <p:nvPr/>
        </p:nvSpPr>
        <p:spPr>
          <a:xfrm>
            <a:off x="343875" y="1259058"/>
            <a:ext cx="10988434" cy="923330"/>
          </a:xfrm>
          <a:prstGeom prst="rect">
            <a:avLst/>
          </a:prstGeom>
        </p:spPr>
        <p:txBody>
          <a:bodyPr wrap="square">
            <a:spAutoFit/>
          </a:bodyPr>
          <a:lstStyle/>
          <a:p>
            <a:r>
              <a:rPr lang="de-DE" dirty="0"/>
              <a:t>- Per USB-Stick, effektive Datenübertragungsrate 32 MB/s</a:t>
            </a:r>
          </a:p>
          <a:p>
            <a:r>
              <a:rPr lang="de-DE" dirty="0"/>
              <a:t>- Über das LAN, effektive Datenübertragungsrate 800 Mbit/s</a:t>
            </a:r>
          </a:p>
          <a:p>
            <a:r>
              <a:rPr lang="de-DE" dirty="0"/>
              <a:t>Ermitteln Sie die Übertragungsdauer der Software auf einen PC in Minuten für die Übertragung</a:t>
            </a:r>
          </a:p>
        </p:txBody>
      </p:sp>
      <p:sp>
        <p:nvSpPr>
          <p:cNvPr id="5" name="Rechteck 4">
            <a:extLst>
              <a:ext uri="{FF2B5EF4-FFF2-40B4-BE49-F238E27FC236}">
                <a16:creationId xmlns:a16="http://schemas.microsoft.com/office/drawing/2014/main" id="{9585BA42-7C8F-45FC-932D-37B44591E763}"/>
              </a:ext>
            </a:extLst>
          </p:cNvPr>
          <p:cNvSpPr/>
          <p:nvPr/>
        </p:nvSpPr>
        <p:spPr>
          <a:xfrm>
            <a:off x="476738" y="2342104"/>
            <a:ext cx="7643446" cy="923330"/>
          </a:xfrm>
          <a:prstGeom prst="rect">
            <a:avLst/>
          </a:prstGeom>
        </p:spPr>
        <p:txBody>
          <a:bodyPr wrap="square">
            <a:spAutoFit/>
          </a:bodyPr>
          <a:lstStyle/>
          <a:p>
            <a:r>
              <a:rPr lang="de-DE" dirty="0"/>
              <a:t>a) vom USB-Stick.</a:t>
            </a:r>
          </a:p>
          <a:p>
            <a:r>
              <a:rPr lang="de-DE" dirty="0"/>
              <a:t>b) über das LAN.</a:t>
            </a:r>
          </a:p>
          <a:p>
            <a:r>
              <a:rPr lang="de-DE" dirty="0"/>
              <a:t>Runden Sie jeweils auf volle Minuten auf.</a:t>
            </a:r>
          </a:p>
        </p:txBody>
      </p:sp>
      <p:sp>
        <p:nvSpPr>
          <p:cNvPr id="6" name="Textfeld 5">
            <a:extLst>
              <a:ext uri="{FF2B5EF4-FFF2-40B4-BE49-F238E27FC236}">
                <a16:creationId xmlns:a16="http://schemas.microsoft.com/office/drawing/2014/main" id="{FF975C37-B02C-4BBB-A9AF-DC7F7E740858}"/>
              </a:ext>
            </a:extLst>
          </p:cNvPr>
          <p:cNvSpPr txBox="1"/>
          <p:nvPr/>
        </p:nvSpPr>
        <p:spPr>
          <a:xfrm>
            <a:off x="857421" y="3665457"/>
            <a:ext cx="11100117" cy="2246769"/>
          </a:xfrm>
          <a:prstGeom prst="rect">
            <a:avLst/>
          </a:prstGeom>
          <a:noFill/>
        </p:spPr>
        <p:txBody>
          <a:bodyPr wrap="square" rtlCol="0">
            <a:spAutoFit/>
          </a:bodyPr>
          <a:lstStyle/>
          <a:p>
            <a:r>
              <a:rPr lang="de-DE" sz="2800" b="1" dirty="0">
                <a:solidFill>
                  <a:srgbClr val="FF0000"/>
                </a:solidFill>
              </a:rPr>
              <a:t>10GiB x 1024³ x 8</a:t>
            </a:r>
            <a:endParaRPr lang="de-DE" sz="2800" dirty="0">
              <a:solidFill>
                <a:srgbClr val="FF0000"/>
              </a:solidFill>
            </a:endParaRPr>
          </a:p>
          <a:p>
            <a:r>
              <a:rPr lang="de-DE" sz="2800" b="1" dirty="0">
                <a:solidFill>
                  <a:srgbClr val="FF0000"/>
                </a:solidFill>
              </a:rPr>
              <a:t>-------------------------- = </a:t>
            </a:r>
            <a:r>
              <a:rPr lang="de-DE" sz="2800" b="1" dirty="0">
                <a:solidFill>
                  <a:srgbClr val="FF0000"/>
                </a:solidFill>
                <a:highlight>
                  <a:srgbClr val="FFFF00"/>
                </a:highlight>
              </a:rPr>
              <a:t>335 Sekunden /60 = 5.58 also 6 Minuten per USB  </a:t>
            </a:r>
          </a:p>
          <a:p>
            <a:r>
              <a:rPr lang="de-DE" sz="2800" b="1" dirty="0">
                <a:solidFill>
                  <a:srgbClr val="FF0000"/>
                </a:solidFill>
              </a:rPr>
              <a:t>32 x 1000² x 8</a:t>
            </a:r>
          </a:p>
          <a:p>
            <a:endParaRPr lang="de-DE" sz="2800" dirty="0">
              <a:solidFill>
                <a:srgbClr val="FF0000"/>
              </a:solidFill>
            </a:endParaRPr>
          </a:p>
          <a:p>
            <a:endParaRPr lang="de-DE" sz="2800" dirty="0">
              <a:solidFill>
                <a:srgbClr val="FF0000"/>
              </a:solidFill>
            </a:endParaRPr>
          </a:p>
        </p:txBody>
      </p:sp>
    </p:spTree>
    <p:extLst>
      <p:ext uri="{BB962C8B-B14F-4D97-AF65-F5344CB8AC3E}">
        <p14:creationId xmlns:p14="http://schemas.microsoft.com/office/powerpoint/2010/main" val="3877816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CDD3C787-3CD6-4781-94FF-D46F9F07FF3F}"/>
              </a:ext>
            </a:extLst>
          </p:cNvPr>
          <p:cNvSpPr/>
          <p:nvPr/>
        </p:nvSpPr>
        <p:spPr>
          <a:xfrm>
            <a:off x="343875" y="335728"/>
            <a:ext cx="10886831" cy="923330"/>
          </a:xfrm>
          <a:prstGeom prst="rect">
            <a:avLst/>
          </a:prstGeom>
        </p:spPr>
        <p:txBody>
          <a:bodyPr wrap="square">
            <a:spAutoFit/>
          </a:bodyPr>
          <a:lstStyle/>
          <a:p>
            <a:r>
              <a:rPr lang="de-DE" dirty="0"/>
              <a:t>Auf den Server der Kanzlei wurde eine Software mit einer Größe von 10 GiB heruntergeladen. Die Software soll auf allen PCs der Kanzlei installiert werden. Zur Übertragung der Software stehen folgende zwei Möglichkeiten zur Verfügung: </a:t>
            </a:r>
          </a:p>
        </p:txBody>
      </p:sp>
      <p:sp>
        <p:nvSpPr>
          <p:cNvPr id="4" name="Rechteck 3">
            <a:extLst>
              <a:ext uri="{FF2B5EF4-FFF2-40B4-BE49-F238E27FC236}">
                <a16:creationId xmlns:a16="http://schemas.microsoft.com/office/drawing/2014/main" id="{6325A55F-C812-4F0C-A6A9-344DFF7FFE33}"/>
              </a:ext>
            </a:extLst>
          </p:cNvPr>
          <p:cNvSpPr/>
          <p:nvPr/>
        </p:nvSpPr>
        <p:spPr>
          <a:xfrm>
            <a:off x="343875" y="1259058"/>
            <a:ext cx="10988434" cy="923330"/>
          </a:xfrm>
          <a:prstGeom prst="rect">
            <a:avLst/>
          </a:prstGeom>
        </p:spPr>
        <p:txBody>
          <a:bodyPr wrap="square">
            <a:spAutoFit/>
          </a:bodyPr>
          <a:lstStyle/>
          <a:p>
            <a:r>
              <a:rPr lang="de-DE" dirty="0"/>
              <a:t>- Per USB-Stick, effektive Datenübertragungsrate 32 MB/s</a:t>
            </a:r>
          </a:p>
          <a:p>
            <a:r>
              <a:rPr lang="de-DE" dirty="0"/>
              <a:t>- Über das LAN, effektive Datenübertragungsrate 800 Mbit/s</a:t>
            </a:r>
          </a:p>
          <a:p>
            <a:r>
              <a:rPr lang="de-DE" dirty="0"/>
              <a:t>Ermitteln Sie die Übertragungsdauer der Software auf einen PC in Minuten für die Übertragung</a:t>
            </a:r>
          </a:p>
        </p:txBody>
      </p:sp>
      <p:sp>
        <p:nvSpPr>
          <p:cNvPr id="5" name="Rechteck 4">
            <a:extLst>
              <a:ext uri="{FF2B5EF4-FFF2-40B4-BE49-F238E27FC236}">
                <a16:creationId xmlns:a16="http://schemas.microsoft.com/office/drawing/2014/main" id="{9585BA42-7C8F-45FC-932D-37B44591E763}"/>
              </a:ext>
            </a:extLst>
          </p:cNvPr>
          <p:cNvSpPr/>
          <p:nvPr/>
        </p:nvSpPr>
        <p:spPr>
          <a:xfrm>
            <a:off x="476738" y="2342104"/>
            <a:ext cx="7643446" cy="923330"/>
          </a:xfrm>
          <a:prstGeom prst="rect">
            <a:avLst/>
          </a:prstGeom>
        </p:spPr>
        <p:txBody>
          <a:bodyPr wrap="square">
            <a:spAutoFit/>
          </a:bodyPr>
          <a:lstStyle/>
          <a:p>
            <a:r>
              <a:rPr lang="de-DE" dirty="0"/>
              <a:t>a) vom USB-Stick.</a:t>
            </a:r>
          </a:p>
          <a:p>
            <a:r>
              <a:rPr lang="de-DE" dirty="0"/>
              <a:t>b) über das LAN.</a:t>
            </a:r>
          </a:p>
          <a:p>
            <a:r>
              <a:rPr lang="de-DE" dirty="0"/>
              <a:t>Runden Sie jeweils auf volle Minuten auf.</a:t>
            </a:r>
          </a:p>
        </p:txBody>
      </p:sp>
      <p:sp>
        <p:nvSpPr>
          <p:cNvPr id="6" name="Textfeld 5">
            <a:extLst>
              <a:ext uri="{FF2B5EF4-FFF2-40B4-BE49-F238E27FC236}">
                <a16:creationId xmlns:a16="http://schemas.microsoft.com/office/drawing/2014/main" id="{FF975C37-B02C-4BBB-A9AF-DC7F7E740858}"/>
              </a:ext>
            </a:extLst>
          </p:cNvPr>
          <p:cNvSpPr txBox="1"/>
          <p:nvPr/>
        </p:nvSpPr>
        <p:spPr>
          <a:xfrm>
            <a:off x="857421" y="3665457"/>
            <a:ext cx="11100117" cy="2246769"/>
          </a:xfrm>
          <a:prstGeom prst="rect">
            <a:avLst/>
          </a:prstGeom>
          <a:noFill/>
        </p:spPr>
        <p:txBody>
          <a:bodyPr wrap="square" rtlCol="0">
            <a:spAutoFit/>
          </a:bodyPr>
          <a:lstStyle/>
          <a:p>
            <a:r>
              <a:rPr lang="de-DE" sz="2800" b="1" dirty="0">
                <a:solidFill>
                  <a:srgbClr val="FF0000"/>
                </a:solidFill>
              </a:rPr>
              <a:t>10GiB x 1024³ x 8</a:t>
            </a:r>
            <a:endParaRPr lang="de-DE" sz="2800" dirty="0">
              <a:solidFill>
                <a:srgbClr val="FF0000"/>
              </a:solidFill>
            </a:endParaRPr>
          </a:p>
          <a:p>
            <a:r>
              <a:rPr lang="de-DE" sz="2800" b="1" dirty="0">
                <a:solidFill>
                  <a:srgbClr val="FF0000"/>
                </a:solidFill>
              </a:rPr>
              <a:t>-------------------------- = </a:t>
            </a:r>
            <a:r>
              <a:rPr lang="de-DE" sz="2800" b="1" dirty="0">
                <a:solidFill>
                  <a:srgbClr val="FF0000"/>
                </a:solidFill>
                <a:highlight>
                  <a:srgbClr val="FFFF00"/>
                </a:highlight>
              </a:rPr>
              <a:t>107 Sekunden /60 = 1,78 also 2 Minuten per LAN  </a:t>
            </a:r>
          </a:p>
          <a:p>
            <a:r>
              <a:rPr lang="de-DE" sz="2800" b="1" dirty="0">
                <a:solidFill>
                  <a:srgbClr val="FF0000"/>
                </a:solidFill>
              </a:rPr>
              <a:t>800 * 1000² </a:t>
            </a:r>
          </a:p>
          <a:p>
            <a:endParaRPr lang="de-DE" sz="2800" dirty="0">
              <a:solidFill>
                <a:srgbClr val="FF0000"/>
              </a:solidFill>
            </a:endParaRPr>
          </a:p>
          <a:p>
            <a:endParaRPr lang="de-DE" sz="2800" dirty="0">
              <a:solidFill>
                <a:srgbClr val="FF0000"/>
              </a:solidFill>
            </a:endParaRPr>
          </a:p>
        </p:txBody>
      </p:sp>
    </p:spTree>
    <p:extLst>
      <p:ext uri="{BB962C8B-B14F-4D97-AF65-F5344CB8AC3E}">
        <p14:creationId xmlns:p14="http://schemas.microsoft.com/office/powerpoint/2010/main" val="3133065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srcRect/>
          <a:stretch>
            <a:fillRect/>
          </a:stretch>
        </p:blipFill>
        <p:spPr bwMode="auto">
          <a:xfrm>
            <a:off x="143341" y="1"/>
            <a:ext cx="11645900" cy="3019425"/>
          </a:xfrm>
          <a:prstGeom prst="rect">
            <a:avLst/>
          </a:prstGeom>
          <a:noFill/>
          <a:ln w="9525">
            <a:noFill/>
            <a:miter lim="800000"/>
            <a:headEnd/>
            <a:tailEnd/>
          </a:ln>
        </p:spPr>
      </p:pic>
      <p:pic>
        <p:nvPicPr>
          <p:cNvPr id="12291" name="Picture 3"/>
          <p:cNvPicPr>
            <a:picLocks noChangeAspect="1" noChangeArrowheads="1"/>
          </p:cNvPicPr>
          <p:nvPr/>
        </p:nvPicPr>
        <p:blipFill>
          <a:blip r:embed="rId3" cstate="print"/>
          <a:srcRect/>
          <a:stretch>
            <a:fillRect/>
          </a:stretch>
        </p:blipFill>
        <p:spPr bwMode="auto">
          <a:xfrm>
            <a:off x="143341" y="4797152"/>
            <a:ext cx="11518900" cy="476251"/>
          </a:xfrm>
          <a:prstGeom prst="rect">
            <a:avLst/>
          </a:prstGeom>
          <a:noFill/>
          <a:ln w="9525">
            <a:noFill/>
            <a:miter lim="800000"/>
            <a:headEnd/>
            <a:tailEnd/>
          </a:ln>
        </p:spPr>
      </p:pic>
      <p:pic>
        <p:nvPicPr>
          <p:cNvPr id="12292" name="Picture 4"/>
          <p:cNvPicPr>
            <a:picLocks noChangeAspect="1" noChangeArrowheads="1"/>
          </p:cNvPicPr>
          <p:nvPr/>
        </p:nvPicPr>
        <p:blipFill>
          <a:blip r:embed="rId4" cstate="print"/>
          <a:srcRect/>
          <a:stretch>
            <a:fillRect/>
          </a:stretch>
        </p:blipFill>
        <p:spPr bwMode="auto">
          <a:xfrm>
            <a:off x="719403" y="2996952"/>
            <a:ext cx="6240693" cy="1804808"/>
          </a:xfrm>
          <a:prstGeom prst="rect">
            <a:avLst/>
          </a:prstGeom>
          <a:noFill/>
          <a:ln w="9525">
            <a:noFill/>
            <a:miter lim="800000"/>
            <a:headEnd/>
            <a:tailEnd/>
          </a:ln>
        </p:spPr>
      </p:pic>
      <p:pic>
        <p:nvPicPr>
          <p:cNvPr id="12293" name="Picture 5"/>
          <p:cNvPicPr>
            <a:picLocks noChangeAspect="1" noChangeArrowheads="1"/>
          </p:cNvPicPr>
          <p:nvPr/>
        </p:nvPicPr>
        <p:blipFill>
          <a:blip r:embed="rId5" cstate="print"/>
          <a:srcRect/>
          <a:stretch>
            <a:fillRect/>
          </a:stretch>
        </p:blipFill>
        <p:spPr bwMode="auto">
          <a:xfrm>
            <a:off x="815413" y="5230272"/>
            <a:ext cx="10177131" cy="1627728"/>
          </a:xfrm>
          <a:prstGeom prst="rect">
            <a:avLst/>
          </a:prstGeom>
          <a:noFill/>
          <a:ln w="9525">
            <a:noFill/>
            <a:miter lim="800000"/>
            <a:headEnd/>
            <a:tailEnd/>
          </a:ln>
        </p:spPr>
      </p:pic>
    </p:spTree>
    <p:extLst>
      <p:ext uri="{BB962C8B-B14F-4D97-AF65-F5344CB8AC3E}">
        <p14:creationId xmlns:p14="http://schemas.microsoft.com/office/powerpoint/2010/main" val="1109991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blinds(horizontal)">
                                      <p:cBhvr>
                                        <p:cTn id="7" dur="500"/>
                                        <p:tgtEl>
                                          <p:spTgt spid="1229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293"/>
                                        </p:tgtEl>
                                        <p:attrNameLst>
                                          <p:attrName>style.visibility</p:attrName>
                                        </p:attrNameLst>
                                      </p:cBhvr>
                                      <p:to>
                                        <p:strVal val="visible"/>
                                      </p:to>
                                    </p:set>
                                    <p:animEffect transition="in" filter="blinds(horizontal)">
                                      <p:cBhvr>
                                        <p:cTn id="12" dur="500"/>
                                        <p:tgtEl>
                                          <p:spTgt spid="12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291" name="Picture 3"/>
          <p:cNvPicPr>
            <a:picLocks noChangeAspect="1" noChangeArrowheads="1"/>
          </p:cNvPicPr>
          <p:nvPr/>
        </p:nvPicPr>
        <p:blipFill>
          <a:blip r:embed="rId2" cstate="print"/>
          <a:srcRect/>
          <a:stretch>
            <a:fillRect/>
          </a:stretch>
        </p:blipFill>
        <p:spPr bwMode="auto">
          <a:xfrm>
            <a:off x="336550" y="503448"/>
            <a:ext cx="11518900" cy="476251"/>
          </a:xfrm>
          <a:prstGeom prst="rect">
            <a:avLst/>
          </a:prstGeom>
          <a:noFill/>
          <a:ln w="9525">
            <a:noFill/>
            <a:miter lim="800000"/>
            <a:headEnd/>
            <a:tailEnd/>
          </a:ln>
        </p:spPr>
      </p:pic>
      <p:pic>
        <p:nvPicPr>
          <p:cNvPr id="12293" name="Picture 5"/>
          <p:cNvPicPr>
            <a:picLocks noChangeAspect="1" noChangeArrowheads="1"/>
          </p:cNvPicPr>
          <p:nvPr/>
        </p:nvPicPr>
        <p:blipFill>
          <a:blip r:embed="rId3" cstate="print"/>
          <a:srcRect/>
          <a:stretch>
            <a:fillRect/>
          </a:stretch>
        </p:blipFill>
        <p:spPr bwMode="auto">
          <a:xfrm>
            <a:off x="159026" y="1894037"/>
            <a:ext cx="12332566" cy="1972468"/>
          </a:xfrm>
          <a:prstGeom prst="rect">
            <a:avLst/>
          </a:prstGeom>
          <a:noFill/>
          <a:ln w="9525">
            <a:noFill/>
            <a:miter lim="800000"/>
            <a:headEnd/>
            <a:tailEnd/>
          </a:ln>
        </p:spPr>
      </p:pic>
    </p:spTree>
    <p:extLst>
      <p:ext uri="{BB962C8B-B14F-4D97-AF65-F5344CB8AC3E}">
        <p14:creationId xmlns:p14="http://schemas.microsoft.com/office/powerpoint/2010/main" val="3329383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293"/>
                                        </p:tgtEl>
                                        <p:attrNameLst>
                                          <p:attrName>style.visibility</p:attrName>
                                        </p:attrNameLst>
                                      </p:cBhvr>
                                      <p:to>
                                        <p:strVal val="visible"/>
                                      </p:to>
                                    </p:set>
                                    <p:animEffect transition="in" filter="blinds(horizontal)">
                                      <p:cBhvr>
                                        <p:cTn id="7" dur="500"/>
                                        <p:tgtEl>
                                          <p:spTgt spid="12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D4730C99-CF19-4D99-8E25-C344709B8AC6}"/>
              </a:ext>
            </a:extLst>
          </p:cNvPr>
          <p:cNvPicPr>
            <a:picLocks noChangeAspect="1"/>
          </p:cNvPicPr>
          <p:nvPr/>
        </p:nvPicPr>
        <p:blipFill rotWithShape="1">
          <a:blip r:embed="rId2"/>
          <a:srcRect b="26604"/>
          <a:stretch/>
        </p:blipFill>
        <p:spPr>
          <a:xfrm>
            <a:off x="83002" y="131821"/>
            <a:ext cx="11386201" cy="2880320"/>
          </a:xfrm>
          <a:prstGeom prst="rect">
            <a:avLst/>
          </a:prstGeom>
        </p:spPr>
      </p:pic>
      <p:sp>
        <p:nvSpPr>
          <p:cNvPr id="4" name="Textfeld 3">
            <a:extLst>
              <a:ext uri="{FF2B5EF4-FFF2-40B4-BE49-F238E27FC236}">
                <a16:creationId xmlns:a16="http://schemas.microsoft.com/office/drawing/2014/main" id="{83712BB9-F935-48D9-9A8C-41004985EA27}"/>
              </a:ext>
            </a:extLst>
          </p:cNvPr>
          <p:cNvSpPr txBox="1"/>
          <p:nvPr/>
        </p:nvSpPr>
        <p:spPr>
          <a:xfrm>
            <a:off x="369086" y="3163434"/>
            <a:ext cx="11100117" cy="4401205"/>
          </a:xfrm>
          <a:prstGeom prst="rect">
            <a:avLst/>
          </a:prstGeom>
          <a:noFill/>
        </p:spPr>
        <p:txBody>
          <a:bodyPr wrap="square" rtlCol="0">
            <a:spAutoFit/>
          </a:bodyPr>
          <a:lstStyle/>
          <a:p>
            <a:r>
              <a:rPr lang="de-DE" sz="2800" b="1" dirty="0">
                <a:solidFill>
                  <a:srgbClr val="FF0000"/>
                </a:solidFill>
              </a:rPr>
              <a:t>5MiB x 100 x  1024² x 8</a:t>
            </a:r>
            <a:endParaRPr lang="de-DE" sz="2800" dirty="0">
              <a:solidFill>
                <a:srgbClr val="FF0000"/>
              </a:solidFill>
            </a:endParaRPr>
          </a:p>
          <a:p>
            <a:r>
              <a:rPr lang="de-DE" sz="2800" b="1" dirty="0">
                <a:solidFill>
                  <a:srgbClr val="FF0000"/>
                </a:solidFill>
              </a:rPr>
              <a:t>-------------------------------- = 419,4 Sekunden</a:t>
            </a:r>
          </a:p>
          <a:p>
            <a:r>
              <a:rPr lang="de-DE" sz="2800" b="1" dirty="0">
                <a:solidFill>
                  <a:srgbClr val="FF0000"/>
                </a:solidFill>
              </a:rPr>
              <a:t>10Mb * 1000² </a:t>
            </a:r>
          </a:p>
          <a:p>
            <a:endParaRPr lang="de-DE" sz="2800" b="1" dirty="0">
              <a:solidFill>
                <a:srgbClr val="FF0000"/>
              </a:solidFill>
            </a:endParaRPr>
          </a:p>
          <a:p>
            <a:r>
              <a:rPr lang="de-DE" sz="2800" b="1" dirty="0">
                <a:solidFill>
                  <a:srgbClr val="FF0000"/>
                </a:solidFill>
              </a:rPr>
              <a:t>419,4 Sekunden</a:t>
            </a:r>
          </a:p>
          <a:p>
            <a:r>
              <a:rPr lang="de-DE" sz="2800" b="1" dirty="0">
                <a:solidFill>
                  <a:srgbClr val="FF0000"/>
                </a:solidFill>
              </a:rPr>
              <a:t>---------------------- = </a:t>
            </a:r>
            <a:r>
              <a:rPr lang="de-DE" sz="2800" b="1" dirty="0">
                <a:solidFill>
                  <a:srgbClr val="FF0000"/>
                </a:solidFill>
                <a:highlight>
                  <a:srgbClr val="FFFF00"/>
                </a:highlight>
              </a:rPr>
              <a:t>6,99 Min -&gt; 7 Minuten</a:t>
            </a:r>
          </a:p>
          <a:p>
            <a:r>
              <a:rPr lang="de-DE" sz="2800" b="1" dirty="0">
                <a:solidFill>
                  <a:srgbClr val="FF0000"/>
                </a:solidFill>
              </a:rPr>
              <a:t>60</a:t>
            </a:r>
          </a:p>
          <a:p>
            <a:r>
              <a:rPr lang="de-DE" sz="2800" b="1" dirty="0">
                <a:solidFill>
                  <a:srgbClr val="FF0000"/>
                </a:solidFill>
                <a:highlight>
                  <a:srgbClr val="FFFF00"/>
                </a:highlight>
              </a:rPr>
              <a:t>10 Mbit/s reichen nicht aus!</a:t>
            </a:r>
          </a:p>
          <a:p>
            <a:endParaRPr lang="de-DE" sz="2800" dirty="0">
              <a:solidFill>
                <a:srgbClr val="FF0000"/>
              </a:solidFill>
            </a:endParaRPr>
          </a:p>
          <a:p>
            <a:endParaRPr lang="de-DE" sz="2800" dirty="0">
              <a:solidFill>
                <a:srgbClr val="FF0000"/>
              </a:solidFill>
            </a:endParaRPr>
          </a:p>
        </p:txBody>
      </p:sp>
    </p:spTree>
    <p:extLst>
      <p:ext uri="{BB962C8B-B14F-4D97-AF65-F5344CB8AC3E}">
        <p14:creationId xmlns:p14="http://schemas.microsoft.com/office/powerpoint/2010/main" val="3819032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Grafik 3"/>
          <p:cNvPicPr>
            <a:picLocks noChangeAspect="1"/>
          </p:cNvPicPr>
          <p:nvPr/>
        </p:nvPicPr>
        <p:blipFill>
          <a:blip r:embed="rId2"/>
          <a:stretch>
            <a:fillRect/>
          </a:stretch>
        </p:blipFill>
        <p:spPr>
          <a:xfrm>
            <a:off x="188747" y="124808"/>
            <a:ext cx="7076251" cy="4746334"/>
          </a:xfrm>
          <a:prstGeom prst="rect">
            <a:avLst/>
          </a:prstGeom>
        </p:spPr>
      </p:pic>
      <p:sp>
        <p:nvSpPr>
          <p:cNvPr id="3" name="Textfeld 2">
            <a:extLst>
              <a:ext uri="{FF2B5EF4-FFF2-40B4-BE49-F238E27FC236}">
                <a16:creationId xmlns:a16="http://schemas.microsoft.com/office/drawing/2014/main" id="{12565DDA-744E-4027-AF80-8C04788B3365}"/>
              </a:ext>
            </a:extLst>
          </p:cNvPr>
          <p:cNvSpPr txBox="1"/>
          <p:nvPr/>
        </p:nvSpPr>
        <p:spPr>
          <a:xfrm>
            <a:off x="7932615" y="601785"/>
            <a:ext cx="3665416" cy="1200329"/>
          </a:xfrm>
          <a:prstGeom prst="rect">
            <a:avLst/>
          </a:prstGeom>
          <a:noFill/>
        </p:spPr>
        <p:txBody>
          <a:bodyPr wrap="square" rtlCol="0">
            <a:spAutoFit/>
          </a:bodyPr>
          <a:lstStyle/>
          <a:p>
            <a:r>
              <a:rPr lang="de-DE" b="1" u="sng" dirty="0"/>
              <a:t>1,5 </a:t>
            </a:r>
            <a:r>
              <a:rPr lang="de-DE" b="1" u="sng" dirty="0" err="1"/>
              <a:t>TiB</a:t>
            </a:r>
            <a:r>
              <a:rPr lang="de-DE" b="1" u="sng" dirty="0"/>
              <a:t> x 1024⁴ </a:t>
            </a:r>
          </a:p>
          <a:p>
            <a:r>
              <a:rPr lang="de-DE" b="1" dirty="0"/>
              <a:t>1000²</a:t>
            </a:r>
          </a:p>
          <a:p>
            <a:endParaRPr lang="de-DE" dirty="0"/>
          </a:p>
          <a:p>
            <a:r>
              <a:rPr lang="de-DE" dirty="0"/>
              <a:t>= 1.649.267 MB</a:t>
            </a:r>
          </a:p>
        </p:txBody>
      </p:sp>
      <p:sp>
        <p:nvSpPr>
          <p:cNvPr id="2" name="Textfeld 1">
            <a:extLst>
              <a:ext uri="{FF2B5EF4-FFF2-40B4-BE49-F238E27FC236}">
                <a16:creationId xmlns:a16="http://schemas.microsoft.com/office/drawing/2014/main" id="{80CAFF59-5EFF-4435-A3E0-29F0CD88ADAE}"/>
              </a:ext>
            </a:extLst>
          </p:cNvPr>
          <p:cNvSpPr txBox="1"/>
          <p:nvPr/>
        </p:nvSpPr>
        <p:spPr>
          <a:xfrm>
            <a:off x="527847" y="5212862"/>
            <a:ext cx="4710328" cy="954107"/>
          </a:xfrm>
          <a:prstGeom prst="rect">
            <a:avLst/>
          </a:prstGeom>
          <a:solidFill>
            <a:schemeClr val="accent2"/>
          </a:solidFill>
        </p:spPr>
        <p:txBody>
          <a:bodyPr wrap="none" rtlCol="0">
            <a:spAutoFit/>
          </a:bodyPr>
          <a:lstStyle/>
          <a:p>
            <a:pPr algn="ctr"/>
            <a:r>
              <a:rPr lang="de-DE" sz="2800" b="1" dirty="0">
                <a:solidFill>
                  <a:schemeClr val="bg1"/>
                </a:solidFill>
              </a:rPr>
              <a:t>ACHTUNG</a:t>
            </a:r>
          </a:p>
          <a:p>
            <a:pPr algn="ctr"/>
            <a:r>
              <a:rPr lang="de-DE" sz="2800" b="1" dirty="0">
                <a:solidFill>
                  <a:schemeClr val="bg1"/>
                </a:solidFill>
              </a:rPr>
              <a:t>!!! schwachsinnige Aufgabe !!!</a:t>
            </a:r>
          </a:p>
        </p:txBody>
      </p:sp>
    </p:spTree>
    <p:extLst>
      <p:ext uri="{BB962C8B-B14F-4D97-AF65-F5344CB8AC3E}">
        <p14:creationId xmlns:p14="http://schemas.microsoft.com/office/powerpoint/2010/main" val="283231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3889FB83-9650-4EFD-9309-47060CB9324D}"/>
              </a:ext>
            </a:extLst>
          </p:cNvPr>
          <p:cNvSpPr/>
          <p:nvPr/>
        </p:nvSpPr>
        <p:spPr>
          <a:xfrm>
            <a:off x="140676" y="163827"/>
            <a:ext cx="11676185" cy="968278"/>
          </a:xfrm>
          <a:prstGeom prst="rect">
            <a:avLst/>
          </a:prstGeom>
        </p:spPr>
        <p:txBody>
          <a:bodyPr wrap="square">
            <a:spAutoFit/>
          </a:bodyPr>
          <a:lstStyle/>
          <a:p>
            <a:pPr lvl="0">
              <a:lnSpc>
                <a:spcPct val="107000"/>
              </a:lnSpc>
              <a:spcAft>
                <a:spcPts val="0"/>
              </a:spcAft>
            </a:pPr>
            <a:r>
              <a:rPr lang="de-DE" b="1" dirty="0">
                <a:latin typeface="Calibri" panose="020F0502020204030204" pitchFamily="34" charset="0"/>
                <a:ea typeface="Calibri" panose="020F0502020204030204" pitchFamily="34" charset="0"/>
                <a:cs typeface="Times New Roman" panose="02020603050405020304" pitchFamily="18" charset="0"/>
              </a:rPr>
              <a:t>8) Für die Sicherung steht eine externe SSD-Festplatte mit einer USB 3.0-Schnittstelle (450 MB/s) und einer eSATA II-Schnittstelle (300 MB/s) zur Verfügung. </a:t>
            </a:r>
            <a:r>
              <a:rPr lang="de-DE" dirty="0">
                <a:latin typeface="Calibri" panose="020F0502020204030204" pitchFamily="34" charset="0"/>
                <a:ea typeface="Calibri" panose="020F0502020204030204" pitchFamily="34" charset="0"/>
                <a:cs typeface="Times New Roman" panose="02020603050405020304" pitchFamily="18" charset="0"/>
              </a:rPr>
              <a:t> </a:t>
            </a:r>
            <a:r>
              <a:rPr lang="de-DE" b="1" dirty="0">
                <a:latin typeface="Calibri" panose="020F0502020204030204" pitchFamily="34" charset="0"/>
                <a:ea typeface="Calibri" panose="020F0502020204030204" pitchFamily="34" charset="0"/>
                <a:cs typeface="Times New Roman" panose="02020603050405020304" pitchFamily="18" charset="0"/>
              </a:rPr>
              <a:t>Berechnen Sie die Zeit in Sekunden, die jeweils für die Übertragung einer Datenmenge von 8 GiB nötig ist. Die Ergebnisse sind auf volle Sekunden aufzurunden. Die Rechenwege sind anzugeben.</a:t>
            </a:r>
            <a:endParaRPr lang="de-DE"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feld 2">
            <a:extLst>
              <a:ext uri="{FF2B5EF4-FFF2-40B4-BE49-F238E27FC236}">
                <a16:creationId xmlns:a16="http://schemas.microsoft.com/office/drawing/2014/main" id="{FA105A25-4CE7-4696-9C47-B59B87FDF1A2}"/>
              </a:ext>
            </a:extLst>
          </p:cNvPr>
          <p:cNvSpPr txBox="1"/>
          <p:nvPr/>
        </p:nvSpPr>
        <p:spPr>
          <a:xfrm>
            <a:off x="337823" y="1522204"/>
            <a:ext cx="9837808" cy="2308324"/>
          </a:xfrm>
          <a:prstGeom prst="rect">
            <a:avLst/>
          </a:prstGeom>
          <a:noFill/>
        </p:spPr>
        <p:txBody>
          <a:bodyPr wrap="square" rtlCol="0">
            <a:spAutoFit/>
          </a:bodyPr>
          <a:lstStyle/>
          <a:p>
            <a:r>
              <a:rPr lang="de-DE" sz="2400" b="1" dirty="0">
                <a:solidFill>
                  <a:srgbClr val="FF0000"/>
                </a:solidFill>
              </a:rPr>
              <a:t>8GiB x  1024³ x 8</a:t>
            </a:r>
            <a:endParaRPr lang="de-DE" sz="2400" dirty="0">
              <a:solidFill>
                <a:srgbClr val="FF0000"/>
              </a:solidFill>
            </a:endParaRPr>
          </a:p>
          <a:p>
            <a:r>
              <a:rPr lang="de-DE" sz="2400" b="1" dirty="0">
                <a:solidFill>
                  <a:srgbClr val="FF0000"/>
                </a:solidFill>
              </a:rPr>
              <a:t>-------------------------------- =  (19,1) 20 Sekunden über USB 3.0</a:t>
            </a:r>
          </a:p>
          <a:p>
            <a:r>
              <a:rPr lang="de-DE" sz="2400" b="1" dirty="0">
                <a:solidFill>
                  <a:srgbClr val="FF0000"/>
                </a:solidFill>
              </a:rPr>
              <a:t>450MB * 1000²  * 8</a:t>
            </a:r>
          </a:p>
          <a:p>
            <a:endParaRPr lang="de-DE" sz="2400" b="1" dirty="0">
              <a:solidFill>
                <a:srgbClr val="FF0000"/>
              </a:solidFill>
            </a:endParaRPr>
          </a:p>
          <a:p>
            <a:endParaRPr lang="de-DE" sz="2400" dirty="0">
              <a:solidFill>
                <a:srgbClr val="FF0000"/>
              </a:solidFill>
            </a:endParaRPr>
          </a:p>
          <a:p>
            <a:endParaRPr lang="de-DE" sz="2400" dirty="0">
              <a:solidFill>
                <a:srgbClr val="FF0000"/>
              </a:solidFill>
            </a:endParaRPr>
          </a:p>
        </p:txBody>
      </p:sp>
      <p:sp>
        <p:nvSpPr>
          <p:cNvPr id="4" name="Textfeld 3">
            <a:extLst>
              <a:ext uri="{FF2B5EF4-FFF2-40B4-BE49-F238E27FC236}">
                <a16:creationId xmlns:a16="http://schemas.microsoft.com/office/drawing/2014/main" id="{9842B7FE-5F91-4CE1-A8CA-C39B13EF768B}"/>
              </a:ext>
            </a:extLst>
          </p:cNvPr>
          <p:cNvSpPr txBox="1"/>
          <p:nvPr/>
        </p:nvSpPr>
        <p:spPr>
          <a:xfrm>
            <a:off x="337823" y="4441250"/>
            <a:ext cx="9634608" cy="2308324"/>
          </a:xfrm>
          <a:prstGeom prst="rect">
            <a:avLst/>
          </a:prstGeom>
          <a:noFill/>
        </p:spPr>
        <p:txBody>
          <a:bodyPr wrap="square" rtlCol="0">
            <a:spAutoFit/>
          </a:bodyPr>
          <a:lstStyle/>
          <a:p>
            <a:r>
              <a:rPr lang="de-DE" sz="2400" b="1" dirty="0">
                <a:solidFill>
                  <a:srgbClr val="FF0000"/>
                </a:solidFill>
              </a:rPr>
              <a:t>8GiB x  1024³ x 8</a:t>
            </a:r>
            <a:endParaRPr lang="de-DE" sz="2400" dirty="0">
              <a:solidFill>
                <a:srgbClr val="FF0000"/>
              </a:solidFill>
            </a:endParaRPr>
          </a:p>
          <a:p>
            <a:r>
              <a:rPr lang="de-DE" sz="2400" b="1" dirty="0">
                <a:solidFill>
                  <a:srgbClr val="FF0000"/>
                </a:solidFill>
              </a:rPr>
              <a:t>-------------------------------- = (28,6) 29 Sekunden über eSATA II </a:t>
            </a:r>
          </a:p>
          <a:p>
            <a:r>
              <a:rPr lang="de-DE" sz="2400" b="1" dirty="0">
                <a:solidFill>
                  <a:srgbClr val="FF0000"/>
                </a:solidFill>
              </a:rPr>
              <a:t>300MB * 1000²  * 8</a:t>
            </a:r>
          </a:p>
          <a:p>
            <a:endParaRPr lang="de-DE" sz="2400" b="1" dirty="0">
              <a:solidFill>
                <a:srgbClr val="FF0000"/>
              </a:solidFill>
            </a:endParaRPr>
          </a:p>
          <a:p>
            <a:endParaRPr lang="de-DE" sz="2400" dirty="0">
              <a:solidFill>
                <a:srgbClr val="FF0000"/>
              </a:solidFill>
            </a:endParaRPr>
          </a:p>
          <a:p>
            <a:endParaRPr lang="de-DE" sz="2400" dirty="0">
              <a:solidFill>
                <a:srgbClr val="FF0000"/>
              </a:solidFill>
            </a:endParaRPr>
          </a:p>
        </p:txBody>
      </p:sp>
    </p:spTree>
    <p:extLst>
      <p:ext uri="{BB962C8B-B14F-4D97-AF65-F5344CB8AC3E}">
        <p14:creationId xmlns:p14="http://schemas.microsoft.com/office/powerpoint/2010/main" val="3399269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3B1D8AF1-0604-46F1-8307-5C08023C0FF6}"/>
              </a:ext>
            </a:extLst>
          </p:cNvPr>
          <p:cNvSpPr/>
          <p:nvPr/>
        </p:nvSpPr>
        <p:spPr>
          <a:xfrm>
            <a:off x="117231" y="207650"/>
            <a:ext cx="5978769" cy="2450094"/>
          </a:xfrm>
          <a:prstGeom prst="rect">
            <a:avLst/>
          </a:prstGeom>
        </p:spPr>
        <p:txBody>
          <a:bodyPr wrap="square">
            <a:spAutoFit/>
          </a:bodyPr>
          <a:lstStyle/>
          <a:p>
            <a:pPr lvl="0">
              <a:lnSpc>
                <a:spcPct val="107000"/>
              </a:lnSpc>
              <a:spcAft>
                <a:spcPts val="0"/>
              </a:spcAft>
            </a:pPr>
            <a:r>
              <a:rPr lang="de-DE" b="1" dirty="0">
                <a:latin typeface="Calibri" panose="020F0502020204030204" pitchFamily="34" charset="0"/>
                <a:ea typeface="Calibri" panose="020F0502020204030204" pitchFamily="34" charset="0"/>
                <a:cs typeface="Times New Roman" panose="02020603050405020304" pitchFamily="18" charset="0"/>
              </a:rPr>
              <a:t>9) Der Upload einer 75 MiB großen Datei erfolgt über eine  	Internetverbindung mit folgenden Eigenschaften. </a:t>
            </a:r>
            <a:endParaRPr lang="de-DE"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0"/>
              </a:spcAft>
            </a:pPr>
            <a:r>
              <a:rPr lang="de-DE" b="1" u="sng" dirty="0">
                <a:latin typeface="Calibri" panose="020F0502020204030204" pitchFamily="34" charset="0"/>
                <a:ea typeface="Calibri" panose="020F0502020204030204" pitchFamily="34" charset="0"/>
                <a:cs typeface="Times New Roman" panose="02020603050405020304" pitchFamily="18" charset="0"/>
              </a:rPr>
              <a:t>Minimale Übertragungsrate: 16 </a:t>
            </a:r>
            <a:r>
              <a:rPr lang="de-DE" b="1" u="sng" dirty="0" err="1">
                <a:latin typeface="Calibri" panose="020F0502020204030204" pitchFamily="34" charset="0"/>
                <a:ea typeface="Calibri" panose="020F0502020204030204" pitchFamily="34" charset="0"/>
                <a:cs typeface="Times New Roman" panose="02020603050405020304" pitchFamily="18" charset="0"/>
              </a:rPr>
              <a:t>Mb</a:t>
            </a:r>
            <a:r>
              <a:rPr lang="de-DE" b="1" u="sng" dirty="0">
                <a:latin typeface="Calibri" panose="020F0502020204030204" pitchFamily="34" charset="0"/>
                <a:ea typeface="Calibri" panose="020F0502020204030204" pitchFamily="34" charset="0"/>
                <a:cs typeface="Times New Roman" panose="02020603050405020304" pitchFamily="18" charset="0"/>
              </a:rPr>
              <a:t>/s</a:t>
            </a:r>
          </a:p>
          <a:p>
            <a:pPr marL="457200">
              <a:lnSpc>
                <a:spcPct val="107000"/>
              </a:lnSpc>
              <a:spcAft>
                <a:spcPts val="0"/>
              </a:spcAft>
            </a:pPr>
            <a:r>
              <a:rPr lang="de-DE" b="1" u="sng" dirty="0">
                <a:latin typeface="Calibri" panose="020F0502020204030204" pitchFamily="34" charset="0"/>
                <a:ea typeface="Calibri" panose="020F0502020204030204" pitchFamily="34" charset="0"/>
                <a:cs typeface="Times New Roman" panose="02020603050405020304" pitchFamily="18" charset="0"/>
              </a:rPr>
              <a:t>MTU Wert: 1.480 Byte</a:t>
            </a:r>
          </a:p>
          <a:p>
            <a:pPr marL="457200">
              <a:lnSpc>
                <a:spcPct val="107000"/>
              </a:lnSpc>
              <a:spcAft>
                <a:spcPts val="0"/>
              </a:spcAft>
            </a:pPr>
            <a:r>
              <a:rPr lang="de-DE" b="1" u="sng" dirty="0">
                <a:latin typeface="Calibri" panose="020F0502020204030204" pitchFamily="34" charset="0"/>
                <a:ea typeface="Calibri" panose="020F0502020204030204" pitchFamily="34" charset="0"/>
                <a:cs typeface="Times New Roman" panose="02020603050405020304" pitchFamily="18" charset="0"/>
              </a:rPr>
              <a:t>Latenz pro Frame: 0,3 </a:t>
            </a:r>
            <a:r>
              <a:rPr lang="de-DE" b="1" u="sng" dirty="0" err="1">
                <a:latin typeface="Calibri" panose="020F0502020204030204" pitchFamily="34" charset="0"/>
                <a:ea typeface="Calibri" panose="020F0502020204030204" pitchFamily="34" charset="0"/>
                <a:cs typeface="Times New Roman" panose="02020603050405020304" pitchFamily="18" charset="0"/>
              </a:rPr>
              <a:t>ms</a:t>
            </a:r>
            <a:endParaRPr lang="de-DE" b="1" u="sng"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0"/>
              </a:spcAft>
            </a:pPr>
            <a:r>
              <a:rPr lang="de-DE" b="1" dirty="0">
                <a:latin typeface="Calibri" panose="020F0502020204030204" pitchFamily="34" charset="0"/>
                <a:ea typeface="Calibri" panose="020F0502020204030204" pitchFamily="34" charset="0"/>
                <a:cs typeface="Times New Roman" panose="02020603050405020304" pitchFamily="18" charset="0"/>
              </a:rPr>
              <a:t>Berechnen Sie die Zeit in Sekunden, welche dieser Download mindestens benötigt.</a:t>
            </a:r>
            <a:endParaRPr lang="de-DE"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de-DE" b="1" dirty="0">
                <a:latin typeface="Calibri" panose="020F0502020204030204" pitchFamily="34" charset="0"/>
                <a:ea typeface="Calibri" panose="020F0502020204030204" pitchFamily="34" charset="0"/>
                <a:cs typeface="Times New Roman" panose="02020603050405020304" pitchFamily="18" charset="0"/>
              </a:rPr>
              <a:t>Der Rechenweg ist anzugeben.</a:t>
            </a:r>
            <a:endParaRPr lang="de-DE"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Rechteck 1">
            <a:extLst>
              <a:ext uri="{FF2B5EF4-FFF2-40B4-BE49-F238E27FC236}">
                <a16:creationId xmlns:a16="http://schemas.microsoft.com/office/drawing/2014/main" id="{7CCA1CAC-D4A6-4670-9951-B2DB28AA791D}"/>
              </a:ext>
            </a:extLst>
          </p:cNvPr>
          <p:cNvSpPr/>
          <p:nvPr/>
        </p:nvSpPr>
        <p:spPr>
          <a:xfrm>
            <a:off x="6907233" y="201989"/>
            <a:ext cx="6096000" cy="1477328"/>
          </a:xfrm>
          <a:prstGeom prst="rect">
            <a:avLst/>
          </a:prstGeom>
        </p:spPr>
        <p:txBody>
          <a:bodyPr>
            <a:spAutoFit/>
          </a:bodyPr>
          <a:lstStyle/>
          <a:p>
            <a:r>
              <a:rPr lang="de-DE" b="1" dirty="0">
                <a:solidFill>
                  <a:srgbClr val="FF0000"/>
                </a:solidFill>
              </a:rPr>
              <a:t>1) Berechnung der Gesamtzahl der Frames:</a:t>
            </a:r>
          </a:p>
          <a:p>
            <a:endParaRPr lang="de-DE" dirty="0"/>
          </a:p>
          <a:p>
            <a:r>
              <a:rPr lang="de-DE" b="1" dirty="0">
                <a:solidFill>
                  <a:srgbClr val="FF0000"/>
                </a:solidFill>
              </a:rPr>
              <a:t>75 * 1024² </a:t>
            </a:r>
            <a:endParaRPr lang="de-DE" dirty="0">
              <a:solidFill>
                <a:srgbClr val="FF0000"/>
              </a:solidFill>
            </a:endParaRPr>
          </a:p>
          <a:p>
            <a:r>
              <a:rPr lang="de-DE" b="1" dirty="0">
                <a:solidFill>
                  <a:srgbClr val="FF0000"/>
                </a:solidFill>
              </a:rPr>
              <a:t>-------------------------- = 53.137 Frames</a:t>
            </a:r>
          </a:p>
          <a:p>
            <a:r>
              <a:rPr lang="de-DE" b="1" dirty="0">
                <a:solidFill>
                  <a:srgbClr val="FF0000"/>
                </a:solidFill>
              </a:rPr>
              <a:t>1480</a:t>
            </a:r>
          </a:p>
        </p:txBody>
      </p:sp>
      <p:sp>
        <p:nvSpPr>
          <p:cNvPr id="3" name="Rechteck 2">
            <a:extLst>
              <a:ext uri="{FF2B5EF4-FFF2-40B4-BE49-F238E27FC236}">
                <a16:creationId xmlns:a16="http://schemas.microsoft.com/office/drawing/2014/main" id="{0ACA1F0B-1E22-4788-B0E8-52BB396D6755}"/>
              </a:ext>
            </a:extLst>
          </p:cNvPr>
          <p:cNvSpPr/>
          <p:nvPr/>
        </p:nvSpPr>
        <p:spPr>
          <a:xfrm>
            <a:off x="6907233" y="1999698"/>
            <a:ext cx="6096000" cy="923330"/>
          </a:xfrm>
          <a:prstGeom prst="rect">
            <a:avLst/>
          </a:prstGeom>
        </p:spPr>
        <p:txBody>
          <a:bodyPr>
            <a:spAutoFit/>
          </a:bodyPr>
          <a:lstStyle/>
          <a:p>
            <a:r>
              <a:rPr lang="de-DE" b="1" dirty="0">
                <a:solidFill>
                  <a:srgbClr val="FF0000"/>
                </a:solidFill>
              </a:rPr>
              <a:t>2) Berechnung der gesamten Latenzzeit.</a:t>
            </a:r>
          </a:p>
          <a:p>
            <a:endParaRPr lang="de-DE" b="1" dirty="0">
              <a:solidFill>
                <a:srgbClr val="FF0000"/>
              </a:solidFill>
            </a:endParaRPr>
          </a:p>
          <a:p>
            <a:r>
              <a:rPr lang="de-DE" b="1" dirty="0">
                <a:solidFill>
                  <a:srgbClr val="FF0000"/>
                </a:solidFill>
              </a:rPr>
              <a:t>53.137 Frames * </a:t>
            </a:r>
            <a:r>
              <a:rPr lang="de-DE" b="1">
                <a:solidFill>
                  <a:srgbClr val="FF0000"/>
                </a:solidFill>
              </a:rPr>
              <a:t>0,0003 s </a:t>
            </a:r>
            <a:r>
              <a:rPr lang="de-DE" b="1" dirty="0">
                <a:solidFill>
                  <a:srgbClr val="FF0000"/>
                </a:solidFill>
              </a:rPr>
              <a:t>=  15,9 Sekunden</a:t>
            </a:r>
          </a:p>
        </p:txBody>
      </p:sp>
      <p:sp>
        <p:nvSpPr>
          <p:cNvPr id="4" name="Rechteck 3">
            <a:extLst>
              <a:ext uri="{FF2B5EF4-FFF2-40B4-BE49-F238E27FC236}">
                <a16:creationId xmlns:a16="http://schemas.microsoft.com/office/drawing/2014/main" id="{107DC9E3-11D6-4236-A2A0-24847DD48A72}"/>
              </a:ext>
            </a:extLst>
          </p:cNvPr>
          <p:cNvSpPr/>
          <p:nvPr/>
        </p:nvSpPr>
        <p:spPr>
          <a:xfrm>
            <a:off x="6907233" y="3196309"/>
            <a:ext cx="6096000" cy="1477328"/>
          </a:xfrm>
          <a:prstGeom prst="rect">
            <a:avLst/>
          </a:prstGeom>
        </p:spPr>
        <p:txBody>
          <a:bodyPr>
            <a:spAutoFit/>
          </a:bodyPr>
          <a:lstStyle/>
          <a:p>
            <a:r>
              <a:rPr lang="de-DE" b="1" dirty="0">
                <a:solidFill>
                  <a:srgbClr val="FF0000"/>
                </a:solidFill>
              </a:rPr>
              <a:t>3) Berechnung der Übertragungszeit</a:t>
            </a:r>
          </a:p>
          <a:p>
            <a:endParaRPr lang="de-DE" b="1" dirty="0">
              <a:solidFill>
                <a:srgbClr val="FF0000"/>
              </a:solidFill>
            </a:endParaRPr>
          </a:p>
          <a:p>
            <a:r>
              <a:rPr lang="de-DE" b="1" dirty="0">
                <a:solidFill>
                  <a:srgbClr val="FF0000"/>
                </a:solidFill>
              </a:rPr>
              <a:t>75 * 1024² *8</a:t>
            </a:r>
            <a:endParaRPr lang="de-DE" dirty="0">
              <a:solidFill>
                <a:srgbClr val="FF0000"/>
              </a:solidFill>
            </a:endParaRPr>
          </a:p>
          <a:p>
            <a:r>
              <a:rPr lang="de-DE" b="1" dirty="0">
                <a:solidFill>
                  <a:srgbClr val="FF0000"/>
                </a:solidFill>
              </a:rPr>
              <a:t>-------------------------- = 39,3 Sekunden</a:t>
            </a:r>
          </a:p>
          <a:p>
            <a:r>
              <a:rPr lang="de-DE" b="1" dirty="0">
                <a:solidFill>
                  <a:srgbClr val="FF0000"/>
                </a:solidFill>
              </a:rPr>
              <a:t>16 * 1000² </a:t>
            </a:r>
          </a:p>
        </p:txBody>
      </p:sp>
      <p:sp>
        <p:nvSpPr>
          <p:cNvPr id="7" name="Rechteck 6">
            <a:extLst>
              <a:ext uri="{FF2B5EF4-FFF2-40B4-BE49-F238E27FC236}">
                <a16:creationId xmlns:a16="http://schemas.microsoft.com/office/drawing/2014/main" id="{F0A09B65-2C31-4C36-9F0A-77EEA870ABBE}"/>
              </a:ext>
            </a:extLst>
          </p:cNvPr>
          <p:cNvSpPr/>
          <p:nvPr/>
        </p:nvSpPr>
        <p:spPr>
          <a:xfrm>
            <a:off x="6907233" y="4946918"/>
            <a:ext cx="6096000" cy="923330"/>
          </a:xfrm>
          <a:prstGeom prst="rect">
            <a:avLst/>
          </a:prstGeom>
        </p:spPr>
        <p:txBody>
          <a:bodyPr>
            <a:spAutoFit/>
          </a:bodyPr>
          <a:lstStyle/>
          <a:p>
            <a:r>
              <a:rPr lang="de-DE" b="1" dirty="0">
                <a:solidFill>
                  <a:srgbClr val="FF0000"/>
                </a:solidFill>
              </a:rPr>
              <a:t>4) Addition der Werte:</a:t>
            </a:r>
          </a:p>
          <a:p>
            <a:endParaRPr lang="de-DE" b="1" dirty="0">
              <a:solidFill>
                <a:srgbClr val="FF0000"/>
              </a:solidFill>
            </a:endParaRPr>
          </a:p>
          <a:p>
            <a:r>
              <a:rPr lang="de-DE" b="1" dirty="0">
                <a:solidFill>
                  <a:srgbClr val="FF0000"/>
                </a:solidFill>
              </a:rPr>
              <a:t>15,9 Sekunden + 39,3 Sekunden = 55,2 Sekunden </a:t>
            </a:r>
          </a:p>
        </p:txBody>
      </p:sp>
    </p:spTree>
    <p:extLst>
      <p:ext uri="{BB962C8B-B14F-4D97-AF65-F5344CB8AC3E}">
        <p14:creationId xmlns:p14="http://schemas.microsoft.com/office/powerpoint/2010/main" val="667905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2791565C-776A-4618-A35F-6A1BF6F2C1C9}"/>
              </a:ext>
            </a:extLst>
          </p:cNvPr>
          <p:cNvSpPr/>
          <p:nvPr/>
        </p:nvSpPr>
        <p:spPr>
          <a:xfrm>
            <a:off x="101599" y="174439"/>
            <a:ext cx="11799523" cy="3042821"/>
          </a:xfrm>
          <a:prstGeom prst="rect">
            <a:avLst/>
          </a:prstGeom>
        </p:spPr>
        <p:txBody>
          <a:bodyPr wrap="square">
            <a:spAutoFit/>
          </a:bodyPr>
          <a:lstStyle/>
          <a:p>
            <a:pPr lvl="0">
              <a:lnSpc>
                <a:spcPct val="107000"/>
              </a:lnSpc>
              <a:spcAft>
                <a:spcPts val="0"/>
              </a:spcAft>
            </a:pPr>
            <a:r>
              <a:rPr lang="de-DE" b="1" dirty="0">
                <a:latin typeface="Calibri" panose="020F0502020204030204" pitchFamily="34" charset="0"/>
                <a:ea typeface="Calibri" panose="020F0502020204030204" pitchFamily="34" charset="0"/>
                <a:cs typeface="Times New Roman" panose="02020603050405020304" pitchFamily="18" charset="0"/>
              </a:rPr>
              <a:t>10) 	Sie planen das Remote-Netzwerk-Management. Der externe Zugriff auf das Netzwerk erfolgt über ein VPN-Gateway 	mit einer ADSL 50/10 Mbit/s Anbindung.</a:t>
            </a:r>
            <a:endParaRPr lang="de-DE"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0"/>
              </a:spcAft>
            </a:pPr>
            <a:r>
              <a:rPr lang="de-DE" b="1" dirty="0">
                <a:latin typeface="Calibri" panose="020F0502020204030204" pitchFamily="34" charset="0"/>
                <a:ea typeface="Calibri" panose="020F0502020204030204" pitchFamily="34" charset="0"/>
                <a:cs typeface="Times New Roman" panose="02020603050405020304" pitchFamily="18" charset="0"/>
              </a:rPr>
              <a:t>Das RNM soll maximal 2% der Datenübertragungskapazität beanspruchen.</a:t>
            </a:r>
            <a:endParaRPr lang="de-DE"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0"/>
              </a:spcAft>
            </a:pPr>
            <a:r>
              <a:rPr lang="de-DE" b="1" dirty="0">
                <a:latin typeface="Calibri" panose="020F0502020204030204" pitchFamily="34" charset="0"/>
                <a:ea typeface="Calibri" panose="020F0502020204030204" pitchFamily="34" charset="0"/>
                <a:cs typeface="Times New Roman" panose="02020603050405020304" pitchFamily="18" charset="0"/>
              </a:rPr>
              <a:t> </a:t>
            </a:r>
            <a:endParaRPr lang="de-DE"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0"/>
              </a:spcAft>
            </a:pPr>
            <a:r>
              <a:rPr lang="de-DE" b="1" dirty="0">
                <a:latin typeface="Calibri" panose="020F0502020204030204" pitchFamily="34" charset="0"/>
                <a:ea typeface="Calibri" panose="020F0502020204030204" pitchFamily="34" charset="0"/>
                <a:cs typeface="Times New Roman" panose="02020603050405020304" pitchFamily="18" charset="0"/>
              </a:rPr>
              <a:t>Jeder der zehn Komponenten der Kat.1 (z.B. Router) überträgt 1.000 Byte je Anfrage.</a:t>
            </a:r>
            <a:endParaRPr lang="de-DE"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0"/>
              </a:spcAft>
            </a:pPr>
            <a:r>
              <a:rPr lang="de-DE" b="1" dirty="0">
                <a:latin typeface="Calibri" panose="020F0502020204030204" pitchFamily="34" charset="0"/>
                <a:ea typeface="Calibri" panose="020F0502020204030204" pitchFamily="34" charset="0"/>
                <a:cs typeface="Times New Roman" panose="02020603050405020304" pitchFamily="18" charset="0"/>
              </a:rPr>
              <a:t>Komponenten der Kat.2 (z.B. Drucker) übertragen 500 Bytes je Abfrage. Die Abfragen erfolgen jeweils 1-mal die Sekunde.</a:t>
            </a:r>
            <a:endParaRPr lang="de-DE"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0"/>
              </a:spcAft>
            </a:pPr>
            <a:r>
              <a:rPr lang="de-DE" b="1" dirty="0">
                <a:latin typeface="Calibri" panose="020F0502020204030204" pitchFamily="34" charset="0"/>
                <a:ea typeface="Calibri" panose="020F0502020204030204" pitchFamily="34" charset="0"/>
                <a:cs typeface="Times New Roman" panose="02020603050405020304" pitchFamily="18" charset="0"/>
              </a:rPr>
              <a:t>Berechnen Sie die Anzahl der Komponenten 2, welche noch über die VPN-Verbindung überwacht werden können, ohne das 2% der Datenübertragungskapazität überschritten werden.</a:t>
            </a:r>
            <a:endParaRPr lang="de-DE"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de-DE" b="1" dirty="0">
                <a:latin typeface="Calibri" panose="020F0502020204030204" pitchFamily="34" charset="0"/>
                <a:ea typeface="Calibri" panose="020F0502020204030204" pitchFamily="34" charset="0"/>
                <a:cs typeface="Times New Roman" panose="02020603050405020304" pitchFamily="18" charset="0"/>
              </a:rPr>
              <a:t>Der Rechenweg ist anzugeben.</a:t>
            </a:r>
            <a:endParaRPr lang="de-DE" dirty="0">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feld 4">
            <a:extLst>
              <a:ext uri="{FF2B5EF4-FFF2-40B4-BE49-F238E27FC236}">
                <a16:creationId xmlns:a16="http://schemas.microsoft.com/office/drawing/2014/main" id="{5650E723-F095-42ED-96D7-45410010FAFC}"/>
              </a:ext>
            </a:extLst>
          </p:cNvPr>
          <p:cNvSpPr txBox="1"/>
          <p:nvPr/>
        </p:nvSpPr>
        <p:spPr>
          <a:xfrm>
            <a:off x="984738" y="3290277"/>
            <a:ext cx="11558954" cy="2215991"/>
          </a:xfrm>
          <a:prstGeom prst="rect">
            <a:avLst/>
          </a:prstGeom>
          <a:noFill/>
        </p:spPr>
        <p:txBody>
          <a:bodyPr wrap="square" rtlCol="0">
            <a:spAutoFit/>
          </a:bodyPr>
          <a:lstStyle/>
          <a:p>
            <a:r>
              <a:rPr lang="de-DE" sz="2400" b="1" dirty="0">
                <a:solidFill>
                  <a:srgbClr val="FF0000"/>
                </a:solidFill>
              </a:rPr>
              <a:t>2% von 10 Mbit/s = 200.000 </a:t>
            </a:r>
            <a:r>
              <a:rPr lang="de-DE" sz="2400" b="1" dirty="0" err="1">
                <a:solidFill>
                  <a:srgbClr val="FF0000"/>
                </a:solidFill>
              </a:rPr>
              <a:t>bit</a:t>
            </a:r>
            <a:r>
              <a:rPr lang="de-DE" sz="2400" b="1" dirty="0">
                <a:solidFill>
                  <a:srgbClr val="FF0000"/>
                </a:solidFill>
              </a:rPr>
              <a:t>/s  / 8 = 25.000 Byte/s (verfügbar)</a:t>
            </a:r>
          </a:p>
          <a:p>
            <a:endParaRPr lang="de-DE" sz="2400" b="1" dirty="0">
              <a:solidFill>
                <a:srgbClr val="FF0000"/>
              </a:solidFill>
            </a:endParaRPr>
          </a:p>
          <a:p>
            <a:r>
              <a:rPr lang="de-DE" sz="2400" b="1" dirty="0">
                <a:solidFill>
                  <a:srgbClr val="FF0000"/>
                </a:solidFill>
              </a:rPr>
              <a:t>Komponenten 1: 10 * 1.000 Byte/s = 10.000 Byte/s (bereits belegt)</a:t>
            </a:r>
          </a:p>
          <a:p>
            <a:endParaRPr lang="de-DE" sz="2400" b="1" dirty="0">
              <a:solidFill>
                <a:srgbClr val="FF0000"/>
              </a:solidFill>
            </a:endParaRPr>
          </a:p>
          <a:p>
            <a:r>
              <a:rPr lang="de-DE" sz="2400" b="1" dirty="0">
                <a:solidFill>
                  <a:srgbClr val="FF0000"/>
                </a:solidFill>
              </a:rPr>
              <a:t>Komponenten 2: 25.000 Byte/s - 10.000 Byte/s = 15.000 Byte/s / 500 Byte = </a:t>
            </a:r>
            <a:r>
              <a:rPr lang="de-DE" sz="2400" b="1" dirty="0">
                <a:solidFill>
                  <a:srgbClr val="FF0000"/>
                </a:solidFill>
                <a:highlight>
                  <a:srgbClr val="FFFF00"/>
                </a:highlight>
              </a:rPr>
              <a:t>30 Geräte</a:t>
            </a:r>
          </a:p>
          <a:p>
            <a:endParaRPr lang="de-DE" dirty="0"/>
          </a:p>
        </p:txBody>
      </p:sp>
    </p:spTree>
    <p:extLst>
      <p:ext uri="{BB962C8B-B14F-4D97-AF65-F5344CB8AC3E}">
        <p14:creationId xmlns:p14="http://schemas.microsoft.com/office/powerpoint/2010/main" val="1030144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42550C4A-61A1-02CA-FBCC-19BD0CE18C08}"/>
              </a:ext>
            </a:extLst>
          </p:cNvPr>
          <p:cNvPicPr>
            <a:picLocks noChangeAspect="1"/>
          </p:cNvPicPr>
          <p:nvPr/>
        </p:nvPicPr>
        <p:blipFill>
          <a:blip r:embed="rId2"/>
          <a:stretch>
            <a:fillRect/>
          </a:stretch>
        </p:blipFill>
        <p:spPr>
          <a:xfrm>
            <a:off x="0" y="67537"/>
            <a:ext cx="10446287" cy="2971953"/>
          </a:xfrm>
          <a:prstGeom prst="rect">
            <a:avLst/>
          </a:prstGeom>
        </p:spPr>
      </p:pic>
      <p:sp>
        <p:nvSpPr>
          <p:cNvPr id="2" name="Textfeld 1">
            <a:extLst>
              <a:ext uri="{FF2B5EF4-FFF2-40B4-BE49-F238E27FC236}">
                <a16:creationId xmlns:a16="http://schemas.microsoft.com/office/drawing/2014/main" id="{3DC53993-7946-0C3C-8803-E93083381E91}"/>
              </a:ext>
            </a:extLst>
          </p:cNvPr>
          <p:cNvSpPr txBox="1"/>
          <p:nvPr/>
        </p:nvSpPr>
        <p:spPr>
          <a:xfrm>
            <a:off x="200795" y="4136671"/>
            <a:ext cx="3406125" cy="1107996"/>
          </a:xfrm>
          <a:prstGeom prst="rect">
            <a:avLst/>
          </a:prstGeom>
          <a:noFill/>
        </p:spPr>
        <p:txBody>
          <a:bodyPr wrap="none" rtlCol="0">
            <a:spAutoFit/>
          </a:bodyPr>
          <a:lstStyle/>
          <a:p>
            <a:pPr marL="342900" indent="-342900">
              <a:buAutoNum type="arabicPeriod"/>
            </a:pPr>
            <a:endParaRPr lang="de-DE" b="1" u="sng" dirty="0">
              <a:solidFill>
                <a:srgbClr val="FF0000"/>
              </a:solidFill>
            </a:endParaRPr>
          </a:p>
          <a:p>
            <a:pPr marL="342900" indent="-342900">
              <a:buAutoNum type="arabicPeriod"/>
            </a:pPr>
            <a:endParaRPr lang="de-DE" sz="1800" b="1" dirty="0">
              <a:solidFill>
                <a:srgbClr val="FF0000"/>
              </a:solidFill>
            </a:endParaRPr>
          </a:p>
          <a:p>
            <a:r>
              <a:rPr lang="de-DE" dirty="0">
                <a:solidFill>
                  <a:srgbClr val="FF0000"/>
                </a:solidFill>
              </a:rPr>
              <a:t>Berechnung der Übertragungszeit:</a:t>
            </a:r>
            <a:endParaRPr lang="de-DE" b="1" u="sng" dirty="0">
              <a:solidFill>
                <a:srgbClr val="FF0000"/>
              </a:solidFill>
            </a:endParaRPr>
          </a:p>
          <a:p>
            <a:r>
              <a:rPr lang="de-DE" b="1" u="sng" baseline="30000" dirty="0">
                <a:solidFill>
                  <a:srgbClr val="FF0000"/>
                </a:solidFill>
              </a:rPr>
              <a:t> </a:t>
            </a:r>
          </a:p>
        </p:txBody>
      </p:sp>
      <p:sp>
        <p:nvSpPr>
          <p:cNvPr id="7" name="Textfeld 6">
            <a:extLst>
              <a:ext uri="{FF2B5EF4-FFF2-40B4-BE49-F238E27FC236}">
                <a16:creationId xmlns:a16="http://schemas.microsoft.com/office/drawing/2014/main" id="{0B29AA46-D392-B403-3C02-6525A2CB94B1}"/>
              </a:ext>
            </a:extLst>
          </p:cNvPr>
          <p:cNvSpPr txBox="1"/>
          <p:nvPr/>
        </p:nvSpPr>
        <p:spPr>
          <a:xfrm>
            <a:off x="200795" y="3198363"/>
            <a:ext cx="11403771" cy="369332"/>
          </a:xfrm>
          <a:prstGeom prst="rect">
            <a:avLst/>
          </a:prstGeom>
          <a:noFill/>
        </p:spPr>
        <p:txBody>
          <a:bodyPr wrap="square">
            <a:spAutoFit/>
          </a:bodyPr>
          <a:lstStyle/>
          <a:p>
            <a:r>
              <a:rPr lang="de-DE" dirty="0">
                <a:solidFill>
                  <a:srgbClr val="FF0000"/>
                </a:solidFill>
              </a:rPr>
              <a:t>Berechnung des </a:t>
            </a:r>
            <a:r>
              <a:rPr lang="de-DE" dirty="0" err="1">
                <a:solidFill>
                  <a:srgbClr val="FF0000"/>
                </a:solidFill>
              </a:rPr>
              <a:t>Payloads</a:t>
            </a:r>
            <a:r>
              <a:rPr lang="de-DE" dirty="0">
                <a:solidFill>
                  <a:srgbClr val="FF0000"/>
                </a:solidFill>
              </a:rPr>
              <a:t>:</a:t>
            </a:r>
            <a:endParaRPr lang="de-DE" b="1" u="sng" dirty="0">
              <a:solidFill>
                <a:srgbClr val="FF0000"/>
              </a:solidFill>
            </a:endParaRPr>
          </a:p>
        </p:txBody>
      </p:sp>
      <p:sp>
        <p:nvSpPr>
          <p:cNvPr id="9" name="Textfeld 8">
            <a:extLst>
              <a:ext uri="{FF2B5EF4-FFF2-40B4-BE49-F238E27FC236}">
                <a16:creationId xmlns:a16="http://schemas.microsoft.com/office/drawing/2014/main" id="{3CA94C49-2B9C-0297-4F6F-626D4F7C3C82}"/>
              </a:ext>
            </a:extLst>
          </p:cNvPr>
          <p:cNvSpPr txBox="1"/>
          <p:nvPr/>
        </p:nvSpPr>
        <p:spPr>
          <a:xfrm>
            <a:off x="200795" y="3903141"/>
            <a:ext cx="10314805" cy="369332"/>
          </a:xfrm>
          <a:prstGeom prst="rect">
            <a:avLst/>
          </a:prstGeom>
          <a:noFill/>
        </p:spPr>
        <p:txBody>
          <a:bodyPr wrap="square">
            <a:spAutoFit/>
          </a:bodyPr>
          <a:lstStyle/>
          <a:p>
            <a:r>
              <a:rPr lang="de-DE" dirty="0">
                <a:solidFill>
                  <a:srgbClr val="FF0000"/>
                </a:solidFill>
              </a:rPr>
              <a:t>Berechnung der Segmente:</a:t>
            </a:r>
            <a:endParaRPr lang="de-DE" sz="1800" b="1" dirty="0">
              <a:solidFill>
                <a:srgbClr val="FF0000"/>
              </a:solidFill>
            </a:endParaRPr>
          </a:p>
        </p:txBody>
      </p:sp>
      <p:pic>
        <p:nvPicPr>
          <p:cNvPr id="10" name="Grafik 9" descr="Ein Bild, das Text enthält.&#10;&#10;Automatisch generierte Beschreibung">
            <a:extLst>
              <a:ext uri="{FF2B5EF4-FFF2-40B4-BE49-F238E27FC236}">
                <a16:creationId xmlns:a16="http://schemas.microsoft.com/office/drawing/2014/main" id="{3C869475-78D9-D94F-5CBF-1084A64FCA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3143" y="645218"/>
            <a:ext cx="5127472" cy="908295"/>
          </a:xfrm>
          <a:prstGeom prst="rect">
            <a:avLst/>
          </a:prstGeom>
        </p:spPr>
      </p:pic>
    </p:spTree>
    <p:extLst>
      <p:ext uri="{BB962C8B-B14F-4D97-AF65-F5344CB8AC3E}">
        <p14:creationId xmlns:p14="http://schemas.microsoft.com/office/powerpoint/2010/main" val="3538499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42550C4A-61A1-02CA-FBCC-19BD0CE18C08}"/>
              </a:ext>
            </a:extLst>
          </p:cNvPr>
          <p:cNvPicPr>
            <a:picLocks noChangeAspect="1"/>
          </p:cNvPicPr>
          <p:nvPr/>
        </p:nvPicPr>
        <p:blipFill>
          <a:blip r:embed="rId2"/>
          <a:stretch>
            <a:fillRect/>
          </a:stretch>
        </p:blipFill>
        <p:spPr>
          <a:xfrm>
            <a:off x="0" y="67537"/>
            <a:ext cx="10446287" cy="2971953"/>
          </a:xfrm>
          <a:prstGeom prst="rect">
            <a:avLst/>
          </a:prstGeom>
        </p:spPr>
      </p:pic>
      <p:sp>
        <p:nvSpPr>
          <p:cNvPr id="2" name="Textfeld 1">
            <a:extLst>
              <a:ext uri="{FF2B5EF4-FFF2-40B4-BE49-F238E27FC236}">
                <a16:creationId xmlns:a16="http://schemas.microsoft.com/office/drawing/2014/main" id="{3DC53993-7946-0C3C-8803-E93083381E91}"/>
              </a:ext>
            </a:extLst>
          </p:cNvPr>
          <p:cNvSpPr txBox="1"/>
          <p:nvPr/>
        </p:nvSpPr>
        <p:spPr>
          <a:xfrm>
            <a:off x="200795" y="4136671"/>
            <a:ext cx="11096179" cy="1661993"/>
          </a:xfrm>
          <a:prstGeom prst="rect">
            <a:avLst/>
          </a:prstGeom>
          <a:noFill/>
        </p:spPr>
        <p:txBody>
          <a:bodyPr wrap="none" rtlCol="0">
            <a:spAutoFit/>
          </a:bodyPr>
          <a:lstStyle/>
          <a:p>
            <a:pPr marL="342900" indent="-342900">
              <a:buAutoNum type="arabicPeriod"/>
            </a:pPr>
            <a:endParaRPr lang="de-DE" b="1" u="sng" dirty="0">
              <a:solidFill>
                <a:srgbClr val="FF0000"/>
              </a:solidFill>
            </a:endParaRPr>
          </a:p>
          <a:p>
            <a:pPr marL="342900" indent="-342900">
              <a:buAutoNum type="arabicPeriod"/>
            </a:pPr>
            <a:endParaRPr lang="de-DE" sz="1800" b="1" dirty="0">
              <a:solidFill>
                <a:srgbClr val="FF0000"/>
              </a:solidFill>
            </a:endParaRPr>
          </a:p>
          <a:p>
            <a:r>
              <a:rPr lang="de-DE" dirty="0">
                <a:solidFill>
                  <a:srgbClr val="FF0000"/>
                </a:solidFill>
              </a:rPr>
              <a:t>Berechnung der Übertragungszeit: </a:t>
            </a:r>
            <a:r>
              <a:rPr lang="de-DE" sz="1800" dirty="0">
                <a:solidFill>
                  <a:srgbClr val="FF0000"/>
                </a:solidFill>
              </a:rPr>
              <a:t>371.309 Frames * 1.518 Byte * 8 / 10 * 1000</a:t>
            </a:r>
            <a:r>
              <a:rPr lang="de-DE" sz="1800" baseline="30000" dirty="0">
                <a:solidFill>
                  <a:srgbClr val="FF0000"/>
                </a:solidFill>
              </a:rPr>
              <a:t>2 </a:t>
            </a:r>
            <a:r>
              <a:rPr lang="de-DE" dirty="0">
                <a:solidFill>
                  <a:srgbClr val="FF0000"/>
                </a:solidFill>
              </a:rPr>
              <a:t>= </a:t>
            </a:r>
            <a:r>
              <a:rPr lang="de-DE" b="1" u="sng" dirty="0">
                <a:solidFill>
                  <a:srgbClr val="FF0000"/>
                </a:solidFill>
              </a:rPr>
              <a:t>450,91 Sekunden -&gt; 451 Sekunden</a:t>
            </a:r>
          </a:p>
          <a:p>
            <a:pPr marL="342900" indent="-342900">
              <a:buFontTx/>
              <a:buAutoNum type="arabicPeriod"/>
            </a:pPr>
            <a:endParaRPr lang="de-DE" sz="1800" b="1" u="sng" dirty="0">
              <a:solidFill>
                <a:srgbClr val="FF0000"/>
              </a:solidFill>
            </a:endParaRPr>
          </a:p>
          <a:p>
            <a:pPr marL="342900" indent="-342900">
              <a:buFontTx/>
              <a:buAutoNum type="arabicPeriod"/>
            </a:pPr>
            <a:endParaRPr lang="de-DE" b="1" u="sng" dirty="0">
              <a:solidFill>
                <a:srgbClr val="FF0000"/>
              </a:solidFill>
            </a:endParaRPr>
          </a:p>
          <a:p>
            <a:r>
              <a:rPr lang="de-DE" b="1" u="sng" baseline="30000" dirty="0">
                <a:solidFill>
                  <a:srgbClr val="FF0000"/>
                </a:solidFill>
              </a:rPr>
              <a:t> </a:t>
            </a:r>
          </a:p>
        </p:txBody>
      </p:sp>
      <p:sp>
        <p:nvSpPr>
          <p:cNvPr id="5" name="Textfeld 4">
            <a:extLst>
              <a:ext uri="{FF2B5EF4-FFF2-40B4-BE49-F238E27FC236}">
                <a16:creationId xmlns:a16="http://schemas.microsoft.com/office/drawing/2014/main" id="{6380B188-2074-6ECB-1263-C034ED9F5B56}"/>
              </a:ext>
            </a:extLst>
          </p:cNvPr>
          <p:cNvSpPr txBox="1"/>
          <p:nvPr/>
        </p:nvSpPr>
        <p:spPr>
          <a:xfrm>
            <a:off x="200796" y="5896393"/>
            <a:ext cx="9558346" cy="369332"/>
          </a:xfrm>
          <a:prstGeom prst="rect">
            <a:avLst/>
          </a:prstGeom>
          <a:noFill/>
        </p:spPr>
        <p:txBody>
          <a:bodyPr wrap="square">
            <a:spAutoFit/>
          </a:bodyPr>
          <a:lstStyle/>
          <a:p>
            <a:r>
              <a:rPr lang="de-DE" sz="1800" b="1" u="sng" dirty="0">
                <a:solidFill>
                  <a:srgbClr val="FF0000"/>
                </a:solidFill>
              </a:rPr>
              <a:t>Es gab ebenfalls </a:t>
            </a:r>
            <a:r>
              <a:rPr lang="de-DE" b="1" u="sng" dirty="0">
                <a:solidFill>
                  <a:srgbClr val="FF0000"/>
                </a:solidFill>
              </a:rPr>
              <a:t>ohne Einbeziehung der MTU – 4 Punkte -&gt; 420 Sekunden</a:t>
            </a:r>
            <a:endParaRPr lang="de-DE" sz="1800" b="1" u="sng" dirty="0">
              <a:solidFill>
                <a:srgbClr val="FF0000"/>
              </a:solidFill>
            </a:endParaRPr>
          </a:p>
        </p:txBody>
      </p:sp>
      <p:sp>
        <p:nvSpPr>
          <p:cNvPr id="7" name="Textfeld 6">
            <a:extLst>
              <a:ext uri="{FF2B5EF4-FFF2-40B4-BE49-F238E27FC236}">
                <a16:creationId xmlns:a16="http://schemas.microsoft.com/office/drawing/2014/main" id="{0B29AA46-D392-B403-3C02-6525A2CB94B1}"/>
              </a:ext>
            </a:extLst>
          </p:cNvPr>
          <p:cNvSpPr txBox="1"/>
          <p:nvPr/>
        </p:nvSpPr>
        <p:spPr>
          <a:xfrm>
            <a:off x="200795" y="3198363"/>
            <a:ext cx="11403771" cy="369332"/>
          </a:xfrm>
          <a:prstGeom prst="rect">
            <a:avLst/>
          </a:prstGeom>
          <a:noFill/>
        </p:spPr>
        <p:txBody>
          <a:bodyPr wrap="square">
            <a:spAutoFit/>
          </a:bodyPr>
          <a:lstStyle/>
          <a:p>
            <a:r>
              <a:rPr lang="de-DE" dirty="0">
                <a:solidFill>
                  <a:srgbClr val="FF0000"/>
                </a:solidFill>
              </a:rPr>
              <a:t>Berechnung des </a:t>
            </a:r>
            <a:r>
              <a:rPr lang="de-DE" dirty="0" err="1">
                <a:solidFill>
                  <a:srgbClr val="FF0000"/>
                </a:solidFill>
              </a:rPr>
              <a:t>Payloads</a:t>
            </a:r>
            <a:r>
              <a:rPr lang="de-DE" dirty="0">
                <a:solidFill>
                  <a:srgbClr val="FF0000"/>
                </a:solidFill>
              </a:rPr>
              <a:t>: 1.518 Byte – 18 Byte – 8 Byte – 20 Byte – 40 Byte - 20 Byte = </a:t>
            </a:r>
            <a:r>
              <a:rPr lang="de-DE" b="1" u="sng" dirty="0">
                <a:solidFill>
                  <a:srgbClr val="FF0000"/>
                </a:solidFill>
              </a:rPr>
              <a:t>1.412 Byte</a:t>
            </a:r>
          </a:p>
        </p:txBody>
      </p:sp>
      <p:sp>
        <p:nvSpPr>
          <p:cNvPr id="9" name="Textfeld 8">
            <a:extLst>
              <a:ext uri="{FF2B5EF4-FFF2-40B4-BE49-F238E27FC236}">
                <a16:creationId xmlns:a16="http://schemas.microsoft.com/office/drawing/2014/main" id="{3CA94C49-2B9C-0297-4F6F-626D4F7C3C82}"/>
              </a:ext>
            </a:extLst>
          </p:cNvPr>
          <p:cNvSpPr txBox="1"/>
          <p:nvPr/>
        </p:nvSpPr>
        <p:spPr>
          <a:xfrm>
            <a:off x="200795" y="3903141"/>
            <a:ext cx="10314805" cy="369332"/>
          </a:xfrm>
          <a:prstGeom prst="rect">
            <a:avLst/>
          </a:prstGeom>
          <a:noFill/>
        </p:spPr>
        <p:txBody>
          <a:bodyPr wrap="square">
            <a:spAutoFit/>
          </a:bodyPr>
          <a:lstStyle/>
          <a:p>
            <a:r>
              <a:rPr lang="de-DE" dirty="0">
                <a:solidFill>
                  <a:srgbClr val="FF0000"/>
                </a:solidFill>
              </a:rPr>
              <a:t>Berechnung der Segmente: </a:t>
            </a:r>
            <a:r>
              <a:rPr lang="de-DE" sz="1800" dirty="0">
                <a:solidFill>
                  <a:srgbClr val="FF0000"/>
                </a:solidFill>
              </a:rPr>
              <a:t>500 MiB X 1024</a:t>
            </a:r>
            <a:r>
              <a:rPr lang="de-DE" sz="1800" baseline="30000" dirty="0">
                <a:solidFill>
                  <a:srgbClr val="FF0000"/>
                </a:solidFill>
              </a:rPr>
              <a:t>2</a:t>
            </a:r>
            <a:r>
              <a:rPr lang="de-DE" sz="1800" dirty="0">
                <a:solidFill>
                  <a:srgbClr val="FF0000"/>
                </a:solidFill>
              </a:rPr>
              <a:t> / 1412 = </a:t>
            </a:r>
            <a:r>
              <a:rPr lang="de-DE" sz="1800" b="1" dirty="0">
                <a:solidFill>
                  <a:srgbClr val="FF0000"/>
                </a:solidFill>
              </a:rPr>
              <a:t>371.309 Frames</a:t>
            </a:r>
          </a:p>
        </p:txBody>
      </p:sp>
      <p:pic>
        <p:nvPicPr>
          <p:cNvPr id="10" name="Grafik 9" descr="Ein Bild, das Text enthält.&#10;&#10;Automatisch generierte Beschreibung">
            <a:extLst>
              <a:ext uri="{FF2B5EF4-FFF2-40B4-BE49-F238E27FC236}">
                <a16:creationId xmlns:a16="http://schemas.microsoft.com/office/drawing/2014/main" id="{3C869475-78D9-D94F-5CBF-1084A64FCA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3143" y="645218"/>
            <a:ext cx="5127472" cy="908295"/>
          </a:xfrm>
          <a:prstGeom prst="rect">
            <a:avLst/>
          </a:prstGeom>
        </p:spPr>
      </p:pic>
    </p:spTree>
    <p:extLst>
      <p:ext uri="{BB962C8B-B14F-4D97-AF65-F5344CB8AC3E}">
        <p14:creationId xmlns:p14="http://schemas.microsoft.com/office/powerpoint/2010/main" val="540316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D8A4D7F4-A103-40F3-864D-3E880D71F504}"/>
              </a:ext>
            </a:extLst>
          </p:cNvPr>
          <p:cNvPicPr>
            <a:picLocks noChangeAspect="1"/>
          </p:cNvPicPr>
          <p:nvPr/>
        </p:nvPicPr>
        <p:blipFill>
          <a:blip r:embed="rId2"/>
          <a:stretch>
            <a:fillRect/>
          </a:stretch>
        </p:blipFill>
        <p:spPr>
          <a:xfrm>
            <a:off x="31800" y="48280"/>
            <a:ext cx="5556201" cy="1770469"/>
          </a:xfrm>
          <a:prstGeom prst="rect">
            <a:avLst/>
          </a:prstGeom>
        </p:spPr>
      </p:pic>
      <p:pic>
        <p:nvPicPr>
          <p:cNvPr id="5" name="Grafik 4">
            <a:extLst>
              <a:ext uri="{FF2B5EF4-FFF2-40B4-BE49-F238E27FC236}">
                <a16:creationId xmlns:a16="http://schemas.microsoft.com/office/drawing/2014/main" id="{3D45DF0D-3859-40C9-AC52-01B89185BD23}"/>
              </a:ext>
            </a:extLst>
          </p:cNvPr>
          <p:cNvPicPr>
            <a:picLocks noChangeAspect="1"/>
          </p:cNvPicPr>
          <p:nvPr/>
        </p:nvPicPr>
        <p:blipFill>
          <a:blip r:embed="rId3"/>
          <a:stretch>
            <a:fillRect/>
          </a:stretch>
        </p:blipFill>
        <p:spPr>
          <a:xfrm>
            <a:off x="59996" y="1683424"/>
            <a:ext cx="5556200" cy="2023747"/>
          </a:xfrm>
          <a:prstGeom prst="rect">
            <a:avLst/>
          </a:prstGeom>
        </p:spPr>
      </p:pic>
      <p:pic>
        <p:nvPicPr>
          <p:cNvPr id="7" name="Grafik 6">
            <a:extLst>
              <a:ext uri="{FF2B5EF4-FFF2-40B4-BE49-F238E27FC236}">
                <a16:creationId xmlns:a16="http://schemas.microsoft.com/office/drawing/2014/main" id="{DFD75978-713D-41F4-BFFA-A29D10EC2CE8}"/>
              </a:ext>
            </a:extLst>
          </p:cNvPr>
          <p:cNvPicPr>
            <a:picLocks noChangeAspect="1"/>
          </p:cNvPicPr>
          <p:nvPr/>
        </p:nvPicPr>
        <p:blipFill>
          <a:blip r:embed="rId4"/>
          <a:stretch>
            <a:fillRect/>
          </a:stretch>
        </p:blipFill>
        <p:spPr>
          <a:xfrm>
            <a:off x="25595" y="3925093"/>
            <a:ext cx="5556200" cy="169772"/>
          </a:xfrm>
          <a:prstGeom prst="rect">
            <a:avLst/>
          </a:prstGeom>
        </p:spPr>
      </p:pic>
      <p:pic>
        <p:nvPicPr>
          <p:cNvPr id="9" name="Grafik 8">
            <a:extLst>
              <a:ext uri="{FF2B5EF4-FFF2-40B4-BE49-F238E27FC236}">
                <a16:creationId xmlns:a16="http://schemas.microsoft.com/office/drawing/2014/main" id="{90365BD9-B47D-4E4D-A3E0-442DBD023B5C}"/>
              </a:ext>
            </a:extLst>
          </p:cNvPr>
          <p:cNvPicPr>
            <a:picLocks noChangeAspect="1"/>
          </p:cNvPicPr>
          <p:nvPr/>
        </p:nvPicPr>
        <p:blipFill>
          <a:blip r:embed="rId5"/>
          <a:stretch>
            <a:fillRect/>
          </a:stretch>
        </p:blipFill>
        <p:spPr>
          <a:xfrm>
            <a:off x="25595" y="4136162"/>
            <a:ext cx="5556200" cy="694525"/>
          </a:xfrm>
          <a:prstGeom prst="rect">
            <a:avLst/>
          </a:prstGeom>
        </p:spPr>
      </p:pic>
      <p:cxnSp>
        <p:nvCxnSpPr>
          <p:cNvPr id="20" name="Verbinder: gewinkelt 19">
            <a:extLst>
              <a:ext uri="{FF2B5EF4-FFF2-40B4-BE49-F238E27FC236}">
                <a16:creationId xmlns:a16="http://schemas.microsoft.com/office/drawing/2014/main" id="{EA21CA97-0A96-46B6-9216-4AE2838DB00F}"/>
              </a:ext>
            </a:extLst>
          </p:cNvPr>
          <p:cNvCxnSpPr>
            <a:cxnSpLocks/>
          </p:cNvCxnSpPr>
          <p:nvPr/>
        </p:nvCxnSpPr>
        <p:spPr>
          <a:xfrm flipV="1">
            <a:off x="5800221" y="1363748"/>
            <a:ext cx="6290180" cy="1"/>
          </a:xfrm>
          <a:prstGeom prst="bentConnector3">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21" name="Textfeld 20">
            <a:extLst>
              <a:ext uri="{FF2B5EF4-FFF2-40B4-BE49-F238E27FC236}">
                <a16:creationId xmlns:a16="http://schemas.microsoft.com/office/drawing/2014/main" id="{BC647444-7426-42AE-B774-61E7B8F807C3}"/>
              </a:ext>
            </a:extLst>
          </p:cNvPr>
          <p:cNvSpPr txBox="1"/>
          <p:nvPr/>
        </p:nvSpPr>
        <p:spPr>
          <a:xfrm>
            <a:off x="7823201" y="1374533"/>
            <a:ext cx="1452129" cy="461665"/>
          </a:xfrm>
          <a:prstGeom prst="rect">
            <a:avLst/>
          </a:prstGeom>
          <a:noFill/>
        </p:spPr>
        <p:txBody>
          <a:bodyPr wrap="none" rtlCol="0">
            <a:spAutoFit/>
          </a:bodyPr>
          <a:lstStyle/>
          <a:p>
            <a:r>
              <a:rPr lang="de-DE" sz="2400" b="1" dirty="0"/>
              <a:t>1500 Byte</a:t>
            </a:r>
          </a:p>
        </p:txBody>
      </p:sp>
      <p:sp>
        <p:nvSpPr>
          <p:cNvPr id="23" name="Textfeld 22">
            <a:extLst>
              <a:ext uri="{FF2B5EF4-FFF2-40B4-BE49-F238E27FC236}">
                <a16:creationId xmlns:a16="http://schemas.microsoft.com/office/drawing/2014/main" id="{550E979D-9D16-445B-9236-772FF6D802C4}"/>
              </a:ext>
            </a:extLst>
          </p:cNvPr>
          <p:cNvSpPr txBox="1"/>
          <p:nvPr/>
        </p:nvSpPr>
        <p:spPr>
          <a:xfrm>
            <a:off x="5758355" y="106179"/>
            <a:ext cx="717119" cy="297454"/>
          </a:xfrm>
          <a:prstGeom prst="rect">
            <a:avLst/>
          </a:prstGeom>
          <a:noFill/>
        </p:spPr>
        <p:txBody>
          <a:bodyPr wrap="none" rtlCol="0">
            <a:spAutoFit/>
          </a:bodyPr>
          <a:lstStyle/>
          <a:p>
            <a:r>
              <a:rPr lang="de-DE" sz="1333" b="1" dirty="0"/>
              <a:t>20 Byte</a:t>
            </a:r>
          </a:p>
        </p:txBody>
      </p:sp>
      <p:sp>
        <p:nvSpPr>
          <p:cNvPr id="24" name="Textfeld 23">
            <a:extLst>
              <a:ext uri="{FF2B5EF4-FFF2-40B4-BE49-F238E27FC236}">
                <a16:creationId xmlns:a16="http://schemas.microsoft.com/office/drawing/2014/main" id="{0B735801-73EA-4B6E-A967-94334C88A8A0}"/>
              </a:ext>
            </a:extLst>
          </p:cNvPr>
          <p:cNvSpPr txBox="1"/>
          <p:nvPr/>
        </p:nvSpPr>
        <p:spPr>
          <a:xfrm>
            <a:off x="6597795" y="100396"/>
            <a:ext cx="630557" cy="297454"/>
          </a:xfrm>
          <a:prstGeom prst="rect">
            <a:avLst/>
          </a:prstGeom>
          <a:noFill/>
        </p:spPr>
        <p:txBody>
          <a:bodyPr wrap="none" rtlCol="0">
            <a:spAutoFit/>
          </a:bodyPr>
          <a:lstStyle/>
          <a:p>
            <a:r>
              <a:rPr lang="de-DE" sz="1333" b="1" dirty="0"/>
              <a:t>8 Byte</a:t>
            </a:r>
          </a:p>
        </p:txBody>
      </p:sp>
      <p:sp>
        <p:nvSpPr>
          <p:cNvPr id="26" name="Rechteck 25">
            <a:extLst>
              <a:ext uri="{FF2B5EF4-FFF2-40B4-BE49-F238E27FC236}">
                <a16:creationId xmlns:a16="http://schemas.microsoft.com/office/drawing/2014/main" id="{446E4701-0E05-405C-926F-D9CDDBA3FB9C}"/>
              </a:ext>
            </a:extLst>
          </p:cNvPr>
          <p:cNvSpPr/>
          <p:nvPr/>
        </p:nvSpPr>
        <p:spPr>
          <a:xfrm>
            <a:off x="5791200" y="417172"/>
            <a:ext cx="711200" cy="787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dirty="0"/>
              <a:t>Neuer</a:t>
            </a:r>
          </a:p>
          <a:p>
            <a:pPr algn="ctr"/>
            <a:r>
              <a:rPr lang="de-DE" sz="800" dirty="0"/>
              <a:t>IP Header</a:t>
            </a:r>
          </a:p>
        </p:txBody>
      </p:sp>
      <p:sp>
        <p:nvSpPr>
          <p:cNvPr id="27" name="Rechteck 26">
            <a:extLst>
              <a:ext uri="{FF2B5EF4-FFF2-40B4-BE49-F238E27FC236}">
                <a16:creationId xmlns:a16="http://schemas.microsoft.com/office/drawing/2014/main" id="{CDBEABD0-FE20-436A-A4CB-B1476F72FD2F}"/>
              </a:ext>
            </a:extLst>
          </p:cNvPr>
          <p:cNvSpPr/>
          <p:nvPr/>
        </p:nvSpPr>
        <p:spPr>
          <a:xfrm>
            <a:off x="6502400" y="417172"/>
            <a:ext cx="1016000" cy="78723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de-DE" sz="1067" dirty="0"/>
              <a:t>ESP Header</a:t>
            </a:r>
          </a:p>
        </p:txBody>
      </p:sp>
      <p:sp>
        <p:nvSpPr>
          <p:cNvPr id="28" name="Rechteck 27">
            <a:extLst>
              <a:ext uri="{FF2B5EF4-FFF2-40B4-BE49-F238E27FC236}">
                <a16:creationId xmlns:a16="http://schemas.microsoft.com/office/drawing/2014/main" id="{145EF695-F12A-46C5-A766-D2ED40D04EC4}"/>
              </a:ext>
            </a:extLst>
          </p:cNvPr>
          <p:cNvSpPr/>
          <p:nvPr/>
        </p:nvSpPr>
        <p:spPr>
          <a:xfrm>
            <a:off x="7518400" y="417172"/>
            <a:ext cx="1016000" cy="78723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67" dirty="0"/>
              <a:t>Originaler</a:t>
            </a:r>
          </a:p>
          <a:p>
            <a:pPr algn="ctr"/>
            <a:r>
              <a:rPr lang="de-DE" sz="1067" dirty="0"/>
              <a:t>IP &amp; TCP Header</a:t>
            </a:r>
          </a:p>
        </p:txBody>
      </p:sp>
      <p:sp>
        <p:nvSpPr>
          <p:cNvPr id="29" name="Rechteck 28">
            <a:extLst>
              <a:ext uri="{FF2B5EF4-FFF2-40B4-BE49-F238E27FC236}">
                <a16:creationId xmlns:a16="http://schemas.microsoft.com/office/drawing/2014/main" id="{97267524-7A93-45CD-AFBF-716D06F903EE}"/>
              </a:ext>
            </a:extLst>
          </p:cNvPr>
          <p:cNvSpPr/>
          <p:nvPr/>
        </p:nvSpPr>
        <p:spPr>
          <a:xfrm>
            <a:off x="8534400" y="417172"/>
            <a:ext cx="2133600" cy="78723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de-DE" sz="1067" dirty="0"/>
              <a:t>Payload</a:t>
            </a:r>
          </a:p>
        </p:txBody>
      </p:sp>
      <p:sp>
        <p:nvSpPr>
          <p:cNvPr id="30" name="Rechteck 29">
            <a:extLst>
              <a:ext uri="{FF2B5EF4-FFF2-40B4-BE49-F238E27FC236}">
                <a16:creationId xmlns:a16="http://schemas.microsoft.com/office/drawing/2014/main" id="{4C671399-4A9B-4F01-AD84-610384342B00}"/>
              </a:ext>
            </a:extLst>
          </p:cNvPr>
          <p:cNvSpPr/>
          <p:nvPr/>
        </p:nvSpPr>
        <p:spPr>
          <a:xfrm>
            <a:off x="10668000" y="417172"/>
            <a:ext cx="711200" cy="78723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sz="1067" dirty="0"/>
              <a:t>ESP</a:t>
            </a:r>
          </a:p>
          <a:p>
            <a:pPr algn="ctr"/>
            <a:r>
              <a:rPr lang="de-DE" sz="1067" dirty="0"/>
              <a:t>Trailer</a:t>
            </a:r>
          </a:p>
        </p:txBody>
      </p:sp>
      <p:sp>
        <p:nvSpPr>
          <p:cNvPr id="31" name="Rechteck 30">
            <a:extLst>
              <a:ext uri="{FF2B5EF4-FFF2-40B4-BE49-F238E27FC236}">
                <a16:creationId xmlns:a16="http://schemas.microsoft.com/office/drawing/2014/main" id="{C9D7EC55-9BA5-4EDC-B3FC-822D3B3F7E0E}"/>
              </a:ext>
            </a:extLst>
          </p:cNvPr>
          <p:cNvSpPr/>
          <p:nvPr/>
        </p:nvSpPr>
        <p:spPr>
          <a:xfrm>
            <a:off x="11379200" y="417172"/>
            <a:ext cx="711200" cy="78723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de-DE" sz="1067" dirty="0"/>
              <a:t>ESP</a:t>
            </a:r>
          </a:p>
          <a:p>
            <a:pPr algn="ctr"/>
            <a:r>
              <a:rPr lang="de-DE" sz="1067" dirty="0"/>
              <a:t>Auth</a:t>
            </a:r>
            <a:endParaRPr lang="de-DE" sz="2400" dirty="0"/>
          </a:p>
        </p:txBody>
      </p:sp>
      <p:sp>
        <p:nvSpPr>
          <p:cNvPr id="37" name="Textfeld 36">
            <a:extLst>
              <a:ext uri="{FF2B5EF4-FFF2-40B4-BE49-F238E27FC236}">
                <a16:creationId xmlns:a16="http://schemas.microsoft.com/office/drawing/2014/main" id="{9D757195-7148-4C7D-9059-F1ED95D70566}"/>
              </a:ext>
            </a:extLst>
          </p:cNvPr>
          <p:cNvSpPr txBox="1"/>
          <p:nvPr/>
        </p:nvSpPr>
        <p:spPr>
          <a:xfrm>
            <a:off x="7592215" y="93684"/>
            <a:ext cx="717119" cy="297454"/>
          </a:xfrm>
          <a:prstGeom prst="rect">
            <a:avLst/>
          </a:prstGeom>
          <a:noFill/>
        </p:spPr>
        <p:txBody>
          <a:bodyPr wrap="none" rtlCol="0">
            <a:spAutoFit/>
          </a:bodyPr>
          <a:lstStyle/>
          <a:p>
            <a:r>
              <a:rPr lang="de-DE" sz="1333" b="1" dirty="0"/>
              <a:t>40 Byte</a:t>
            </a:r>
          </a:p>
        </p:txBody>
      </p:sp>
      <p:sp>
        <p:nvSpPr>
          <p:cNvPr id="41" name="Textfeld 40">
            <a:extLst>
              <a:ext uri="{FF2B5EF4-FFF2-40B4-BE49-F238E27FC236}">
                <a16:creationId xmlns:a16="http://schemas.microsoft.com/office/drawing/2014/main" id="{C3EEB6DE-F381-427C-BAB1-391813A00F9F}"/>
              </a:ext>
            </a:extLst>
          </p:cNvPr>
          <p:cNvSpPr txBox="1"/>
          <p:nvPr/>
        </p:nvSpPr>
        <p:spPr>
          <a:xfrm>
            <a:off x="9179931" y="78094"/>
            <a:ext cx="890244" cy="297454"/>
          </a:xfrm>
          <a:prstGeom prst="rect">
            <a:avLst/>
          </a:prstGeom>
          <a:noFill/>
        </p:spPr>
        <p:txBody>
          <a:bodyPr wrap="none" rtlCol="0">
            <a:spAutoFit/>
          </a:bodyPr>
          <a:lstStyle/>
          <a:p>
            <a:r>
              <a:rPr lang="de-DE" sz="1333" b="1" dirty="0"/>
              <a:t>1400 Byte</a:t>
            </a:r>
          </a:p>
        </p:txBody>
      </p:sp>
      <p:sp>
        <p:nvSpPr>
          <p:cNvPr id="42" name="Textfeld 41">
            <a:extLst>
              <a:ext uri="{FF2B5EF4-FFF2-40B4-BE49-F238E27FC236}">
                <a16:creationId xmlns:a16="http://schemas.microsoft.com/office/drawing/2014/main" id="{551083E2-9625-417C-B91E-C0FD4E2893B0}"/>
              </a:ext>
            </a:extLst>
          </p:cNvPr>
          <p:cNvSpPr txBox="1"/>
          <p:nvPr/>
        </p:nvSpPr>
        <p:spPr>
          <a:xfrm>
            <a:off x="10526673" y="41348"/>
            <a:ext cx="974236" cy="297454"/>
          </a:xfrm>
          <a:prstGeom prst="rect">
            <a:avLst/>
          </a:prstGeom>
          <a:noFill/>
        </p:spPr>
        <p:txBody>
          <a:bodyPr wrap="square" rtlCol="0">
            <a:spAutoFit/>
          </a:bodyPr>
          <a:lstStyle/>
          <a:p>
            <a:pPr algn="ctr"/>
            <a:r>
              <a:rPr lang="de-DE" sz="1333" b="1" dirty="0"/>
              <a:t>20 Byte</a:t>
            </a:r>
          </a:p>
        </p:txBody>
      </p:sp>
      <p:sp>
        <p:nvSpPr>
          <p:cNvPr id="43" name="Textfeld 42">
            <a:extLst>
              <a:ext uri="{FF2B5EF4-FFF2-40B4-BE49-F238E27FC236}">
                <a16:creationId xmlns:a16="http://schemas.microsoft.com/office/drawing/2014/main" id="{95932641-3C05-4472-84B3-0FF6105F829C}"/>
              </a:ext>
            </a:extLst>
          </p:cNvPr>
          <p:cNvSpPr txBox="1"/>
          <p:nvPr/>
        </p:nvSpPr>
        <p:spPr>
          <a:xfrm>
            <a:off x="11231621" y="29935"/>
            <a:ext cx="974236" cy="297454"/>
          </a:xfrm>
          <a:prstGeom prst="rect">
            <a:avLst/>
          </a:prstGeom>
          <a:noFill/>
        </p:spPr>
        <p:txBody>
          <a:bodyPr wrap="square" rtlCol="0">
            <a:spAutoFit/>
          </a:bodyPr>
          <a:lstStyle/>
          <a:p>
            <a:pPr algn="ctr"/>
            <a:r>
              <a:rPr lang="de-DE" sz="1333" b="1" dirty="0"/>
              <a:t>12 Byte</a:t>
            </a:r>
          </a:p>
        </p:txBody>
      </p:sp>
      <p:pic>
        <p:nvPicPr>
          <p:cNvPr id="46" name="Grafik 45" descr="Ein Bild, das Text enthält.&#10;&#10;Automatisch generierte Beschreibung">
            <a:extLst>
              <a:ext uri="{FF2B5EF4-FFF2-40B4-BE49-F238E27FC236}">
                <a16:creationId xmlns:a16="http://schemas.microsoft.com/office/drawing/2014/main" id="{8504D006-105D-4608-BC00-F7E02EEE2F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51728" y="1793048"/>
            <a:ext cx="5127472" cy="908295"/>
          </a:xfrm>
          <a:prstGeom prst="rect">
            <a:avLst/>
          </a:prstGeom>
        </p:spPr>
      </p:pic>
      <p:sp>
        <p:nvSpPr>
          <p:cNvPr id="48" name="Textfeld 47">
            <a:extLst>
              <a:ext uri="{FF2B5EF4-FFF2-40B4-BE49-F238E27FC236}">
                <a16:creationId xmlns:a16="http://schemas.microsoft.com/office/drawing/2014/main" id="{85688B84-479C-4CC7-8103-8B1A05A2B03A}"/>
              </a:ext>
            </a:extLst>
          </p:cNvPr>
          <p:cNvSpPr txBox="1"/>
          <p:nvPr/>
        </p:nvSpPr>
        <p:spPr>
          <a:xfrm>
            <a:off x="4175027" y="6271551"/>
            <a:ext cx="7539092" cy="307777"/>
          </a:xfrm>
          <a:prstGeom prst="rect">
            <a:avLst/>
          </a:prstGeom>
          <a:noFill/>
        </p:spPr>
        <p:txBody>
          <a:bodyPr wrap="square">
            <a:spAutoFit/>
          </a:bodyPr>
          <a:lstStyle/>
          <a:p>
            <a:r>
              <a:rPr lang="de-DE" sz="1400" dirty="0">
                <a:hlinkClick r:id="rId7"/>
              </a:rPr>
              <a:t>https://kompendium.infotip.de/netzwerkbefehle-der-windows-kommandozeile.html</a:t>
            </a:r>
            <a:endParaRPr lang="de-DE" sz="1400" dirty="0"/>
          </a:p>
        </p:txBody>
      </p:sp>
      <mc:AlternateContent xmlns:mc="http://schemas.openxmlformats.org/markup-compatibility/2006" xmlns:p14="http://schemas.microsoft.com/office/powerpoint/2010/main">
        <mc:Choice Requires="p14">
          <p:contentPart p14:bwMode="auto" r:id="rId8">
            <p14:nvContentPartPr>
              <p14:cNvPr id="2" name="Freihand 1">
                <a:extLst>
                  <a:ext uri="{FF2B5EF4-FFF2-40B4-BE49-F238E27FC236}">
                    <a16:creationId xmlns:a16="http://schemas.microsoft.com/office/drawing/2014/main" id="{BE900E70-B458-DBB0-B9A3-B63D644DCBF5}"/>
                  </a:ext>
                </a:extLst>
              </p14:cNvPr>
              <p14:cNvContentPartPr/>
              <p14:nvPr/>
            </p14:nvContentPartPr>
            <p14:xfrm>
              <a:off x="6602760" y="5351400"/>
              <a:ext cx="360" cy="15120"/>
            </p14:xfrm>
          </p:contentPart>
        </mc:Choice>
        <mc:Fallback xmlns="">
          <p:pic>
            <p:nvPicPr>
              <p:cNvPr id="2" name="Freihand 1">
                <a:extLst>
                  <a:ext uri="{FF2B5EF4-FFF2-40B4-BE49-F238E27FC236}">
                    <a16:creationId xmlns:a16="http://schemas.microsoft.com/office/drawing/2014/main" id="{BE900E70-B458-DBB0-B9A3-B63D644DCBF5}"/>
                  </a:ext>
                </a:extLst>
              </p:cNvPr>
              <p:cNvPicPr/>
              <p:nvPr/>
            </p:nvPicPr>
            <p:blipFill>
              <a:blip r:embed="rId9"/>
              <a:stretch>
                <a:fillRect/>
              </a:stretch>
            </p:blipFill>
            <p:spPr>
              <a:xfrm>
                <a:off x="6593400" y="5342040"/>
                <a:ext cx="19080" cy="33840"/>
              </a:xfrm>
              <a:prstGeom prst="rect">
                <a:avLst/>
              </a:prstGeom>
            </p:spPr>
          </p:pic>
        </mc:Fallback>
      </mc:AlternateContent>
    </p:spTree>
    <p:extLst>
      <p:ext uri="{BB962C8B-B14F-4D97-AF65-F5344CB8AC3E}">
        <p14:creationId xmlns:p14="http://schemas.microsoft.com/office/powerpoint/2010/main" val="36905173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D8A4D7F4-A103-40F3-864D-3E880D71F504}"/>
              </a:ext>
            </a:extLst>
          </p:cNvPr>
          <p:cNvPicPr>
            <a:picLocks noChangeAspect="1"/>
          </p:cNvPicPr>
          <p:nvPr/>
        </p:nvPicPr>
        <p:blipFill>
          <a:blip r:embed="rId2"/>
          <a:stretch>
            <a:fillRect/>
          </a:stretch>
        </p:blipFill>
        <p:spPr>
          <a:xfrm>
            <a:off x="31800" y="48280"/>
            <a:ext cx="5556201" cy="1770469"/>
          </a:xfrm>
          <a:prstGeom prst="rect">
            <a:avLst/>
          </a:prstGeom>
        </p:spPr>
      </p:pic>
      <p:pic>
        <p:nvPicPr>
          <p:cNvPr id="5" name="Grafik 4">
            <a:extLst>
              <a:ext uri="{FF2B5EF4-FFF2-40B4-BE49-F238E27FC236}">
                <a16:creationId xmlns:a16="http://schemas.microsoft.com/office/drawing/2014/main" id="{3D45DF0D-3859-40C9-AC52-01B89185BD23}"/>
              </a:ext>
            </a:extLst>
          </p:cNvPr>
          <p:cNvPicPr>
            <a:picLocks noChangeAspect="1"/>
          </p:cNvPicPr>
          <p:nvPr/>
        </p:nvPicPr>
        <p:blipFill>
          <a:blip r:embed="rId3"/>
          <a:stretch>
            <a:fillRect/>
          </a:stretch>
        </p:blipFill>
        <p:spPr>
          <a:xfrm>
            <a:off x="25595" y="1860048"/>
            <a:ext cx="5556200" cy="2023747"/>
          </a:xfrm>
          <a:prstGeom prst="rect">
            <a:avLst/>
          </a:prstGeom>
        </p:spPr>
      </p:pic>
      <p:pic>
        <p:nvPicPr>
          <p:cNvPr id="7" name="Grafik 6">
            <a:extLst>
              <a:ext uri="{FF2B5EF4-FFF2-40B4-BE49-F238E27FC236}">
                <a16:creationId xmlns:a16="http://schemas.microsoft.com/office/drawing/2014/main" id="{DFD75978-713D-41F4-BFFA-A29D10EC2CE8}"/>
              </a:ext>
            </a:extLst>
          </p:cNvPr>
          <p:cNvPicPr>
            <a:picLocks noChangeAspect="1"/>
          </p:cNvPicPr>
          <p:nvPr/>
        </p:nvPicPr>
        <p:blipFill>
          <a:blip r:embed="rId4"/>
          <a:stretch>
            <a:fillRect/>
          </a:stretch>
        </p:blipFill>
        <p:spPr>
          <a:xfrm>
            <a:off x="25595" y="3925093"/>
            <a:ext cx="5556200" cy="169772"/>
          </a:xfrm>
          <a:prstGeom prst="rect">
            <a:avLst/>
          </a:prstGeom>
        </p:spPr>
      </p:pic>
      <p:pic>
        <p:nvPicPr>
          <p:cNvPr id="9" name="Grafik 8">
            <a:extLst>
              <a:ext uri="{FF2B5EF4-FFF2-40B4-BE49-F238E27FC236}">
                <a16:creationId xmlns:a16="http://schemas.microsoft.com/office/drawing/2014/main" id="{90365BD9-B47D-4E4D-A3E0-442DBD023B5C}"/>
              </a:ext>
            </a:extLst>
          </p:cNvPr>
          <p:cNvPicPr>
            <a:picLocks noChangeAspect="1"/>
          </p:cNvPicPr>
          <p:nvPr/>
        </p:nvPicPr>
        <p:blipFill>
          <a:blip r:embed="rId5"/>
          <a:stretch>
            <a:fillRect/>
          </a:stretch>
        </p:blipFill>
        <p:spPr>
          <a:xfrm>
            <a:off x="25595" y="4136162"/>
            <a:ext cx="5556200" cy="694525"/>
          </a:xfrm>
          <a:prstGeom prst="rect">
            <a:avLst/>
          </a:prstGeom>
        </p:spPr>
      </p:pic>
      <p:cxnSp>
        <p:nvCxnSpPr>
          <p:cNvPr id="20" name="Verbinder: gewinkelt 19">
            <a:extLst>
              <a:ext uri="{FF2B5EF4-FFF2-40B4-BE49-F238E27FC236}">
                <a16:creationId xmlns:a16="http://schemas.microsoft.com/office/drawing/2014/main" id="{EA21CA97-0A96-46B6-9216-4AE2838DB00F}"/>
              </a:ext>
            </a:extLst>
          </p:cNvPr>
          <p:cNvCxnSpPr>
            <a:cxnSpLocks/>
          </p:cNvCxnSpPr>
          <p:nvPr/>
        </p:nvCxnSpPr>
        <p:spPr>
          <a:xfrm flipV="1">
            <a:off x="5800221" y="1363748"/>
            <a:ext cx="6290180" cy="1"/>
          </a:xfrm>
          <a:prstGeom prst="bentConnector3">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21" name="Textfeld 20">
            <a:extLst>
              <a:ext uri="{FF2B5EF4-FFF2-40B4-BE49-F238E27FC236}">
                <a16:creationId xmlns:a16="http://schemas.microsoft.com/office/drawing/2014/main" id="{BC647444-7426-42AE-B774-61E7B8F807C3}"/>
              </a:ext>
            </a:extLst>
          </p:cNvPr>
          <p:cNvSpPr txBox="1"/>
          <p:nvPr/>
        </p:nvSpPr>
        <p:spPr>
          <a:xfrm>
            <a:off x="7823201" y="1374533"/>
            <a:ext cx="1452129" cy="461665"/>
          </a:xfrm>
          <a:prstGeom prst="rect">
            <a:avLst/>
          </a:prstGeom>
          <a:noFill/>
        </p:spPr>
        <p:txBody>
          <a:bodyPr wrap="none" rtlCol="0">
            <a:spAutoFit/>
          </a:bodyPr>
          <a:lstStyle/>
          <a:p>
            <a:r>
              <a:rPr lang="de-DE" sz="2400" b="1" dirty="0"/>
              <a:t>1500 Byte</a:t>
            </a:r>
          </a:p>
        </p:txBody>
      </p:sp>
      <p:sp>
        <p:nvSpPr>
          <p:cNvPr id="23" name="Textfeld 22">
            <a:extLst>
              <a:ext uri="{FF2B5EF4-FFF2-40B4-BE49-F238E27FC236}">
                <a16:creationId xmlns:a16="http://schemas.microsoft.com/office/drawing/2014/main" id="{550E979D-9D16-445B-9236-772FF6D802C4}"/>
              </a:ext>
            </a:extLst>
          </p:cNvPr>
          <p:cNvSpPr txBox="1"/>
          <p:nvPr/>
        </p:nvSpPr>
        <p:spPr>
          <a:xfrm>
            <a:off x="5758355" y="106179"/>
            <a:ext cx="717119" cy="297454"/>
          </a:xfrm>
          <a:prstGeom prst="rect">
            <a:avLst/>
          </a:prstGeom>
          <a:noFill/>
        </p:spPr>
        <p:txBody>
          <a:bodyPr wrap="none" rtlCol="0">
            <a:spAutoFit/>
          </a:bodyPr>
          <a:lstStyle/>
          <a:p>
            <a:r>
              <a:rPr lang="de-DE" sz="1333" b="1" dirty="0"/>
              <a:t>20 Byte</a:t>
            </a:r>
          </a:p>
        </p:txBody>
      </p:sp>
      <p:sp>
        <p:nvSpPr>
          <p:cNvPr id="24" name="Textfeld 23">
            <a:extLst>
              <a:ext uri="{FF2B5EF4-FFF2-40B4-BE49-F238E27FC236}">
                <a16:creationId xmlns:a16="http://schemas.microsoft.com/office/drawing/2014/main" id="{0B735801-73EA-4B6E-A967-94334C88A8A0}"/>
              </a:ext>
            </a:extLst>
          </p:cNvPr>
          <p:cNvSpPr txBox="1"/>
          <p:nvPr/>
        </p:nvSpPr>
        <p:spPr>
          <a:xfrm>
            <a:off x="6597795" y="100396"/>
            <a:ext cx="630557" cy="297454"/>
          </a:xfrm>
          <a:prstGeom prst="rect">
            <a:avLst/>
          </a:prstGeom>
          <a:noFill/>
        </p:spPr>
        <p:txBody>
          <a:bodyPr wrap="none" rtlCol="0">
            <a:spAutoFit/>
          </a:bodyPr>
          <a:lstStyle/>
          <a:p>
            <a:r>
              <a:rPr lang="de-DE" sz="1333" b="1" dirty="0"/>
              <a:t>8 Byte</a:t>
            </a:r>
          </a:p>
        </p:txBody>
      </p:sp>
      <p:sp>
        <p:nvSpPr>
          <p:cNvPr id="26" name="Rechteck 25">
            <a:extLst>
              <a:ext uri="{FF2B5EF4-FFF2-40B4-BE49-F238E27FC236}">
                <a16:creationId xmlns:a16="http://schemas.microsoft.com/office/drawing/2014/main" id="{446E4701-0E05-405C-926F-D9CDDBA3FB9C}"/>
              </a:ext>
            </a:extLst>
          </p:cNvPr>
          <p:cNvSpPr/>
          <p:nvPr/>
        </p:nvSpPr>
        <p:spPr>
          <a:xfrm>
            <a:off x="5791200" y="417172"/>
            <a:ext cx="711200" cy="787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dirty="0"/>
              <a:t>Neuer</a:t>
            </a:r>
          </a:p>
          <a:p>
            <a:pPr algn="ctr"/>
            <a:r>
              <a:rPr lang="de-DE" sz="800" dirty="0"/>
              <a:t>IP Header</a:t>
            </a:r>
          </a:p>
        </p:txBody>
      </p:sp>
      <p:sp>
        <p:nvSpPr>
          <p:cNvPr id="27" name="Rechteck 26">
            <a:extLst>
              <a:ext uri="{FF2B5EF4-FFF2-40B4-BE49-F238E27FC236}">
                <a16:creationId xmlns:a16="http://schemas.microsoft.com/office/drawing/2014/main" id="{CDBEABD0-FE20-436A-A4CB-B1476F72FD2F}"/>
              </a:ext>
            </a:extLst>
          </p:cNvPr>
          <p:cNvSpPr/>
          <p:nvPr/>
        </p:nvSpPr>
        <p:spPr>
          <a:xfrm>
            <a:off x="6502400" y="417172"/>
            <a:ext cx="1016000" cy="78723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de-DE" sz="1067" dirty="0"/>
              <a:t>ESP Header</a:t>
            </a:r>
          </a:p>
        </p:txBody>
      </p:sp>
      <p:sp>
        <p:nvSpPr>
          <p:cNvPr id="28" name="Rechteck 27">
            <a:extLst>
              <a:ext uri="{FF2B5EF4-FFF2-40B4-BE49-F238E27FC236}">
                <a16:creationId xmlns:a16="http://schemas.microsoft.com/office/drawing/2014/main" id="{145EF695-F12A-46C5-A766-D2ED40D04EC4}"/>
              </a:ext>
            </a:extLst>
          </p:cNvPr>
          <p:cNvSpPr/>
          <p:nvPr/>
        </p:nvSpPr>
        <p:spPr>
          <a:xfrm>
            <a:off x="7518400" y="417172"/>
            <a:ext cx="1016000" cy="78723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67" dirty="0"/>
              <a:t>Originaler</a:t>
            </a:r>
          </a:p>
          <a:p>
            <a:pPr algn="ctr"/>
            <a:r>
              <a:rPr lang="de-DE" sz="1067" dirty="0"/>
              <a:t>IP &amp; TCP Header</a:t>
            </a:r>
          </a:p>
        </p:txBody>
      </p:sp>
      <p:sp>
        <p:nvSpPr>
          <p:cNvPr id="29" name="Rechteck 28">
            <a:extLst>
              <a:ext uri="{FF2B5EF4-FFF2-40B4-BE49-F238E27FC236}">
                <a16:creationId xmlns:a16="http://schemas.microsoft.com/office/drawing/2014/main" id="{97267524-7A93-45CD-AFBF-716D06F903EE}"/>
              </a:ext>
            </a:extLst>
          </p:cNvPr>
          <p:cNvSpPr/>
          <p:nvPr/>
        </p:nvSpPr>
        <p:spPr>
          <a:xfrm>
            <a:off x="8534400" y="417172"/>
            <a:ext cx="2133600" cy="78723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de-DE" sz="1067" dirty="0"/>
              <a:t>Payload</a:t>
            </a:r>
          </a:p>
        </p:txBody>
      </p:sp>
      <p:sp>
        <p:nvSpPr>
          <p:cNvPr id="30" name="Rechteck 29">
            <a:extLst>
              <a:ext uri="{FF2B5EF4-FFF2-40B4-BE49-F238E27FC236}">
                <a16:creationId xmlns:a16="http://schemas.microsoft.com/office/drawing/2014/main" id="{4C671399-4A9B-4F01-AD84-610384342B00}"/>
              </a:ext>
            </a:extLst>
          </p:cNvPr>
          <p:cNvSpPr/>
          <p:nvPr/>
        </p:nvSpPr>
        <p:spPr>
          <a:xfrm>
            <a:off x="10668000" y="417172"/>
            <a:ext cx="711200" cy="78723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sz="1067" dirty="0"/>
              <a:t>ESP</a:t>
            </a:r>
          </a:p>
          <a:p>
            <a:pPr algn="ctr"/>
            <a:r>
              <a:rPr lang="de-DE" sz="1067" dirty="0"/>
              <a:t>Trailer</a:t>
            </a:r>
          </a:p>
        </p:txBody>
      </p:sp>
      <p:sp>
        <p:nvSpPr>
          <p:cNvPr id="31" name="Rechteck 30">
            <a:extLst>
              <a:ext uri="{FF2B5EF4-FFF2-40B4-BE49-F238E27FC236}">
                <a16:creationId xmlns:a16="http://schemas.microsoft.com/office/drawing/2014/main" id="{C9D7EC55-9BA5-4EDC-B3FC-822D3B3F7E0E}"/>
              </a:ext>
            </a:extLst>
          </p:cNvPr>
          <p:cNvSpPr/>
          <p:nvPr/>
        </p:nvSpPr>
        <p:spPr>
          <a:xfrm>
            <a:off x="11379200" y="417172"/>
            <a:ext cx="711200" cy="78723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de-DE" sz="1067" dirty="0"/>
              <a:t>ESP</a:t>
            </a:r>
          </a:p>
          <a:p>
            <a:pPr algn="ctr"/>
            <a:r>
              <a:rPr lang="de-DE" sz="1067" dirty="0"/>
              <a:t>Auth</a:t>
            </a:r>
            <a:endParaRPr lang="de-DE" sz="2400" dirty="0"/>
          </a:p>
        </p:txBody>
      </p:sp>
      <p:sp>
        <p:nvSpPr>
          <p:cNvPr id="37" name="Textfeld 36">
            <a:extLst>
              <a:ext uri="{FF2B5EF4-FFF2-40B4-BE49-F238E27FC236}">
                <a16:creationId xmlns:a16="http://schemas.microsoft.com/office/drawing/2014/main" id="{9D757195-7148-4C7D-9059-F1ED95D70566}"/>
              </a:ext>
            </a:extLst>
          </p:cNvPr>
          <p:cNvSpPr txBox="1"/>
          <p:nvPr/>
        </p:nvSpPr>
        <p:spPr>
          <a:xfrm>
            <a:off x="7592215" y="93684"/>
            <a:ext cx="717119" cy="297454"/>
          </a:xfrm>
          <a:prstGeom prst="rect">
            <a:avLst/>
          </a:prstGeom>
          <a:noFill/>
        </p:spPr>
        <p:txBody>
          <a:bodyPr wrap="none" rtlCol="0">
            <a:spAutoFit/>
          </a:bodyPr>
          <a:lstStyle/>
          <a:p>
            <a:r>
              <a:rPr lang="de-DE" sz="1333" b="1" dirty="0"/>
              <a:t>40 Byte</a:t>
            </a:r>
          </a:p>
        </p:txBody>
      </p:sp>
      <p:sp>
        <p:nvSpPr>
          <p:cNvPr id="38" name="Textfeld 37">
            <a:extLst>
              <a:ext uri="{FF2B5EF4-FFF2-40B4-BE49-F238E27FC236}">
                <a16:creationId xmlns:a16="http://schemas.microsoft.com/office/drawing/2014/main" id="{845D44C5-2D14-4F72-9B1B-B039E47EDFF5}"/>
              </a:ext>
            </a:extLst>
          </p:cNvPr>
          <p:cNvSpPr txBox="1"/>
          <p:nvPr/>
        </p:nvSpPr>
        <p:spPr>
          <a:xfrm>
            <a:off x="5588001" y="2098578"/>
            <a:ext cx="5184753" cy="584775"/>
          </a:xfrm>
          <a:prstGeom prst="rect">
            <a:avLst/>
          </a:prstGeom>
          <a:noFill/>
        </p:spPr>
        <p:txBody>
          <a:bodyPr wrap="none" rtlCol="0">
            <a:spAutoFit/>
          </a:bodyPr>
          <a:lstStyle/>
          <a:p>
            <a:r>
              <a:rPr lang="de-DE" sz="1600" dirty="0"/>
              <a:t>Berechnung des max. </a:t>
            </a:r>
            <a:r>
              <a:rPr lang="de-DE" sz="1600" dirty="0" err="1"/>
              <a:t>Payloads</a:t>
            </a:r>
            <a:r>
              <a:rPr lang="de-DE" sz="1600" dirty="0"/>
              <a:t>:</a:t>
            </a:r>
          </a:p>
          <a:p>
            <a:r>
              <a:rPr lang="de-DE" sz="1600" b="1" dirty="0"/>
              <a:t>MTU (1.500 Byte) – 20 Byte – 40 Byte -40 Byte = </a:t>
            </a:r>
            <a:r>
              <a:rPr lang="de-DE" sz="1600" b="1" u="sng" dirty="0"/>
              <a:t>1.400 Byte</a:t>
            </a:r>
          </a:p>
        </p:txBody>
      </p:sp>
      <p:sp>
        <p:nvSpPr>
          <p:cNvPr id="41" name="Textfeld 40">
            <a:extLst>
              <a:ext uri="{FF2B5EF4-FFF2-40B4-BE49-F238E27FC236}">
                <a16:creationId xmlns:a16="http://schemas.microsoft.com/office/drawing/2014/main" id="{C3EEB6DE-F381-427C-BAB1-391813A00F9F}"/>
              </a:ext>
            </a:extLst>
          </p:cNvPr>
          <p:cNvSpPr txBox="1"/>
          <p:nvPr/>
        </p:nvSpPr>
        <p:spPr>
          <a:xfrm>
            <a:off x="9179931" y="78094"/>
            <a:ext cx="890244" cy="297454"/>
          </a:xfrm>
          <a:prstGeom prst="rect">
            <a:avLst/>
          </a:prstGeom>
          <a:noFill/>
        </p:spPr>
        <p:txBody>
          <a:bodyPr wrap="none" rtlCol="0">
            <a:spAutoFit/>
          </a:bodyPr>
          <a:lstStyle/>
          <a:p>
            <a:r>
              <a:rPr lang="de-DE" sz="1333" b="1" dirty="0"/>
              <a:t>1400 Byte</a:t>
            </a:r>
          </a:p>
        </p:txBody>
      </p:sp>
      <p:sp>
        <p:nvSpPr>
          <p:cNvPr id="42" name="Textfeld 41">
            <a:extLst>
              <a:ext uri="{FF2B5EF4-FFF2-40B4-BE49-F238E27FC236}">
                <a16:creationId xmlns:a16="http://schemas.microsoft.com/office/drawing/2014/main" id="{551083E2-9625-417C-B91E-C0FD4E2893B0}"/>
              </a:ext>
            </a:extLst>
          </p:cNvPr>
          <p:cNvSpPr txBox="1"/>
          <p:nvPr/>
        </p:nvSpPr>
        <p:spPr>
          <a:xfrm>
            <a:off x="10526673" y="41348"/>
            <a:ext cx="974236" cy="297454"/>
          </a:xfrm>
          <a:prstGeom prst="rect">
            <a:avLst/>
          </a:prstGeom>
          <a:noFill/>
        </p:spPr>
        <p:txBody>
          <a:bodyPr wrap="square" rtlCol="0">
            <a:spAutoFit/>
          </a:bodyPr>
          <a:lstStyle/>
          <a:p>
            <a:pPr algn="ctr"/>
            <a:r>
              <a:rPr lang="de-DE" sz="1333" b="1" dirty="0"/>
              <a:t>20 Byte</a:t>
            </a:r>
          </a:p>
        </p:txBody>
      </p:sp>
      <p:sp>
        <p:nvSpPr>
          <p:cNvPr id="43" name="Textfeld 42">
            <a:extLst>
              <a:ext uri="{FF2B5EF4-FFF2-40B4-BE49-F238E27FC236}">
                <a16:creationId xmlns:a16="http://schemas.microsoft.com/office/drawing/2014/main" id="{95932641-3C05-4472-84B3-0FF6105F829C}"/>
              </a:ext>
            </a:extLst>
          </p:cNvPr>
          <p:cNvSpPr txBox="1"/>
          <p:nvPr/>
        </p:nvSpPr>
        <p:spPr>
          <a:xfrm>
            <a:off x="11231621" y="29935"/>
            <a:ext cx="974236" cy="297454"/>
          </a:xfrm>
          <a:prstGeom prst="rect">
            <a:avLst/>
          </a:prstGeom>
          <a:noFill/>
        </p:spPr>
        <p:txBody>
          <a:bodyPr wrap="square" rtlCol="0">
            <a:spAutoFit/>
          </a:bodyPr>
          <a:lstStyle/>
          <a:p>
            <a:pPr algn="ctr"/>
            <a:r>
              <a:rPr lang="de-DE" sz="1333" b="1" dirty="0"/>
              <a:t>12 Byte</a:t>
            </a:r>
          </a:p>
        </p:txBody>
      </p:sp>
      <p:sp>
        <p:nvSpPr>
          <p:cNvPr id="44" name="Textfeld 43">
            <a:extLst>
              <a:ext uri="{FF2B5EF4-FFF2-40B4-BE49-F238E27FC236}">
                <a16:creationId xmlns:a16="http://schemas.microsoft.com/office/drawing/2014/main" id="{7D3162A9-F96A-4E90-8776-B11E8B1E39B9}"/>
              </a:ext>
            </a:extLst>
          </p:cNvPr>
          <p:cNvSpPr txBox="1"/>
          <p:nvPr/>
        </p:nvSpPr>
        <p:spPr>
          <a:xfrm>
            <a:off x="5994401" y="4483424"/>
            <a:ext cx="5997503" cy="1200329"/>
          </a:xfrm>
          <a:prstGeom prst="rect">
            <a:avLst/>
          </a:prstGeom>
          <a:noFill/>
        </p:spPr>
        <p:txBody>
          <a:bodyPr wrap="square" rtlCol="0">
            <a:spAutoFit/>
          </a:bodyPr>
          <a:lstStyle/>
          <a:p>
            <a:r>
              <a:rPr lang="de-DE" sz="2400" b="1" dirty="0"/>
              <a:t>300 X 1024</a:t>
            </a:r>
            <a:r>
              <a:rPr lang="de-DE" sz="2400" b="1" baseline="30000" dirty="0"/>
              <a:t>2</a:t>
            </a:r>
            <a:r>
              <a:rPr lang="de-DE" sz="2400" b="1" dirty="0"/>
              <a:t> x 8 x 1518</a:t>
            </a:r>
          </a:p>
          <a:p>
            <a:r>
              <a:rPr lang="de-DE" sz="2400" b="1" dirty="0"/>
              <a:t>-------------------------------- = 273 Sekunden</a:t>
            </a:r>
          </a:p>
          <a:p>
            <a:r>
              <a:rPr lang="de-DE" sz="2400" b="1" dirty="0"/>
              <a:t>10 x 1000</a:t>
            </a:r>
            <a:r>
              <a:rPr lang="de-DE" sz="2400" b="1" baseline="30000" dirty="0"/>
              <a:t>2</a:t>
            </a:r>
            <a:r>
              <a:rPr lang="de-DE" sz="2400" b="1" dirty="0"/>
              <a:t> x 1400</a:t>
            </a:r>
            <a:endParaRPr lang="de-DE" sz="2400" b="1" baseline="30000" dirty="0"/>
          </a:p>
        </p:txBody>
      </p:sp>
      <p:pic>
        <p:nvPicPr>
          <p:cNvPr id="46" name="Grafik 45" descr="Ein Bild, das Text enthält.&#10;&#10;Automatisch generierte Beschreibung">
            <a:extLst>
              <a:ext uri="{FF2B5EF4-FFF2-40B4-BE49-F238E27FC236}">
                <a16:creationId xmlns:a16="http://schemas.microsoft.com/office/drawing/2014/main" id="{8504D006-105D-4608-BC00-F7E02EEE2F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18003" y="3339175"/>
            <a:ext cx="5127472" cy="908295"/>
          </a:xfrm>
          <a:prstGeom prst="rect">
            <a:avLst/>
          </a:prstGeom>
        </p:spPr>
      </p:pic>
      <p:sp>
        <p:nvSpPr>
          <p:cNvPr id="48" name="Textfeld 47">
            <a:extLst>
              <a:ext uri="{FF2B5EF4-FFF2-40B4-BE49-F238E27FC236}">
                <a16:creationId xmlns:a16="http://schemas.microsoft.com/office/drawing/2014/main" id="{85688B84-479C-4CC7-8103-8B1A05A2B03A}"/>
              </a:ext>
            </a:extLst>
          </p:cNvPr>
          <p:cNvSpPr txBox="1"/>
          <p:nvPr/>
        </p:nvSpPr>
        <p:spPr>
          <a:xfrm>
            <a:off x="4175027" y="6271551"/>
            <a:ext cx="7539092" cy="307777"/>
          </a:xfrm>
          <a:prstGeom prst="rect">
            <a:avLst/>
          </a:prstGeom>
          <a:noFill/>
        </p:spPr>
        <p:txBody>
          <a:bodyPr wrap="square">
            <a:spAutoFit/>
          </a:bodyPr>
          <a:lstStyle/>
          <a:p>
            <a:r>
              <a:rPr lang="de-DE" sz="1400" dirty="0">
                <a:hlinkClick r:id="rId7"/>
              </a:rPr>
              <a:t>https://kompendium.infotip.de/netzwerkbefehle-der-windows-kommandozeile.html</a:t>
            </a:r>
            <a:endParaRPr lang="de-DE" sz="1400" dirty="0"/>
          </a:p>
        </p:txBody>
      </p:sp>
    </p:spTree>
    <p:extLst>
      <p:ext uri="{BB962C8B-B14F-4D97-AF65-F5344CB8AC3E}">
        <p14:creationId xmlns:p14="http://schemas.microsoft.com/office/powerpoint/2010/main" val="35868937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D8A4D7F4-A103-40F3-864D-3E880D71F504}"/>
              </a:ext>
            </a:extLst>
          </p:cNvPr>
          <p:cNvPicPr>
            <a:picLocks noChangeAspect="1"/>
          </p:cNvPicPr>
          <p:nvPr/>
        </p:nvPicPr>
        <p:blipFill>
          <a:blip r:embed="rId2"/>
          <a:stretch>
            <a:fillRect/>
          </a:stretch>
        </p:blipFill>
        <p:spPr>
          <a:xfrm>
            <a:off x="31800" y="48280"/>
            <a:ext cx="5556201" cy="1770469"/>
          </a:xfrm>
          <a:prstGeom prst="rect">
            <a:avLst/>
          </a:prstGeom>
        </p:spPr>
      </p:pic>
      <p:pic>
        <p:nvPicPr>
          <p:cNvPr id="5" name="Grafik 4">
            <a:extLst>
              <a:ext uri="{FF2B5EF4-FFF2-40B4-BE49-F238E27FC236}">
                <a16:creationId xmlns:a16="http://schemas.microsoft.com/office/drawing/2014/main" id="{3D45DF0D-3859-40C9-AC52-01B89185BD23}"/>
              </a:ext>
            </a:extLst>
          </p:cNvPr>
          <p:cNvPicPr>
            <a:picLocks noChangeAspect="1"/>
          </p:cNvPicPr>
          <p:nvPr/>
        </p:nvPicPr>
        <p:blipFill>
          <a:blip r:embed="rId3"/>
          <a:stretch>
            <a:fillRect/>
          </a:stretch>
        </p:blipFill>
        <p:spPr>
          <a:xfrm>
            <a:off x="25595" y="1860048"/>
            <a:ext cx="5556200" cy="2023747"/>
          </a:xfrm>
          <a:prstGeom prst="rect">
            <a:avLst/>
          </a:prstGeom>
        </p:spPr>
      </p:pic>
      <p:pic>
        <p:nvPicPr>
          <p:cNvPr id="7" name="Grafik 6">
            <a:extLst>
              <a:ext uri="{FF2B5EF4-FFF2-40B4-BE49-F238E27FC236}">
                <a16:creationId xmlns:a16="http://schemas.microsoft.com/office/drawing/2014/main" id="{DFD75978-713D-41F4-BFFA-A29D10EC2CE8}"/>
              </a:ext>
            </a:extLst>
          </p:cNvPr>
          <p:cNvPicPr>
            <a:picLocks noChangeAspect="1"/>
          </p:cNvPicPr>
          <p:nvPr/>
        </p:nvPicPr>
        <p:blipFill>
          <a:blip r:embed="rId4"/>
          <a:stretch>
            <a:fillRect/>
          </a:stretch>
        </p:blipFill>
        <p:spPr>
          <a:xfrm>
            <a:off x="25595" y="3925093"/>
            <a:ext cx="5556200" cy="169772"/>
          </a:xfrm>
          <a:prstGeom prst="rect">
            <a:avLst/>
          </a:prstGeom>
        </p:spPr>
      </p:pic>
      <p:pic>
        <p:nvPicPr>
          <p:cNvPr id="9" name="Grafik 8">
            <a:extLst>
              <a:ext uri="{FF2B5EF4-FFF2-40B4-BE49-F238E27FC236}">
                <a16:creationId xmlns:a16="http://schemas.microsoft.com/office/drawing/2014/main" id="{90365BD9-B47D-4E4D-A3E0-442DBD023B5C}"/>
              </a:ext>
            </a:extLst>
          </p:cNvPr>
          <p:cNvPicPr>
            <a:picLocks noChangeAspect="1"/>
          </p:cNvPicPr>
          <p:nvPr/>
        </p:nvPicPr>
        <p:blipFill>
          <a:blip r:embed="rId5"/>
          <a:stretch>
            <a:fillRect/>
          </a:stretch>
        </p:blipFill>
        <p:spPr>
          <a:xfrm>
            <a:off x="25595" y="4136162"/>
            <a:ext cx="5556200" cy="694525"/>
          </a:xfrm>
          <a:prstGeom prst="rect">
            <a:avLst/>
          </a:prstGeom>
        </p:spPr>
      </p:pic>
      <p:pic>
        <p:nvPicPr>
          <p:cNvPr id="11" name="Grafik 10">
            <a:extLst>
              <a:ext uri="{FF2B5EF4-FFF2-40B4-BE49-F238E27FC236}">
                <a16:creationId xmlns:a16="http://schemas.microsoft.com/office/drawing/2014/main" id="{F2D50DB3-EC63-4F74-B347-DEA58EB37670}"/>
              </a:ext>
            </a:extLst>
          </p:cNvPr>
          <p:cNvPicPr>
            <a:picLocks noChangeAspect="1"/>
          </p:cNvPicPr>
          <p:nvPr/>
        </p:nvPicPr>
        <p:blipFill>
          <a:blip r:embed="rId6"/>
          <a:stretch>
            <a:fillRect/>
          </a:stretch>
        </p:blipFill>
        <p:spPr>
          <a:xfrm>
            <a:off x="1549056" y="3530600"/>
            <a:ext cx="4032739" cy="131299"/>
          </a:xfrm>
          <a:prstGeom prst="rect">
            <a:avLst/>
          </a:prstGeom>
        </p:spPr>
      </p:pic>
      <p:pic>
        <p:nvPicPr>
          <p:cNvPr id="13" name="Grafik 12">
            <a:extLst>
              <a:ext uri="{FF2B5EF4-FFF2-40B4-BE49-F238E27FC236}">
                <a16:creationId xmlns:a16="http://schemas.microsoft.com/office/drawing/2014/main" id="{5CAD8BAD-E71F-4399-9794-DB02A410692E}"/>
              </a:ext>
            </a:extLst>
          </p:cNvPr>
          <p:cNvPicPr>
            <a:picLocks noChangeAspect="1"/>
          </p:cNvPicPr>
          <p:nvPr/>
        </p:nvPicPr>
        <p:blipFill>
          <a:blip r:embed="rId7"/>
          <a:stretch>
            <a:fillRect/>
          </a:stretch>
        </p:blipFill>
        <p:spPr>
          <a:xfrm>
            <a:off x="4064001" y="3720206"/>
            <a:ext cx="1050388" cy="117231"/>
          </a:xfrm>
          <a:prstGeom prst="rect">
            <a:avLst/>
          </a:prstGeom>
        </p:spPr>
      </p:pic>
      <p:pic>
        <p:nvPicPr>
          <p:cNvPr id="15" name="Grafik 14">
            <a:extLst>
              <a:ext uri="{FF2B5EF4-FFF2-40B4-BE49-F238E27FC236}">
                <a16:creationId xmlns:a16="http://schemas.microsoft.com/office/drawing/2014/main" id="{9782515D-26A1-4BB0-A69C-422BCA1A8D07}"/>
              </a:ext>
            </a:extLst>
          </p:cNvPr>
          <p:cNvPicPr>
            <a:picLocks noChangeAspect="1"/>
          </p:cNvPicPr>
          <p:nvPr/>
        </p:nvPicPr>
        <p:blipFill>
          <a:blip r:embed="rId8"/>
          <a:stretch>
            <a:fillRect/>
          </a:stretch>
        </p:blipFill>
        <p:spPr>
          <a:xfrm>
            <a:off x="25595" y="4869768"/>
            <a:ext cx="3920197" cy="1988233"/>
          </a:xfrm>
          <a:prstGeom prst="rect">
            <a:avLst/>
          </a:prstGeom>
        </p:spPr>
      </p:pic>
      <p:cxnSp>
        <p:nvCxnSpPr>
          <p:cNvPr id="20" name="Verbinder: gewinkelt 19">
            <a:extLst>
              <a:ext uri="{FF2B5EF4-FFF2-40B4-BE49-F238E27FC236}">
                <a16:creationId xmlns:a16="http://schemas.microsoft.com/office/drawing/2014/main" id="{EA21CA97-0A96-46B6-9216-4AE2838DB00F}"/>
              </a:ext>
            </a:extLst>
          </p:cNvPr>
          <p:cNvCxnSpPr>
            <a:cxnSpLocks/>
          </p:cNvCxnSpPr>
          <p:nvPr/>
        </p:nvCxnSpPr>
        <p:spPr>
          <a:xfrm flipV="1">
            <a:off x="5800221" y="1363748"/>
            <a:ext cx="6290180" cy="1"/>
          </a:xfrm>
          <a:prstGeom prst="bentConnector3">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21" name="Textfeld 20">
            <a:extLst>
              <a:ext uri="{FF2B5EF4-FFF2-40B4-BE49-F238E27FC236}">
                <a16:creationId xmlns:a16="http://schemas.microsoft.com/office/drawing/2014/main" id="{BC647444-7426-42AE-B774-61E7B8F807C3}"/>
              </a:ext>
            </a:extLst>
          </p:cNvPr>
          <p:cNvSpPr txBox="1"/>
          <p:nvPr/>
        </p:nvSpPr>
        <p:spPr>
          <a:xfrm>
            <a:off x="7823201" y="1374533"/>
            <a:ext cx="1452129" cy="461665"/>
          </a:xfrm>
          <a:prstGeom prst="rect">
            <a:avLst/>
          </a:prstGeom>
          <a:noFill/>
        </p:spPr>
        <p:txBody>
          <a:bodyPr wrap="none" rtlCol="0">
            <a:spAutoFit/>
          </a:bodyPr>
          <a:lstStyle/>
          <a:p>
            <a:r>
              <a:rPr lang="de-DE" sz="2400" b="1" dirty="0"/>
              <a:t>1500 Byte</a:t>
            </a:r>
          </a:p>
        </p:txBody>
      </p:sp>
      <p:sp>
        <p:nvSpPr>
          <p:cNvPr id="23" name="Textfeld 22">
            <a:extLst>
              <a:ext uri="{FF2B5EF4-FFF2-40B4-BE49-F238E27FC236}">
                <a16:creationId xmlns:a16="http://schemas.microsoft.com/office/drawing/2014/main" id="{550E979D-9D16-445B-9236-772FF6D802C4}"/>
              </a:ext>
            </a:extLst>
          </p:cNvPr>
          <p:cNvSpPr txBox="1"/>
          <p:nvPr/>
        </p:nvSpPr>
        <p:spPr>
          <a:xfrm>
            <a:off x="5758355" y="106179"/>
            <a:ext cx="717119" cy="297454"/>
          </a:xfrm>
          <a:prstGeom prst="rect">
            <a:avLst/>
          </a:prstGeom>
          <a:noFill/>
        </p:spPr>
        <p:txBody>
          <a:bodyPr wrap="none" rtlCol="0">
            <a:spAutoFit/>
          </a:bodyPr>
          <a:lstStyle/>
          <a:p>
            <a:r>
              <a:rPr lang="de-DE" sz="1333" b="1" dirty="0"/>
              <a:t>20 Byte</a:t>
            </a:r>
          </a:p>
        </p:txBody>
      </p:sp>
      <p:sp>
        <p:nvSpPr>
          <p:cNvPr id="24" name="Textfeld 23">
            <a:extLst>
              <a:ext uri="{FF2B5EF4-FFF2-40B4-BE49-F238E27FC236}">
                <a16:creationId xmlns:a16="http://schemas.microsoft.com/office/drawing/2014/main" id="{0B735801-73EA-4B6E-A967-94334C88A8A0}"/>
              </a:ext>
            </a:extLst>
          </p:cNvPr>
          <p:cNvSpPr txBox="1"/>
          <p:nvPr/>
        </p:nvSpPr>
        <p:spPr>
          <a:xfrm>
            <a:off x="6597795" y="100396"/>
            <a:ext cx="630557" cy="297454"/>
          </a:xfrm>
          <a:prstGeom prst="rect">
            <a:avLst/>
          </a:prstGeom>
          <a:noFill/>
        </p:spPr>
        <p:txBody>
          <a:bodyPr wrap="none" rtlCol="0">
            <a:spAutoFit/>
          </a:bodyPr>
          <a:lstStyle/>
          <a:p>
            <a:r>
              <a:rPr lang="de-DE" sz="1333" b="1" dirty="0"/>
              <a:t>8 Byte</a:t>
            </a:r>
          </a:p>
        </p:txBody>
      </p:sp>
      <p:sp>
        <p:nvSpPr>
          <p:cNvPr id="26" name="Rechteck 25">
            <a:extLst>
              <a:ext uri="{FF2B5EF4-FFF2-40B4-BE49-F238E27FC236}">
                <a16:creationId xmlns:a16="http://schemas.microsoft.com/office/drawing/2014/main" id="{446E4701-0E05-405C-926F-D9CDDBA3FB9C}"/>
              </a:ext>
            </a:extLst>
          </p:cNvPr>
          <p:cNvSpPr/>
          <p:nvPr/>
        </p:nvSpPr>
        <p:spPr>
          <a:xfrm>
            <a:off x="5791200" y="417172"/>
            <a:ext cx="711200" cy="787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dirty="0"/>
              <a:t>Neuer</a:t>
            </a:r>
          </a:p>
          <a:p>
            <a:pPr algn="ctr"/>
            <a:r>
              <a:rPr lang="de-DE" sz="800" dirty="0"/>
              <a:t>IP Header</a:t>
            </a:r>
          </a:p>
        </p:txBody>
      </p:sp>
      <p:sp>
        <p:nvSpPr>
          <p:cNvPr id="27" name="Rechteck 26">
            <a:extLst>
              <a:ext uri="{FF2B5EF4-FFF2-40B4-BE49-F238E27FC236}">
                <a16:creationId xmlns:a16="http://schemas.microsoft.com/office/drawing/2014/main" id="{CDBEABD0-FE20-436A-A4CB-B1476F72FD2F}"/>
              </a:ext>
            </a:extLst>
          </p:cNvPr>
          <p:cNvSpPr/>
          <p:nvPr/>
        </p:nvSpPr>
        <p:spPr>
          <a:xfrm>
            <a:off x="6502400" y="417172"/>
            <a:ext cx="1016000" cy="78723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de-DE" sz="1067" dirty="0"/>
              <a:t>ESP Header</a:t>
            </a:r>
          </a:p>
        </p:txBody>
      </p:sp>
      <p:sp>
        <p:nvSpPr>
          <p:cNvPr id="28" name="Rechteck 27">
            <a:extLst>
              <a:ext uri="{FF2B5EF4-FFF2-40B4-BE49-F238E27FC236}">
                <a16:creationId xmlns:a16="http://schemas.microsoft.com/office/drawing/2014/main" id="{145EF695-F12A-46C5-A766-D2ED40D04EC4}"/>
              </a:ext>
            </a:extLst>
          </p:cNvPr>
          <p:cNvSpPr/>
          <p:nvPr/>
        </p:nvSpPr>
        <p:spPr>
          <a:xfrm>
            <a:off x="7518400" y="417172"/>
            <a:ext cx="1016000" cy="78723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67" dirty="0"/>
              <a:t>Originaler</a:t>
            </a:r>
          </a:p>
          <a:p>
            <a:pPr algn="ctr"/>
            <a:r>
              <a:rPr lang="de-DE" sz="1067" dirty="0"/>
              <a:t>IP &amp; TCP Header</a:t>
            </a:r>
          </a:p>
        </p:txBody>
      </p:sp>
      <p:sp>
        <p:nvSpPr>
          <p:cNvPr id="29" name="Rechteck 28">
            <a:extLst>
              <a:ext uri="{FF2B5EF4-FFF2-40B4-BE49-F238E27FC236}">
                <a16:creationId xmlns:a16="http://schemas.microsoft.com/office/drawing/2014/main" id="{97267524-7A93-45CD-AFBF-716D06F903EE}"/>
              </a:ext>
            </a:extLst>
          </p:cNvPr>
          <p:cNvSpPr/>
          <p:nvPr/>
        </p:nvSpPr>
        <p:spPr>
          <a:xfrm>
            <a:off x="8534400" y="417172"/>
            <a:ext cx="2133600" cy="78723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de-DE" sz="1067" dirty="0"/>
              <a:t>Payload</a:t>
            </a:r>
          </a:p>
        </p:txBody>
      </p:sp>
      <p:sp>
        <p:nvSpPr>
          <p:cNvPr id="30" name="Rechteck 29">
            <a:extLst>
              <a:ext uri="{FF2B5EF4-FFF2-40B4-BE49-F238E27FC236}">
                <a16:creationId xmlns:a16="http://schemas.microsoft.com/office/drawing/2014/main" id="{4C671399-4A9B-4F01-AD84-610384342B00}"/>
              </a:ext>
            </a:extLst>
          </p:cNvPr>
          <p:cNvSpPr/>
          <p:nvPr/>
        </p:nvSpPr>
        <p:spPr>
          <a:xfrm>
            <a:off x="10668000" y="417172"/>
            <a:ext cx="711200" cy="78723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sz="1067" dirty="0"/>
              <a:t>ESP</a:t>
            </a:r>
          </a:p>
          <a:p>
            <a:pPr algn="ctr"/>
            <a:r>
              <a:rPr lang="de-DE" sz="1067" dirty="0"/>
              <a:t>Trailer</a:t>
            </a:r>
          </a:p>
        </p:txBody>
      </p:sp>
      <p:sp>
        <p:nvSpPr>
          <p:cNvPr id="31" name="Rechteck 30">
            <a:extLst>
              <a:ext uri="{FF2B5EF4-FFF2-40B4-BE49-F238E27FC236}">
                <a16:creationId xmlns:a16="http://schemas.microsoft.com/office/drawing/2014/main" id="{C9D7EC55-9BA5-4EDC-B3FC-822D3B3F7E0E}"/>
              </a:ext>
            </a:extLst>
          </p:cNvPr>
          <p:cNvSpPr/>
          <p:nvPr/>
        </p:nvSpPr>
        <p:spPr>
          <a:xfrm>
            <a:off x="11379200" y="417172"/>
            <a:ext cx="711200" cy="78723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de-DE" sz="1067" dirty="0"/>
              <a:t>ESP</a:t>
            </a:r>
          </a:p>
          <a:p>
            <a:pPr algn="ctr"/>
            <a:r>
              <a:rPr lang="de-DE" sz="1067" dirty="0"/>
              <a:t>Auth</a:t>
            </a:r>
            <a:endParaRPr lang="de-DE" sz="2400" dirty="0"/>
          </a:p>
        </p:txBody>
      </p:sp>
      <p:sp>
        <p:nvSpPr>
          <p:cNvPr id="37" name="Textfeld 36">
            <a:extLst>
              <a:ext uri="{FF2B5EF4-FFF2-40B4-BE49-F238E27FC236}">
                <a16:creationId xmlns:a16="http://schemas.microsoft.com/office/drawing/2014/main" id="{9D757195-7148-4C7D-9059-F1ED95D70566}"/>
              </a:ext>
            </a:extLst>
          </p:cNvPr>
          <p:cNvSpPr txBox="1"/>
          <p:nvPr/>
        </p:nvSpPr>
        <p:spPr>
          <a:xfrm>
            <a:off x="7592215" y="93684"/>
            <a:ext cx="717119" cy="297454"/>
          </a:xfrm>
          <a:prstGeom prst="rect">
            <a:avLst/>
          </a:prstGeom>
          <a:noFill/>
        </p:spPr>
        <p:txBody>
          <a:bodyPr wrap="none" rtlCol="0">
            <a:spAutoFit/>
          </a:bodyPr>
          <a:lstStyle/>
          <a:p>
            <a:r>
              <a:rPr lang="de-DE" sz="1333" b="1" dirty="0"/>
              <a:t>40 Byte</a:t>
            </a:r>
          </a:p>
        </p:txBody>
      </p:sp>
      <p:sp>
        <p:nvSpPr>
          <p:cNvPr id="38" name="Textfeld 37">
            <a:extLst>
              <a:ext uri="{FF2B5EF4-FFF2-40B4-BE49-F238E27FC236}">
                <a16:creationId xmlns:a16="http://schemas.microsoft.com/office/drawing/2014/main" id="{845D44C5-2D14-4F72-9B1B-B039E47EDFF5}"/>
              </a:ext>
            </a:extLst>
          </p:cNvPr>
          <p:cNvSpPr txBox="1"/>
          <p:nvPr/>
        </p:nvSpPr>
        <p:spPr>
          <a:xfrm>
            <a:off x="5588001" y="2098578"/>
            <a:ext cx="5184753" cy="584775"/>
          </a:xfrm>
          <a:prstGeom prst="rect">
            <a:avLst/>
          </a:prstGeom>
          <a:noFill/>
        </p:spPr>
        <p:txBody>
          <a:bodyPr wrap="none" rtlCol="0">
            <a:spAutoFit/>
          </a:bodyPr>
          <a:lstStyle/>
          <a:p>
            <a:r>
              <a:rPr lang="de-DE" sz="1600" dirty="0"/>
              <a:t>Berechnung des max. </a:t>
            </a:r>
            <a:r>
              <a:rPr lang="de-DE" sz="1600" dirty="0" err="1"/>
              <a:t>Payloads</a:t>
            </a:r>
            <a:r>
              <a:rPr lang="de-DE" sz="1600" dirty="0"/>
              <a:t>:</a:t>
            </a:r>
          </a:p>
          <a:p>
            <a:r>
              <a:rPr lang="de-DE" sz="1600" b="1" dirty="0"/>
              <a:t>MTU (1.500 Byte) – 20 Byte – 40 Byte -40 Byte = </a:t>
            </a:r>
            <a:r>
              <a:rPr lang="de-DE" sz="1600" b="1" u="sng" dirty="0"/>
              <a:t>1.400 Byte</a:t>
            </a:r>
          </a:p>
        </p:txBody>
      </p:sp>
      <p:sp>
        <p:nvSpPr>
          <p:cNvPr id="41" name="Textfeld 40">
            <a:extLst>
              <a:ext uri="{FF2B5EF4-FFF2-40B4-BE49-F238E27FC236}">
                <a16:creationId xmlns:a16="http://schemas.microsoft.com/office/drawing/2014/main" id="{C3EEB6DE-F381-427C-BAB1-391813A00F9F}"/>
              </a:ext>
            </a:extLst>
          </p:cNvPr>
          <p:cNvSpPr txBox="1"/>
          <p:nvPr/>
        </p:nvSpPr>
        <p:spPr>
          <a:xfrm>
            <a:off x="9179931" y="78094"/>
            <a:ext cx="890244" cy="297454"/>
          </a:xfrm>
          <a:prstGeom prst="rect">
            <a:avLst/>
          </a:prstGeom>
          <a:noFill/>
        </p:spPr>
        <p:txBody>
          <a:bodyPr wrap="none" rtlCol="0">
            <a:spAutoFit/>
          </a:bodyPr>
          <a:lstStyle/>
          <a:p>
            <a:r>
              <a:rPr lang="de-DE" sz="1333" b="1" dirty="0"/>
              <a:t>1400 Byte</a:t>
            </a:r>
          </a:p>
        </p:txBody>
      </p:sp>
      <p:sp>
        <p:nvSpPr>
          <p:cNvPr id="42" name="Textfeld 41">
            <a:extLst>
              <a:ext uri="{FF2B5EF4-FFF2-40B4-BE49-F238E27FC236}">
                <a16:creationId xmlns:a16="http://schemas.microsoft.com/office/drawing/2014/main" id="{551083E2-9625-417C-B91E-C0FD4E2893B0}"/>
              </a:ext>
            </a:extLst>
          </p:cNvPr>
          <p:cNvSpPr txBox="1"/>
          <p:nvPr/>
        </p:nvSpPr>
        <p:spPr>
          <a:xfrm>
            <a:off x="10526673" y="41348"/>
            <a:ext cx="974236" cy="297454"/>
          </a:xfrm>
          <a:prstGeom prst="rect">
            <a:avLst/>
          </a:prstGeom>
          <a:noFill/>
        </p:spPr>
        <p:txBody>
          <a:bodyPr wrap="square" rtlCol="0">
            <a:spAutoFit/>
          </a:bodyPr>
          <a:lstStyle/>
          <a:p>
            <a:pPr algn="ctr"/>
            <a:r>
              <a:rPr lang="de-DE" sz="1333" b="1" dirty="0"/>
              <a:t>20 Byte</a:t>
            </a:r>
          </a:p>
        </p:txBody>
      </p:sp>
      <p:sp>
        <p:nvSpPr>
          <p:cNvPr id="43" name="Textfeld 42">
            <a:extLst>
              <a:ext uri="{FF2B5EF4-FFF2-40B4-BE49-F238E27FC236}">
                <a16:creationId xmlns:a16="http://schemas.microsoft.com/office/drawing/2014/main" id="{95932641-3C05-4472-84B3-0FF6105F829C}"/>
              </a:ext>
            </a:extLst>
          </p:cNvPr>
          <p:cNvSpPr txBox="1"/>
          <p:nvPr/>
        </p:nvSpPr>
        <p:spPr>
          <a:xfrm>
            <a:off x="11231621" y="29935"/>
            <a:ext cx="974236" cy="297454"/>
          </a:xfrm>
          <a:prstGeom prst="rect">
            <a:avLst/>
          </a:prstGeom>
          <a:noFill/>
        </p:spPr>
        <p:txBody>
          <a:bodyPr wrap="square" rtlCol="0">
            <a:spAutoFit/>
          </a:bodyPr>
          <a:lstStyle/>
          <a:p>
            <a:pPr algn="ctr"/>
            <a:r>
              <a:rPr lang="de-DE" sz="1333" b="1" dirty="0"/>
              <a:t>12 Byte</a:t>
            </a:r>
          </a:p>
        </p:txBody>
      </p:sp>
      <p:sp>
        <p:nvSpPr>
          <p:cNvPr id="44" name="Textfeld 43">
            <a:extLst>
              <a:ext uri="{FF2B5EF4-FFF2-40B4-BE49-F238E27FC236}">
                <a16:creationId xmlns:a16="http://schemas.microsoft.com/office/drawing/2014/main" id="{7D3162A9-F96A-4E90-8776-B11E8B1E39B9}"/>
              </a:ext>
            </a:extLst>
          </p:cNvPr>
          <p:cNvSpPr txBox="1"/>
          <p:nvPr/>
        </p:nvSpPr>
        <p:spPr>
          <a:xfrm>
            <a:off x="5994401" y="4483424"/>
            <a:ext cx="5997503" cy="1200329"/>
          </a:xfrm>
          <a:prstGeom prst="rect">
            <a:avLst/>
          </a:prstGeom>
          <a:noFill/>
        </p:spPr>
        <p:txBody>
          <a:bodyPr wrap="square" rtlCol="0">
            <a:spAutoFit/>
          </a:bodyPr>
          <a:lstStyle/>
          <a:p>
            <a:r>
              <a:rPr lang="de-DE" sz="2400" b="1" dirty="0"/>
              <a:t>300 X 1024</a:t>
            </a:r>
            <a:r>
              <a:rPr lang="de-DE" sz="2400" b="1" baseline="30000" dirty="0"/>
              <a:t>2</a:t>
            </a:r>
            <a:r>
              <a:rPr lang="de-DE" sz="2400" b="1" dirty="0"/>
              <a:t> x 8 x 1518</a:t>
            </a:r>
          </a:p>
          <a:p>
            <a:r>
              <a:rPr lang="de-DE" sz="2400" b="1" dirty="0"/>
              <a:t>-------------------------- = 273 Sekunden</a:t>
            </a:r>
          </a:p>
          <a:p>
            <a:r>
              <a:rPr lang="de-DE" sz="2400" b="1" dirty="0"/>
              <a:t>10 x 1000</a:t>
            </a:r>
            <a:r>
              <a:rPr lang="de-DE" sz="2400" b="1" baseline="30000" dirty="0"/>
              <a:t>2</a:t>
            </a:r>
            <a:r>
              <a:rPr lang="de-DE" sz="2400" b="1" dirty="0"/>
              <a:t> x 1400</a:t>
            </a:r>
            <a:endParaRPr lang="de-DE" sz="2400" b="1" baseline="30000" dirty="0"/>
          </a:p>
        </p:txBody>
      </p:sp>
      <p:pic>
        <p:nvPicPr>
          <p:cNvPr id="46" name="Grafik 45" descr="Ein Bild, das Text enthält.&#10;&#10;Automatisch generierte Beschreibung">
            <a:extLst>
              <a:ext uri="{FF2B5EF4-FFF2-40B4-BE49-F238E27FC236}">
                <a16:creationId xmlns:a16="http://schemas.microsoft.com/office/drawing/2014/main" id="{8504D006-105D-4608-BC00-F7E02EEE2F9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18003" y="3339175"/>
            <a:ext cx="5127472" cy="908295"/>
          </a:xfrm>
          <a:prstGeom prst="rect">
            <a:avLst/>
          </a:prstGeom>
        </p:spPr>
      </p:pic>
      <p:sp>
        <p:nvSpPr>
          <p:cNvPr id="48" name="Textfeld 47">
            <a:extLst>
              <a:ext uri="{FF2B5EF4-FFF2-40B4-BE49-F238E27FC236}">
                <a16:creationId xmlns:a16="http://schemas.microsoft.com/office/drawing/2014/main" id="{85688B84-479C-4CC7-8103-8B1A05A2B03A}"/>
              </a:ext>
            </a:extLst>
          </p:cNvPr>
          <p:cNvSpPr txBox="1"/>
          <p:nvPr/>
        </p:nvSpPr>
        <p:spPr>
          <a:xfrm>
            <a:off x="4175027" y="6271551"/>
            <a:ext cx="7539092" cy="307777"/>
          </a:xfrm>
          <a:prstGeom prst="rect">
            <a:avLst/>
          </a:prstGeom>
          <a:noFill/>
        </p:spPr>
        <p:txBody>
          <a:bodyPr wrap="square">
            <a:spAutoFit/>
          </a:bodyPr>
          <a:lstStyle/>
          <a:p>
            <a:r>
              <a:rPr lang="de-DE" sz="1400" dirty="0">
                <a:hlinkClick r:id="rId10"/>
              </a:rPr>
              <a:t>https://kompendium.infotip.de/netzwerkbefehle-der-windows-kommandozeile.html</a:t>
            </a:r>
            <a:endParaRPr lang="de-DE" sz="1400" dirty="0"/>
          </a:p>
        </p:txBody>
      </p:sp>
    </p:spTree>
    <p:extLst>
      <p:ext uri="{BB962C8B-B14F-4D97-AF65-F5344CB8AC3E}">
        <p14:creationId xmlns:p14="http://schemas.microsoft.com/office/powerpoint/2010/main" val="2591537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3500438" y="2014536"/>
            <a:ext cx="8055667" cy="1446550"/>
          </a:xfrm>
          <a:prstGeom prst="rect">
            <a:avLst/>
          </a:prstGeom>
          <a:noFill/>
        </p:spPr>
        <p:txBody>
          <a:bodyPr wrap="none" rtlCol="0">
            <a:spAutoFit/>
          </a:bodyPr>
          <a:lstStyle/>
          <a:p>
            <a:r>
              <a:rPr lang="de-DE" sz="8800" dirty="0" err="1"/>
              <a:t>VoiP</a:t>
            </a:r>
            <a:r>
              <a:rPr lang="de-DE" sz="8800" dirty="0"/>
              <a:t>-Berechnung</a:t>
            </a:r>
          </a:p>
        </p:txBody>
      </p:sp>
    </p:spTree>
    <p:extLst>
      <p:ext uri="{BB962C8B-B14F-4D97-AF65-F5344CB8AC3E}">
        <p14:creationId xmlns:p14="http://schemas.microsoft.com/office/powerpoint/2010/main" val="3921333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6108700"/>
            <a:ext cx="12192000" cy="749300"/>
          </a:xfrm>
          <a:prstGeom prst="rect">
            <a:avLst/>
          </a:prstGeom>
          <a:solidFill>
            <a:srgbClr val="00609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 name="Picture 49" descr="http://www.antztec.com/images/voip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262" y="6164814"/>
            <a:ext cx="1957249" cy="637070"/>
          </a:xfrm>
          <a:prstGeom prst="rect">
            <a:avLst/>
          </a:prstGeom>
          <a:noFill/>
          <a:extLst>
            <a:ext uri="{909E8E84-426E-40DD-AFC4-6F175D3DCCD1}">
              <a14:hiddenFill xmlns:a14="http://schemas.microsoft.com/office/drawing/2010/main">
                <a:solidFill>
                  <a:srgbClr val="FFFFFF"/>
                </a:solidFill>
              </a14:hiddenFill>
            </a:ext>
          </a:extLst>
        </p:spPr>
      </p:pic>
      <p:sp>
        <p:nvSpPr>
          <p:cNvPr id="5" name="Datumsplatzhalter 4"/>
          <p:cNvSpPr>
            <a:spLocks noGrp="1"/>
          </p:cNvSpPr>
          <p:nvPr>
            <p:ph type="dt" sz="half" idx="10"/>
          </p:nvPr>
        </p:nvSpPr>
        <p:spPr>
          <a:xfrm>
            <a:off x="2231544" y="6455808"/>
            <a:ext cx="2743200" cy="365125"/>
          </a:xfrm>
        </p:spPr>
        <p:txBody>
          <a:bodyPr/>
          <a:lstStyle/>
          <a:p>
            <a:fld id="{7A9ABAC6-95AA-40B3-AA20-8B76DA5A7140}" type="datetime1">
              <a:rPr lang="de-DE" smtClean="0">
                <a:solidFill>
                  <a:schemeClr val="bg1"/>
                </a:solidFill>
              </a:rPr>
              <a:t>18.08.2026</a:t>
            </a:fld>
            <a:endParaRPr lang="de-DE" dirty="0">
              <a:solidFill>
                <a:schemeClr val="bg1"/>
              </a:solidFill>
            </a:endParaRPr>
          </a:p>
        </p:txBody>
      </p:sp>
      <p:sp>
        <p:nvSpPr>
          <p:cNvPr id="7" name="Foliennummernplatzhalter 6"/>
          <p:cNvSpPr>
            <a:spLocks noGrp="1"/>
          </p:cNvSpPr>
          <p:nvPr>
            <p:ph type="sldNum" sz="quarter" idx="12"/>
          </p:nvPr>
        </p:nvSpPr>
        <p:spPr>
          <a:xfrm>
            <a:off x="1012344" y="6464817"/>
            <a:ext cx="2743200" cy="365125"/>
          </a:xfrm>
        </p:spPr>
        <p:txBody>
          <a:bodyPr/>
          <a:lstStyle/>
          <a:p>
            <a:r>
              <a:rPr lang="de-DE" dirty="0">
                <a:solidFill>
                  <a:schemeClr val="bg1"/>
                </a:solidFill>
              </a:rPr>
              <a:t>Folie: </a:t>
            </a:r>
            <a:fld id="{60A782AA-7CCC-43DB-A608-F2716D44ED76}" type="slidenum">
              <a:rPr lang="de-DE" smtClean="0">
                <a:solidFill>
                  <a:schemeClr val="bg1"/>
                </a:solidFill>
              </a:rPr>
              <a:t>38</a:t>
            </a:fld>
            <a:endParaRPr lang="de-DE" dirty="0">
              <a:solidFill>
                <a:schemeClr val="bg1"/>
              </a:solidFill>
            </a:endParaRPr>
          </a:p>
        </p:txBody>
      </p:sp>
      <p:sp>
        <p:nvSpPr>
          <p:cNvPr id="9" name="Textfeld 8"/>
          <p:cNvSpPr txBox="1"/>
          <p:nvPr/>
        </p:nvSpPr>
        <p:spPr>
          <a:xfrm>
            <a:off x="5428687" y="6245167"/>
            <a:ext cx="1247457" cy="584775"/>
          </a:xfrm>
          <a:prstGeom prst="rect">
            <a:avLst/>
          </a:prstGeom>
          <a:noFill/>
        </p:spPr>
        <p:txBody>
          <a:bodyPr wrap="none" rtlCol="0">
            <a:spAutoFit/>
          </a:bodyPr>
          <a:lstStyle/>
          <a:p>
            <a:r>
              <a:rPr lang="de-DE" sz="3200" b="1" dirty="0">
                <a:solidFill>
                  <a:schemeClr val="bg1"/>
                </a:solidFill>
              </a:rPr>
              <a:t>Erlang</a:t>
            </a:r>
          </a:p>
        </p:txBody>
      </p:sp>
      <mc:AlternateContent xmlns:mc="http://schemas.openxmlformats.org/markup-compatibility/2006" xmlns:a14="http://schemas.microsoft.com/office/drawing/2010/main">
        <mc:Choice Requires="a14">
          <p:sp>
            <p:nvSpPr>
              <p:cNvPr id="8" name="Rechteck 7"/>
              <p:cNvSpPr/>
              <p:nvPr/>
            </p:nvSpPr>
            <p:spPr>
              <a:xfrm>
                <a:off x="2119344" y="587534"/>
                <a:ext cx="7641744" cy="9945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800" i="1" dirty="0"/>
                  <a:t>ERLANG C </a:t>
                </a:r>
                <a:r>
                  <a:rPr lang="de-DE" sz="2800" dirty="0"/>
                  <a:t>= </a:t>
                </a:r>
                <a:r>
                  <a:rPr lang="de-DE" sz="2800" i="1" dirty="0"/>
                  <a:t>Kapazität X </a:t>
                </a:r>
                <a14:m>
                  <m:oMath xmlns:m="http://schemas.openxmlformats.org/officeDocument/2006/math">
                    <m:f>
                      <m:fPr>
                        <m:ctrlPr>
                          <a:rPr lang="de-DE" sz="2800" i="1" smtClean="0">
                            <a:latin typeface="Cambria Math" panose="02040503050406030204" pitchFamily="18" charset="0"/>
                          </a:rPr>
                        </m:ctrlPr>
                      </m:fPr>
                      <m:num>
                        <m:r>
                          <a:rPr lang="de-DE" sz="2800" b="0" i="1" smtClean="0">
                            <a:latin typeface="Cambria Math" panose="02040503050406030204" pitchFamily="18" charset="0"/>
                          </a:rPr>
                          <m:t>𝐵𝑒𝑙𝑒𝑔𝑧𝑒𝑖𝑡</m:t>
                        </m:r>
                      </m:num>
                      <m:den>
                        <m:r>
                          <a:rPr lang="de-DE" sz="2800" b="0" i="1" smtClean="0">
                            <a:latin typeface="Cambria Math" panose="02040503050406030204" pitchFamily="18" charset="0"/>
                          </a:rPr>
                          <m:t>𝐺𝑒𝑠𝑎𝑚𝑡𝑧𝑒𝑖𝑡𝑟𝑎𝑢𝑚</m:t>
                        </m:r>
                      </m:den>
                    </m:f>
                  </m:oMath>
                </a14:m>
                <a:endParaRPr lang="de-DE" i="1" dirty="0"/>
              </a:p>
              <a:p>
                <a:pPr algn="ctr"/>
                <a:r>
                  <a:rPr lang="de-DE" i="1" dirty="0"/>
                  <a:t>                                                     </a:t>
                </a:r>
                <a:endParaRPr lang="de-DE" sz="4000" b="1" dirty="0"/>
              </a:p>
            </p:txBody>
          </p:sp>
        </mc:Choice>
        <mc:Fallback xmlns="">
          <p:sp>
            <p:nvSpPr>
              <p:cNvPr id="8" name="Rechteck 7"/>
              <p:cNvSpPr>
                <a:spLocks noRot="1" noChangeAspect="1" noMove="1" noResize="1" noEditPoints="1" noAdjustHandles="1" noChangeArrowheads="1" noChangeShapeType="1" noTextEdit="1"/>
              </p:cNvSpPr>
              <p:nvPr/>
            </p:nvSpPr>
            <p:spPr>
              <a:xfrm>
                <a:off x="2119344" y="587534"/>
                <a:ext cx="7641744" cy="994583"/>
              </a:xfrm>
              <a:prstGeom prst="rect">
                <a:avLst/>
              </a:prstGeom>
              <a:blipFill>
                <a:blip r:embed="rId3"/>
                <a:stretch>
                  <a:fillRect/>
                </a:stretch>
              </a:blipFill>
            </p:spPr>
            <p:txBody>
              <a:bodyPr/>
              <a:lstStyle/>
              <a:p>
                <a:r>
                  <a:rPr lang="de-DE">
                    <a:noFill/>
                  </a:rPr>
                  <a:t> </a:t>
                </a:r>
              </a:p>
            </p:txBody>
          </p:sp>
        </mc:Fallback>
      </mc:AlternateContent>
      <p:sp>
        <p:nvSpPr>
          <p:cNvPr id="10" name="AutoShape 2" descr="{\frac  {1000\cdot 2\,{\mathrm  {min}}}{60\,{\mathrm  {min}}}}=33{\frac  {1}{3}}\,{\mathrm  {Erl}}"/>
          <p:cNvSpPr>
            <a:spLocks noChangeAspect="1" noChangeArrowheads="1"/>
          </p:cNvSpPr>
          <p:nvPr/>
        </p:nvSpPr>
        <p:spPr bwMode="auto">
          <a:xfrm rot="10800000">
            <a:off x="1905169" y="95540"/>
            <a:ext cx="165076" cy="457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graphicFrame>
        <p:nvGraphicFramePr>
          <p:cNvPr id="11" name="Tabelle 10"/>
          <p:cNvGraphicFramePr>
            <a:graphicFrameLocks noGrp="1"/>
          </p:cNvGraphicFramePr>
          <p:nvPr/>
        </p:nvGraphicFramePr>
        <p:xfrm>
          <a:off x="518747" y="2007963"/>
          <a:ext cx="10713441" cy="1005840"/>
        </p:xfrm>
        <a:graphic>
          <a:graphicData uri="http://schemas.openxmlformats.org/drawingml/2006/table">
            <a:tbl>
              <a:tblPr>
                <a:tableStyleId>{BC89EF96-8CEA-46FF-86C4-4CE0E7609802}</a:tableStyleId>
              </a:tblPr>
              <a:tblGrid>
                <a:gridCol w="1950441">
                  <a:extLst>
                    <a:ext uri="{9D8B030D-6E8A-4147-A177-3AD203B41FA5}">
                      <a16:colId xmlns:a16="http://schemas.microsoft.com/office/drawing/2014/main" val="2490340064"/>
                    </a:ext>
                  </a:extLst>
                </a:gridCol>
                <a:gridCol w="1752600">
                  <a:extLst>
                    <a:ext uri="{9D8B030D-6E8A-4147-A177-3AD203B41FA5}">
                      <a16:colId xmlns:a16="http://schemas.microsoft.com/office/drawing/2014/main" val="1582027896"/>
                    </a:ext>
                  </a:extLst>
                </a:gridCol>
                <a:gridCol w="1752600">
                  <a:extLst>
                    <a:ext uri="{9D8B030D-6E8A-4147-A177-3AD203B41FA5}">
                      <a16:colId xmlns:a16="http://schemas.microsoft.com/office/drawing/2014/main" val="470291505"/>
                    </a:ext>
                  </a:extLst>
                </a:gridCol>
                <a:gridCol w="1752600">
                  <a:extLst>
                    <a:ext uri="{9D8B030D-6E8A-4147-A177-3AD203B41FA5}">
                      <a16:colId xmlns:a16="http://schemas.microsoft.com/office/drawing/2014/main" val="1518605758"/>
                    </a:ext>
                  </a:extLst>
                </a:gridCol>
                <a:gridCol w="1752600">
                  <a:extLst>
                    <a:ext uri="{9D8B030D-6E8A-4147-A177-3AD203B41FA5}">
                      <a16:colId xmlns:a16="http://schemas.microsoft.com/office/drawing/2014/main" val="775999800"/>
                    </a:ext>
                  </a:extLst>
                </a:gridCol>
                <a:gridCol w="1752600">
                  <a:extLst>
                    <a:ext uri="{9D8B030D-6E8A-4147-A177-3AD203B41FA5}">
                      <a16:colId xmlns:a16="http://schemas.microsoft.com/office/drawing/2014/main" val="2723979852"/>
                    </a:ext>
                  </a:extLst>
                </a:gridCol>
              </a:tblGrid>
              <a:tr h="0">
                <a:tc>
                  <a:txBody>
                    <a:bodyPr/>
                    <a:lstStyle/>
                    <a:p>
                      <a:r>
                        <a:rPr lang="de-DE" dirty="0"/>
                        <a:t>Benutzer a 120min/Tag 10h</a:t>
                      </a:r>
                    </a:p>
                  </a:txBody>
                  <a:tcPr anchor="ctr"/>
                </a:tc>
                <a:tc>
                  <a:txBody>
                    <a:bodyPr/>
                    <a:lstStyle/>
                    <a:p>
                      <a:r>
                        <a:rPr lang="de-DE"/>
                        <a:t>10</a:t>
                      </a:r>
                    </a:p>
                  </a:txBody>
                  <a:tcPr anchor="ctr"/>
                </a:tc>
                <a:tc>
                  <a:txBody>
                    <a:bodyPr/>
                    <a:lstStyle/>
                    <a:p>
                      <a:r>
                        <a:rPr lang="de-DE"/>
                        <a:t>50</a:t>
                      </a:r>
                    </a:p>
                  </a:txBody>
                  <a:tcPr anchor="ctr"/>
                </a:tc>
                <a:tc>
                  <a:txBody>
                    <a:bodyPr/>
                    <a:lstStyle/>
                    <a:p>
                      <a:r>
                        <a:rPr lang="de-DE"/>
                        <a:t>100</a:t>
                      </a:r>
                    </a:p>
                  </a:txBody>
                  <a:tcPr anchor="ctr"/>
                </a:tc>
                <a:tc>
                  <a:txBody>
                    <a:bodyPr/>
                    <a:lstStyle/>
                    <a:p>
                      <a:r>
                        <a:rPr lang="de-DE" dirty="0"/>
                        <a:t>150</a:t>
                      </a:r>
                    </a:p>
                  </a:txBody>
                  <a:tcPr anchor="ctr"/>
                </a:tc>
                <a:tc>
                  <a:txBody>
                    <a:bodyPr/>
                    <a:lstStyle/>
                    <a:p>
                      <a:r>
                        <a:rPr lang="de-DE" dirty="0"/>
                        <a:t>200</a:t>
                      </a:r>
                    </a:p>
                  </a:txBody>
                  <a:tcPr anchor="ctr"/>
                </a:tc>
                <a:extLst>
                  <a:ext uri="{0D108BD9-81ED-4DB2-BD59-A6C34878D82A}">
                    <a16:rowId xmlns:a16="http://schemas.microsoft.com/office/drawing/2014/main" val="3032619524"/>
                  </a:ext>
                </a:extLst>
              </a:tr>
              <a:tr h="0">
                <a:tc>
                  <a:txBody>
                    <a:bodyPr/>
                    <a:lstStyle/>
                    <a:p>
                      <a:r>
                        <a:rPr lang="de-DE" dirty="0"/>
                        <a:t>Erlang</a:t>
                      </a:r>
                    </a:p>
                  </a:txBody>
                  <a:tcPr anchor="ctr"/>
                </a:tc>
                <a:tc>
                  <a:txBody>
                    <a:bodyPr/>
                    <a:lstStyle/>
                    <a:p>
                      <a:endParaRPr lang="de-DE" dirty="0"/>
                    </a:p>
                  </a:txBody>
                  <a:tcPr anchor="ctr"/>
                </a:tc>
                <a:tc>
                  <a:txBody>
                    <a:bodyPr/>
                    <a:lstStyle/>
                    <a:p>
                      <a:endParaRPr lang="de-DE" dirty="0"/>
                    </a:p>
                  </a:txBody>
                  <a:tcPr anchor="ctr"/>
                </a:tc>
                <a:tc>
                  <a:txBody>
                    <a:bodyPr/>
                    <a:lstStyle/>
                    <a:p>
                      <a:endParaRPr lang="de-DE" dirty="0"/>
                    </a:p>
                  </a:txBody>
                  <a:tcPr anchor="ctr"/>
                </a:tc>
                <a:tc>
                  <a:txBody>
                    <a:bodyPr/>
                    <a:lstStyle/>
                    <a:p>
                      <a:endParaRPr lang="de-DE" dirty="0"/>
                    </a:p>
                  </a:txBody>
                  <a:tcPr anchor="ctr"/>
                </a:tc>
                <a:tc>
                  <a:txBody>
                    <a:bodyPr/>
                    <a:lstStyle/>
                    <a:p>
                      <a:endParaRPr lang="de-DE" dirty="0"/>
                    </a:p>
                  </a:txBody>
                  <a:tcPr anchor="ctr"/>
                </a:tc>
                <a:extLst>
                  <a:ext uri="{0D108BD9-81ED-4DB2-BD59-A6C34878D82A}">
                    <a16:rowId xmlns:a16="http://schemas.microsoft.com/office/drawing/2014/main" val="150283089"/>
                  </a:ext>
                </a:extLst>
              </a:tr>
            </a:tbl>
          </a:graphicData>
        </a:graphic>
      </p:graphicFrame>
      <p:graphicFrame>
        <p:nvGraphicFramePr>
          <p:cNvPr id="12" name="Tabelle 11"/>
          <p:cNvGraphicFramePr>
            <a:graphicFrameLocks noGrp="1"/>
          </p:cNvGraphicFramePr>
          <p:nvPr/>
        </p:nvGraphicFramePr>
        <p:xfrm>
          <a:off x="518746" y="3013803"/>
          <a:ext cx="10713441" cy="1005840"/>
        </p:xfrm>
        <a:graphic>
          <a:graphicData uri="http://schemas.openxmlformats.org/drawingml/2006/table">
            <a:tbl>
              <a:tblPr>
                <a:tableStyleId>{BC89EF96-8CEA-46FF-86C4-4CE0E7609802}</a:tableStyleId>
              </a:tblPr>
              <a:tblGrid>
                <a:gridCol w="1950441">
                  <a:extLst>
                    <a:ext uri="{9D8B030D-6E8A-4147-A177-3AD203B41FA5}">
                      <a16:colId xmlns:a16="http://schemas.microsoft.com/office/drawing/2014/main" val="1073299046"/>
                    </a:ext>
                  </a:extLst>
                </a:gridCol>
                <a:gridCol w="1752600">
                  <a:extLst>
                    <a:ext uri="{9D8B030D-6E8A-4147-A177-3AD203B41FA5}">
                      <a16:colId xmlns:a16="http://schemas.microsoft.com/office/drawing/2014/main" val="1198338350"/>
                    </a:ext>
                  </a:extLst>
                </a:gridCol>
                <a:gridCol w="1752600">
                  <a:extLst>
                    <a:ext uri="{9D8B030D-6E8A-4147-A177-3AD203B41FA5}">
                      <a16:colId xmlns:a16="http://schemas.microsoft.com/office/drawing/2014/main" val="1458331448"/>
                    </a:ext>
                  </a:extLst>
                </a:gridCol>
                <a:gridCol w="1752600">
                  <a:extLst>
                    <a:ext uri="{9D8B030D-6E8A-4147-A177-3AD203B41FA5}">
                      <a16:colId xmlns:a16="http://schemas.microsoft.com/office/drawing/2014/main" val="4239960056"/>
                    </a:ext>
                  </a:extLst>
                </a:gridCol>
                <a:gridCol w="1752600">
                  <a:extLst>
                    <a:ext uri="{9D8B030D-6E8A-4147-A177-3AD203B41FA5}">
                      <a16:colId xmlns:a16="http://schemas.microsoft.com/office/drawing/2014/main" val="4006150959"/>
                    </a:ext>
                  </a:extLst>
                </a:gridCol>
                <a:gridCol w="1752600">
                  <a:extLst>
                    <a:ext uri="{9D8B030D-6E8A-4147-A177-3AD203B41FA5}">
                      <a16:colId xmlns:a16="http://schemas.microsoft.com/office/drawing/2014/main" val="1354234459"/>
                    </a:ext>
                  </a:extLst>
                </a:gridCol>
              </a:tblGrid>
              <a:tr h="0">
                <a:tc>
                  <a:txBody>
                    <a:bodyPr/>
                    <a:lstStyle/>
                    <a:p>
                      <a:r>
                        <a:rPr lang="de-DE" dirty="0"/>
                        <a:t>Benutzer a 40min/Tag 8h</a:t>
                      </a:r>
                    </a:p>
                  </a:txBody>
                  <a:tcPr anchor="ctr"/>
                </a:tc>
                <a:tc>
                  <a:txBody>
                    <a:bodyPr/>
                    <a:lstStyle/>
                    <a:p>
                      <a:r>
                        <a:rPr lang="de-DE"/>
                        <a:t>10</a:t>
                      </a:r>
                    </a:p>
                  </a:txBody>
                  <a:tcPr anchor="ctr"/>
                </a:tc>
                <a:tc>
                  <a:txBody>
                    <a:bodyPr/>
                    <a:lstStyle/>
                    <a:p>
                      <a:r>
                        <a:rPr lang="de-DE"/>
                        <a:t>50</a:t>
                      </a:r>
                    </a:p>
                  </a:txBody>
                  <a:tcPr anchor="ctr"/>
                </a:tc>
                <a:tc>
                  <a:txBody>
                    <a:bodyPr/>
                    <a:lstStyle/>
                    <a:p>
                      <a:r>
                        <a:rPr lang="de-DE"/>
                        <a:t>100</a:t>
                      </a:r>
                    </a:p>
                  </a:txBody>
                  <a:tcPr anchor="ctr"/>
                </a:tc>
                <a:tc>
                  <a:txBody>
                    <a:bodyPr/>
                    <a:lstStyle/>
                    <a:p>
                      <a:r>
                        <a:rPr lang="de-DE" dirty="0"/>
                        <a:t>150</a:t>
                      </a:r>
                    </a:p>
                  </a:txBody>
                  <a:tcPr anchor="ctr"/>
                </a:tc>
                <a:tc>
                  <a:txBody>
                    <a:bodyPr/>
                    <a:lstStyle/>
                    <a:p>
                      <a:r>
                        <a:rPr lang="de-DE" dirty="0"/>
                        <a:t>200</a:t>
                      </a:r>
                    </a:p>
                  </a:txBody>
                  <a:tcPr anchor="ctr"/>
                </a:tc>
                <a:extLst>
                  <a:ext uri="{0D108BD9-81ED-4DB2-BD59-A6C34878D82A}">
                    <a16:rowId xmlns:a16="http://schemas.microsoft.com/office/drawing/2014/main" val="2223481993"/>
                  </a:ext>
                </a:extLst>
              </a:tr>
              <a:tr h="0">
                <a:tc>
                  <a:txBody>
                    <a:bodyPr/>
                    <a:lstStyle/>
                    <a:p>
                      <a:r>
                        <a:rPr lang="de-DE" dirty="0"/>
                        <a:t>Erlang</a:t>
                      </a:r>
                    </a:p>
                  </a:txBody>
                  <a:tcPr anchor="ctr"/>
                </a:tc>
                <a:tc>
                  <a:txBody>
                    <a:bodyPr/>
                    <a:lstStyle/>
                    <a:p>
                      <a:endParaRPr lang="de-DE" dirty="0"/>
                    </a:p>
                  </a:txBody>
                  <a:tcPr anchor="ctr"/>
                </a:tc>
                <a:tc>
                  <a:txBody>
                    <a:bodyPr/>
                    <a:lstStyle/>
                    <a:p>
                      <a:endParaRPr lang="de-DE"/>
                    </a:p>
                  </a:txBody>
                  <a:tcPr anchor="ctr"/>
                </a:tc>
                <a:tc>
                  <a:txBody>
                    <a:bodyPr/>
                    <a:lstStyle/>
                    <a:p>
                      <a:endParaRPr lang="de-DE"/>
                    </a:p>
                  </a:txBody>
                  <a:tcPr anchor="ctr"/>
                </a:tc>
                <a:tc>
                  <a:txBody>
                    <a:bodyPr/>
                    <a:lstStyle/>
                    <a:p>
                      <a:endParaRPr lang="de-DE"/>
                    </a:p>
                  </a:txBody>
                  <a:tcPr anchor="ctr"/>
                </a:tc>
                <a:tc>
                  <a:txBody>
                    <a:bodyPr/>
                    <a:lstStyle/>
                    <a:p>
                      <a:endParaRPr lang="de-DE" dirty="0"/>
                    </a:p>
                  </a:txBody>
                  <a:tcPr anchor="ctr"/>
                </a:tc>
                <a:extLst>
                  <a:ext uri="{0D108BD9-81ED-4DB2-BD59-A6C34878D82A}">
                    <a16:rowId xmlns:a16="http://schemas.microsoft.com/office/drawing/2014/main" val="1101962087"/>
                  </a:ext>
                </a:extLst>
              </a:tr>
            </a:tbl>
          </a:graphicData>
        </a:graphic>
      </p:graphicFrame>
      <mc:AlternateContent xmlns:mc="http://schemas.openxmlformats.org/markup-compatibility/2006" xmlns:a14="http://schemas.microsoft.com/office/drawing/2010/main">
        <mc:Choice Requires="a14">
          <p:sp>
            <p:nvSpPr>
              <p:cNvPr id="13" name="Rechteck 12">
                <a:extLst>
                  <a:ext uri="{FF2B5EF4-FFF2-40B4-BE49-F238E27FC236}">
                    <a16:creationId xmlns:a16="http://schemas.microsoft.com/office/drawing/2014/main" id="{44D8353F-E530-4691-A3BA-B553C8AD5314}"/>
                  </a:ext>
                </a:extLst>
              </p:cNvPr>
              <p:cNvSpPr/>
              <p:nvPr/>
            </p:nvSpPr>
            <p:spPr>
              <a:xfrm>
                <a:off x="1718959" y="4466824"/>
                <a:ext cx="8666912" cy="9945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800" i="1" dirty="0"/>
                  <a:t>ERLANG </a:t>
                </a:r>
                <a:r>
                  <a:rPr lang="de-DE" sz="2800" dirty="0"/>
                  <a:t>= </a:t>
                </a:r>
                <a:r>
                  <a:rPr lang="de-DE" sz="2800" i="1" dirty="0"/>
                  <a:t>1000 Gespräche X </a:t>
                </a:r>
                <a14:m>
                  <m:oMath xmlns:m="http://schemas.openxmlformats.org/officeDocument/2006/math">
                    <m:f>
                      <m:fPr>
                        <m:ctrlPr>
                          <a:rPr lang="de-DE" sz="2800" i="1" smtClean="0">
                            <a:latin typeface="Cambria Math" panose="02040503050406030204" pitchFamily="18" charset="0"/>
                          </a:rPr>
                        </m:ctrlPr>
                      </m:fPr>
                      <m:num>
                        <m:r>
                          <a:rPr lang="de-DE" sz="2800" b="0" i="1" smtClean="0">
                            <a:latin typeface="Cambria Math" panose="02040503050406030204" pitchFamily="18" charset="0"/>
                          </a:rPr>
                          <m:t>2 </m:t>
                        </m:r>
                        <m:r>
                          <a:rPr lang="de-DE" sz="2800" b="0" i="1" smtClean="0">
                            <a:latin typeface="Cambria Math" panose="02040503050406030204" pitchFamily="18" charset="0"/>
                          </a:rPr>
                          <m:t>𝑀𝑖𝑛</m:t>
                        </m:r>
                      </m:num>
                      <m:den>
                        <m:r>
                          <a:rPr lang="de-DE" sz="2800" b="0" i="1" smtClean="0">
                            <a:latin typeface="Cambria Math" panose="02040503050406030204" pitchFamily="18" charset="0"/>
                          </a:rPr>
                          <m:t>60 </m:t>
                        </m:r>
                        <m:r>
                          <a:rPr lang="de-DE" sz="2800" b="0" i="1" smtClean="0">
                            <a:latin typeface="Cambria Math" panose="02040503050406030204" pitchFamily="18" charset="0"/>
                          </a:rPr>
                          <m:t>𝑀𝑖𝑛</m:t>
                        </m:r>
                      </m:den>
                    </m:f>
                  </m:oMath>
                </a14:m>
                <a:r>
                  <a:rPr lang="de-DE" i="1" dirty="0"/>
                  <a:t> = 33,3 Erlang -&gt; Leitungen</a:t>
                </a:r>
              </a:p>
              <a:p>
                <a:pPr algn="ctr"/>
                <a:r>
                  <a:rPr lang="de-DE" i="1" dirty="0"/>
                  <a:t>                                                     </a:t>
                </a:r>
                <a:endParaRPr lang="de-DE" sz="4000" b="1" dirty="0"/>
              </a:p>
            </p:txBody>
          </p:sp>
        </mc:Choice>
        <mc:Fallback xmlns="">
          <p:sp>
            <p:nvSpPr>
              <p:cNvPr id="13" name="Rechteck 12">
                <a:extLst>
                  <a:ext uri="{FF2B5EF4-FFF2-40B4-BE49-F238E27FC236}">
                    <a16:creationId xmlns:a16="http://schemas.microsoft.com/office/drawing/2014/main" id="{44D8353F-E530-4691-A3BA-B553C8AD5314}"/>
                  </a:ext>
                </a:extLst>
              </p:cNvPr>
              <p:cNvSpPr>
                <a:spLocks noRot="1" noChangeAspect="1" noMove="1" noResize="1" noEditPoints="1" noAdjustHandles="1" noChangeArrowheads="1" noChangeShapeType="1" noTextEdit="1"/>
              </p:cNvSpPr>
              <p:nvPr/>
            </p:nvSpPr>
            <p:spPr>
              <a:xfrm>
                <a:off x="1718959" y="4466824"/>
                <a:ext cx="8666912" cy="994583"/>
              </a:xfrm>
              <a:prstGeom prst="rect">
                <a:avLst/>
              </a:prstGeom>
              <a:blipFill>
                <a:blip r:embed="rId4"/>
                <a:stretch>
                  <a:fillRect/>
                </a:stretch>
              </a:blipFill>
            </p:spPr>
            <p:txBody>
              <a:bodyPr/>
              <a:lstStyle/>
              <a:p>
                <a:r>
                  <a:rPr lang="de-DE">
                    <a:noFill/>
                  </a:rPr>
                  <a:t> </a:t>
                </a:r>
              </a:p>
            </p:txBody>
          </p:sp>
        </mc:Fallback>
      </mc:AlternateContent>
    </p:spTree>
    <p:extLst>
      <p:ext uri="{BB962C8B-B14F-4D97-AF65-F5344CB8AC3E}">
        <p14:creationId xmlns:p14="http://schemas.microsoft.com/office/powerpoint/2010/main" val="5869058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85FC13-FB69-2888-6715-19E9EB269EBF}"/>
              </a:ext>
            </a:extLst>
          </p:cNvPr>
          <p:cNvSpPr>
            <a:spLocks noGrp="1"/>
          </p:cNvSpPr>
          <p:nvPr>
            <p:ph type="title"/>
          </p:nvPr>
        </p:nvSpPr>
        <p:spPr>
          <a:xfrm>
            <a:off x="2590800" y="6324600"/>
            <a:ext cx="9134475" cy="369332"/>
          </a:xfrm>
        </p:spPr>
        <p:txBody>
          <a:bodyPr/>
          <a:lstStyle/>
          <a:p>
            <a:r>
              <a:rPr lang="de-DE" dirty="0">
                <a:solidFill>
                  <a:schemeClr val="bg1"/>
                </a:solidFill>
              </a:rPr>
              <a:t>Bandbreitenkapazitätsberechnung</a:t>
            </a:r>
          </a:p>
        </p:txBody>
      </p:sp>
      <p:sp>
        <p:nvSpPr>
          <p:cNvPr id="3" name="Textfeld 2">
            <a:extLst>
              <a:ext uri="{FF2B5EF4-FFF2-40B4-BE49-F238E27FC236}">
                <a16:creationId xmlns:a16="http://schemas.microsoft.com/office/drawing/2014/main" id="{6AE8C181-891A-1532-53ED-541C39E47408}"/>
              </a:ext>
            </a:extLst>
          </p:cNvPr>
          <p:cNvSpPr txBox="1"/>
          <p:nvPr/>
        </p:nvSpPr>
        <p:spPr>
          <a:xfrm>
            <a:off x="685800" y="381000"/>
            <a:ext cx="11312969" cy="5078313"/>
          </a:xfrm>
          <a:prstGeom prst="rect">
            <a:avLst/>
          </a:prstGeom>
          <a:noFill/>
        </p:spPr>
        <p:txBody>
          <a:bodyPr wrap="none" rtlCol="0">
            <a:spAutoFit/>
          </a:bodyPr>
          <a:lstStyle/>
          <a:p>
            <a:r>
              <a:rPr lang="de-DE" dirty="0"/>
              <a:t>Aus der alten Telefonanlage haben Sie die Protokoll-Datei analysiert und haben folgendes Telefonverhalten des letzten</a:t>
            </a:r>
          </a:p>
          <a:p>
            <a:r>
              <a:rPr lang="de-DE" dirty="0"/>
              <a:t>Monats ermittelt.</a:t>
            </a:r>
          </a:p>
          <a:p>
            <a:endParaRPr lang="de-DE" dirty="0"/>
          </a:p>
          <a:p>
            <a:pPr marL="285750" indent="-285750">
              <a:buFontTx/>
              <a:buChar char="-"/>
            </a:pPr>
            <a:r>
              <a:rPr lang="de-DE" dirty="0"/>
              <a:t>Gespräche gesamt: 12.450</a:t>
            </a:r>
          </a:p>
          <a:p>
            <a:pPr marL="285750" indent="-285750">
              <a:buFontTx/>
              <a:buChar char="-"/>
            </a:pPr>
            <a:r>
              <a:rPr lang="de-DE" dirty="0"/>
              <a:t>Durchschnittliche Gesprächsdauer: 40 Minuten</a:t>
            </a:r>
          </a:p>
          <a:p>
            <a:pPr marL="285750" indent="-285750">
              <a:buFontTx/>
              <a:buChar char="-"/>
            </a:pPr>
            <a:r>
              <a:rPr lang="de-DE" dirty="0"/>
              <a:t>Arbeitszeit täglich: 8h</a:t>
            </a:r>
          </a:p>
          <a:p>
            <a:pPr marL="285750" indent="-285750">
              <a:buFontTx/>
              <a:buChar char="-"/>
            </a:pPr>
            <a:r>
              <a:rPr lang="de-DE" dirty="0"/>
              <a:t>Arbeitstage im letzten Monat: 20</a:t>
            </a:r>
          </a:p>
          <a:p>
            <a:pPr marL="285750" indent="-285750">
              <a:buFontTx/>
              <a:buChar char="-"/>
            </a:pPr>
            <a:endParaRPr lang="de-DE" dirty="0"/>
          </a:p>
          <a:p>
            <a:pPr marL="285750" indent="-285750">
              <a:buFontTx/>
              <a:buChar char="-"/>
            </a:pPr>
            <a:endParaRPr lang="de-DE" dirty="0"/>
          </a:p>
          <a:p>
            <a:r>
              <a:rPr lang="de-DE" dirty="0"/>
              <a:t>Berechnen Sie wie viele Gespräche gleichzeitig geführt werden müssen und berechnen Sie die benötigte Bandbreite in </a:t>
            </a:r>
          </a:p>
          <a:p>
            <a:r>
              <a:rPr lang="de-DE" dirty="0" err="1"/>
              <a:t>Mb</a:t>
            </a:r>
            <a:r>
              <a:rPr lang="de-DE" dirty="0"/>
              <a:t>/s bei folgenden Parametern. Runden Sie das Ergebnis auf volle </a:t>
            </a:r>
            <a:r>
              <a:rPr lang="de-DE" dirty="0" err="1"/>
              <a:t>Mb</a:t>
            </a:r>
            <a:r>
              <a:rPr lang="de-DE" dirty="0"/>
              <a:t>/s auf. Der Rechenweg ist anzugeben.</a:t>
            </a:r>
          </a:p>
          <a:p>
            <a:endParaRPr lang="de-DE" dirty="0"/>
          </a:p>
          <a:p>
            <a:pPr marL="285750" indent="-285750">
              <a:buFontTx/>
              <a:buChar char="-"/>
            </a:pPr>
            <a:r>
              <a:rPr lang="de-DE" dirty="0"/>
              <a:t>Verwendeter Codec: G.722.2 (24 </a:t>
            </a:r>
            <a:r>
              <a:rPr lang="de-DE" dirty="0" err="1"/>
              <a:t>Kb</a:t>
            </a:r>
            <a:r>
              <a:rPr lang="de-DE" dirty="0"/>
              <a:t>/s)</a:t>
            </a:r>
          </a:p>
          <a:p>
            <a:pPr marL="285750" indent="-285750">
              <a:buFontTx/>
              <a:buChar char="-"/>
            </a:pPr>
            <a:r>
              <a:rPr lang="de-DE" dirty="0"/>
              <a:t>Overhead: 20%</a:t>
            </a:r>
          </a:p>
          <a:p>
            <a:pPr marL="285750" indent="-285750">
              <a:buFontTx/>
              <a:buChar char="-"/>
            </a:pPr>
            <a:r>
              <a:rPr lang="de-DE" dirty="0"/>
              <a:t>Puffer in der Gesamtbandbreite: 30%</a:t>
            </a:r>
          </a:p>
          <a:p>
            <a:pPr marL="285750" indent="-285750">
              <a:buFontTx/>
              <a:buChar char="-"/>
            </a:pPr>
            <a:r>
              <a:rPr lang="de-DE" dirty="0"/>
              <a:t>SDSL Leitung</a:t>
            </a:r>
          </a:p>
          <a:p>
            <a:endParaRPr lang="de-DE" dirty="0"/>
          </a:p>
          <a:p>
            <a:endParaRPr lang="de-DE" dirty="0"/>
          </a:p>
        </p:txBody>
      </p:sp>
      <mc:AlternateContent xmlns:mc="http://schemas.openxmlformats.org/markup-compatibility/2006" xmlns:a14="http://schemas.microsoft.com/office/drawing/2010/main">
        <mc:Choice Requires="a14">
          <p:sp>
            <p:nvSpPr>
              <p:cNvPr id="4" name="Rechteck 3">
                <a:extLst>
                  <a:ext uri="{FF2B5EF4-FFF2-40B4-BE49-F238E27FC236}">
                    <a16:creationId xmlns:a16="http://schemas.microsoft.com/office/drawing/2014/main" id="{153BA724-836E-6AA9-B673-13CB1155084E}"/>
                  </a:ext>
                </a:extLst>
              </p:cNvPr>
              <p:cNvSpPr/>
              <p:nvPr/>
            </p:nvSpPr>
            <p:spPr>
              <a:xfrm>
                <a:off x="2275128" y="5827308"/>
                <a:ext cx="7641744" cy="9945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800" i="1" dirty="0"/>
                  <a:t>ERLANG C </a:t>
                </a:r>
                <a:r>
                  <a:rPr lang="de-DE" sz="2800" dirty="0"/>
                  <a:t>= </a:t>
                </a:r>
                <a:r>
                  <a:rPr lang="de-DE" sz="2800" i="1" dirty="0"/>
                  <a:t>Kapazität X </a:t>
                </a:r>
                <a14:m>
                  <m:oMath xmlns:m="http://schemas.openxmlformats.org/officeDocument/2006/math">
                    <m:f>
                      <m:fPr>
                        <m:ctrlPr>
                          <a:rPr lang="de-DE" sz="2800" i="1" smtClean="0">
                            <a:latin typeface="Cambria Math" panose="02040503050406030204" pitchFamily="18" charset="0"/>
                          </a:rPr>
                        </m:ctrlPr>
                      </m:fPr>
                      <m:num>
                        <m:r>
                          <a:rPr lang="de-DE" sz="2800" b="0" i="1" smtClean="0">
                            <a:latin typeface="Cambria Math" panose="02040503050406030204" pitchFamily="18" charset="0"/>
                          </a:rPr>
                          <m:t>𝐵𝑒𝑙𝑒𝑔𝑧𝑒𝑖𝑡</m:t>
                        </m:r>
                      </m:num>
                      <m:den>
                        <m:r>
                          <a:rPr lang="de-DE" sz="2800" b="0" i="1" smtClean="0">
                            <a:latin typeface="Cambria Math" panose="02040503050406030204" pitchFamily="18" charset="0"/>
                          </a:rPr>
                          <m:t>𝐺𝑒𝑠𝑎𝑚𝑡𝑧𝑒𝑖𝑡𝑟𝑎𝑢𝑚</m:t>
                        </m:r>
                      </m:den>
                    </m:f>
                  </m:oMath>
                </a14:m>
                <a:endParaRPr lang="de-DE" i="1" dirty="0"/>
              </a:p>
              <a:p>
                <a:pPr algn="ctr"/>
                <a:r>
                  <a:rPr lang="de-DE" i="1" dirty="0"/>
                  <a:t>                                                     </a:t>
                </a:r>
                <a:endParaRPr lang="de-DE" sz="4000" b="1" dirty="0"/>
              </a:p>
            </p:txBody>
          </p:sp>
        </mc:Choice>
        <mc:Fallback xmlns="">
          <p:sp>
            <p:nvSpPr>
              <p:cNvPr id="4" name="Rechteck 3">
                <a:extLst>
                  <a:ext uri="{FF2B5EF4-FFF2-40B4-BE49-F238E27FC236}">
                    <a16:creationId xmlns:a16="http://schemas.microsoft.com/office/drawing/2014/main" id="{153BA724-836E-6AA9-B673-13CB1155084E}"/>
                  </a:ext>
                </a:extLst>
              </p:cNvPr>
              <p:cNvSpPr>
                <a:spLocks noRot="1" noChangeAspect="1" noMove="1" noResize="1" noEditPoints="1" noAdjustHandles="1" noChangeArrowheads="1" noChangeShapeType="1" noTextEdit="1"/>
              </p:cNvSpPr>
              <p:nvPr/>
            </p:nvSpPr>
            <p:spPr>
              <a:xfrm>
                <a:off x="2275128" y="5827308"/>
                <a:ext cx="7641744" cy="994583"/>
              </a:xfrm>
              <a:prstGeom prst="rect">
                <a:avLst/>
              </a:prstGeom>
              <a:blipFill>
                <a:blip r:embed="rId2"/>
                <a:stretch>
                  <a:fillRect/>
                </a:stretch>
              </a:blipFill>
            </p:spPr>
            <p:txBody>
              <a:bodyPr/>
              <a:lstStyle/>
              <a:p>
                <a:r>
                  <a:rPr lang="de-DE">
                    <a:noFill/>
                  </a:rPr>
                  <a:t> </a:t>
                </a:r>
              </a:p>
            </p:txBody>
          </p:sp>
        </mc:Fallback>
      </mc:AlternateContent>
    </p:spTree>
    <p:extLst>
      <p:ext uri="{BB962C8B-B14F-4D97-AF65-F5344CB8AC3E}">
        <p14:creationId xmlns:p14="http://schemas.microsoft.com/office/powerpoint/2010/main" val="34360049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85FC13-FB69-2888-6715-19E9EB269EBF}"/>
              </a:ext>
            </a:extLst>
          </p:cNvPr>
          <p:cNvSpPr>
            <a:spLocks noGrp="1"/>
          </p:cNvSpPr>
          <p:nvPr>
            <p:ph type="title"/>
          </p:nvPr>
        </p:nvSpPr>
        <p:spPr>
          <a:xfrm>
            <a:off x="2590800" y="6324600"/>
            <a:ext cx="9134475" cy="369332"/>
          </a:xfrm>
        </p:spPr>
        <p:txBody>
          <a:bodyPr/>
          <a:lstStyle/>
          <a:p>
            <a:r>
              <a:rPr lang="de-DE" dirty="0">
                <a:solidFill>
                  <a:schemeClr val="bg1"/>
                </a:solidFill>
              </a:rPr>
              <a:t>Bandbreitenkapazitätsberechnung</a:t>
            </a:r>
          </a:p>
        </p:txBody>
      </p:sp>
      <p:sp>
        <p:nvSpPr>
          <p:cNvPr id="3" name="Textfeld 2">
            <a:extLst>
              <a:ext uri="{FF2B5EF4-FFF2-40B4-BE49-F238E27FC236}">
                <a16:creationId xmlns:a16="http://schemas.microsoft.com/office/drawing/2014/main" id="{6AE8C181-891A-1532-53ED-541C39E47408}"/>
              </a:ext>
            </a:extLst>
          </p:cNvPr>
          <p:cNvSpPr txBox="1"/>
          <p:nvPr/>
        </p:nvSpPr>
        <p:spPr>
          <a:xfrm>
            <a:off x="685800" y="381000"/>
            <a:ext cx="11312969" cy="5078313"/>
          </a:xfrm>
          <a:prstGeom prst="rect">
            <a:avLst/>
          </a:prstGeom>
          <a:noFill/>
        </p:spPr>
        <p:txBody>
          <a:bodyPr wrap="none" rtlCol="0">
            <a:spAutoFit/>
          </a:bodyPr>
          <a:lstStyle/>
          <a:p>
            <a:r>
              <a:rPr lang="de-DE" dirty="0"/>
              <a:t>Aus der alten Telefonanlage haben Sie Protokoll-Datei analysiert und haben folgendes Telefonverhalten des letzten</a:t>
            </a:r>
          </a:p>
          <a:p>
            <a:r>
              <a:rPr lang="de-DE" dirty="0"/>
              <a:t>Monats ermittelt.</a:t>
            </a:r>
          </a:p>
          <a:p>
            <a:endParaRPr lang="de-DE" dirty="0"/>
          </a:p>
          <a:p>
            <a:pPr marL="285750" indent="-285750">
              <a:buFontTx/>
              <a:buChar char="-"/>
            </a:pPr>
            <a:r>
              <a:rPr lang="de-DE" dirty="0"/>
              <a:t>Gespräche gesamt: 12.450</a:t>
            </a:r>
          </a:p>
          <a:p>
            <a:pPr marL="285750" indent="-285750">
              <a:buFontTx/>
              <a:buChar char="-"/>
            </a:pPr>
            <a:r>
              <a:rPr lang="de-DE" dirty="0"/>
              <a:t>Durchschnittliche Gesprächsdauer: 40 Minuten</a:t>
            </a:r>
          </a:p>
          <a:p>
            <a:pPr marL="285750" indent="-285750">
              <a:buFontTx/>
              <a:buChar char="-"/>
            </a:pPr>
            <a:r>
              <a:rPr lang="de-DE" dirty="0"/>
              <a:t>Arbeitszeit täglich: 8h</a:t>
            </a:r>
          </a:p>
          <a:p>
            <a:pPr marL="285750" indent="-285750">
              <a:buFontTx/>
              <a:buChar char="-"/>
            </a:pPr>
            <a:r>
              <a:rPr lang="de-DE" dirty="0"/>
              <a:t>Arbeitstage im letzten Monat: 20</a:t>
            </a:r>
          </a:p>
          <a:p>
            <a:pPr marL="285750" indent="-285750">
              <a:buFontTx/>
              <a:buChar char="-"/>
            </a:pPr>
            <a:endParaRPr lang="de-DE" dirty="0"/>
          </a:p>
          <a:p>
            <a:pPr marL="285750" indent="-285750">
              <a:buFontTx/>
              <a:buChar char="-"/>
            </a:pPr>
            <a:endParaRPr lang="de-DE" dirty="0"/>
          </a:p>
          <a:p>
            <a:r>
              <a:rPr lang="de-DE" dirty="0"/>
              <a:t>Berechnen Sie wie viele Gespräche gleichzeitig geführt werden müssen und berechnen Sie die benötigte Bandbreite in </a:t>
            </a:r>
          </a:p>
          <a:p>
            <a:r>
              <a:rPr lang="de-DE" dirty="0" err="1"/>
              <a:t>Mb</a:t>
            </a:r>
            <a:r>
              <a:rPr lang="de-DE" dirty="0"/>
              <a:t>/s bei folgenden Parametern.</a:t>
            </a:r>
          </a:p>
          <a:p>
            <a:endParaRPr lang="de-DE" dirty="0"/>
          </a:p>
          <a:p>
            <a:pPr marL="285750" indent="-285750">
              <a:buFontTx/>
              <a:buChar char="-"/>
            </a:pPr>
            <a:r>
              <a:rPr lang="de-DE" dirty="0"/>
              <a:t>Verwendeter Codec: G.722.2 (24 </a:t>
            </a:r>
            <a:r>
              <a:rPr lang="de-DE" dirty="0" err="1"/>
              <a:t>Kb</a:t>
            </a:r>
            <a:r>
              <a:rPr lang="de-DE" dirty="0"/>
              <a:t>/s)</a:t>
            </a:r>
          </a:p>
          <a:p>
            <a:pPr marL="285750" indent="-285750">
              <a:buFontTx/>
              <a:buChar char="-"/>
            </a:pPr>
            <a:r>
              <a:rPr lang="de-DE" dirty="0"/>
              <a:t>Overhead: 20%</a:t>
            </a:r>
          </a:p>
          <a:p>
            <a:pPr marL="285750" indent="-285750">
              <a:buFontTx/>
              <a:buChar char="-"/>
            </a:pPr>
            <a:r>
              <a:rPr lang="de-DE" dirty="0"/>
              <a:t>Puffer in der Gesamtbandbreite: 30%</a:t>
            </a:r>
          </a:p>
          <a:p>
            <a:pPr marL="285750" indent="-285750">
              <a:buFontTx/>
              <a:buChar char="-"/>
            </a:pPr>
            <a:r>
              <a:rPr lang="de-DE" dirty="0"/>
              <a:t>SDSL Leitung</a:t>
            </a:r>
          </a:p>
          <a:p>
            <a:endParaRPr lang="de-DE" dirty="0"/>
          </a:p>
          <a:p>
            <a:endParaRPr lang="de-DE" dirty="0"/>
          </a:p>
        </p:txBody>
      </p:sp>
      <p:sp>
        <p:nvSpPr>
          <p:cNvPr id="4" name="Textfeld 3">
            <a:extLst>
              <a:ext uri="{FF2B5EF4-FFF2-40B4-BE49-F238E27FC236}">
                <a16:creationId xmlns:a16="http://schemas.microsoft.com/office/drawing/2014/main" id="{81635082-6619-F381-9228-B0FE6601C018}"/>
              </a:ext>
            </a:extLst>
          </p:cNvPr>
          <p:cNvSpPr txBox="1"/>
          <p:nvPr/>
        </p:nvSpPr>
        <p:spPr>
          <a:xfrm>
            <a:off x="5638800" y="990600"/>
            <a:ext cx="6010274" cy="369332"/>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de-DE" dirty="0"/>
              <a:t>12450 x 40 / (20 x 8 x 60) = 51,88 -&gt; 52 gleichzeitige Telefonate </a:t>
            </a:r>
          </a:p>
        </p:txBody>
      </p:sp>
      <p:sp>
        <p:nvSpPr>
          <p:cNvPr id="5" name="Textfeld 4">
            <a:extLst>
              <a:ext uri="{FF2B5EF4-FFF2-40B4-BE49-F238E27FC236}">
                <a16:creationId xmlns:a16="http://schemas.microsoft.com/office/drawing/2014/main" id="{6EE79416-AB92-B309-5DDE-8445978C228D}"/>
              </a:ext>
            </a:extLst>
          </p:cNvPr>
          <p:cNvSpPr txBox="1"/>
          <p:nvPr/>
        </p:nvSpPr>
        <p:spPr>
          <a:xfrm>
            <a:off x="5029200" y="3581558"/>
            <a:ext cx="6781800" cy="1477328"/>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de-DE" dirty="0"/>
              <a:t>24 * 1,2 = 28,8</a:t>
            </a:r>
          </a:p>
          <a:p>
            <a:r>
              <a:rPr lang="de-DE" dirty="0"/>
              <a:t>28,8 </a:t>
            </a:r>
            <a:r>
              <a:rPr lang="de-DE" dirty="0" err="1"/>
              <a:t>Kb</a:t>
            </a:r>
            <a:r>
              <a:rPr lang="de-DE" dirty="0"/>
              <a:t>/s * 52 = 1497,6 </a:t>
            </a:r>
            <a:r>
              <a:rPr lang="de-DE" dirty="0" err="1"/>
              <a:t>Kb</a:t>
            </a:r>
            <a:r>
              <a:rPr lang="de-DE" dirty="0"/>
              <a:t>/s</a:t>
            </a:r>
          </a:p>
          <a:p>
            <a:r>
              <a:rPr lang="de-DE" dirty="0"/>
              <a:t>1497,6 </a:t>
            </a:r>
            <a:r>
              <a:rPr lang="de-DE" dirty="0" err="1"/>
              <a:t>Kb</a:t>
            </a:r>
            <a:r>
              <a:rPr lang="de-DE" dirty="0"/>
              <a:t>/s / 70 x 30 = 641,83 </a:t>
            </a:r>
            <a:r>
              <a:rPr lang="de-DE" dirty="0" err="1"/>
              <a:t>Kb</a:t>
            </a:r>
            <a:r>
              <a:rPr lang="de-DE" dirty="0"/>
              <a:t>/s </a:t>
            </a:r>
          </a:p>
          <a:p>
            <a:r>
              <a:rPr lang="de-DE" dirty="0"/>
              <a:t>1497,6 </a:t>
            </a:r>
            <a:r>
              <a:rPr lang="de-DE" dirty="0" err="1"/>
              <a:t>Kb</a:t>
            </a:r>
            <a:r>
              <a:rPr lang="de-DE" dirty="0"/>
              <a:t>/s + 641,83 </a:t>
            </a:r>
            <a:r>
              <a:rPr lang="de-DE" dirty="0" err="1"/>
              <a:t>Kb</a:t>
            </a:r>
            <a:r>
              <a:rPr lang="de-DE" dirty="0"/>
              <a:t>/s = 2139,43 </a:t>
            </a:r>
            <a:r>
              <a:rPr lang="de-DE" dirty="0" err="1"/>
              <a:t>Kb</a:t>
            </a:r>
            <a:r>
              <a:rPr lang="de-DE" dirty="0"/>
              <a:t>/s / 1000 = 2,14 </a:t>
            </a:r>
            <a:r>
              <a:rPr lang="de-DE" dirty="0" err="1"/>
              <a:t>Mb</a:t>
            </a:r>
            <a:r>
              <a:rPr lang="de-DE" dirty="0"/>
              <a:t>/s</a:t>
            </a:r>
          </a:p>
          <a:p>
            <a:r>
              <a:rPr lang="de-DE" dirty="0"/>
              <a:t>Die SDLS Leitung muss eine Bandbreite von mindestens 3 </a:t>
            </a:r>
            <a:r>
              <a:rPr lang="de-DE" dirty="0" err="1"/>
              <a:t>Mb</a:t>
            </a:r>
            <a:r>
              <a:rPr lang="de-DE" dirty="0"/>
              <a:t>/s haben.</a:t>
            </a:r>
          </a:p>
        </p:txBody>
      </p:sp>
    </p:spTree>
    <p:extLst>
      <p:ext uri="{BB962C8B-B14F-4D97-AF65-F5344CB8AC3E}">
        <p14:creationId xmlns:p14="http://schemas.microsoft.com/office/powerpoint/2010/main" val="7282220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85FC13-FB69-2888-6715-19E9EB269EBF}"/>
              </a:ext>
            </a:extLst>
          </p:cNvPr>
          <p:cNvSpPr>
            <a:spLocks noGrp="1"/>
          </p:cNvSpPr>
          <p:nvPr>
            <p:ph type="title"/>
          </p:nvPr>
        </p:nvSpPr>
        <p:spPr>
          <a:xfrm>
            <a:off x="2590800" y="6324600"/>
            <a:ext cx="9134475" cy="369332"/>
          </a:xfrm>
        </p:spPr>
        <p:txBody>
          <a:bodyPr/>
          <a:lstStyle/>
          <a:p>
            <a:r>
              <a:rPr lang="de-DE" dirty="0">
                <a:solidFill>
                  <a:schemeClr val="bg1"/>
                </a:solidFill>
              </a:rPr>
              <a:t>Bandbreitenkapazitätsberechnung</a:t>
            </a:r>
          </a:p>
        </p:txBody>
      </p:sp>
      <p:sp>
        <p:nvSpPr>
          <p:cNvPr id="3" name="Textfeld 2">
            <a:extLst>
              <a:ext uri="{FF2B5EF4-FFF2-40B4-BE49-F238E27FC236}">
                <a16:creationId xmlns:a16="http://schemas.microsoft.com/office/drawing/2014/main" id="{6AE8C181-891A-1532-53ED-541C39E47408}"/>
              </a:ext>
            </a:extLst>
          </p:cNvPr>
          <p:cNvSpPr txBox="1"/>
          <p:nvPr/>
        </p:nvSpPr>
        <p:spPr>
          <a:xfrm>
            <a:off x="685800" y="381000"/>
            <a:ext cx="11312969" cy="5078313"/>
          </a:xfrm>
          <a:prstGeom prst="rect">
            <a:avLst/>
          </a:prstGeom>
          <a:noFill/>
        </p:spPr>
        <p:txBody>
          <a:bodyPr wrap="none" rtlCol="0">
            <a:spAutoFit/>
          </a:bodyPr>
          <a:lstStyle/>
          <a:p>
            <a:r>
              <a:rPr lang="de-DE" dirty="0"/>
              <a:t>Aus der alten Telefonanlage haben Sie die Protokoll-Datei analysiert und haben folgendes Telefonverhalten des letzten</a:t>
            </a:r>
          </a:p>
          <a:p>
            <a:r>
              <a:rPr lang="de-DE" dirty="0"/>
              <a:t>Monats ermittelt.</a:t>
            </a:r>
          </a:p>
          <a:p>
            <a:endParaRPr lang="de-DE" dirty="0"/>
          </a:p>
          <a:p>
            <a:pPr marL="285750" indent="-285750">
              <a:buFontTx/>
              <a:buChar char="-"/>
            </a:pPr>
            <a:r>
              <a:rPr lang="de-DE" dirty="0"/>
              <a:t>Gespräche gesamt: 12.450</a:t>
            </a:r>
          </a:p>
          <a:p>
            <a:pPr marL="285750" indent="-285750">
              <a:buFontTx/>
              <a:buChar char="-"/>
            </a:pPr>
            <a:r>
              <a:rPr lang="de-DE" dirty="0"/>
              <a:t>Durchschnittliche Gesprächsdauer: 40 Minuten</a:t>
            </a:r>
          </a:p>
          <a:p>
            <a:pPr marL="285750" indent="-285750">
              <a:buFontTx/>
              <a:buChar char="-"/>
            </a:pPr>
            <a:r>
              <a:rPr lang="de-DE" dirty="0"/>
              <a:t>Arbeitszeit täglich: 8h</a:t>
            </a:r>
          </a:p>
          <a:p>
            <a:pPr marL="285750" indent="-285750">
              <a:buFontTx/>
              <a:buChar char="-"/>
            </a:pPr>
            <a:r>
              <a:rPr lang="de-DE" dirty="0"/>
              <a:t>Arbeitstage im letzten Monat: 20</a:t>
            </a:r>
          </a:p>
          <a:p>
            <a:pPr marL="285750" indent="-285750">
              <a:buFontTx/>
              <a:buChar char="-"/>
            </a:pPr>
            <a:endParaRPr lang="de-DE" dirty="0"/>
          </a:p>
          <a:p>
            <a:pPr marL="285750" indent="-285750">
              <a:buFontTx/>
              <a:buChar char="-"/>
            </a:pPr>
            <a:endParaRPr lang="de-DE" dirty="0"/>
          </a:p>
          <a:p>
            <a:r>
              <a:rPr lang="de-DE" dirty="0"/>
              <a:t>Berechnen Sie wie viele Gespräche gleichzeitig geführt werden müssen und berechnen Sie die benötigte Bandbreite in </a:t>
            </a:r>
          </a:p>
          <a:p>
            <a:r>
              <a:rPr lang="de-DE" dirty="0" err="1"/>
              <a:t>Mb</a:t>
            </a:r>
            <a:r>
              <a:rPr lang="de-DE" dirty="0"/>
              <a:t>/s bei folgenden Parametern. Runden Sie das Ergebnis auf volle </a:t>
            </a:r>
            <a:r>
              <a:rPr lang="de-DE" dirty="0" err="1"/>
              <a:t>Mb</a:t>
            </a:r>
            <a:r>
              <a:rPr lang="de-DE" dirty="0"/>
              <a:t>/s auf. Der Rechenweg ist anzugeben.</a:t>
            </a:r>
          </a:p>
          <a:p>
            <a:endParaRPr lang="de-DE" dirty="0"/>
          </a:p>
          <a:p>
            <a:pPr marL="285750" indent="-285750">
              <a:buFontTx/>
              <a:buChar char="-"/>
            </a:pPr>
            <a:r>
              <a:rPr lang="de-DE" dirty="0"/>
              <a:t>Verwendeter Codec: G.722 (64 </a:t>
            </a:r>
            <a:r>
              <a:rPr lang="de-DE" dirty="0" err="1"/>
              <a:t>Kb</a:t>
            </a:r>
            <a:r>
              <a:rPr lang="de-DE" dirty="0"/>
              <a:t>/s)</a:t>
            </a:r>
          </a:p>
          <a:p>
            <a:pPr marL="285750" indent="-285750">
              <a:buFontTx/>
              <a:buChar char="-"/>
            </a:pPr>
            <a:r>
              <a:rPr lang="de-DE" dirty="0"/>
              <a:t>Overhead: 30%</a:t>
            </a:r>
          </a:p>
          <a:p>
            <a:pPr marL="285750" indent="-285750">
              <a:buFontTx/>
              <a:buChar char="-"/>
            </a:pPr>
            <a:r>
              <a:rPr lang="de-DE" dirty="0"/>
              <a:t>Puffer in der Gesamtbandbreite: 30%</a:t>
            </a:r>
          </a:p>
          <a:p>
            <a:pPr marL="285750" indent="-285750">
              <a:buFontTx/>
              <a:buChar char="-"/>
            </a:pPr>
            <a:r>
              <a:rPr lang="de-DE" dirty="0"/>
              <a:t>SDSL Leitung</a:t>
            </a:r>
          </a:p>
          <a:p>
            <a:endParaRPr lang="de-DE" dirty="0"/>
          </a:p>
          <a:p>
            <a:endParaRPr lang="de-DE" dirty="0"/>
          </a:p>
        </p:txBody>
      </p:sp>
      <mc:AlternateContent xmlns:mc="http://schemas.openxmlformats.org/markup-compatibility/2006" xmlns:a14="http://schemas.microsoft.com/office/drawing/2010/main">
        <mc:Choice Requires="a14">
          <p:sp>
            <p:nvSpPr>
              <p:cNvPr id="4" name="Rechteck 3">
                <a:extLst>
                  <a:ext uri="{FF2B5EF4-FFF2-40B4-BE49-F238E27FC236}">
                    <a16:creationId xmlns:a16="http://schemas.microsoft.com/office/drawing/2014/main" id="{7051D93E-C60B-C8DF-F36E-AB5F93358AA0}"/>
                  </a:ext>
                </a:extLst>
              </p:cNvPr>
              <p:cNvSpPr/>
              <p:nvPr/>
            </p:nvSpPr>
            <p:spPr>
              <a:xfrm>
                <a:off x="2275128" y="5863417"/>
                <a:ext cx="7641744" cy="9945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800" i="1" dirty="0"/>
                  <a:t>ERLANG C </a:t>
                </a:r>
                <a:r>
                  <a:rPr lang="de-DE" sz="2800" dirty="0"/>
                  <a:t>= </a:t>
                </a:r>
                <a:r>
                  <a:rPr lang="de-DE" sz="2800" i="1" dirty="0"/>
                  <a:t>Kapazität X </a:t>
                </a:r>
                <a14:m>
                  <m:oMath xmlns:m="http://schemas.openxmlformats.org/officeDocument/2006/math">
                    <m:f>
                      <m:fPr>
                        <m:ctrlPr>
                          <a:rPr lang="de-DE" sz="2800" i="1" smtClean="0">
                            <a:latin typeface="Cambria Math" panose="02040503050406030204" pitchFamily="18" charset="0"/>
                          </a:rPr>
                        </m:ctrlPr>
                      </m:fPr>
                      <m:num>
                        <m:r>
                          <a:rPr lang="de-DE" sz="2800" b="0" i="1" smtClean="0">
                            <a:latin typeface="Cambria Math" panose="02040503050406030204" pitchFamily="18" charset="0"/>
                          </a:rPr>
                          <m:t>𝐵𝑒𝑙𝑒𝑔𝑧𝑒𝑖𝑡</m:t>
                        </m:r>
                      </m:num>
                      <m:den>
                        <m:r>
                          <a:rPr lang="de-DE" sz="2800" b="0" i="1" smtClean="0">
                            <a:latin typeface="Cambria Math" panose="02040503050406030204" pitchFamily="18" charset="0"/>
                          </a:rPr>
                          <m:t>𝐺𝑒𝑠𝑎𝑚𝑡𝑧𝑒𝑖𝑡𝑟𝑎𝑢𝑚</m:t>
                        </m:r>
                      </m:den>
                    </m:f>
                  </m:oMath>
                </a14:m>
                <a:endParaRPr lang="de-DE" i="1" dirty="0"/>
              </a:p>
              <a:p>
                <a:pPr algn="ctr"/>
                <a:r>
                  <a:rPr lang="de-DE" i="1" dirty="0"/>
                  <a:t>                                                     </a:t>
                </a:r>
                <a:endParaRPr lang="de-DE" sz="4000" b="1" dirty="0"/>
              </a:p>
            </p:txBody>
          </p:sp>
        </mc:Choice>
        <mc:Fallback xmlns="">
          <p:sp>
            <p:nvSpPr>
              <p:cNvPr id="4" name="Rechteck 3">
                <a:extLst>
                  <a:ext uri="{FF2B5EF4-FFF2-40B4-BE49-F238E27FC236}">
                    <a16:creationId xmlns:a16="http://schemas.microsoft.com/office/drawing/2014/main" id="{7051D93E-C60B-C8DF-F36E-AB5F93358AA0}"/>
                  </a:ext>
                </a:extLst>
              </p:cNvPr>
              <p:cNvSpPr>
                <a:spLocks noRot="1" noChangeAspect="1" noMove="1" noResize="1" noEditPoints="1" noAdjustHandles="1" noChangeArrowheads="1" noChangeShapeType="1" noTextEdit="1"/>
              </p:cNvSpPr>
              <p:nvPr/>
            </p:nvSpPr>
            <p:spPr>
              <a:xfrm>
                <a:off x="2275128" y="5863417"/>
                <a:ext cx="7641744" cy="994583"/>
              </a:xfrm>
              <a:prstGeom prst="rect">
                <a:avLst/>
              </a:prstGeom>
              <a:blipFill>
                <a:blip r:embed="rId2"/>
                <a:stretch>
                  <a:fillRect/>
                </a:stretch>
              </a:blipFill>
            </p:spPr>
            <p:txBody>
              <a:bodyPr/>
              <a:lstStyle/>
              <a:p>
                <a:r>
                  <a:rPr lang="de-DE">
                    <a:noFill/>
                  </a:rPr>
                  <a:t> </a:t>
                </a:r>
              </a:p>
            </p:txBody>
          </p:sp>
        </mc:Fallback>
      </mc:AlternateContent>
    </p:spTree>
    <p:extLst>
      <p:ext uri="{BB962C8B-B14F-4D97-AF65-F5344CB8AC3E}">
        <p14:creationId xmlns:p14="http://schemas.microsoft.com/office/powerpoint/2010/main" val="33030435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85FC13-FB69-2888-6715-19E9EB269EBF}"/>
              </a:ext>
            </a:extLst>
          </p:cNvPr>
          <p:cNvSpPr>
            <a:spLocks noGrp="1"/>
          </p:cNvSpPr>
          <p:nvPr>
            <p:ph type="title"/>
          </p:nvPr>
        </p:nvSpPr>
        <p:spPr>
          <a:xfrm>
            <a:off x="2590800" y="6324600"/>
            <a:ext cx="9134475" cy="369332"/>
          </a:xfrm>
        </p:spPr>
        <p:txBody>
          <a:bodyPr/>
          <a:lstStyle/>
          <a:p>
            <a:r>
              <a:rPr lang="de-DE" dirty="0">
                <a:solidFill>
                  <a:schemeClr val="bg1"/>
                </a:solidFill>
              </a:rPr>
              <a:t>Bandbreitenkapazitätsberechnung</a:t>
            </a:r>
          </a:p>
        </p:txBody>
      </p:sp>
      <p:sp>
        <p:nvSpPr>
          <p:cNvPr id="3" name="Textfeld 2">
            <a:extLst>
              <a:ext uri="{FF2B5EF4-FFF2-40B4-BE49-F238E27FC236}">
                <a16:creationId xmlns:a16="http://schemas.microsoft.com/office/drawing/2014/main" id="{6AE8C181-891A-1532-53ED-541C39E47408}"/>
              </a:ext>
            </a:extLst>
          </p:cNvPr>
          <p:cNvSpPr txBox="1"/>
          <p:nvPr/>
        </p:nvSpPr>
        <p:spPr>
          <a:xfrm>
            <a:off x="685800" y="381000"/>
            <a:ext cx="11312969" cy="5078313"/>
          </a:xfrm>
          <a:prstGeom prst="rect">
            <a:avLst/>
          </a:prstGeom>
          <a:noFill/>
        </p:spPr>
        <p:txBody>
          <a:bodyPr wrap="none" rtlCol="0">
            <a:spAutoFit/>
          </a:bodyPr>
          <a:lstStyle/>
          <a:p>
            <a:r>
              <a:rPr lang="de-DE" dirty="0"/>
              <a:t>Aus der alten Telefonanlage haben Sie Protokoll-Datei analysiert und haben folgendes Telefonverhalten des letzten</a:t>
            </a:r>
          </a:p>
          <a:p>
            <a:r>
              <a:rPr lang="de-DE" dirty="0"/>
              <a:t>Monats ermittelt.</a:t>
            </a:r>
          </a:p>
          <a:p>
            <a:endParaRPr lang="de-DE" dirty="0"/>
          </a:p>
          <a:p>
            <a:pPr marL="285750" indent="-285750">
              <a:buFontTx/>
              <a:buChar char="-"/>
            </a:pPr>
            <a:r>
              <a:rPr lang="de-DE" dirty="0"/>
              <a:t>Gespräche gesamt: 12.450</a:t>
            </a:r>
          </a:p>
          <a:p>
            <a:pPr marL="285750" indent="-285750">
              <a:buFontTx/>
              <a:buChar char="-"/>
            </a:pPr>
            <a:r>
              <a:rPr lang="de-DE" dirty="0"/>
              <a:t>Durchschnittliche Gesprächsdauer: 40 Minuten</a:t>
            </a:r>
          </a:p>
          <a:p>
            <a:pPr marL="285750" indent="-285750">
              <a:buFontTx/>
              <a:buChar char="-"/>
            </a:pPr>
            <a:r>
              <a:rPr lang="de-DE" dirty="0"/>
              <a:t>Arbeitszeit täglich: 8h</a:t>
            </a:r>
          </a:p>
          <a:p>
            <a:pPr marL="285750" indent="-285750">
              <a:buFontTx/>
              <a:buChar char="-"/>
            </a:pPr>
            <a:r>
              <a:rPr lang="de-DE" dirty="0"/>
              <a:t>Arbeitstage im letzten Monat: 20</a:t>
            </a:r>
          </a:p>
          <a:p>
            <a:pPr marL="285750" indent="-285750">
              <a:buFontTx/>
              <a:buChar char="-"/>
            </a:pPr>
            <a:endParaRPr lang="de-DE" dirty="0"/>
          </a:p>
          <a:p>
            <a:pPr marL="285750" indent="-285750">
              <a:buFontTx/>
              <a:buChar char="-"/>
            </a:pPr>
            <a:endParaRPr lang="de-DE" dirty="0"/>
          </a:p>
          <a:p>
            <a:r>
              <a:rPr lang="de-DE" dirty="0"/>
              <a:t>Berechnen Sie wie viele Gespräche gleichzeitig geführt werden müssen und berechnen Sie die benötigte Bandbreite in </a:t>
            </a:r>
          </a:p>
          <a:p>
            <a:r>
              <a:rPr lang="de-DE" dirty="0" err="1"/>
              <a:t>Mb</a:t>
            </a:r>
            <a:r>
              <a:rPr lang="de-DE" dirty="0"/>
              <a:t>/s bei folgenden Parametern. Runden Sie das Ergebnis auf volle </a:t>
            </a:r>
            <a:r>
              <a:rPr lang="de-DE" dirty="0" err="1"/>
              <a:t>Mb</a:t>
            </a:r>
            <a:r>
              <a:rPr lang="de-DE" dirty="0"/>
              <a:t>/s auf. Der Rechenweg ist anzugeben.</a:t>
            </a:r>
          </a:p>
          <a:p>
            <a:endParaRPr lang="de-DE" dirty="0"/>
          </a:p>
          <a:p>
            <a:pPr marL="285750" indent="-285750">
              <a:buFontTx/>
              <a:buChar char="-"/>
            </a:pPr>
            <a:r>
              <a:rPr lang="de-DE" dirty="0"/>
              <a:t>Verwendeter Codec: G.722 (64 </a:t>
            </a:r>
            <a:r>
              <a:rPr lang="de-DE" dirty="0" err="1"/>
              <a:t>Kb</a:t>
            </a:r>
            <a:r>
              <a:rPr lang="de-DE" dirty="0"/>
              <a:t>/s)</a:t>
            </a:r>
          </a:p>
          <a:p>
            <a:pPr marL="285750" indent="-285750">
              <a:buFontTx/>
              <a:buChar char="-"/>
            </a:pPr>
            <a:r>
              <a:rPr lang="de-DE" dirty="0"/>
              <a:t>Overhead: 30%</a:t>
            </a:r>
          </a:p>
          <a:p>
            <a:pPr marL="285750" indent="-285750">
              <a:buFontTx/>
              <a:buChar char="-"/>
            </a:pPr>
            <a:r>
              <a:rPr lang="de-DE" dirty="0"/>
              <a:t>Puffer in der Gesamtbandbreite: 30%</a:t>
            </a:r>
          </a:p>
          <a:p>
            <a:pPr marL="285750" indent="-285750">
              <a:buFontTx/>
              <a:buChar char="-"/>
            </a:pPr>
            <a:r>
              <a:rPr lang="de-DE" dirty="0"/>
              <a:t>SDSL Leitung</a:t>
            </a:r>
          </a:p>
          <a:p>
            <a:endParaRPr lang="de-DE" dirty="0"/>
          </a:p>
          <a:p>
            <a:endParaRPr lang="de-DE" dirty="0"/>
          </a:p>
        </p:txBody>
      </p:sp>
      <p:sp>
        <p:nvSpPr>
          <p:cNvPr id="4" name="Textfeld 3">
            <a:extLst>
              <a:ext uri="{FF2B5EF4-FFF2-40B4-BE49-F238E27FC236}">
                <a16:creationId xmlns:a16="http://schemas.microsoft.com/office/drawing/2014/main" id="{81635082-6619-F381-9228-B0FE6601C018}"/>
              </a:ext>
            </a:extLst>
          </p:cNvPr>
          <p:cNvSpPr txBox="1"/>
          <p:nvPr/>
        </p:nvSpPr>
        <p:spPr>
          <a:xfrm>
            <a:off x="5530991" y="1981200"/>
            <a:ext cx="6010274" cy="369332"/>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de-DE" dirty="0"/>
              <a:t>12450 x 40 / (20 x 8 x 60) = 51,88 -&gt; 52 gleichzeitige Telefonate </a:t>
            </a:r>
          </a:p>
        </p:txBody>
      </p:sp>
      <p:sp>
        <p:nvSpPr>
          <p:cNvPr id="5" name="Textfeld 4">
            <a:extLst>
              <a:ext uri="{FF2B5EF4-FFF2-40B4-BE49-F238E27FC236}">
                <a16:creationId xmlns:a16="http://schemas.microsoft.com/office/drawing/2014/main" id="{6EE79416-AB92-B309-5DDE-8445978C228D}"/>
              </a:ext>
            </a:extLst>
          </p:cNvPr>
          <p:cNvSpPr txBox="1"/>
          <p:nvPr/>
        </p:nvSpPr>
        <p:spPr>
          <a:xfrm>
            <a:off x="4800600" y="3581400"/>
            <a:ext cx="7077075" cy="1754326"/>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de-DE" dirty="0"/>
              <a:t>64 * 1,3 = 83,2 </a:t>
            </a:r>
            <a:r>
              <a:rPr lang="de-DE" dirty="0" err="1"/>
              <a:t>Kb</a:t>
            </a:r>
            <a:r>
              <a:rPr lang="de-DE" dirty="0"/>
              <a:t>/s</a:t>
            </a:r>
          </a:p>
          <a:p>
            <a:r>
              <a:rPr lang="de-DE" dirty="0"/>
              <a:t>83,2 </a:t>
            </a:r>
            <a:r>
              <a:rPr lang="de-DE" dirty="0" err="1"/>
              <a:t>Kb</a:t>
            </a:r>
            <a:r>
              <a:rPr lang="de-DE" dirty="0"/>
              <a:t>/s * 52 = 4.326,4 </a:t>
            </a:r>
            <a:r>
              <a:rPr lang="de-DE" dirty="0" err="1"/>
              <a:t>Kb</a:t>
            </a:r>
            <a:r>
              <a:rPr lang="de-DE" dirty="0"/>
              <a:t>/s</a:t>
            </a:r>
          </a:p>
          <a:p>
            <a:r>
              <a:rPr lang="de-DE" dirty="0"/>
              <a:t>4.326,4 </a:t>
            </a:r>
            <a:r>
              <a:rPr lang="de-DE" dirty="0" err="1"/>
              <a:t>Kb</a:t>
            </a:r>
            <a:r>
              <a:rPr lang="de-DE" dirty="0"/>
              <a:t>/s / 70 x 30 = 1.854,17 </a:t>
            </a:r>
            <a:r>
              <a:rPr lang="de-DE" dirty="0" err="1"/>
              <a:t>Kb</a:t>
            </a:r>
            <a:r>
              <a:rPr lang="de-DE" dirty="0"/>
              <a:t>/s </a:t>
            </a:r>
          </a:p>
          <a:p>
            <a:r>
              <a:rPr lang="de-DE" dirty="0"/>
              <a:t>1.854,17 </a:t>
            </a:r>
            <a:r>
              <a:rPr lang="de-DE" dirty="0" err="1"/>
              <a:t>Kb</a:t>
            </a:r>
            <a:r>
              <a:rPr lang="de-DE" dirty="0"/>
              <a:t>/s + 4.326,4 </a:t>
            </a:r>
            <a:r>
              <a:rPr lang="de-DE" dirty="0" err="1"/>
              <a:t>Kb</a:t>
            </a:r>
            <a:r>
              <a:rPr lang="de-DE" dirty="0"/>
              <a:t>/s = 6.180,57 </a:t>
            </a:r>
            <a:r>
              <a:rPr lang="de-DE" dirty="0" err="1"/>
              <a:t>Kb</a:t>
            </a:r>
            <a:r>
              <a:rPr lang="de-DE" dirty="0"/>
              <a:t>/s / 1000 = 6,18 </a:t>
            </a:r>
            <a:r>
              <a:rPr lang="de-DE" dirty="0" err="1"/>
              <a:t>Mb</a:t>
            </a:r>
            <a:r>
              <a:rPr lang="de-DE" dirty="0"/>
              <a:t>/s</a:t>
            </a:r>
          </a:p>
          <a:p>
            <a:endParaRPr lang="de-DE" dirty="0"/>
          </a:p>
          <a:p>
            <a:r>
              <a:rPr lang="de-DE" dirty="0"/>
              <a:t>Die SDLS Leitung muss eine Bandbreite von mindestens 7 </a:t>
            </a:r>
            <a:r>
              <a:rPr lang="de-DE" dirty="0" err="1"/>
              <a:t>Mb</a:t>
            </a:r>
            <a:r>
              <a:rPr lang="de-DE" dirty="0"/>
              <a:t>/s haben.</a:t>
            </a:r>
          </a:p>
        </p:txBody>
      </p:sp>
    </p:spTree>
    <p:extLst>
      <p:ext uri="{BB962C8B-B14F-4D97-AF65-F5344CB8AC3E}">
        <p14:creationId xmlns:p14="http://schemas.microsoft.com/office/powerpoint/2010/main" val="2455135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85FC13-FB69-2888-6715-19E9EB269EBF}"/>
              </a:ext>
            </a:extLst>
          </p:cNvPr>
          <p:cNvSpPr>
            <a:spLocks noGrp="1"/>
          </p:cNvSpPr>
          <p:nvPr>
            <p:ph type="title"/>
          </p:nvPr>
        </p:nvSpPr>
        <p:spPr>
          <a:xfrm>
            <a:off x="2590800" y="6324600"/>
            <a:ext cx="9134475" cy="369332"/>
          </a:xfrm>
        </p:spPr>
        <p:txBody>
          <a:bodyPr/>
          <a:lstStyle/>
          <a:p>
            <a:r>
              <a:rPr lang="de-DE" dirty="0">
                <a:solidFill>
                  <a:schemeClr val="bg1"/>
                </a:solidFill>
              </a:rPr>
              <a:t>Bandbreitenkapazitätsberechnung</a:t>
            </a:r>
          </a:p>
        </p:txBody>
      </p:sp>
      <p:sp>
        <p:nvSpPr>
          <p:cNvPr id="3" name="Textfeld 2">
            <a:extLst>
              <a:ext uri="{FF2B5EF4-FFF2-40B4-BE49-F238E27FC236}">
                <a16:creationId xmlns:a16="http://schemas.microsoft.com/office/drawing/2014/main" id="{6AE8C181-891A-1532-53ED-541C39E47408}"/>
              </a:ext>
            </a:extLst>
          </p:cNvPr>
          <p:cNvSpPr txBox="1"/>
          <p:nvPr/>
        </p:nvSpPr>
        <p:spPr>
          <a:xfrm>
            <a:off x="685800" y="381000"/>
            <a:ext cx="11312969" cy="6186309"/>
          </a:xfrm>
          <a:prstGeom prst="rect">
            <a:avLst/>
          </a:prstGeom>
          <a:noFill/>
        </p:spPr>
        <p:txBody>
          <a:bodyPr wrap="none" rtlCol="0">
            <a:spAutoFit/>
          </a:bodyPr>
          <a:lstStyle/>
          <a:p>
            <a:r>
              <a:rPr lang="de-DE" dirty="0"/>
              <a:t>Aus der alten Telefonanlage haben Sie Protokoll-Datei analysiert und haben folgendes Telefonverhalten des letzten</a:t>
            </a:r>
          </a:p>
          <a:p>
            <a:r>
              <a:rPr lang="de-DE" dirty="0"/>
              <a:t>Monats ermittelt.</a:t>
            </a:r>
          </a:p>
          <a:p>
            <a:endParaRPr lang="de-DE" dirty="0"/>
          </a:p>
          <a:p>
            <a:pPr marL="285750" indent="-285750">
              <a:buFontTx/>
              <a:buChar char="-"/>
            </a:pPr>
            <a:r>
              <a:rPr lang="de-DE" dirty="0"/>
              <a:t>Gespräche gesamt: 12.450</a:t>
            </a:r>
          </a:p>
          <a:p>
            <a:pPr marL="285750" indent="-285750">
              <a:buFontTx/>
              <a:buChar char="-"/>
            </a:pPr>
            <a:r>
              <a:rPr lang="de-DE" dirty="0"/>
              <a:t>Durchschnittliche Gesprächsdauer: 40 Minuten</a:t>
            </a:r>
          </a:p>
          <a:p>
            <a:pPr marL="285750" indent="-285750">
              <a:buFontTx/>
              <a:buChar char="-"/>
            </a:pPr>
            <a:r>
              <a:rPr lang="de-DE" dirty="0"/>
              <a:t>Arbeitszeit täglich: 8h</a:t>
            </a:r>
          </a:p>
          <a:p>
            <a:pPr marL="285750" indent="-285750">
              <a:buFontTx/>
              <a:buChar char="-"/>
            </a:pPr>
            <a:r>
              <a:rPr lang="de-DE" dirty="0"/>
              <a:t>Arbeitstage im letzten Monat: 20</a:t>
            </a:r>
          </a:p>
          <a:p>
            <a:pPr marL="285750" indent="-285750">
              <a:buFontTx/>
              <a:buChar char="-"/>
            </a:pPr>
            <a:r>
              <a:rPr lang="de-DE" dirty="0"/>
              <a:t>Von den gleichzeitigen Gesprächen, fanden 17 intern und der Rest extern statt. </a:t>
            </a:r>
          </a:p>
          <a:p>
            <a:pPr marL="285750" indent="-285750">
              <a:buFontTx/>
              <a:buChar char="-"/>
            </a:pPr>
            <a:r>
              <a:rPr lang="de-DE" dirty="0"/>
              <a:t>Vor der Umstellung hatte der Kunde eine PBX on Premises.</a:t>
            </a:r>
          </a:p>
          <a:p>
            <a:endParaRPr lang="de-DE" dirty="0"/>
          </a:p>
          <a:p>
            <a:r>
              <a:rPr lang="de-DE" dirty="0"/>
              <a:t>Berechnen Sie wie viele Gespräche gleichzeitig geführt werden müssen und berechnen Sie die benötigte Bandbreite in </a:t>
            </a:r>
          </a:p>
          <a:p>
            <a:r>
              <a:rPr lang="de-DE" dirty="0" err="1"/>
              <a:t>Mb</a:t>
            </a:r>
            <a:r>
              <a:rPr lang="de-DE" dirty="0"/>
              <a:t>/s bei folgenden Parametern. Runden Sie das Ergebnis auf volle </a:t>
            </a:r>
            <a:r>
              <a:rPr lang="de-DE" dirty="0" err="1"/>
              <a:t>Mb</a:t>
            </a:r>
            <a:r>
              <a:rPr lang="de-DE" dirty="0"/>
              <a:t>/s auf. Der Rechenweg ist anzugeben.</a:t>
            </a:r>
          </a:p>
          <a:p>
            <a:endParaRPr lang="de-DE" dirty="0"/>
          </a:p>
          <a:p>
            <a:pPr marL="285750" indent="-285750">
              <a:buFontTx/>
              <a:buChar char="-"/>
            </a:pPr>
            <a:r>
              <a:rPr lang="de-DE" dirty="0"/>
              <a:t>Verwendeter Codec: G.722 (64 </a:t>
            </a:r>
            <a:r>
              <a:rPr lang="de-DE" dirty="0" err="1"/>
              <a:t>Kb</a:t>
            </a:r>
            <a:r>
              <a:rPr lang="de-DE" dirty="0"/>
              <a:t>/s)</a:t>
            </a:r>
          </a:p>
          <a:p>
            <a:pPr marL="285750" indent="-285750">
              <a:buFontTx/>
              <a:buChar char="-"/>
            </a:pPr>
            <a:r>
              <a:rPr lang="de-DE" dirty="0"/>
              <a:t>Overhead: 30%</a:t>
            </a:r>
          </a:p>
          <a:p>
            <a:pPr marL="285750" indent="-285750">
              <a:buFontTx/>
              <a:buChar char="-"/>
            </a:pPr>
            <a:r>
              <a:rPr lang="de-DE" dirty="0"/>
              <a:t>Puffer in der Gesamtbandbreite: 30%</a:t>
            </a:r>
          </a:p>
          <a:p>
            <a:pPr marL="285750" indent="-285750">
              <a:buFontTx/>
              <a:buChar char="-"/>
            </a:pPr>
            <a:r>
              <a:rPr lang="de-DE" dirty="0"/>
              <a:t>SDSL Leitung</a:t>
            </a:r>
          </a:p>
          <a:p>
            <a:pPr marL="285750" indent="-285750">
              <a:buFontTx/>
              <a:buChar char="-"/>
            </a:pPr>
            <a:r>
              <a:rPr lang="de-DE" dirty="0"/>
              <a:t>Der Kunden arbeitet zukünftig </a:t>
            </a:r>
          </a:p>
          <a:p>
            <a:r>
              <a:rPr lang="de-DE" dirty="0"/>
              <a:t>     mit der SIP-Variante 2.</a:t>
            </a:r>
          </a:p>
          <a:p>
            <a:pPr marL="285750" indent="-285750">
              <a:buFontTx/>
              <a:buChar char="-"/>
            </a:pPr>
            <a:endParaRPr lang="de-DE" dirty="0"/>
          </a:p>
          <a:p>
            <a:endParaRPr lang="de-DE" dirty="0"/>
          </a:p>
          <a:p>
            <a:endParaRPr lang="de-DE" dirty="0"/>
          </a:p>
        </p:txBody>
      </p:sp>
    </p:spTree>
    <p:extLst>
      <p:ext uri="{BB962C8B-B14F-4D97-AF65-F5344CB8AC3E}">
        <p14:creationId xmlns:p14="http://schemas.microsoft.com/office/powerpoint/2010/main" val="25116058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85FC13-FB69-2888-6715-19E9EB269EBF}"/>
              </a:ext>
            </a:extLst>
          </p:cNvPr>
          <p:cNvSpPr>
            <a:spLocks noGrp="1"/>
          </p:cNvSpPr>
          <p:nvPr>
            <p:ph type="title"/>
          </p:nvPr>
        </p:nvSpPr>
        <p:spPr>
          <a:xfrm>
            <a:off x="2590800" y="6324600"/>
            <a:ext cx="9134475" cy="369332"/>
          </a:xfrm>
        </p:spPr>
        <p:txBody>
          <a:bodyPr/>
          <a:lstStyle/>
          <a:p>
            <a:r>
              <a:rPr lang="de-DE" dirty="0">
                <a:solidFill>
                  <a:schemeClr val="bg1"/>
                </a:solidFill>
              </a:rPr>
              <a:t>Bandbreitenkapazitätsberechnung</a:t>
            </a:r>
          </a:p>
        </p:txBody>
      </p:sp>
      <p:sp>
        <p:nvSpPr>
          <p:cNvPr id="3" name="Textfeld 2">
            <a:extLst>
              <a:ext uri="{FF2B5EF4-FFF2-40B4-BE49-F238E27FC236}">
                <a16:creationId xmlns:a16="http://schemas.microsoft.com/office/drawing/2014/main" id="{6AE8C181-891A-1532-53ED-541C39E47408}"/>
              </a:ext>
            </a:extLst>
          </p:cNvPr>
          <p:cNvSpPr txBox="1"/>
          <p:nvPr/>
        </p:nvSpPr>
        <p:spPr>
          <a:xfrm>
            <a:off x="685800" y="381000"/>
            <a:ext cx="11312969" cy="6186309"/>
          </a:xfrm>
          <a:prstGeom prst="rect">
            <a:avLst/>
          </a:prstGeom>
          <a:noFill/>
        </p:spPr>
        <p:txBody>
          <a:bodyPr wrap="none" rtlCol="0">
            <a:spAutoFit/>
          </a:bodyPr>
          <a:lstStyle/>
          <a:p>
            <a:r>
              <a:rPr lang="de-DE" dirty="0"/>
              <a:t>Aus der alten Telefonanlage haben Sie Protokoll-Datei analysiert und haben folgendes Telefonverhalten des letzten</a:t>
            </a:r>
          </a:p>
          <a:p>
            <a:r>
              <a:rPr lang="de-DE" dirty="0"/>
              <a:t>Monats ermittelt.</a:t>
            </a:r>
          </a:p>
          <a:p>
            <a:endParaRPr lang="de-DE" dirty="0"/>
          </a:p>
          <a:p>
            <a:pPr marL="285750" indent="-285750">
              <a:buFontTx/>
              <a:buChar char="-"/>
            </a:pPr>
            <a:r>
              <a:rPr lang="de-DE" dirty="0"/>
              <a:t>Gespräche gesamt: 12.450</a:t>
            </a:r>
          </a:p>
          <a:p>
            <a:pPr marL="285750" indent="-285750">
              <a:buFontTx/>
              <a:buChar char="-"/>
            </a:pPr>
            <a:r>
              <a:rPr lang="de-DE" dirty="0"/>
              <a:t>Durchschnittliche Gesprächsdauer: 40 Minuten</a:t>
            </a:r>
          </a:p>
          <a:p>
            <a:pPr marL="285750" indent="-285750">
              <a:buFontTx/>
              <a:buChar char="-"/>
            </a:pPr>
            <a:r>
              <a:rPr lang="de-DE" dirty="0"/>
              <a:t>Arbeitszeit täglich: 8h</a:t>
            </a:r>
          </a:p>
          <a:p>
            <a:pPr marL="285750" indent="-285750">
              <a:buFontTx/>
              <a:buChar char="-"/>
            </a:pPr>
            <a:r>
              <a:rPr lang="de-DE" dirty="0"/>
              <a:t>Arbeitstage im letzten Monat: 20</a:t>
            </a:r>
          </a:p>
          <a:p>
            <a:pPr marL="285750" indent="-285750">
              <a:buFontTx/>
              <a:buChar char="-"/>
            </a:pPr>
            <a:r>
              <a:rPr lang="de-DE" dirty="0"/>
              <a:t>Von den gleichzeitigen Gesprächen, fanden 17 intern und der Rest extern statt. </a:t>
            </a:r>
          </a:p>
          <a:p>
            <a:pPr marL="285750" indent="-285750">
              <a:buFontTx/>
              <a:buChar char="-"/>
            </a:pPr>
            <a:r>
              <a:rPr lang="de-DE" dirty="0"/>
              <a:t>Vor der Umstellung hatte der Kunde eine PBX on Premises.</a:t>
            </a:r>
          </a:p>
          <a:p>
            <a:endParaRPr lang="de-DE" dirty="0"/>
          </a:p>
          <a:p>
            <a:r>
              <a:rPr lang="de-DE" dirty="0"/>
              <a:t>Berechnen Sie wie viele Gespräche gleichzeitig geführt werden müssen und berechnen Sie die benötigte Bandbreite in </a:t>
            </a:r>
          </a:p>
          <a:p>
            <a:r>
              <a:rPr lang="de-DE" dirty="0" err="1"/>
              <a:t>Mb</a:t>
            </a:r>
            <a:r>
              <a:rPr lang="de-DE" dirty="0"/>
              <a:t>/s bei folgenden Parametern. Runden Sie das Ergebnis auf volle </a:t>
            </a:r>
            <a:r>
              <a:rPr lang="de-DE" dirty="0" err="1"/>
              <a:t>Mb</a:t>
            </a:r>
            <a:r>
              <a:rPr lang="de-DE" dirty="0"/>
              <a:t>/s auf. Der Rechenweg ist anzugeben.</a:t>
            </a:r>
          </a:p>
          <a:p>
            <a:endParaRPr lang="de-DE" dirty="0"/>
          </a:p>
          <a:p>
            <a:pPr marL="285750" indent="-285750">
              <a:buFontTx/>
              <a:buChar char="-"/>
            </a:pPr>
            <a:r>
              <a:rPr lang="de-DE" dirty="0"/>
              <a:t>Verwendeter Codec: G.722 (64 </a:t>
            </a:r>
            <a:r>
              <a:rPr lang="de-DE" dirty="0" err="1"/>
              <a:t>Kb</a:t>
            </a:r>
            <a:r>
              <a:rPr lang="de-DE" dirty="0"/>
              <a:t>/s)</a:t>
            </a:r>
          </a:p>
          <a:p>
            <a:pPr marL="285750" indent="-285750">
              <a:buFontTx/>
              <a:buChar char="-"/>
            </a:pPr>
            <a:r>
              <a:rPr lang="de-DE" dirty="0"/>
              <a:t>Overhead: 30%</a:t>
            </a:r>
          </a:p>
          <a:p>
            <a:pPr marL="285750" indent="-285750">
              <a:buFontTx/>
              <a:buChar char="-"/>
            </a:pPr>
            <a:r>
              <a:rPr lang="de-DE" dirty="0"/>
              <a:t>Puffer in der Gesamtbandbreite: 30%</a:t>
            </a:r>
          </a:p>
          <a:p>
            <a:pPr marL="285750" indent="-285750">
              <a:buFontTx/>
              <a:buChar char="-"/>
            </a:pPr>
            <a:r>
              <a:rPr lang="de-DE" dirty="0"/>
              <a:t>SDSL Leitung</a:t>
            </a:r>
          </a:p>
          <a:p>
            <a:pPr marL="285750" indent="-285750">
              <a:buFontTx/>
              <a:buChar char="-"/>
            </a:pPr>
            <a:r>
              <a:rPr lang="de-DE" dirty="0"/>
              <a:t>Der Kunden arbeitet zukünftig </a:t>
            </a:r>
          </a:p>
          <a:p>
            <a:r>
              <a:rPr lang="de-DE" dirty="0"/>
              <a:t>     mit der SIP-Variante 2.</a:t>
            </a:r>
          </a:p>
          <a:p>
            <a:pPr marL="285750" indent="-285750">
              <a:buFontTx/>
              <a:buChar char="-"/>
            </a:pPr>
            <a:endParaRPr lang="de-DE" dirty="0"/>
          </a:p>
          <a:p>
            <a:endParaRPr lang="de-DE" dirty="0"/>
          </a:p>
          <a:p>
            <a:endParaRPr lang="de-DE" dirty="0"/>
          </a:p>
        </p:txBody>
      </p:sp>
      <p:sp>
        <p:nvSpPr>
          <p:cNvPr id="4" name="Textfeld 3">
            <a:extLst>
              <a:ext uri="{FF2B5EF4-FFF2-40B4-BE49-F238E27FC236}">
                <a16:creationId xmlns:a16="http://schemas.microsoft.com/office/drawing/2014/main" id="{81635082-6619-F381-9228-B0FE6601C018}"/>
              </a:ext>
            </a:extLst>
          </p:cNvPr>
          <p:cNvSpPr txBox="1"/>
          <p:nvPr/>
        </p:nvSpPr>
        <p:spPr>
          <a:xfrm>
            <a:off x="5898420" y="922109"/>
            <a:ext cx="6010274" cy="1200329"/>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de-DE" dirty="0"/>
              <a:t>12450 x 40 / (20 x 8 x 60) = 51,88 -&gt; 52 gleichzeitige Telefonate</a:t>
            </a:r>
          </a:p>
          <a:p>
            <a:r>
              <a:rPr lang="de-DE" dirty="0"/>
              <a:t>17 x 2 = 34 Interne Gespräche</a:t>
            </a:r>
          </a:p>
          <a:p>
            <a:r>
              <a:rPr lang="de-DE" dirty="0"/>
              <a:t>52 -17 = 35 externe Gespräche</a:t>
            </a:r>
          </a:p>
          <a:p>
            <a:r>
              <a:rPr lang="de-DE" dirty="0"/>
              <a:t>Insgesamt 69 gleichzeitige </a:t>
            </a:r>
            <a:r>
              <a:rPr lang="de-DE" dirty="0" err="1"/>
              <a:t>Gespäche</a:t>
            </a:r>
            <a:r>
              <a:rPr lang="de-DE" dirty="0"/>
              <a:t> </a:t>
            </a:r>
          </a:p>
        </p:txBody>
      </p:sp>
      <p:sp>
        <p:nvSpPr>
          <p:cNvPr id="5" name="Textfeld 4">
            <a:extLst>
              <a:ext uri="{FF2B5EF4-FFF2-40B4-BE49-F238E27FC236}">
                <a16:creationId xmlns:a16="http://schemas.microsoft.com/office/drawing/2014/main" id="{6EE79416-AB92-B309-5DDE-8445978C228D}"/>
              </a:ext>
            </a:extLst>
          </p:cNvPr>
          <p:cNvSpPr txBox="1"/>
          <p:nvPr/>
        </p:nvSpPr>
        <p:spPr>
          <a:xfrm>
            <a:off x="4937878" y="3810000"/>
            <a:ext cx="7077075" cy="1754326"/>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de-DE" dirty="0"/>
              <a:t>64 * 1,3 = 83,2 </a:t>
            </a:r>
            <a:r>
              <a:rPr lang="de-DE" dirty="0" err="1"/>
              <a:t>Kb</a:t>
            </a:r>
            <a:r>
              <a:rPr lang="de-DE" dirty="0"/>
              <a:t>/s</a:t>
            </a:r>
          </a:p>
          <a:p>
            <a:r>
              <a:rPr lang="de-DE" dirty="0"/>
              <a:t>83,2 </a:t>
            </a:r>
            <a:r>
              <a:rPr lang="de-DE" dirty="0" err="1"/>
              <a:t>Kb</a:t>
            </a:r>
            <a:r>
              <a:rPr lang="de-DE" dirty="0"/>
              <a:t>/s * 69 = 5.740,8 </a:t>
            </a:r>
            <a:r>
              <a:rPr lang="de-DE" dirty="0" err="1"/>
              <a:t>Kb</a:t>
            </a:r>
            <a:r>
              <a:rPr lang="de-DE" dirty="0"/>
              <a:t>/s</a:t>
            </a:r>
          </a:p>
          <a:p>
            <a:r>
              <a:rPr lang="de-DE" dirty="0"/>
              <a:t>5.740,8 </a:t>
            </a:r>
            <a:r>
              <a:rPr lang="de-DE" dirty="0" err="1"/>
              <a:t>Kb</a:t>
            </a:r>
            <a:r>
              <a:rPr lang="de-DE" dirty="0"/>
              <a:t>/s / 70 x 30 =2.460,34 </a:t>
            </a:r>
            <a:r>
              <a:rPr lang="de-DE" dirty="0" err="1"/>
              <a:t>Kb</a:t>
            </a:r>
            <a:r>
              <a:rPr lang="de-DE" dirty="0"/>
              <a:t>/s </a:t>
            </a:r>
          </a:p>
          <a:p>
            <a:r>
              <a:rPr lang="de-DE" dirty="0"/>
              <a:t>5.740,8 </a:t>
            </a:r>
            <a:r>
              <a:rPr lang="de-DE" dirty="0" err="1"/>
              <a:t>Kb</a:t>
            </a:r>
            <a:r>
              <a:rPr lang="de-DE" dirty="0"/>
              <a:t>/s + 2.460,34 </a:t>
            </a:r>
            <a:r>
              <a:rPr lang="de-DE" dirty="0" err="1"/>
              <a:t>Kb</a:t>
            </a:r>
            <a:r>
              <a:rPr lang="de-DE" dirty="0"/>
              <a:t>/s = 8.201,14 </a:t>
            </a:r>
            <a:r>
              <a:rPr lang="de-DE" dirty="0" err="1"/>
              <a:t>Kb</a:t>
            </a:r>
            <a:r>
              <a:rPr lang="de-DE" dirty="0"/>
              <a:t>/s / 1000 = 8,20 </a:t>
            </a:r>
            <a:r>
              <a:rPr lang="de-DE" dirty="0" err="1"/>
              <a:t>Mb</a:t>
            </a:r>
            <a:r>
              <a:rPr lang="de-DE" dirty="0"/>
              <a:t>/s</a:t>
            </a:r>
          </a:p>
          <a:p>
            <a:endParaRPr lang="de-DE" dirty="0"/>
          </a:p>
          <a:p>
            <a:r>
              <a:rPr lang="de-DE" dirty="0"/>
              <a:t>Die SDLS Leitung muss eine Bandbreite von mindestens 9 </a:t>
            </a:r>
            <a:r>
              <a:rPr lang="de-DE" dirty="0" err="1"/>
              <a:t>Mb</a:t>
            </a:r>
            <a:r>
              <a:rPr lang="de-DE" dirty="0"/>
              <a:t>/s haben.</a:t>
            </a:r>
          </a:p>
        </p:txBody>
      </p:sp>
    </p:spTree>
    <p:extLst>
      <p:ext uri="{BB962C8B-B14F-4D97-AF65-F5344CB8AC3E}">
        <p14:creationId xmlns:p14="http://schemas.microsoft.com/office/powerpoint/2010/main" val="2544932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5939346D-F8EF-C02A-A30F-6C55C69B49C5}"/>
              </a:ext>
            </a:extLst>
          </p:cNvPr>
          <p:cNvPicPr>
            <a:picLocks noChangeAspect="1"/>
          </p:cNvPicPr>
          <p:nvPr/>
        </p:nvPicPr>
        <p:blipFill>
          <a:blip r:embed="rId2"/>
          <a:stretch>
            <a:fillRect/>
          </a:stretch>
        </p:blipFill>
        <p:spPr>
          <a:xfrm>
            <a:off x="63689" y="119981"/>
            <a:ext cx="12064621" cy="1819701"/>
          </a:xfrm>
          <a:prstGeom prst="rect">
            <a:avLst/>
          </a:prstGeom>
        </p:spPr>
      </p:pic>
      <p:sp>
        <p:nvSpPr>
          <p:cNvPr id="7" name="Textfeld 6">
            <a:extLst>
              <a:ext uri="{FF2B5EF4-FFF2-40B4-BE49-F238E27FC236}">
                <a16:creationId xmlns:a16="http://schemas.microsoft.com/office/drawing/2014/main" id="{BE53A6F7-2980-BB33-D24F-45B4979A08E3}"/>
              </a:ext>
            </a:extLst>
          </p:cNvPr>
          <p:cNvSpPr txBox="1"/>
          <p:nvPr/>
        </p:nvSpPr>
        <p:spPr>
          <a:xfrm>
            <a:off x="650453" y="2968055"/>
            <a:ext cx="8176676" cy="1200329"/>
          </a:xfrm>
          <a:prstGeom prst="rect">
            <a:avLst/>
          </a:prstGeom>
          <a:noFill/>
        </p:spPr>
        <p:txBody>
          <a:bodyPr wrap="square">
            <a:spAutoFit/>
          </a:bodyPr>
          <a:lstStyle/>
          <a:p>
            <a:pPr algn="l"/>
            <a:r>
              <a:rPr lang="de-DE" sz="1800" b="0" i="0" u="none" strike="noStrike" baseline="0" dirty="0">
                <a:latin typeface="FrutigerLTStd-LightCn"/>
              </a:rPr>
              <a:t>Berechnung:</a:t>
            </a:r>
          </a:p>
          <a:p>
            <a:pPr algn="l"/>
            <a:r>
              <a:rPr lang="de-DE" sz="1800" b="0" i="0" u="none" strike="noStrike" baseline="0" dirty="0">
                <a:latin typeface="FrutigerLTStd-LightCn"/>
              </a:rPr>
              <a:t>Fünf Gespräche intern = 10 Teilnehmer * 64 </a:t>
            </a:r>
            <a:r>
              <a:rPr lang="de-DE" sz="1800" b="0" i="0" u="none" strike="noStrike" baseline="0" dirty="0" err="1">
                <a:latin typeface="FrutigerLTStd-LightCn"/>
              </a:rPr>
              <a:t>kBit</a:t>
            </a:r>
            <a:r>
              <a:rPr lang="de-DE" sz="1800" b="0" i="0" u="none" strike="noStrike" baseline="0" dirty="0">
                <a:latin typeface="FrutigerLTStd-LightCn"/>
              </a:rPr>
              <a:t>/s = 640 </a:t>
            </a:r>
            <a:r>
              <a:rPr lang="de-DE" sz="1800" b="0" i="0" u="none" strike="noStrike" baseline="0" dirty="0" err="1">
                <a:latin typeface="FrutigerLTStd-LightCn"/>
              </a:rPr>
              <a:t>kBit</a:t>
            </a:r>
            <a:r>
              <a:rPr lang="de-DE" sz="1800" b="0" i="0" u="none" strike="noStrike" baseline="0" dirty="0">
                <a:latin typeface="FrutigerLTStd-LightCn"/>
              </a:rPr>
              <a:t>/s (2 Punkte)</a:t>
            </a:r>
          </a:p>
          <a:p>
            <a:pPr algn="l"/>
            <a:r>
              <a:rPr lang="de-DE" sz="1800" b="0" i="0" u="none" strike="noStrike" baseline="0" dirty="0">
                <a:latin typeface="FrutigerLTStd-LightCn"/>
              </a:rPr>
              <a:t>Fünfzehn Gespräche Extern = 15 Teilnehmer * 64 </a:t>
            </a:r>
            <a:r>
              <a:rPr lang="de-DE" sz="1800" b="0" i="0" u="none" strike="noStrike" baseline="0" dirty="0" err="1">
                <a:latin typeface="FrutigerLTStd-LightCn"/>
              </a:rPr>
              <a:t>kBit</a:t>
            </a:r>
            <a:r>
              <a:rPr lang="de-DE" sz="1800" b="0" i="0" u="none" strike="noStrike" baseline="0" dirty="0">
                <a:latin typeface="FrutigerLTStd-LightCn"/>
              </a:rPr>
              <a:t>/s = 960 </a:t>
            </a:r>
            <a:r>
              <a:rPr lang="de-DE" sz="1800" b="0" i="0" u="none" strike="noStrike" baseline="0" dirty="0" err="1">
                <a:latin typeface="FrutigerLTStd-LightCn"/>
              </a:rPr>
              <a:t>kBit</a:t>
            </a:r>
            <a:r>
              <a:rPr lang="de-DE" sz="1800" b="0" i="0" u="none" strike="noStrike" baseline="0" dirty="0">
                <a:latin typeface="FrutigerLTStd-LightCn"/>
              </a:rPr>
              <a:t>/s (2 Punkte)</a:t>
            </a:r>
          </a:p>
          <a:p>
            <a:pPr algn="l"/>
            <a:r>
              <a:rPr lang="de-DE" sz="1800" b="0" i="0" u="none" strike="noStrike" baseline="0" dirty="0">
                <a:latin typeface="FrutigerLTStd-LightCn"/>
              </a:rPr>
              <a:t>Zusammen 1.600 </a:t>
            </a:r>
            <a:r>
              <a:rPr lang="de-DE" sz="1800" b="0" i="0" u="none" strike="noStrike" baseline="0" dirty="0" err="1">
                <a:latin typeface="FrutigerLTStd-LightCn"/>
              </a:rPr>
              <a:t>kBit</a:t>
            </a:r>
            <a:r>
              <a:rPr lang="de-DE" sz="1800" b="0" i="0" u="none" strike="noStrike" baseline="0" dirty="0">
                <a:latin typeface="FrutigerLTStd-LightCn"/>
              </a:rPr>
              <a:t>/s * 1,1 (Overhead) = 1.760 </a:t>
            </a:r>
            <a:r>
              <a:rPr lang="de-DE" sz="1800" b="0" i="0" u="none" strike="noStrike" baseline="0" dirty="0" err="1">
                <a:latin typeface="FrutigerLTStd-LightCn"/>
              </a:rPr>
              <a:t>kBit</a:t>
            </a:r>
            <a:r>
              <a:rPr lang="de-DE" sz="1800" b="0" i="0" u="none" strike="noStrike" baseline="0" dirty="0">
                <a:latin typeface="FrutigerLTStd-LightCn"/>
              </a:rPr>
              <a:t>/s (1 Punkt)</a:t>
            </a:r>
            <a:endParaRPr lang="de-DE" dirty="0"/>
          </a:p>
        </p:txBody>
      </p:sp>
      <p:sp>
        <p:nvSpPr>
          <p:cNvPr id="2" name="Rechteck 1">
            <a:extLst>
              <a:ext uri="{FF2B5EF4-FFF2-40B4-BE49-F238E27FC236}">
                <a16:creationId xmlns:a16="http://schemas.microsoft.com/office/drawing/2014/main" id="{D5E22191-ACC4-37C8-DF57-0FFEE7761D54}"/>
              </a:ext>
            </a:extLst>
          </p:cNvPr>
          <p:cNvSpPr/>
          <p:nvPr/>
        </p:nvSpPr>
        <p:spPr>
          <a:xfrm>
            <a:off x="279400" y="4362450"/>
            <a:ext cx="9074150" cy="146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229006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22593"/>
            <a:ext cx="11268149" cy="1631216"/>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e-DE" sz="1600" b="0" i="0" u="none" strike="noStrike" cap="none" normalizeH="0" baseline="0" dirty="0">
                <a:ln>
                  <a:noFill/>
                </a:ln>
                <a:solidFill>
                  <a:srgbClr val="070707"/>
                </a:solidFill>
                <a:effectLst/>
                <a:latin typeface="Calibri" pitchFamily="34" charset="0"/>
                <a:ea typeface="Calibri" pitchFamily="34" charset="0"/>
                <a:cs typeface="Times New Roman" pitchFamily="18" charset="0"/>
              </a:rPr>
              <a:t>Die Qualität für Gespräche über die </a:t>
            </a:r>
            <a:r>
              <a:rPr kumimoji="0" lang="de-DE" sz="1600" b="0" i="0" u="none" strike="noStrike" cap="none" normalizeH="0" baseline="0" dirty="0" err="1">
                <a:ln>
                  <a:noFill/>
                </a:ln>
                <a:solidFill>
                  <a:srgbClr val="070707"/>
                </a:solidFill>
                <a:effectLst/>
                <a:latin typeface="Calibri" pitchFamily="34" charset="0"/>
                <a:ea typeface="Calibri" pitchFamily="34" charset="0"/>
                <a:cs typeface="Times New Roman" pitchFamily="18" charset="0"/>
              </a:rPr>
              <a:t>VolP</a:t>
            </a:r>
            <a:r>
              <a:rPr kumimoji="0" lang="de-DE" sz="1600" b="0" i="0" u="none" strike="noStrike" cap="none" normalizeH="0" baseline="0" dirty="0">
                <a:ln>
                  <a:noFill/>
                </a:ln>
                <a:solidFill>
                  <a:srgbClr val="070707"/>
                </a:solidFill>
                <a:effectLst/>
                <a:latin typeface="Calibri" pitchFamily="34" charset="0"/>
                <a:ea typeface="Calibri" pitchFamily="34" charset="0"/>
                <a:cs typeface="Times New Roman" pitchFamily="18" charset="0"/>
              </a:rPr>
              <a:t>-Telefonanlage soll möglichst hoch sein. Dazu wurden folgende Planungsgrößen vorgegeben: </a:t>
            </a:r>
            <a:endParaRPr kumimoji="0" lang="de-DE" sz="9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1600" b="1" i="0" u="none" strike="noStrike" cap="none" normalizeH="0" baseline="0" dirty="0">
                <a:ln>
                  <a:noFill/>
                </a:ln>
                <a:solidFill>
                  <a:srgbClr val="040404"/>
                </a:solidFill>
                <a:effectLst/>
                <a:latin typeface="Calibri" pitchFamily="34" charset="0"/>
                <a:ea typeface="Calibri" pitchFamily="34" charset="0"/>
                <a:cs typeface="Times New Roman" pitchFamily="18" charset="0"/>
              </a:rPr>
              <a:t>- Bandbreite je Telefonat: 125 </a:t>
            </a:r>
            <a:r>
              <a:rPr kumimoji="0" lang="de-DE" sz="1600" b="1" i="0" u="none" strike="noStrike" cap="none" normalizeH="0" baseline="0" dirty="0" err="1">
                <a:ln>
                  <a:noFill/>
                </a:ln>
                <a:solidFill>
                  <a:srgbClr val="040404"/>
                </a:solidFill>
                <a:effectLst/>
                <a:latin typeface="Calibri" pitchFamily="34" charset="0"/>
                <a:ea typeface="Calibri" pitchFamily="34" charset="0"/>
                <a:cs typeface="Times New Roman" pitchFamily="18" charset="0"/>
              </a:rPr>
              <a:t>kbit</a:t>
            </a:r>
            <a:r>
              <a:rPr kumimoji="0" lang="de-DE" sz="1600" b="1" i="0" u="none" strike="noStrike" cap="none" normalizeH="0" baseline="0" dirty="0">
                <a:ln>
                  <a:noFill/>
                </a:ln>
                <a:solidFill>
                  <a:srgbClr val="040404"/>
                </a:solidFill>
                <a:effectLst/>
                <a:latin typeface="Calibri" pitchFamily="34" charset="0"/>
                <a:ea typeface="Calibri" pitchFamily="34" charset="0"/>
                <a:cs typeface="Times New Roman" pitchFamily="18" charset="0"/>
              </a:rPr>
              <a:t>/s</a:t>
            </a:r>
            <a:endParaRPr kumimoji="0" lang="de-DE" sz="9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1600" b="1" i="0" u="none" strike="noStrike" cap="none" normalizeH="0" baseline="0" dirty="0">
                <a:ln>
                  <a:noFill/>
                </a:ln>
                <a:solidFill>
                  <a:srgbClr val="050505"/>
                </a:solidFill>
                <a:effectLst/>
                <a:latin typeface="Calibri" pitchFamily="34" charset="0"/>
                <a:ea typeface="Calibri" pitchFamily="34" charset="0"/>
                <a:cs typeface="Times New Roman" pitchFamily="18" charset="0"/>
              </a:rPr>
              <a:t>- Puffer </a:t>
            </a:r>
            <a:r>
              <a:rPr kumimoji="0" lang="de-DE" sz="1600" b="1" i="0" u="sng" strike="noStrike" cap="none" normalizeH="0" baseline="0" dirty="0">
                <a:ln>
                  <a:noFill/>
                </a:ln>
                <a:solidFill>
                  <a:srgbClr val="050505"/>
                </a:solidFill>
                <a:effectLst/>
                <a:latin typeface="Calibri" pitchFamily="34" charset="0"/>
                <a:ea typeface="Calibri" pitchFamily="34" charset="0"/>
                <a:cs typeface="Times New Roman" pitchFamily="18" charset="0"/>
              </a:rPr>
              <a:t>in der</a:t>
            </a:r>
            <a:r>
              <a:rPr kumimoji="0" lang="de-DE" sz="1600" b="1" i="0" u="none" strike="noStrike" cap="none" normalizeH="0" baseline="0" dirty="0">
                <a:ln>
                  <a:noFill/>
                </a:ln>
                <a:solidFill>
                  <a:srgbClr val="050505"/>
                </a:solidFill>
                <a:effectLst/>
                <a:latin typeface="Calibri" pitchFamily="34" charset="0"/>
                <a:ea typeface="Calibri" pitchFamily="34" charset="0"/>
                <a:cs typeface="Times New Roman" pitchFamily="18" charset="0"/>
              </a:rPr>
              <a:t> Gesamtbandbreite: 40 %</a:t>
            </a:r>
            <a:endParaRPr kumimoji="0" lang="de-DE" sz="9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1600" b="1" i="0" u="none" strike="noStrike" cap="none" normalizeH="0" baseline="0" dirty="0">
                <a:ln>
                  <a:noFill/>
                </a:ln>
                <a:solidFill>
                  <a:srgbClr val="080808"/>
                </a:solidFill>
                <a:effectLst/>
                <a:latin typeface="Calibri" pitchFamily="34" charset="0"/>
                <a:ea typeface="Calibri" pitchFamily="34" charset="0"/>
                <a:cs typeface="Times New Roman" pitchFamily="18" charset="0"/>
              </a:rPr>
              <a:t>- Alle 140 Mitarbeiter sollen gleichzeitig telefonieren können. </a:t>
            </a:r>
            <a:endParaRPr kumimoji="0" lang="de-DE" sz="9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1600" b="0" i="0" u="none" strike="noStrike" cap="none" normalizeH="0" baseline="0" dirty="0">
                <a:ln>
                  <a:noFill/>
                </a:ln>
                <a:solidFill>
                  <a:srgbClr val="050505"/>
                </a:solidFill>
                <a:effectLst/>
                <a:latin typeface="Calibri" pitchFamily="34" charset="0"/>
                <a:ea typeface="Calibri" pitchFamily="34" charset="0"/>
                <a:cs typeface="Times New Roman" pitchFamily="18" charset="0"/>
              </a:rPr>
              <a:t>Ermitteln Sie die erforderliche Bandbreite in </a:t>
            </a:r>
            <a:r>
              <a:rPr kumimoji="0" lang="de-DE" sz="1600" b="0" i="0" u="none" strike="noStrike" cap="none" normalizeH="0" baseline="0" dirty="0" err="1">
                <a:ln>
                  <a:noFill/>
                </a:ln>
                <a:solidFill>
                  <a:srgbClr val="050505"/>
                </a:solidFill>
                <a:effectLst/>
                <a:latin typeface="Calibri" pitchFamily="34" charset="0"/>
                <a:ea typeface="Calibri" pitchFamily="34" charset="0"/>
                <a:cs typeface="Times New Roman" pitchFamily="18" charset="0"/>
              </a:rPr>
              <a:t>Mbit</a:t>
            </a:r>
            <a:r>
              <a:rPr kumimoji="0" lang="de-DE" sz="1600" b="0" i="0" u="none" strike="noStrike" cap="none" normalizeH="0" baseline="0" dirty="0">
                <a:ln>
                  <a:noFill/>
                </a:ln>
                <a:solidFill>
                  <a:srgbClr val="050505"/>
                </a:solidFill>
                <a:effectLst/>
                <a:latin typeface="Calibri" pitchFamily="34" charset="0"/>
                <a:ea typeface="Calibri" pitchFamily="34" charset="0"/>
                <a:cs typeface="Times New Roman" pitchFamily="18" charset="0"/>
              </a:rPr>
              <a:t>.</a:t>
            </a:r>
            <a:endParaRPr kumimoji="0" lang="de-DE" sz="9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1600" b="0" i="0" u="none" strike="noStrike" cap="none" normalizeH="0" baseline="0" dirty="0">
                <a:ln>
                  <a:noFill/>
                </a:ln>
                <a:solidFill>
                  <a:srgbClr val="050505"/>
                </a:solidFill>
                <a:effectLst/>
                <a:latin typeface="Calibri" pitchFamily="34" charset="0"/>
                <a:ea typeface="Calibri" pitchFamily="34" charset="0"/>
                <a:cs typeface="Times New Roman" pitchFamily="18" charset="0"/>
              </a:rPr>
              <a:t>(Ergebnis gegebenenfalls auf ganze </a:t>
            </a:r>
            <a:r>
              <a:rPr kumimoji="0" lang="de-DE" sz="1600" b="0" i="0" u="none" strike="noStrike" cap="none" normalizeH="0" baseline="0" dirty="0" err="1">
                <a:ln>
                  <a:noFill/>
                </a:ln>
                <a:solidFill>
                  <a:srgbClr val="050505"/>
                </a:solidFill>
                <a:effectLst/>
                <a:latin typeface="Calibri" pitchFamily="34" charset="0"/>
                <a:ea typeface="Calibri" pitchFamily="34" charset="0"/>
                <a:cs typeface="Times New Roman" pitchFamily="18" charset="0"/>
              </a:rPr>
              <a:t>Mbit</a:t>
            </a:r>
            <a:r>
              <a:rPr kumimoji="0" lang="de-DE" sz="1600" b="0" i="0" u="none" strike="noStrike" cap="none" normalizeH="0" baseline="0" dirty="0">
                <a:ln>
                  <a:noFill/>
                </a:ln>
                <a:solidFill>
                  <a:srgbClr val="050505"/>
                </a:solidFill>
                <a:effectLst/>
                <a:latin typeface="Calibri" pitchFamily="34" charset="0"/>
                <a:ea typeface="Calibri" pitchFamily="34" charset="0"/>
                <a:cs typeface="Times New Roman" pitchFamily="18" charset="0"/>
              </a:rPr>
              <a:t> runden; der Rechenweg ist anzugeben)</a:t>
            </a:r>
            <a:endParaRPr kumimoji="0" lang="de-DE" sz="2000" b="0" i="0" u="none" strike="noStrike" cap="none" normalizeH="0" baseline="0" dirty="0">
              <a:ln>
                <a:noFill/>
              </a:ln>
              <a:solidFill>
                <a:schemeClr val="tx1"/>
              </a:solidFill>
              <a:effectLst/>
              <a:latin typeface="Arial" pitchFamily="34" charset="0"/>
              <a:cs typeface="Arial" pitchFamily="34" charset="0"/>
            </a:endParaRPr>
          </a:p>
        </p:txBody>
      </p:sp>
      <p:sp>
        <p:nvSpPr>
          <p:cNvPr id="1026" name="Rectangle 2"/>
          <p:cNvSpPr>
            <a:spLocks noChangeArrowheads="1"/>
          </p:cNvSpPr>
          <p:nvPr/>
        </p:nvSpPr>
        <p:spPr bwMode="auto">
          <a:xfrm>
            <a:off x="0" y="1674969"/>
            <a:ext cx="11637108" cy="200054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e-DE" sz="2400" b="1" i="0" u="none" strike="noStrike" cap="none" normalizeH="0" baseline="0" dirty="0">
                <a:ln>
                  <a:noFill/>
                </a:ln>
                <a:solidFill>
                  <a:srgbClr val="FF0000"/>
                </a:solidFill>
                <a:effectLst/>
                <a:latin typeface="Calibri" pitchFamily="34" charset="0"/>
                <a:ea typeface="Calibri" pitchFamily="34" charset="0"/>
                <a:cs typeface="Times New Roman" pitchFamily="18" charset="0"/>
              </a:rPr>
              <a:t>Lösung:</a:t>
            </a:r>
            <a:endParaRPr kumimoji="0" lang="de-DE" sz="1100" b="0" i="0" u="none" strike="noStrike" cap="none" normalizeH="0" baseline="0" dirty="0">
              <a:ln>
                <a:noFill/>
              </a:ln>
              <a:solidFill>
                <a:srgbClr val="FF0000"/>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2400" b="1" i="0" u="none" strike="noStrike" cap="none" normalizeH="0" baseline="0" dirty="0">
                <a:ln>
                  <a:noFill/>
                </a:ln>
                <a:solidFill>
                  <a:srgbClr val="FF0000"/>
                </a:solidFill>
                <a:effectLst/>
                <a:latin typeface="Calibri" pitchFamily="34" charset="0"/>
                <a:ea typeface="Calibri" pitchFamily="34" charset="0"/>
                <a:cs typeface="Times New Roman" pitchFamily="18" charset="0"/>
              </a:rPr>
              <a:t>Da in der Aufgabe „in der“ steht, müssen wir mit einem verminderten %-Wert rechnen.</a:t>
            </a:r>
            <a:endParaRPr kumimoji="0" lang="de-DE" sz="1100" b="0" i="0" u="none" strike="noStrike" cap="none" normalizeH="0" baseline="0" dirty="0">
              <a:ln>
                <a:noFill/>
              </a:ln>
              <a:solidFill>
                <a:srgbClr val="FF0000"/>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2400" b="1" i="0" u="none" strike="noStrike" cap="none" normalizeH="0" baseline="0" dirty="0">
                <a:ln>
                  <a:noFill/>
                </a:ln>
                <a:solidFill>
                  <a:srgbClr val="FF0000"/>
                </a:solidFill>
                <a:effectLst/>
                <a:latin typeface="Calibri" pitchFamily="34" charset="0"/>
                <a:ea typeface="Calibri" pitchFamily="34" charset="0"/>
                <a:cs typeface="Times New Roman" pitchFamily="18" charset="0"/>
              </a:rPr>
              <a:t>140 Teilnehmer X 125 </a:t>
            </a:r>
            <a:r>
              <a:rPr kumimoji="0" lang="de-DE" sz="2400" b="1" i="0" u="none" strike="noStrike" cap="none" normalizeH="0" baseline="0" dirty="0" err="1">
                <a:ln>
                  <a:noFill/>
                </a:ln>
                <a:solidFill>
                  <a:srgbClr val="FF0000"/>
                </a:solidFill>
                <a:effectLst/>
                <a:latin typeface="Calibri" pitchFamily="34" charset="0"/>
                <a:ea typeface="Calibri" pitchFamily="34" charset="0"/>
                <a:cs typeface="Times New Roman" pitchFamily="18" charset="0"/>
              </a:rPr>
              <a:t>Kb</a:t>
            </a:r>
            <a:r>
              <a:rPr kumimoji="0" lang="de-DE" sz="2400" b="1" i="0" u="none" strike="noStrike" cap="none" normalizeH="0" baseline="0" dirty="0">
                <a:ln>
                  <a:noFill/>
                </a:ln>
                <a:solidFill>
                  <a:srgbClr val="FF0000"/>
                </a:solidFill>
                <a:effectLst/>
                <a:latin typeface="Calibri" pitchFamily="34" charset="0"/>
                <a:ea typeface="Calibri" pitchFamily="34" charset="0"/>
                <a:cs typeface="Times New Roman" pitchFamily="18" charset="0"/>
              </a:rPr>
              <a:t> = 17500 Kbit -&gt; 60%</a:t>
            </a:r>
            <a:endParaRPr kumimoji="0" lang="de-DE" sz="1100" b="0" i="0" u="none" strike="noStrike" cap="none" normalizeH="0" baseline="0" dirty="0">
              <a:ln>
                <a:noFill/>
              </a:ln>
              <a:solidFill>
                <a:srgbClr val="FF0000"/>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2400" b="1" i="0" u="none" strike="noStrike" cap="none" normalizeH="0" baseline="0" dirty="0">
                <a:ln>
                  <a:noFill/>
                </a:ln>
                <a:solidFill>
                  <a:srgbClr val="FF0000"/>
                </a:solidFill>
                <a:effectLst/>
                <a:latin typeface="Calibri" pitchFamily="34" charset="0"/>
                <a:ea typeface="Calibri" pitchFamily="34" charset="0"/>
                <a:cs typeface="Times New Roman" pitchFamily="18" charset="0"/>
              </a:rPr>
              <a:t>40% -&gt; 11.667 </a:t>
            </a:r>
            <a:r>
              <a:rPr kumimoji="0" lang="de-DE" sz="2400" b="1" i="0" u="none" strike="noStrike" cap="none" normalizeH="0" baseline="0" dirty="0" err="1">
                <a:ln>
                  <a:noFill/>
                </a:ln>
                <a:solidFill>
                  <a:srgbClr val="FF0000"/>
                </a:solidFill>
                <a:effectLst/>
                <a:latin typeface="Calibri" pitchFamily="34" charset="0"/>
                <a:ea typeface="Calibri" pitchFamily="34" charset="0"/>
                <a:cs typeface="Times New Roman" pitchFamily="18" charset="0"/>
              </a:rPr>
              <a:t>kbit</a:t>
            </a:r>
            <a:endParaRPr kumimoji="0" lang="de-DE" sz="1100" b="0" i="0" u="none" strike="noStrike" cap="none" normalizeH="0" baseline="0" dirty="0">
              <a:ln>
                <a:noFill/>
              </a:ln>
              <a:solidFill>
                <a:srgbClr val="FF0000"/>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2400" b="1" i="0" u="none" strike="noStrike" cap="none" normalizeH="0" baseline="0" dirty="0">
                <a:ln>
                  <a:noFill/>
                </a:ln>
                <a:solidFill>
                  <a:srgbClr val="FF0000"/>
                </a:solidFill>
                <a:effectLst/>
                <a:latin typeface="Calibri" pitchFamily="34" charset="0"/>
                <a:ea typeface="Calibri" pitchFamily="34" charset="0"/>
                <a:cs typeface="Times New Roman" pitchFamily="18" charset="0"/>
              </a:rPr>
              <a:t>100%-&gt; 17.500 + 11.667 = 29.166 </a:t>
            </a:r>
            <a:r>
              <a:rPr kumimoji="0" lang="de-DE" sz="2400" b="1" i="0" u="none" strike="noStrike" cap="none" normalizeH="0" baseline="0" dirty="0" err="1">
                <a:ln>
                  <a:noFill/>
                </a:ln>
                <a:solidFill>
                  <a:srgbClr val="FF0000"/>
                </a:solidFill>
                <a:effectLst/>
                <a:latin typeface="Calibri" pitchFamily="34" charset="0"/>
                <a:ea typeface="Calibri" pitchFamily="34" charset="0"/>
                <a:cs typeface="Times New Roman" pitchFamily="18" charset="0"/>
              </a:rPr>
              <a:t>kbit</a:t>
            </a:r>
            <a:r>
              <a:rPr kumimoji="0" lang="de-DE" sz="2400" b="1" i="0" u="none" strike="noStrike" cap="none" normalizeH="0" baseline="0" dirty="0">
                <a:ln>
                  <a:noFill/>
                </a:ln>
                <a:solidFill>
                  <a:srgbClr val="FF0000"/>
                </a:solidFill>
                <a:effectLst/>
                <a:latin typeface="Calibri" pitchFamily="34" charset="0"/>
                <a:ea typeface="Calibri" pitchFamily="34" charset="0"/>
                <a:cs typeface="Times New Roman" pitchFamily="18" charset="0"/>
              </a:rPr>
              <a:t> / 1000 = </a:t>
            </a:r>
            <a:r>
              <a:rPr kumimoji="0" lang="de-DE" sz="2400" b="1" i="0" u="none" strike="noStrike" cap="none" normalizeH="0" baseline="0" dirty="0">
                <a:ln>
                  <a:noFill/>
                </a:ln>
                <a:solidFill>
                  <a:srgbClr val="FF0000"/>
                </a:solidFill>
                <a:effectLst/>
                <a:highlight>
                  <a:srgbClr val="FFFF00"/>
                </a:highlight>
                <a:latin typeface="Calibri" pitchFamily="34" charset="0"/>
                <a:ea typeface="Calibri" pitchFamily="34" charset="0"/>
                <a:cs typeface="Times New Roman" pitchFamily="18" charset="0"/>
              </a:rPr>
              <a:t>29,167 </a:t>
            </a:r>
            <a:r>
              <a:rPr kumimoji="0" lang="de-DE" sz="2400" b="1" i="0" u="none" strike="noStrike" cap="none" normalizeH="0" baseline="0" dirty="0" err="1">
                <a:ln>
                  <a:noFill/>
                </a:ln>
                <a:solidFill>
                  <a:srgbClr val="FF0000"/>
                </a:solidFill>
                <a:effectLst/>
                <a:highlight>
                  <a:srgbClr val="FFFF00"/>
                </a:highlight>
                <a:latin typeface="Calibri" pitchFamily="34" charset="0"/>
                <a:ea typeface="Calibri" pitchFamily="34" charset="0"/>
                <a:cs typeface="Times New Roman" pitchFamily="18" charset="0"/>
              </a:rPr>
              <a:t>Mbit</a:t>
            </a:r>
            <a:r>
              <a:rPr kumimoji="0" lang="de-DE" sz="2400" b="1" i="0" u="none" strike="noStrike" cap="none" normalizeH="0" baseline="0" dirty="0">
                <a:ln>
                  <a:noFill/>
                </a:ln>
                <a:solidFill>
                  <a:srgbClr val="FF0000"/>
                </a:solidFill>
                <a:effectLst/>
                <a:highlight>
                  <a:srgbClr val="FFFF00"/>
                </a:highlight>
                <a:latin typeface="Calibri" pitchFamily="34" charset="0"/>
                <a:ea typeface="Calibri" pitchFamily="34" charset="0"/>
                <a:cs typeface="Times New Roman" pitchFamily="18" charset="0"/>
              </a:rPr>
              <a:t>-&gt; 30 </a:t>
            </a:r>
            <a:r>
              <a:rPr kumimoji="0" lang="de-DE" sz="2400" b="1" i="0" u="none" strike="noStrike" cap="none" normalizeH="0" baseline="0" dirty="0" err="1">
                <a:ln>
                  <a:noFill/>
                </a:ln>
                <a:solidFill>
                  <a:srgbClr val="FF0000"/>
                </a:solidFill>
                <a:effectLst/>
                <a:highlight>
                  <a:srgbClr val="FFFF00"/>
                </a:highlight>
                <a:latin typeface="Calibri" pitchFamily="34" charset="0"/>
                <a:ea typeface="Calibri" pitchFamily="34" charset="0"/>
                <a:cs typeface="Times New Roman" pitchFamily="18" charset="0"/>
              </a:rPr>
              <a:t>Mbit</a:t>
            </a:r>
            <a:endParaRPr kumimoji="0" lang="de-DE" sz="3200" b="0" i="0" u="none" strike="noStrike" cap="none" normalizeH="0" baseline="0" dirty="0">
              <a:ln>
                <a:noFill/>
              </a:ln>
              <a:solidFill>
                <a:srgbClr val="FF0000"/>
              </a:solidFill>
              <a:effectLst/>
              <a:highlight>
                <a:srgbClr val="FFFF00"/>
              </a:highlight>
              <a:latin typeface="Arial" pitchFamily="34" charset="0"/>
              <a:cs typeface="Arial" pitchFamily="34" charset="0"/>
            </a:endParaRPr>
          </a:p>
        </p:txBody>
      </p:sp>
    </p:spTree>
    <p:extLst>
      <p:ext uri="{BB962C8B-B14F-4D97-AF65-F5344CB8AC3E}">
        <p14:creationId xmlns:p14="http://schemas.microsoft.com/office/powerpoint/2010/main" val="2706506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ChangeArrowheads="1"/>
          </p:cNvSpPr>
          <p:nvPr/>
        </p:nvSpPr>
        <p:spPr bwMode="auto">
          <a:xfrm>
            <a:off x="0" y="-81468"/>
            <a:ext cx="11707820" cy="193899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e-DE" sz="2400" b="0" i="0" u="none" strike="noStrike" cap="none" normalizeH="0" baseline="0" dirty="0">
                <a:ln>
                  <a:noFill/>
                </a:ln>
                <a:solidFill>
                  <a:srgbClr val="070707"/>
                </a:solidFill>
                <a:effectLst/>
                <a:latin typeface="Calibri" pitchFamily="34" charset="0"/>
                <a:ea typeface="Calibri" pitchFamily="34" charset="0"/>
                <a:cs typeface="Times New Roman" pitchFamily="18" charset="0"/>
              </a:rPr>
              <a:t>Auch das Verkaufsbüro in Berlin soll in das </a:t>
            </a:r>
            <a:r>
              <a:rPr kumimoji="0" lang="de-DE" sz="2400" b="0" i="0" u="none" strike="noStrike" cap="none" normalizeH="0" baseline="0" dirty="0" err="1">
                <a:ln>
                  <a:noFill/>
                </a:ln>
                <a:solidFill>
                  <a:srgbClr val="070707"/>
                </a:solidFill>
                <a:effectLst/>
                <a:latin typeface="Calibri" pitchFamily="34" charset="0"/>
                <a:ea typeface="Calibri" pitchFamily="34" charset="0"/>
                <a:cs typeface="Times New Roman" pitchFamily="18" charset="0"/>
              </a:rPr>
              <a:t>VolP</a:t>
            </a:r>
            <a:r>
              <a:rPr kumimoji="0" lang="de-DE" sz="2400" b="0" i="0" u="none" strike="noStrike" cap="none" normalizeH="0" baseline="0" dirty="0">
                <a:ln>
                  <a:noFill/>
                </a:ln>
                <a:solidFill>
                  <a:srgbClr val="070707"/>
                </a:solidFill>
                <a:effectLst/>
                <a:latin typeface="Calibri" pitchFamily="34" charset="0"/>
                <a:ea typeface="Calibri" pitchFamily="34" charset="0"/>
                <a:cs typeface="Times New Roman" pitchFamily="18" charset="0"/>
              </a:rPr>
              <a:t>-System integriert werden.</a:t>
            </a:r>
            <a:endParaRPr kumimoji="0" lang="de-DE" sz="11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2400" b="0" i="0" u="none" strike="noStrike" cap="none" normalizeH="0" baseline="0" dirty="0">
                <a:ln>
                  <a:noFill/>
                </a:ln>
                <a:solidFill>
                  <a:srgbClr val="070708"/>
                </a:solidFill>
                <a:effectLst/>
                <a:latin typeface="Calibri" pitchFamily="34" charset="0"/>
                <a:ea typeface="Calibri" pitchFamily="34" charset="0"/>
                <a:cs typeface="Times New Roman" pitchFamily="18" charset="0"/>
              </a:rPr>
              <a:t>- Bestehende Anbindung: VDSL-Leitung (25 Mbit/s Down und </a:t>
            </a:r>
            <a:r>
              <a:rPr kumimoji="0" lang="de-DE" sz="2400" b="0" i="0" u="sng" strike="noStrike" cap="none" normalizeH="0" baseline="0" dirty="0">
                <a:ln>
                  <a:noFill/>
                </a:ln>
                <a:solidFill>
                  <a:srgbClr val="070708"/>
                </a:solidFill>
                <a:effectLst/>
                <a:latin typeface="Calibri" pitchFamily="34" charset="0"/>
                <a:ea typeface="Calibri" pitchFamily="34" charset="0"/>
                <a:cs typeface="Times New Roman" pitchFamily="18" charset="0"/>
              </a:rPr>
              <a:t>5 Mbit/s Up</a:t>
            </a:r>
            <a:r>
              <a:rPr kumimoji="0" lang="de-DE" sz="2400" b="0" i="0" u="none" strike="noStrike" cap="none" normalizeH="0" baseline="0" dirty="0">
                <a:ln>
                  <a:noFill/>
                </a:ln>
                <a:solidFill>
                  <a:srgbClr val="070708"/>
                </a:solidFill>
                <a:effectLst/>
                <a:latin typeface="Calibri" pitchFamily="34" charset="0"/>
                <a:ea typeface="Calibri" pitchFamily="34" charset="0"/>
                <a:cs typeface="Times New Roman" pitchFamily="18" charset="0"/>
              </a:rPr>
              <a:t>) </a:t>
            </a:r>
            <a:endParaRPr kumimoji="0" lang="de-DE" sz="11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2400" b="1" i="0" u="none" strike="noStrike" cap="none" normalizeH="0" baseline="0" dirty="0">
                <a:ln>
                  <a:noFill/>
                </a:ln>
                <a:solidFill>
                  <a:srgbClr val="050505"/>
                </a:solidFill>
                <a:effectLst/>
                <a:latin typeface="Calibri" pitchFamily="34" charset="0"/>
                <a:ea typeface="Calibri" pitchFamily="34" charset="0"/>
                <a:cs typeface="Times New Roman" pitchFamily="18" charset="0"/>
              </a:rPr>
              <a:t>- Bandbreite je Telefonat: 125 </a:t>
            </a:r>
            <a:r>
              <a:rPr kumimoji="0" lang="de-DE" sz="2400" b="1" i="0" u="none" strike="noStrike" cap="none" normalizeH="0" baseline="0" dirty="0" err="1">
                <a:ln>
                  <a:noFill/>
                </a:ln>
                <a:solidFill>
                  <a:srgbClr val="050505"/>
                </a:solidFill>
                <a:effectLst/>
                <a:latin typeface="Calibri" pitchFamily="34" charset="0"/>
                <a:ea typeface="Calibri" pitchFamily="34" charset="0"/>
                <a:cs typeface="Times New Roman" pitchFamily="18" charset="0"/>
              </a:rPr>
              <a:t>kbit</a:t>
            </a:r>
            <a:r>
              <a:rPr kumimoji="0" lang="de-DE" sz="2400" b="1" i="0" u="none" strike="noStrike" cap="none" normalizeH="0" baseline="0" dirty="0">
                <a:ln>
                  <a:noFill/>
                </a:ln>
                <a:solidFill>
                  <a:srgbClr val="050505"/>
                </a:solidFill>
                <a:effectLst/>
                <a:latin typeface="Calibri" pitchFamily="34" charset="0"/>
                <a:ea typeface="Calibri" pitchFamily="34" charset="0"/>
                <a:cs typeface="Times New Roman" pitchFamily="18" charset="0"/>
              </a:rPr>
              <a:t>/s</a:t>
            </a:r>
            <a:endParaRPr kumimoji="0" lang="de-DE" sz="11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2400" b="1" i="0" u="none" strike="noStrike" cap="none" normalizeH="0" baseline="0" dirty="0">
                <a:ln>
                  <a:noFill/>
                </a:ln>
                <a:solidFill>
                  <a:srgbClr val="070707"/>
                </a:solidFill>
                <a:effectLst/>
                <a:latin typeface="Calibri" pitchFamily="34" charset="0"/>
                <a:ea typeface="Calibri" pitchFamily="34" charset="0"/>
                <a:cs typeface="Times New Roman" pitchFamily="18" charset="0"/>
              </a:rPr>
              <a:t>- Puffer </a:t>
            </a:r>
            <a:r>
              <a:rPr kumimoji="0" lang="de-DE" sz="2400" b="1" i="0" u="sng" strike="noStrike" cap="none" normalizeH="0" baseline="0" dirty="0">
                <a:ln>
                  <a:noFill/>
                </a:ln>
                <a:solidFill>
                  <a:srgbClr val="070707"/>
                </a:solidFill>
                <a:effectLst/>
                <a:latin typeface="Calibri" pitchFamily="34" charset="0"/>
                <a:ea typeface="Calibri" pitchFamily="34" charset="0"/>
                <a:cs typeface="Times New Roman" pitchFamily="18" charset="0"/>
              </a:rPr>
              <a:t>in der</a:t>
            </a:r>
            <a:r>
              <a:rPr kumimoji="0" lang="de-DE" sz="2400" b="1" i="0" u="none" strike="noStrike" cap="none" normalizeH="0" baseline="0" dirty="0">
                <a:ln>
                  <a:noFill/>
                </a:ln>
                <a:solidFill>
                  <a:srgbClr val="070707"/>
                </a:solidFill>
                <a:effectLst/>
                <a:latin typeface="Calibri" pitchFamily="34" charset="0"/>
                <a:ea typeface="Calibri" pitchFamily="34" charset="0"/>
                <a:cs typeface="Times New Roman" pitchFamily="18" charset="0"/>
              </a:rPr>
              <a:t> Gesamtbandbreite: 40 % </a:t>
            </a:r>
            <a:endParaRPr kumimoji="0" lang="de-DE" sz="11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2400" b="0" i="0" u="none" strike="noStrike" cap="none" normalizeH="0" baseline="0" dirty="0">
                <a:ln>
                  <a:noFill/>
                </a:ln>
                <a:solidFill>
                  <a:srgbClr val="060606"/>
                </a:solidFill>
                <a:effectLst/>
                <a:latin typeface="Calibri" pitchFamily="34" charset="0"/>
                <a:ea typeface="Calibri" pitchFamily="34" charset="0"/>
                <a:cs typeface="Times New Roman" pitchFamily="18" charset="0"/>
              </a:rPr>
              <a:t>Ermitteln Sie die Anzahl Telefonate</a:t>
            </a:r>
            <a:r>
              <a:rPr lang="de-DE" sz="2400" dirty="0">
                <a:solidFill>
                  <a:srgbClr val="060606"/>
                </a:solidFill>
                <a:latin typeface="Calibri" pitchFamily="34" charset="0"/>
                <a:ea typeface="Calibri" pitchFamily="34" charset="0"/>
                <a:cs typeface="Times New Roman" pitchFamily="18" charset="0"/>
              </a:rPr>
              <a:t>, </a:t>
            </a:r>
            <a:r>
              <a:rPr kumimoji="0" lang="de-DE" sz="2400" b="0" i="0" u="none" strike="noStrike" cap="none" normalizeH="0" baseline="0" dirty="0">
                <a:ln>
                  <a:noFill/>
                </a:ln>
                <a:solidFill>
                  <a:srgbClr val="060606"/>
                </a:solidFill>
                <a:effectLst/>
                <a:latin typeface="Calibri" pitchFamily="34" charset="0"/>
                <a:ea typeface="Calibri" pitchFamily="34" charset="0"/>
                <a:cs typeface="Times New Roman" pitchFamily="18" charset="0"/>
              </a:rPr>
              <a:t>die im Verkaufsbüro gleichzeitig geführt werden können.</a:t>
            </a:r>
            <a:endParaRPr kumimoji="0" lang="de-DE" sz="3200" b="0" i="0" u="none" strike="noStrike" cap="none" normalizeH="0" baseline="0" dirty="0">
              <a:ln>
                <a:noFill/>
              </a:ln>
              <a:solidFill>
                <a:schemeClr val="tx1"/>
              </a:solidFill>
              <a:effectLst/>
              <a:latin typeface="Arial" pitchFamily="34" charset="0"/>
              <a:cs typeface="Arial" pitchFamily="34" charset="0"/>
            </a:endParaRPr>
          </a:p>
        </p:txBody>
      </p:sp>
      <p:sp>
        <p:nvSpPr>
          <p:cNvPr id="2" name="Rechteck 1">
            <a:extLst>
              <a:ext uri="{FF2B5EF4-FFF2-40B4-BE49-F238E27FC236}">
                <a16:creationId xmlns:a16="http://schemas.microsoft.com/office/drawing/2014/main" id="{8D8C12CA-3D53-42C0-AD95-5602FD12C1A0}"/>
              </a:ext>
            </a:extLst>
          </p:cNvPr>
          <p:cNvSpPr/>
          <p:nvPr/>
        </p:nvSpPr>
        <p:spPr>
          <a:xfrm>
            <a:off x="343877" y="2551837"/>
            <a:ext cx="6096000" cy="2477601"/>
          </a:xfrm>
          <a:prstGeom prst="rect">
            <a:avLst/>
          </a:prstGeom>
        </p:spPr>
        <p:txBody>
          <a:bodyPr>
            <a:spAutoFit/>
          </a:bodyPr>
          <a:lstStyle/>
          <a:p>
            <a:pPr lvl="0" fontAlgn="base">
              <a:spcBef>
                <a:spcPct val="0"/>
              </a:spcBef>
              <a:spcAft>
                <a:spcPct val="0"/>
              </a:spcAft>
            </a:pPr>
            <a:r>
              <a:rPr lang="de-DE" sz="2400" b="1" dirty="0">
                <a:solidFill>
                  <a:srgbClr val="FF0000"/>
                </a:solidFill>
                <a:latin typeface="Calibri" pitchFamily="34" charset="0"/>
                <a:ea typeface="Calibri" pitchFamily="34" charset="0"/>
                <a:cs typeface="Times New Roman" pitchFamily="18" charset="0"/>
              </a:rPr>
              <a:t>Lösung:</a:t>
            </a:r>
            <a:endParaRPr lang="de-DE" sz="1100" dirty="0">
              <a:solidFill>
                <a:srgbClr val="FF0000"/>
              </a:solidFill>
              <a:latin typeface="Arial" pitchFamily="34" charset="0"/>
              <a:cs typeface="Arial" pitchFamily="34" charset="0"/>
            </a:endParaRPr>
          </a:p>
          <a:p>
            <a:pPr lvl="0" eaLnBrk="0" fontAlgn="base" hangingPunct="0">
              <a:spcBef>
                <a:spcPct val="0"/>
              </a:spcBef>
              <a:spcAft>
                <a:spcPct val="0"/>
              </a:spcAft>
            </a:pPr>
            <a:r>
              <a:rPr lang="de-DE" sz="2400" b="1" dirty="0">
                <a:solidFill>
                  <a:srgbClr val="FF0000"/>
                </a:solidFill>
                <a:latin typeface="Calibri" pitchFamily="34" charset="0"/>
                <a:ea typeface="Calibri" pitchFamily="34" charset="0"/>
                <a:cs typeface="Times New Roman" pitchFamily="18" charset="0"/>
              </a:rPr>
              <a:t>Wieder „in der“ !</a:t>
            </a:r>
            <a:endParaRPr lang="de-DE" sz="1100" dirty="0">
              <a:solidFill>
                <a:srgbClr val="FF0000"/>
              </a:solidFill>
              <a:latin typeface="Arial" pitchFamily="34" charset="0"/>
              <a:cs typeface="Arial" pitchFamily="34" charset="0"/>
            </a:endParaRPr>
          </a:p>
          <a:p>
            <a:pPr lvl="0" eaLnBrk="0" fontAlgn="base" hangingPunct="0">
              <a:spcBef>
                <a:spcPct val="0"/>
              </a:spcBef>
              <a:spcAft>
                <a:spcPct val="0"/>
              </a:spcAft>
            </a:pPr>
            <a:r>
              <a:rPr lang="de-DE" sz="2400" b="1" dirty="0">
                <a:solidFill>
                  <a:srgbClr val="FF0000"/>
                </a:solidFill>
                <a:latin typeface="Calibri" pitchFamily="34" charset="0"/>
                <a:ea typeface="Calibri" pitchFamily="34" charset="0"/>
                <a:cs typeface="Times New Roman" pitchFamily="18" charset="0"/>
              </a:rPr>
              <a:t>Entscheidend ist der Upload-Wert (5Mbit)</a:t>
            </a:r>
          </a:p>
          <a:p>
            <a:pPr lvl="0" eaLnBrk="0" fontAlgn="base" hangingPunct="0">
              <a:spcBef>
                <a:spcPct val="0"/>
              </a:spcBef>
              <a:spcAft>
                <a:spcPct val="0"/>
              </a:spcAft>
            </a:pPr>
            <a:endParaRPr lang="de-DE" sz="1100" dirty="0">
              <a:solidFill>
                <a:srgbClr val="FF0000"/>
              </a:solidFill>
              <a:latin typeface="Arial" pitchFamily="34" charset="0"/>
              <a:cs typeface="Arial" pitchFamily="34" charset="0"/>
            </a:endParaRPr>
          </a:p>
          <a:p>
            <a:pPr lvl="0" eaLnBrk="0" fontAlgn="base" hangingPunct="0">
              <a:spcBef>
                <a:spcPct val="0"/>
              </a:spcBef>
              <a:spcAft>
                <a:spcPct val="0"/>
              </a:spcAft>
            </a:pPr>
            <a:r>
              <a:rPr lang="de-DE" sz="2400" b="1" dirty="0">
                <a:solidFill>
                  <a:srgbClr val="FF0000"/>
                </a:solidFill>
                <a:latin typeface="Calibri" pitchFamily="34" charset="0"/>
                <a:ea typeface="Calibri" pitchFamily="34" charset="0"/>
                <a:cs typeface="Times New Roman" pitchFamily="18" charset="0"/>
              </a:rPr>
              <a:t>5Mbit * 1000 = 5000 Kbit -&gt; 100 %</a:t>
            </a:r>
            <a:endParaRPr lang="de-DE" sz="1100" dirty="0">
              <a:solidFill>
                <a:srgbClr val="FF0000"/>
              </a:solidFill>
              <a:latin typeface="Arial" pitchFamily="34" charset="0"/>
              <a:cs typeface="Arial" pitchFamily="34" charset="0"/>
            </a:endParaRPr>
          </a:p>
          <a:p>
            <a:pPr lvl="0" eaLnBrk="0" fontAlgn="base" hangingPunct="0">
              <a:spcBef>
                <a:spcPct val="0"/>
              </a:spcBef>
              <a:spcAft>
                <a:spcPct val="0"/>
              </a:spcAft>
            </a:pPr>
            <a:r>
              <a:rPr lang="de-DE" sz="2400" b="1" dirty="0">
                <a:solidFill>
                  <a:srgbClr val="FF0000"/>
                </a:solidFill>
                <a:latin typeface="Calibri" pitchFamily="34" charset="0"/>
                <a:ea typeface="Calibri" pitchFamily="34" charset="0"/>
                <a:cs typeface="Times New Roman" pitchFamily="18" charset="0"/>
              </a:rPr>
              <a:t>60% von 5000 Kbit = 3000 Kbit</a:t>
            </a:r>
            <a:endParaRPr lang="de-DE" sz="1100" dirty="0">
              <a:solidFill>
                <a:srgbClr val="FF0000"/>
              </a:solidFill>
              <a:latin typeface="Arial" pitchFamily="34" charset="0"/>
              <a:cs typeface="Arial" pitchFamily="34" charset="0"/>
            </a:endParaRPr>
          </a:p>
          <a:p>
            <a:pPr lvl="0" eaLnBrk="0" fontAlgn="base" hangingPunct="0">
              <a:spcBef>
                <a:spcPct val="0"/>
              </a:spcBef>
              <a:spcAft>
                <a:spcPct val="0"/>
              </a:spcAft>
            </a:pPr>
            <a:r>
              <a:rPr lang="de-DE" sz="2400" b="1" dirty="0">
                <a:solidFill>
                  <a:srgbClr val="FF0000"/>
                </a:solidFill>
                <a:latin typeface="Calibri" pitchFamily="34" charset="0"/>
                <a:ea typeface="Calibri" pitchFamily="34" charset="0"/>
                <a:cs typeface="Times New Roman" pitchFamily="18" charset="0"/>
              </a:rPr>
              <a:t>3000 Kbit / 125 Kbit = </a:t>
            </a:r>
            <a:r>
              <a:rPr lang="de-DE" sz="2400" b="1" dirty="0">
                <a:solidFill>
                  <a:srgbClr val="FF0000"/>
                </a:solidFill>
                <a:highlight>
                  <a:srgbClr val="FFFF00"/>
                </a:highlight>
                <a:latin typeface="Calibri" pitchFamily="34" charset="0"/>
                <a:ea typeface="Calibri" pitchFamily="34" charset="0"/>
                <a:cs typeface="Times New Roman" pitchFamily="18" charset="0"/>
              </a:rPr>
              <a:t>24 Telefonate</a:t>
            </a:r>
            <a:endParaRPr lang="de-DE" sz="3200" dirty="0">
              <a:solidFill>
                <a:srgbClr val="FF0000"/>
              </a:solidFill>
              <a:highlight>
                <a:srgbClr val="FFFF00"/>
              </a:highlight>
              <a:latin typeface="Arial" pitchFamily="34" charset="0"/>
              <a:cs typeface="Arial" pitchFamily="34" charset="0"/>
            </a:endParaRPr>
          </a:p>
        </p:txBody>
      </p:sp>
    </p:spTree>
    <p:extLst>
      <p:ext uri="{BB962C8B-B14F-4D97-AF65-F5344CB8AC3E}">
        <p14:creationId xmlns:p14="http://schemas.microsoft.com/office/powerpoint/2010/main" val="1624344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69CDBEFB-3544-4ACA-BE34-955D685839CC}"/>
              </a:ext>
            </a:extLst>
          </p:cNvPr>
          <p:cNvPicPr>
            <a:picLocks noChangeAspect="1"/>
          </p:cNvPicPr>
          <p:nvPr/>
        </p:nvPicPr>
        <p:blipFill>
          <a:blip r:embed="rId2"/>
          <a:stretch>
            <a:fillRect/>
          </a:stretch>
        </p:blipFill>
        <p:spPr>
          <a:xfrm>
            <a:off x="764536" y="468836"/>
            <a:ext cx="10792723" cy="2141502"/>
          </a:xfrm>
          <a:prstGeom prst="rect">
            <a:avLst/>
          </a:prstGeom>
        </p:spPr>
      </p:pic>
      <p:sp>
        <p:nvSpPr>
          <p:cNvPr id="4" name="Textfeld 3">
            <a:extLst>
              <a:ext uri="{FF2B5EF4-FFF2-40B4-BE49-F238E27FC236}">
                <a16:creationId xmlns:a16="http://schemas.microsoft.com/office/drawing/2014/main" id="{B0D269ED-DFE8-4637-80E0-BB0E97ADA480}"/>
              </a:ext>
            </a:extLst>
          </p:cNvPr>
          <p:cNvSpPr txBox="1"/>
          <p:nvPr/>
        </p:nvSpPr>
        <p:spPr>
          <a:xfrm>
            <a:off x="857421" y="3665457"/>
            <a:ext cx="11100117" cy="2246769"/>
          </a:xfrm>
          <a:prstGeom prst="rect">
            <a:avLst/>
          </a:prstGeom>
          <a:noFill/>
        </p:spPr>
        <p:txBody>
          <a:bodyPr wrap="square" rtlCol="0">
            <a:spAutoFit/>
          </a:bodyPr>
          <a:lstStyle/>
          <a:p>
            <a:r>
              <a:rPr lang="de-DE" sz="2800" b="1" dirty="0">
                <a:solidFill>
                  <a:srgbClr val="FF0000"/>
                </a:solidFill>
              </a:rPr>
              <a:t>1 * 1000² *0,8</a:t>
            </a:r>
            <a:endParaRPr lang="de-DE" sz="2800" dirty="0">
              <a:solidFill>
                <a:srgbClr val="FF0000"/>
              </a:solidFill>
            </a:endParaRPr>
          </a:p>
          <a:p>
            <a:r>
              <a:rPr lang="de-DE" sz="2800" b="1" dirty="0">
                <a:solidFill>
                  <a:srgbClr val="FF0000"/>
                </a:solidFill>
              </a:rPr>
              <a:t>-------------------------- = 8,3 Gespräche (abrunden auf 8)  </a:t>
            </a:r>
          </a:p>
          <a:p>
            <a:r>
              <a:rPr lang="de-DE" sz="2800" b="1" dirty="0">
                <a:solidFill>
                  <a:srgbClr val="FF0000"/>
                </a:solidFill>
              </a:rPr>
              <a:t>64 * 1,5 * 1000</a:t>
            </a:r>
          </a:p>
          <a:p>
            <a:endParaRPr lang="de-DE" sz="2800" dirty="0">
              <a:solidFill>
                <a:srgbClr val="FF0000"/>
              </a:solidFill>
            </a:endParaRPr>
          </a:p>
          <a:p>
            <a:endParaRPr lang="de-DE" sz="2800" dirty="0">
              <a:solidFill>
                <a:srgbClr val="FF0000"/>
              </a:solidFill>
            </a:endParaRPr>
          </a:p>
        </p:txBody>
      </p:sp>
    </p:spTree>
    <p:extLst>
      <p:ext uri="{BB962C8B-B14F-4D97-AF65-F5344CB8AC3E}">
        <p14:creationId xmlns:p14="http://schemas.microsoft.com/office/powerpoint/2010/main" val="109345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1792065" y="2401196"/>
            <a:ext cx="8607869" cy="1569660"/>
          </a:xfrm>
          <a:prstGeom prst="rect">
            <a:avLst/>
          </a:prstGeom>
          <a:noFill/>
        </p:spPr>
        <p:txBody>
          <a:bodyPr wrap="none" rtlCol="0">
            <a:spAutoFit/>
          </a:bodyPr>
          <a:lstStyle/>
          <a:p>
            <a:r>
              <a:rPr lang="de-DE" sz="9600" dirty="0"/>
              <a:t>USV-Berechnung</a:t>
            </a:r>
          </a:p>
        </p:txBody>
      </p:sp>
    </p:spTree>
    <p:extLst>
      <p:ext uri="{BB962C8B-B14F-4D97-AF65-F5344CB8AC3E}">
        <p14:creationId xmlns:p14="http://schemas.microsoft.com/office/powerpoint/2010/main" val="20511896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2195C6D-240C-46A7-F9E4-D0C5D4068492}"/>
              </a:ext>
            </a:extLst>
          </p:cNvPr>
          <p:cNvSpPr>
            <a:spLocks noGrp="1"/>
          </p:cNvSpPr>
          <p:nvPr>
            <p:ph type="dt" sz="half" idx="10"/>
          </p:nvPr>
        </p:nvSpPr>
        <p:spPr/>
        <p:txBody>
          <a:bodyPr/>
          <a:lstStyle/>
          <a:p>
            <a:fld id="{A9D5ACFA-4B37-47F9-8267-F5981761B101}" type="datetime1">
              <a:rPr lang="de-DE" smtClean="0"/>
              <a:t>18.08.2026</a:t>
            </a:fld>
            <a:endParaRPr lang="de-DE"/>
          </a:p>
        </p:txBody>
      </p:sp>
      <p:sp>
        <p:nvSpPr>
          <p:cNvPr id="3" name="Foliennummernplatzhalter 2">
            <a:extLst>
              <a:ext uri="{FF2B5EF4-FFF2-40B4-BE49-F238E27FC236}">
                <a16:creationId xmlns:a16="http://schemas.microsoft.com/office/drawing/2014/main" id="{8D882485-0672-E3DF-71AE-B23278CD96D2}"/>
              </a:ext>
            </a:extLst>
          </p:cNvPr>
          <p:cNvSpPr>
            <a:spLocks noGrp="1"/>
          </p:cNvSpPr>
          <p:nvPr>
            <p:ph type="sldNum" sz="quarter" idx="12"/>
          </p:nvPr>
        </p:nvSpPr>
        <p:spPr/>
        <p:txBody>
          <a:bodyPr/>
          <a:lstStyle/>
          <a:p>
            <a:fld id="{778903E6-7882-422E-A752-076861465528}" type="slidenum">
              <a:rPr lang="de-DE" smtClean="0"/>
              <a:t>50</a:t>
            </a:fld>
            <a:endParaRPr lang="de-DE"/>
          </a:p>
        </p:txBody>
      </p:sp>
      <p:sp>
        <p:nvSpPr>
          <p:cNvPr id="5" name="Textfeld 4">
            <a:extLst>
              <a:ext uri="{FF2B5EF4-FFF2-40B4-BE49-F238E27FC236}">
                <a16:creationId xmlns:a16="http://schemas.microsoft.com/office/drawing/2014/main" id="{E9C352C5-CE50-A608-50A3-2EBE3F8B8DD9}"/>
              </a:ext>
            </a:extLst>
          </p:cNvPr>
          <p:cNvSpPr txBox="1"/>
          <p:nvPr/>
        </p:nvSpPr>
        <p:spPr>
          <a:xfrm>
            <a:off x="191344" y="116632"/>
            <a:ext cx="6408712" cy="646331"/>
          </a:xfrm>
          <a:prstGeom prst="rect">
            <a:avLst/>
          </a:prstGeom>
          <a:noFill/>
        </p:spPr>
        <p:txBody>
          <a:bodyPr wrap="square">
            <a:spAutoFit/>
          </a:bodyPr>
          <a:lstStyle/>
          <a:p>
            <a:pPr algn="l"/>
            <a:r>
              <a:rPr lang="de-DE" sz="1800" b="1" i="0" u="none" strike="noStrike" baseline="0" dirty="0">
                <a:latin typeface="*Arial-15224-Identity-H"/>
              </a:rPr>
              <a:t>Leistung eines Server-Netzteils: 750 W </a:t>
            </a:r>
          </a:p>
          <a:p>
            <a:pPr algn="l"/>
            <a:r>
              <a:rPr lang="de-DE" sz="1800" b="1" i="0" u="none" strike="noStrike" baseline="0" dirty="0">
                <a:latin typeface="*Arial-15224-Identity-H"/>
              </a:rPr>
              <a:t>8 Akkus Ladungsmenge (Q) pro Akku: 200 Ah Spannung (U): 12 V</a:t>
            </a:r>
            <a:endParaRPr lang="de-DE" b="1" dirty="0"/>
          </a:p>
        </p:txBody>
      </p:sp>
      <p:sp>
        <p:nvSpPr>
          <p:cNvPr id="7" name="Textfeld 6">
            <a:extLst>
              <a:ext uri="{FF2B5EF4-FFF2-40B4-BE49-F238E27FC236}">
                <a16:creationId xmlns:a16="http://schemas.microsoft.com/office/drawing/2014/main" id="{FF1B3B44-518D-7C23-D5E4-7D602D9B347A}"/>
              </a:ext>
            </a:extLst>
          </p:cNvPr>
          <p:cNvSpPr txBox="1"/>
          <p:nvPr/>
        </p:nvSpPr>
        <p:spPr>
          <a:xfrm>
            <a:off x="191344" y="843702"/>
            <a:ext cx="6096000" cy="2585323"/>
          </a:xfrm>
          <a:prstGeom prst="rect">
            <a:avLst/>
          </a:prstGeom>
          <a:noFill/>
        </p:spPr>
        <p:txBody>
          <a:bodyPr wrap="square">
            <a:spAutoFit/>
          </a:bodyPr>
          <a:lstStyle/>
          <a:p>
            <a:pPr algn="l"/>
            <a:r>
              <a:rPr lang="de-DE" sz="1800" b="0" i="0" u="none" strike="noStrike" baseline="0" dirty="0">
                <a:solidFill>
                  <a:srgbClr val="656565"/>
                </a:solidFill>
                <a:latin typeface="*Arial-15224-Identity-H"/>
              </a:rPr>
              <a:t>Hinweise</a:t>
            </a:r>
          </a:p>
          <a:p>
            <a:pPr algn="l"/>
            <a:r>
              <a:rPr lang="de-DE" sz="1800" b="0" i="0" u="none" strike="noStrike" baseline="0" dirty="0">
                <a:solidFill>
                  <a:srgbClr val="717171"/>
                </a:solidFill>
                <a:latin typeface="*Arial-15224-Identity-H"/>
              </a:rPr>
              <a:t>- Bei Netzausfall sind die acht Akkus der USV zu 100 % geladen.</a:t>
            </a:r>
          </a:p>
          <a:p>
            <a:pPr algn="l"/>
            <a:r>
              <a:rPr lang="de-DE" sz="1800" b="0" i="0" u="none" strike="noStrike" baseline="0" dirty="0">
                <a:solidFill>
                  <a:srgbClr val="707071"/>
                </a:solidFill>
                <a:latin typeface="*Arial-15224-Identity-H"/>
              </a:rPr>
              <a:t>- Die Akkus werden vollständig entladen.</a:t>
            </a:r>
          </a:p>
          <a:p>
            <a:pPr algn="l"/>
            <a:r>
              <a:rPr lang="de-DE" sz="1800" b="0" i="0" u="none" strike="noStrike" baseline="0" dirty="0">
                <a:solidFill>
                  <a:srgbClr val="3C3C3C"/>
                </a:solidFill>
                <a:latin typeface="*Arial-15224-Identity-H"/>
              </a:rPr>
              <a:t>- </a:t>
            </a:r>
            <a:r>
              <a:rPr lang="de-DE" sz="1800" b="0" i="0" u="none" strike="noStrike" baseline="0" dirty="0">
                <a:solidFill>
                  <a:srgbClr val="6C6C6C"/>
                </a:solidFill>
                <a:latin typeface="*Arial-15224-Identity-H"/>
              </a:rPr>
              <a:t>Ve</a:t>
            </a:r>
            <a:r>
              <a:rPr lang="de-DE" sz="1800" b="0" i="0" u="none" strike="noStrike" baseline="0" dirty="0">
                <a:solidFill>
                  <a:srgbClr val="5C5C5C"/>
                </a:solidFill>
                <a:latin typeface="*Arial-15224-Identity-H"/>
              </a:rPr>
              <a:t>r</a:t>
            </a:r>
            <a:r>
              <a:rPr lang="de-DE" sz="1800" b="0" i="0" u="none" strike="noStrike" baseline="0" dirty="0">
                <a:solidFill>
                  <a:srgbClr val="8A8A8A"/>
                </a:solidFill>
                <a:latin typeface="*Arial-15224-Identity-H"/>
              </a:rPr>
              <a:t>l</a:t>
            </a:r>
            <a:r>
              <a:rPr lang="de-DE" sz="1800" b="0" i="0" u="none" strike="noStrike" baseline="0" dirty="0">
                <a:solidFill>
                  <a:srgbClr val="6C6C6C"/>
                </a:solidFill>
                <a:latin typeface="*Arial-15224-Identity-H"/>
              </a:rPr>
              <a:t>us</a:t>
            </a:r>
            <a:r>
              <a:rPr lang="de-DE" sz="1800" b="0" i="0" u="none" strike="noStrike" baseline="0" dirty="0">
                <a:solidFill>
                  <a:srgbClr val="5C5C5C"/>
                </a:solidFill>
                <a:latin typeface="*Arial-15224-Identity-H"/>
              </a:rPr>
              <a:t>te </a:t>
            </a:r>
            <a:r>
              <a:rPr lang="de-DE" sz="1800" b="0" i="0" u="none" strike="noStrike" baseline="0" dirty="0">
                <a:solidFill>
                  <a:srgbClr val="6C6C6C"/>
                </a:solidFill>
                <a:latin typeface="*Arial-15224-Identity-H"/>
              </a:rPr>
              <a:t>s</a:t>
            </a:r>
            <a:r>
              <a:rPr lang="de-DE" sz="1800" b="0" i="0" u="none" strike="noStrike" baseline="0" dirty="0">
                <a:solidFill>
                  <a:srgbClr val="8A8A8A"/>
                </a:solidFill>
                <a:latin typeface="*Arial-15224-Identity-H"/>
              </a:rPr>
              <a:t>i</a:t>
            </a:r>
            <a:r>
              <a:rPr lang="de-DE" sz="1800" b="0" i="0" u="none" strike="noStrike" baseline="0" dirty="0">
                <a:solidFill>
                  <a:srgbClr val="6C6C6C"/>
                </a:solidFill>
                <a:latin typeface="*Arial-15224-Identity-H"/>
              </a:rPr>
              <a:t>n</a:t>
            </a:r>
            <a:r>
              <a:rPr lang="de-DE" sz="1800" b="0" i="0" u="none" strike="noStrike" baseline="0" dirty="0">
                <a:solidFill>
                  <a:srgbClr val="5C5C5C"/>
                </a:solidFill>
                <a:latin typeface="*Arial-15224-Identity-H"/>
              </a:rPr>
              <a:t>d </a:t>
            </a:r>
            <a:r>
              <a:rPr lang="de-DE" sz="1800" b="0" i="0" u="none" strike="noStrike" baseline="0" dirty="0">
                <a:solidFill>
                  <a:srgbClr val="6C6C6C"/>
                </a:solidFill>
                <a:latin typeface="*Arial-15224-Identity-H"/>
              </a:rPr>
              <a:t>nicht zu </a:t>
            </a:r>
            <a:r>
              <a:rPr lang="de-DE" sz="1800" b="0" i="0" u="none" strike="noStrike" baseline="0" dirty="0">
                <a:solidFill>
                  <a:srgbClr val="7A7A7A"/>
                </a:solidFill>
                <a:latin typeface="*Arial-15224-Identity-H"/>
              </a:rPr>
              <a:t>b</a:t>
            </a:r>
            <a:r>
              <a:rPr lang="de-DE" sz="1800" b="0" i="0" u="none" strike="noStrike" baseline="0" dirty="0">
                <a:solidFill>
                  <a:srgbClr val="5C5C5C"/>
                </a:solidFill>
                <a:latin typeface="*Arial-15224-Identity-H"/>
              </a:rPr>
              <a:t>e</a:t>
            </a:r>
            <a:r>
              <a:rPr lang="de-DE" sz="1800" b="0" i="0" u="none" strike="noStrike" baseline="0" dirty="0">
                <a:solidFill>
                  <a:srgbClr val="6C6C6C"/>
                </a:solidFill>
                <a:latin typeface="*Arial-15224-Identity-H"/>
              </a:rPr>
              <a:t>r</a:t>
            </a:r>
            <a:r>
              <a:rPr lang="de-DE" sz="1800" b="0" i="0" u="none" strike="noStrike" baseline="0" dirty="0">
                <a:solidFill>
                  <a:srgbClr val="7A7A7A"/>
                </a:solidFill>
                <a:latin typeface="*Arial-15224-Identity-H"/>
              </a:rPr>
              <a:t>ü</a:t>
            </a:r>
            <a:r>
              <a:rPr lang="de-DE" sz="1800" b="0" i="0" u="none" strike="noStrike" baseline="0" dirty="0">
                <a:solidFill>
                  <a:srgbClr val="5C5C5C"/>
                </a:solidFill>
                <a:latin typeface="*Arial-15224-Identity-H"/>
              </a:rPr>
              <a:t>c</a:t>
            </a:r>
            <a:r>
              <a:rPr lang="de-DE" sz="1800" b="0" i="0" u="none" strike="noStrike" baseline="0" dirty="0">
                <a:solidFill>
                  <a:srgbClr val="6C6C6C"/>
                </a:solidFill>
                <a:latin typeface="*Arial-15224-Identity-H"/>
              </a:rPr>
              <a:t>ksi</a:t>
            </a:r>
            <a:r>
              <a:rPr lang="de-DE" sz="1800" b="0" i="0" u="none" strike="noStrike" baseline="0" dirty="0">
                <a:solidFill>
                  <a:srgbClr val="5C5C5C"/>
                </a:solidFill>
                <a:latin typeface="*Arial-15224-Identity-H"/>
              </a:rPr>
              <a:t>c</a:t>
            </a:r>
            <a:r>
              <a:rPr lang="de-DE" sz="1800" b="0" i="0" u="none" strike="noStrike" baseline="0" dirty="0">
                <a:solidFill>
                  <a:srgbClr val="6C6C6C"/>
                </a:solidFill>
                <a:latin typeface="*Arial-15224-Identity-H"/>
              </a:rPr>
              <a:t>htige</a:t>
            </a:r>
            <a:r>
              <a:rPr lang="de-DE" sz="1800" b="0" i="0" u="none" strike="noStrike" baseline="0" dirty="0">
                <a:solidFill>
                  <a:srgbClr val="7A7A7A"/>
                </a:solidFill>
                <a:latin typeface="*Arial-15224-Identity-H"/>
              </a:rPr>
              <a:t>n</a:t>
            </a:r>
            <a:r>
              <a:rPr lang="de-DE" sz="1800" b="0" i="0" u="none" strike="noStrike" baseline="0" dirty="0">
                <a:solidFill>
                  <a:srgbClr val="3C3C3C"/>
                </a:solidFill>
                <a:latin typeface="*Arial-15224-Identity-H"/>
              </a:rPr>
              <a:t>.</a:t>
            </a:r>
          </a:p>
          <a:p>
            <a:pPr algn="l"/>
            <a:r>
              <a:rPr lang="de-DE" sz="1800" b="0" i="0" u="none" strike="noStrike" baseline="0" dirty="0">
                <a:solidFill>
                  <a:srgbClr val="69696A"/>
                </a:solidFill>
                <a:latin typeface="*Arial-15224-Identity-H"/>
              </a:rPr>
              <a:t>- Die Berechnung basiert auf </a:t>
            </a:r>
            <a:r>
              <a:rPr lang="de-DE" sz="1800" b="0" i="0" u="none" strike="noStrike" baseline="0" dirty="0" err="1">
                <a:solidFill>
                  <a:srgbClr val="69696A"/>
                </a:solidFill>
                <a:latin typeface="*Arial-15224-Identity-H"/>
              </a:rPr>
              <a:t>Volllastberieb</a:t>
            </a:r>
            <a:r>
              <a:rPr lang="de-DE" sz="1800" b="0" i="0" u="none" strike="noStrike" baseline="0" dirty="0">
                <a:solidFill>
                  <a:srgbClr val="69696A"/>
                </a:solidFill>
                <a:latin typeface="*Arial-15224-Identity-H"/>
              </a:rPr>
              <a:t>.</a:t>
            </a:r>
          </a:p>
          <a:p>
            <a:pPr algn="l"/>
            <a:endParaRPr lang="de-DE" sz="1800" b="0" i="0" u="none" strike="noStrike" baseline="0" dirty="0">
              <a:solidFill>
                <a:srgbClr val="6C6C6C"/>
              </a:solidFill>
              <a:latin typeface="*Arial-15224-Identity-H"/>
            </a:endParaRPr>
          </a:p>
          <a:p>
            <a:pPr algn="l"/>
            <a:r>
              <a:rPr lang="de-DE" sz="1800" b="0" i="0" u="none" strike="noStrike" baseline="0" dirty="0">
                <a:solidFill>
                  <a:srgbClr val="6C6C6C"/>
                </a:solidFill>
                <a:latin typeface="*Arial-15224-Identity-H"/>
              </a:rPr>
              <a:t>Es soll e</a:t>
            </a:r>
            <a:r>
              <a:rPr lang="de-DE" sz="1800" b="0" i="0" u="none" strike="noStrike" baseline="0" dirty="0">
                <a:solidFill>
                  <a:srgbClr val="7E7E7E"/>
                </a:solidFill>
                <a:latin typeface="*Arial-15224-Identity-H"/>
              </a:rPr>
              <a:t>r</a:t>
            </a:r>
            <a:r>
              <a:rPr lang="de-DE" sz="1800" b="0" i="0" u="none" strike="noStrike" baseline="0" dirty="0">
                <a:solidFill>
                  <a:srgbClr val="6C6C6C"/>
                </a:solidFill>
                <a:latin typeface="*Arial-15224-Identity-H"/>
              </a:rPr>
              <a:t>m</a:t>
            </a:r>
            <a:r>
              <a:rPr lang="de-DE" sz="1800" b="0" i="0" u="none" strike="noStrike" baseline="0" dirty="0">
                <a:solidFill>
                  <a:srgbClr val="949494"/>
                </a:solidFill>
                <a:latin typeface="*Arial-15224-Identity-H"/>
              </a:rPr>
              <a:t>i</a:t>
            </a:r>
            <a:r>
              <a:rPr lang="de-DE" sz="1800" b="0" i="0" u="none" strike="noStrike" baseline="0" dirty="0">
                <a:solidFill>
                  <a:srgbClr val="6C6C6C"/>
                </a:solidFill>
                <a:latin typeface="*Arial-15224-Identity-H"/>
              </a:rPr>
              <a:t>tt</a:t>
            </a:r>
            <a:r>
              <a:rPr lang="de-DE" sz="1800" b="0" i="0" u="none" strike="noStrike" baseline="0" dirty="0">
                <a:solidFill>
                  <a:srgbClr val="7E7E7E"/>
                </a:solidFill>
                <a:latin typeface="*Arial-15224-Identity-H"/>
              </a:rPr>
              <a:t>e</a:t>
            </a:r>
            <a:r>
              <a:rPr lang="de-DE" sz="1800" b="0" i="0" u="none" strike="noStrike" baseline="0" dirty="0">
                <a:solidFill>
                  <a:srgbClr val="949494"/>
                </a:solidFill>
                <a:latin typeface="*Arial-15224-Identity-H"/>
              </a:rPr>
              <a:t>l</a:t>
            </a:r>
            <a:r>
              <a:rPr lang="de-DE" sz="1800" b="0" i="0" u="none" strike="noStrike" baseline="0" dirty="0">
                <a:solidFill>
                  <a:srgbClr val="6C6C6C"/>
                </a:solidFill>
                <a:latin typeface="*Arial-15224-Identity-H"/>
              </a:rPr>
              <a:t>t </a:t>
            </a:r>
            <a:r>
              <a:rPr lang="de-DE" sz="1800" b="0" i="0" u="none" strike="noStrike" baseline="0" dirty="0">
                <a:solidFill>
                  <a:srgbClr val="7E7E7E"/>
                </a:solidFill>
                <a:latin typeface="*Arial-15224-Identity-H"/>
              </a:rPr>
              <a:t>w</a:t>
            </a:r>
            <a:r>
              <a:rPr lang="de-DE" sz="1800" b="0" i="0" u="none" strike="noStrike" baseline="0" dirty="0">
                <a:solidFill>
                  <a:srgbClr val="6C6C6C"/>
                </a:solidFill>
                <a:latin typeface="*Arial-15224-Identity-H"/>
              </a:rPr>
              <a:t>e</a:t>
            </a:r>
            <a:r>
              <a:rPr lang="de-DE" sz="1800" b="0" i="0" u="none" strike="noStrike" baseline="0" dirty="0">
                <a:solidFill>
                  <a:srgbClr val="606060"/>
                </a:solidFill>
                <a:latin typeface="*Arial-15224-Identity-H"/>
              </a:rPr>
              <a:t>r</a:t>
            </a:r>
            <a:r>
              <a:rPr lang="de-DE" sz="1800" b="0" i="0" u="none" strike="noStrike" baseline="0" dirty="0">
                <a:solidFill>
                  <a:srgbClr val="6C6C6C"/>
                </a:solidFill>
                <a:latin typeface="*Arial-15224-Identity-H"/>
              </a:rPr>
              <a:t>den</a:t>
            </a:r>
            <a:r>
              <a:rPr lang="de-DE" sz="1800" b="0" i="0" u="none" strike="noStrike" baseline="0" dirty="0">
                <a:solidFill>
                  <a:srgbClr val="949494"/>
                </a:solidFill>
                <a:latin typeface="*Arial-15224-Identity-H"/>
              </a:rPr>
              <a:t>, </a:t>
            </a:r>
            <a:r>
              <a:rPr lang="de-DE" sz="1800" b="0" i="0" u="none" strike="noStrike" baseline="0" dirty="0">
                <a:solidFill>
                  <a:srgbClr val="6C6C6C"/>
                </a:solidFill>
                <a:latin typeface="*Arial-15224-Identity-H"/>
              </a:rPr>
              <a:t>wie lange die USV die Energieversorgung für die </a:t>
            </a:r>
            <a:r>
              <a:rPr lang="de-DE" sz="1800" b="0" i="0" u="none" strike="noStrike" baseline="0" dirty="0">
                <a:solidFill>
                  <a:srgbClr val="6C6C6C"/>
                </a:solidFill>
                <a:highlight>
                  <a:srgbClr val="FFFF00"/>
                </a:highlight>
                <a:latin typeface="*Arial-15224-Identity-H"/>
              </a:rPr>
              <a:t>zehn Server </a:t>
            </a:r>
            <a:r>
              <a:rPr lang="de-DE" sz="1800" b="0" i="0" u="none" strike="noStrike" baseline="0" dirty="0">
                <a:solidFill>
                  <a:srgbClr val="6C6C6C"/>
                </a:solidFill>
                <a:latin typeface="*Arial-15224-Identity-H"/>
              </a:rPr>
              <a:t>bei Netzausfall theoretisch überbrücken kann.</a:t>
            </a:r>
            <a:endParaRPr lang="de-DE" dirty="0"/>
          </a:p>
        </p:txBody>
      </p:sp>
      <p:sp>
        <p:nvSpPr>
          <p:cNvPr id="9" name="Textfeld 8">
            <a:extLst>
              <a:ext uri="{FF2B5EF4-FFF2-40B4-BE49-F238E27FC236}">
                <a16:creationId xmlns:a16="http://schemas.microsoft.com/office/drawing/2014/main" id="{27D2F671-6006-B342-3290-9CFB23F570A5}"/>
              </a:ext>
            </a:extLst>
          </p:cNvPr>
          <p:cNvSpPr txBox="1"/>
          <p:nvPr/>
        </p:nvSpPr>
        <p:spPr>
          <a:xfrm>
            <a:off x="7032104" y="217040"/>
            <a:ext cx="6096000" cy="369332"/>
          </a:xfrm>
          <a:prstGeom prst="rect">
            <a:avLst/>
          </a:prstGeom>
          <a:noFill/>
        </p:spPr>
        <p:txBody>
          <a:bodyPr wrap="square">
            <a:spAutoFit/>
          </a:bodyPr>
          <a:lstStyle/>
          <a:p>
            <a:r>
              <a:rPr lang="de-DE" sz="1800" b="0" i="0" u="none" strike="noStrike" baseline="0" dirty="0">
                <a:solidFill>
                  <a:srgbClr val="5C5C5C"/>
                </a:solidFill>
                <a:latin typeface="*Arial-15224-Identity-H"/>
              </a:rPr>
              <a:t>Erm</a:t>
            </a:r>
            <a:r>
              <a:rPr lang="de-DE" sz="1800" b="0" i="0" u="none" strike="noStrike" baseline="0" dirty="0">
                <a:solidFill>
                  <a:srgbClr val="949494"/>
                </a:solidFill>
                <a:latin typeface="*Arial-15224-Identity-H"/>
              </a:rPr>
              <a:t>i</a:t>
            </a:r>
            <a:r>
              <a:rPr lang="de-DE" sz="1800" b="0" i="0" u="none" strike="noStrike" baseline="0" dirty="0">
                <a:solidFill>
                  <a:srgbClr val="6C6C6C"/>
                </a:solidFill>
                <a:latin typeface="*Arial-15224-Identity-H"/>
              </a:rPr>
              <a:t>tte</a:t>
            </a:r>
            <a:r>
              <a:rPr lang="de-DE" sz="1800" b="0" i="0" u="none" strike="noStrike" baseline="0" dirty="0">
                <a:solidFill>
                  <a:srgbClr val="949494"/>
                </a:solidFill>
                <a:latin typeface="*Arial-15224-Identity-H"/>
              </a:rPr>
              <a:t>l</a:t>
            </a:r>
            <a:r>
              <a:rPr lang="de-DE" sz="1800" b="0" i="0" u="none" strike="noStrike" baseline="0" dirty="0">
                <a:solidFill>
                  <a:srgbClr val="6C6C6C"/>
                </a:solidFill>
                <a:latin typeface="*Arial-15224-Identity-H"/>
              </a:rPr>
              <a:t>n Sie unter Angaben der Rechenwege ...</a:t>
            </a:r>
            <a:endParaRPr lang="de-DE" dirty="0"/>
          </a:p>
        </p:txBody>
      </p:sp>
      <p:sp>
        <p:nvSpPr>
          <p:cNvPr id="11" name="Textfeld 10">
            <a:extLst>
              <a:ext uri="{FF2B5EF4-FFF2-40B4-BE49-F238E27FC236}">
                <a16:creationId xmlns:a16="http://schemas.microsoft.com/office/drawing/2014/main" id="{B1E4FE35-92FE-7BF7-601B-E0A0D55AE4C8}"/>
              </a:ext>
            </a:extLst>
          </p:cNvPr>
          <p:cNvSpPr txBox="1"/>
          <p:nvPr/>
        </p:nvSpPr>
        <p:spPr>
          <a:xfrm>
            <a:off x="7011516" y="878751"/>
            <a:ext cx="6562724" cy="369332"/>
          </a:xfrm>
          <a:prstGeom prst="rect">
            <a:avLst/>
          </a:prstGeom>
          <a:noFill/>
        </p:spPr>
        <p:txBody>
          <a:bodyPr wrap="square">
            <a:spAutoFit/>
          </a:bodyPr>
          <a:lstStyle/>
          <a:p>
            <a:r>
              <a:rPr lang="de-DE" sz="1800" b="0" i="0" u="none" strike="noStrike" baseline="0" dirty="0">
                <a:solidFill>
                  <a:srgbClr val="383838"/>
                </a:solidFill>
                <a:latin typeface="*Arial-15224-Identity-H"/>
              </a:rPr>
              <a:t>- </a:t>
            </a:r>
            <a:r>
              <a:rPr lang="de-DE" sz="1800" b="0" i="0" u="none" strike="noStrike" baseline="0" dirty="0">
                <a:solidFill>
                  <a:srgbClr val="69696A"/>
                </a:solidFill>
                <a:latin typeface="*Arial-15224-Identity-H"/>
              </a:rPr>
              <a:t>die an die USV angeschlossene Le</a:t>
            </a:r>
            <a:r>
              <a:rPr lang="de-DE" sz="1800" b="0" i="0" u="none" strike="noStrike" baseline="0" dirty="0">
                <a:solidFill>
                  <a:srgbClr val="9E9E9E"/>
                </a:solidFill>
                <a:latin typeface="*Arial-15224-Identity-H"/>
              </a:rPr>
              <a:t>i</a:t>
            </a:r>
            <a:r>
              <a:rPr lang="de-DE" sz="1800" b="0" i="0" u="none" strike="noStrike" baseline="0" dirty="0">
                <a:solidFill>
                  <a:srgbClr val="69696A"/>
                </a:solidFill>
                <a:latin typeface="*Arial-15224-Identity-H"/>
              </a:rPr>
              <a:t>stung (P):</a:t>
            </a:r>
            <a:endParaRPr lang="de-DE" dirty="0"/>
          </a:p>
        </p:txBody>
      </p:sp>
      <p:sp>
        <p:nvSpPr>
          <p:cNvPr id="13" name="Textfeld 12">
            <a:extLst>
              <a:ext uri="{FF2B5EF4-FFF2-40B4-BE49-F238E27FC236}">
                <a16:creationId xmlns:a16="http://schemas.microsoft.com/office/drawing/2014/main" id="{0322989F-6B6E-B593-1332-AB660E4033B1}"/>
              </a:ext>
            </a:extLst>
          </p:cNvPr>
          <p:cNvSpPr txBox="1"/>
          <p:nvPr/>
        </p:nvSpPr>
        <p:spPr>
          <a:xfrm>
            <a:off x="7176120" y="1254557"/>
            <a:ext cx="2054647" cy="369332"/>
          </a:xfrm>
          <a:prstGeom prst="rect">
            <a:avLst/>
          </a:prstGeom>
          <a:noFill/>
        </p:spPr>
        <p:txBody>
          <a:bodyPr wrap="square">
            <a:spAutoFit/>
          </a:bodyPr>
          <a:lstStyle/>
          <a:p>
            <a:r>
              <a:rPr lang="de-DE" sz="1800" b="0" i="0" u="none" strike="noStrike" baseline="0" dirty="0">
                <a:solidFill>
                  <a:srgbClr val="616162"/>
                </a:solidFill>
                <a:latin typeface="*Arial-15224-Identity-H"/>
              </a:rPr>
              <a:t>____ W(VA)</a:t>
            </a:r>
            <a:endParaRPr lang="de-DE" dirty="0"/>
          </a:p>
        </p:txBody>
      </p:sp>
      <p:sp>
        <p:nvSpPr>
          <p:cNvPr id="15" name="Textfeld 14">
            <a:extLst>
              <a:ext uri="{FF2B5EF4-FFF2-40B4-BE49-F238E27FC236}">
                <a16:creationId xmlns:a16="http://schemas.microsoft.com/office/drawing/2014/main" id="{4A28A1D1-4725-C594-6F14-3AC031F1B329}"/>
              </a:ext>
            </a:extLst>
          </p:cNvPr>
          <p:cNvSpPr txBox="1"/>
          <p:nvPr/>
        </p:nvSpPr>
        <p:spPr>
          <a:xfrm>
            <a:off x="6248921" y="2136363"/>
            <a:ext cx="5943079" cy="369332"/>
          </a:xfrm>
          <a:prstGeom prst="rect">
            <a:avLst/>
          </a:prstGeom>
          <a:noFill/>
        </p:spPr>
        <p:txBody>
          <a:bodyPr wrap="square">
            <a:spAutoFit/>
          </a:bodyPr>
          <a:lstStyle/>
          <a:p>
            <a:r>
              <a:rPr lang="de-DE" sz="1800" b="0" i="0" u="none" strike="noStrike" baseline="0" dirty="0">
                <a:solidFill>
                  <a:srgbClr val="6A6A6A"/>
                </a:solidFill>
                <a:latin typeface="*Arial-15224-Identity-H"/>
              </a:rPr>
              <a:t>- die gesamte Kapazität (Ladungsmenge) der acht Akkus (Q):</a:t>
            </a:r>
            <a:endParaRPr lang="de-DE" dirty="0"/>
          </a:p>
        </p:txBody>
      </p:sp>
      <p:sp>
        <p:nvSpPr>
          <p:cNvPr id="17" name="Textfeld 16">
            <a:extLst>
              <a:ext uri="{FF2B5EF4-FFF2-40B4-BE49-F238E27FC236}">
                <a16:creationId xmlns:a16="http://schemas.microsoft.com/office/drawing/2014/main" id="{EC308C2B-895B-9109-613C-F3965250A796}"/>
              </a:ext>
            </a:extLst>
          </p:cNvPr>
          <p:cNvSpPr txBox="1"/>
          <p:nvPr/>
        </p:nvSpPr>
        <p:spPr>
          <a:xfrm>
            <a:off x="6287344" y="2598028"/>
            <a:ext cx="1190551" cy="369332"/>
          </a:xfrm>
          <a:prstGeom prst="rect">
            <a:avLst/>
          </a:prstGeom>
          <a:noFill/>
        </p:spPr>
        <p:txBody>
          <a:bodyPr wrap="square">
            <a:spAutoFit/>
          </a:bodyPr>
          <a:lstStyle/>
          <a:p>
            <a:r>
              <a:rPr lang="de-DE" sz="1800" b="0" i="0" u="none" strike="noStrike" baseline="0" dirty="0">
                <a:solidFill>
                  <a:srgbClr val="868686"/>
                </a:solidFill>
                <a:latin typeface="*Arial-15224-Identity-H"/>
              </a:rPr>
              <a:t>_____ Ah</a:t>
            </a:r>
            <a:endParaRPr lang="de-DE" dirty="0"/>
          </a:p>
        </p:txBody>
      </p:sp>
      <p:sp>
        <p:nvSpPr>
          <p:cNvPr id="19" name="Textfeld 18">
            <a:extLst>
              <a:ext uri="{FF2B5EF4-FFF2-40B4-BE49-F238E27FC236}">
                <a16:creationId xmlns:a16="http://schemas.microsoft.com/office/drawing/2014/main" id="{2B105DEF-4468-4373-89B9-9D316AD41415}"/>
              </a:ext>
            </a:extLst>
          </p:cNvPr>
          <p:cNvSpPr txBox="1"/>
          <p:nvPr/>
        </p:nvSpPr>
        <p:spPr>
          <a:xfrm>
            <a:off x="5735960" y="3419743"/>
            <a:ext cx="6786562" cy="646331"/>
          </a:xfrm>
          <a:prstGeom prst="rect">
            <a:avLst/>
          </a:prstGeom>
          <a:noFill/>
        </p:spPr>
        <p:txBody>
          <a:bodyPr wrap="square">
            <a:spAutoFit/>
          </a:bodyPr>
          <a:lstStyle/>
          <a:p>
            <a:r>
              <a:rPr lang="de-DE" sz="1800" b="0" i="0" u="none" strike="noStrike" baseline="0" dirty="0">
                <a:solidFill>
                  <a:srgbClr val="6A6A6C"/>
                </a:solidFill>
                <a:latin typeface="*Arial-15224-Identity-H"/>
              </a:rPr>
              <a:t>- die e</a:t>
            </a:r>
            <a:r>
              <a:rPr lang="de-DE" sz="1800" b="0" i="0" u="none" strike="noStrike" baseline="0" dirty="0">
                <a:solidFill>
                  <a:srgbClr val="979797"/>
                </a:solidFill>
                <a:latin typeface="*Arial-15224-Identity-H"/>
              </a:rPr>
              <a:t>l</a:t>
            </a:r>
            <a:r>
              <a:rPr lang="de-DE" sz="1800" b="0" i="0" u="none" strike="noStrike" baseline="0" dirty="0">
                <a:solidFill>
                  <a:srgbClr val="6A6A6C"/>
                </a:solidFill>
                <a:latin typeface="*Arial-15224-Identity-H"/>
              </a:rPr>
              <a:t>ekt</a:t>
            </a:r>
            <a:r>
              <a:rPr lang="de-DE" sz="1800" b="0" i="0" u="none" strike="noStrike" baseline="0" dirty="0">
                <a:solidFill>
                  <a:srgbClr val="7D7D7E"/>
                </a:solidFill>
                <a:latin typeface="*Arial-15224-Identity-H"/>
              </a:rPr>
              <a:t>r</a:t>
            </a:r>
            <a:r>
              <a:rPr lang="de-DE" sz="1800" b="0" i="0" u="none" strike="noStrike" baseline="0" dirty="0">
                <a:solidFill>
                  <a:srgbClr val="6A6A6C"/>
                </a:solidFill>
                <a:latin typeface="*Arial-15224-Identity-H"/>
              </a:rPr>
              <a:t>ische Ene</a:t>
            </a:r>
            <a:r>
              <a:rPr lang="de-DE" sz="1800" b="0" i="0" u="none" strike="noStrike" baseline="0" dirty="0">
                <a:solidFill>
                  <a:srgbClr val="979797"/>
                </a:solidFill>
                <a:latin typeface="*Arial-15224-Identity-H"/>
              </a:rPr>
              <a:t>r</a:t>
            </a:r>
            <a:r>
              <a:rPr lang="de-DE" sz="1800" b="0" i="0" u="none" strike="noStrike" baseline="0" dirty="0">
                <a:solidFill>
                  <a:srgbClr val="6A6A6C"/>
                </a:solidFill>
                <a:latin typeface="*Arial-15224-Identity-H"/>
              </a:rPr>
              <a:t>g</a:t>
            </a:r>
            <a:r>
              <a:rPr lang="de-DE" sz="1800" b="0" i="0" u="none" strike="noStrike" baseline="0" dirty="0">
                <a:solidFill>
                  <a:srgbClr val="979797"/>
                </a:solidFill>
                <a:latin typeface="*Arial-15224-Identity-H"/>
              </a:rPr>
              <a:t>i</a:t>
            </a:r>
            <a:r>
              <a:rPr lang="de-DE" sz="1800" b="0" i="0" u="none" strike="noStrike" baseline="0" dirty="0">
                <a:solidFill>
                  <a:srgbClr val="7D7D7E"/>
                </a:solidFill>
                <a:latin typeface="*Arial-15224-Identity-H"/>
              </a:rPr>
              <a:t>e, </a:t>
            </a:r>
            <a:r>
              <a:rPr lang="de-DE" sz="1800" b="0" i="0" u="none" strike="noStrike" baseline="0" dirty="0">
                <a:solidFill>
                  <a:srgbClr val="6A6A6C"/>
                </a:solidFill>
                <a:latin typeface="*Arial-15224-Identity-H"/>
              </a:rPr>
              <a:t>welche die </a:t>
            </a:r>
            <a:r>
              <a:rPr lang="de-DE" sz="1800" b="0" i="0" u="none" strike="noStrike" baseline="0" dirty="0">
                <a:solidFill>
                  <a:srgbClr val="7D7D7E"/>
                </a:solidFill>
                <a:latin typeface="*Arial-15224-Identity-H"/>
              </a:rPr>
              <a:t>a</a:t>
            </a:r>
            <a:r>
              <a:rPr lang="de-DE" sz="1800" b="0" i="0" u="none" strike="noStrike" baseline="0" dirty="0">
                <a:solidFill>
                  <a:srgbClr val="6A6A6C"/>
                </a:solidFill>
                <a:latin typeface="*Arial-15224-Identity-H"/>
              </a:rPr>
              <a:t>c</a:t>
            </a:r>
            <a:r>
              <a:rPr lang="de-DE" sz="1800" b="0" i="0" u="none" strike="noStrike" baseline="0" dirty="0">
                <a:solidFill>
                  <a:srgbClr val="8D8D8D"/>
                </a:solidFill>
                <a:latin typeface="*Arial-15224-Identity-H"/>
              </a:rPr>
              <a:t>h</a:t>
            </a:r>
            <a:r>
              <a:rPr lang="de-DE" sz="1800" b="0" i="0" u="none" strike="noStrike" baseline="0" dirty="0">
                <a:solidFill>
                  <a:srgbClr val="5C5C5C"/>
                </a:solidFill>
                <a:latin typeface="*Arial-15224-Identity-H"/>
              </a:rPr>
              <a:t>t </a:t>
            </a:r>
            <a:r>
              <a:rPr lang="de-DE" sz="1800" b="0" i="0" u="none" strike="noStrike" baseline="0" dirty="0">
                <a:solidFill>
                  <a:srgbClr val="6A6A6C"/>
                </a:solidFill>
                <a:latin typeface="*Arial-15224-Identity-H"/>
              </a:rPr>
              <a:t>Akkus be</a:t>
            </a:r>
            <a:r>
              <a:rPr lang="de-DE" sz="1800" b="0" i="0" u="none" strike="noStrike" baseline="0" dirty="0">
                <a:solidFill>
                  <a:srgbClr val="979797"/>
                </a:solidFill>
                <a:latin typeface="*Arial-15224-Identity-H"/>
              </a:rPr>
              <a:t>i </a:t>
            </a:r>
            <a:r>
              <a:rPr lang="de-DE" sz="1800" b="0" i="0" u="none" strike="noStrike" baseline="0" dirty="0">
                <a:solidFill>
                  <a:srgbClr val="6A6A6C"/>
                </a:solidFill>
                <a:latin typeface="*Arial-15224-Identity-H"/>
              </a:rPr>
              <a:t>einer Spannung von 12 V insgesamt abgeben können (Wh).</a:t>
            </a:r>
            <a:endParaRPr lang="de-DE" dirty="0"/>
          </a:p>
        </p:txBody>
      </p:sp>
      <p:sp>
        <p:nvSpPr>
          <p:cNvPr id="21" name="Textfeld 20">
            <a:extLst>
              <a:ext uri="{FF2B5EF4-FFF2-40B4-BE49-F238E27FC236}">
                <a16:creationId xmlns:a16="http://schemas.microsoft.com/office/drawing/2014/main" id="{DC93CCE4-E4BE-E4F9-87B6-EB1AA712E000}"/>
              </a:ext>
            </a:extLst>
          </p:cNvPr>
          <p:cNvSpPr txBox="1"/>
          <p:nvPr/>
        </p:nvSpPr>
        <p:spPr>
          <a:xfrm>
            <a:off x="5756176" y="4131216"/>
            <a:ext cx="1334567" cy="369332"/>
          </a:xfrm>
          <a:prstGeom prst="rect">
            <a:avLst/>
          </a:prstGeom>
          <a:noFill/>
        </p:spPr>
        <p:txBody>
          <a:bodyPr wrap="square">
            <a:spAutoFit/>
          </a:bodyPr>
          <a:lstStyle/>
          <a:p>
            <a:r>
              <a:rPr lang="de-DE" sz="1800" b="0" i="0" u="none" strike="noStrike" baseline="0" dirty="0">
                <a:solidFill>
                  <a:srgbClr val="6A6A6C"/>
                </a:solidFill>
                <a:latin typeface="*Arial-15224-Identity-H"/>
              </a:rPr>
              <a:t>_____ Wh</a:t>
            </a:r>
            <a:endParaRPr lang="de-DE" dirty="0"/>
          </a:p>
        </p:txBody>
      </p:sp>
      <p:sp>
        <p:nvSpPr>
          <p:cNvPr id="23" name="Textfeld 22">
            <a:extLst>
              <a:ext uri="{FF2B5EF4-FFF2-40B4-BE49-F238E27FC236}">
                <a16:creationId xmlns:a16="http://schemas.microsoft.com/office/drawing/2014/main" id="{2AC7D5A7-3421-F165-E316-B21A65CBFFB4}"/>
              </a:ext>
            </a:extLst>
          </p:cNvPr>
          <p:cNvSpPr txBox="1"/>
          <p:nvPr/>
        </p:nvSpPr>
        <p:spPr>
          <a:xfrm>
            <a:off x="5087888" y="4712405"/>
            <a:ext cx="7146007" cy="923330"/>
          </a:xfrm>
          <a:prstGeom prst="rect">
            <a:avLst/>
          </a:prstGeom>
          <a:noFill/>
        </p:spPr>
        <p:txBody>
          <a:bodyPr wrap="square">
            <a:spAutoFit/>
          </a:bodyPr>
          <a:lstStyle/>
          <a:p>
            <a:pPr algn="l"/>
            <a:r>
              <a:rPr lang="de-DE" sz="1800" b="0" i="0" u="none" strike="noStrike" baseline="0" dirty="0">
                <a:solidFill>
                  <a:srgbClr val="666666"/>
                </a:solidFill>
                <a:latin typeface="*Arial-15224-Identity-H"/>
              </a:rPr>
              <a:t>- d</a:t>
            </a:r>
            <a:r>
              <a:rPr lang="de-DE" sz="1800" b="0" i="0" u="none" strike="noStrike" baseline="0" dirty="0">
                <a:solidFill>
                  <a:srgbClr val="888888"/>
                </a:solidFill>
                <a:latin typeface="*Arial-15224-Identity-H"/>
              </a:rPr>
              <a:t>i</a:t>
            </a:r>
            <a:r>
              <a:rPr lang="de-DE" sz="1800" b="0" i="0" u="none" strike="noStrike" baseline="0" dirty="0">
                <a:solidFill>
                  <a:srgbClr val="666666"/>
                </a:solidFill>
                <a:latin typeface="*Arial-15224-Identity-H"/>
              </a:rPr>
              <a:t>e theoretische Überbrückungszeit der USV </a:t>
            </a:r>
            <a:r>
              <a:rPr lang="de-DE" sz="1800" b="0" i="0" u="none" strike="noStrike" baseline="0" dirty="0">
                <a:solidFill>
                  <a:srgbClr val="969696"/>
                </a:solidFill>
                <a:latin typeface="*Arial-15224-Identity-H"/>
              </a:rPr>
              <a:t>i</a:t>
            </a:r>
            <a:r>
              <a:rPr lang="de-DE" sz="1800" b="0" i="0" u="none" strike="noStrike" baseline="0" dirty="0">
                <a:solidFill>
                  <a:srgbClr val="666666"/>
                </a:solidFill>
                <a:latin typeface="*Arial-15224-Identity-H"/>
              </a:rPr>
              <a:t>n Stunden und M</a:t>
            </a:r>
            <a:r>
              <a:rPr lang="de-DE" sz="1800" b="0" i="0" u="none" strike="noStrike" baseline="0" dirty="0">
                <a:solidFill>
                  <a:srgbClr val="969696"/>
                </a:solidFill>
                <a:latin typeface="*Arial-15224-Identity-H"/>
              </a:rPr>
              <a:t>i</a:t>
            </a:r>
            <a:r>
              <a:rPr lang="de-DE" sz="1800" b="0" i="0" u="none" strike="noStrike" baseline="0" dirty="0">
                <a:solidFill>
                  <a:srgbClr val="666666"/>
                </a:solidFill>
                <a:latin typeface="*Arial-15224-Identity-H"/>
              </a:rPr>
              <a:t>n</a:t>
            </a:r>
            <a:r>
              <a:rPr lang="de-DE" sz="1800" b="0" i="0" u="none" strike="noStrike" baseline="0" dirty="0">
                <a:solidFill>
                  <a:srgbClr val="585858"/>
                </a:solidFill>
                <a:latin typeface="*Arial-15224-Identity-H"/>
              </a:rPr>
              <a:t>u</a:t>
            </a:r>
            <a:r>
              <a:rPr lang="de-DE" sz="1800" b="0" i="0" u="none" strike="noStrike" baseline="0" dirty="0">
                <a:solidFill>
                  <a:srgbClr val="7C7C7C"/>
                </a:solidFill>
                <a:latin typeface="*Arial-15224-Identity-H"/>
              </a:rPr>
              <a:t>t</a:t>
            </a:r>
            <a:r>
              <a:rPr lang="de-DE" sz="1800" b="0" i="0" u="none" strike="noStrike" baseline="0" dirty="0">
                <a:solidFill>
                  <a:srgbClr val="666666"/>
                </a:solidFill>
                <a:latin typeface="*Arial-15224-Identity-H"/>
              </a:rPr>
              <a:t>en (t).</a:t>
            </a:r>
          </a:p>
          <a:p>
            <a:pPr algn="l"/>
            <a:r>
              <a:rPr lang="de-DE" sz="1800" b="0" i="0" u="none" strike="noStrike" baseline="0" dirty="0">
                <a:solidFill>
                  <a:srgbClr val="666666"/>
                </a:solidFill>
                <a:latin typeface="*Arial-15224-Identity-H"/>
              </a:rPr>
              <a:t>Runden Sie das Ergebnis auf volle Minuten ab:</a:t>
            </a:r>
          </a:p>
          <a:p>
            <a:pPr algn="l"/>
            <a:r>
              <a:rPr lang="de-DE" sz="1800" b="0" i="0" u="none" strike="noStrike" baseline="0" dirty="0">
                <a:solidFill>
                  <a:srgbClr val="767676"/>
                </a:solidFill>
                <a:latin typeface="*Arial-15224-Identity-H"/>
              </a:rPr>
              <a:t>__ Std. __ Min</a:t>
            </a:r>
            <a:endParaRPr lang="de-DE" dirty="0"/>
          </a:p>
        </p:txBody>
      </p:sp>
    </p:spTree>
    <p:extLst>
      <p:ext uri="{BB962C8B-B14F-4D97-AF65-F5344CB8AC3E}">
        <p14:creationId xmlns:p14="http://schemas.microsoft.com/office/powerpoint/2010/main" val="29857536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2195C6D-240C-46A7-F9E4-D0C5D4068492}"/>
              </a:ext>
            </a:extLst>
          </p:cNvPr>
          <p:cNvSpPr>
            <a:spLocks noGrp="1"/>
          </p:cNvSpPr>
          <p:nvPr>
            <p:ph type="dt" sz="half" idx="10"/>
          </p:nvPr>
        </p:nvSpPr>
        <p:spPr/>
        <p:txBody>
          <a:bodyPr/>
          <a:lstStyle/>
          <a:p>
            <a:fld id="{A9D5ACFA-4B37-47F9-8267-F5981761B101}" type="datetime1">
              <a:rPr lang="de-DE" smtClean="0"/>
              <a:t>18.08.2026</a:t>
            </a:fld>
            <a:endParaRPr lang="de-DE"/>
          </a:p>
        </p:txBody>
      </p:sp>
      <p:sp>
        <p:nvSpPr>
          <p:cNvPr id="3" name="Foliennummernplatzhalter 2">
            <a:extLst>
              <a:ext uri="{FF2B5EF4-FFF2-40B4-BE49-F238E27FC236}">
                <a16:creationId xmlns:a16="http://schemas.microsoft.com/office/drawing/2014/main" id="{8D882485-0672-E3DF-71AE-B23278CD96D2}"/>
              </a:ext>
            </a:extLst>
          </p:cNvPr>
          <p:cNvSpPr>
            <a:spLocks noGrp="1"/>
          </p:cNvSpPr>
          <p:nvPr>
            <p:ph type="sldNum" sz="quarter" idx="12"/>
          </p:nvPr>
        </p:nvSpPr>
        <p:spPr/>
        <p:txBody>
          <a:bodyPr/>
          <a:lstStyle/>
          <a:p>
            <a:fld id="{778903E6-7882-422E-A752-076861465528}" type="slidenum">
              <a:rPr lang="de-DE" smtClean="0"/>
              <a:t>51</a:t>
            </a:fld>
            <a:endParaRPr lang="de-DE"/>
          </a:p>
        </p:txBody>
      </p:sp>
      <p:sp>
        <p:nvSpPr>
          <p:cNvPr id="5" name="Textfeld 4">
            <a:extLst>
              <a:ext uri="{FF2B5EF4-FFF2-40B4-BE49-F238E27FC236}">
                <a16:creationId xmlns:a16="http://schemas.microsoft.com/office/drawing/2014/main" id="{E9C352C5-CE50-A608-50A3-2EBE3F8B8DD9}"/>
              </a:ext>
            </a:extLst>
          </p:cNvPr>
          <p:cNvSpPr txBox="1"/>
          <p:nvPr/>
        </p:nvSpPr>
        <p:spPr>
          <a:xfrm>
            <a:off x="191344" y="116632"/>
            <a:ext cx="6408712" cy="646331"/>
          </a:xfrm>
          <a:prstGeom prst="rect">
            <a:avLst/>
          </a:prstGeom>
          <a:noFill/>
        </p:spPr>
        <p:txBody>
          <a:bodyPr wrap="square">
            <a:spAutoFit/>
          </a:bodyPr>
          <a:lstStyle/>
          <a:p>
            <a:pPr algn="l"/>
            <a:r>
              <a:rPr lang="de-DE" sz="1800" b="1" i="0" u="none" strike="noStrike" baseline="0" dirty="0">
                <a:latin typeface="*Arial-15224-Identity-H"/>
              </a:rPr>
              <a:t>Leistung eines Server-Netzteils: 750 W </a:t>
            </a:r>
          </a:p>
          <a:p>
            <a:pPr algn="l"/>
            <a:r>
              <a:rPr lang="de-DE" sz="1800" b="1" i="0" u="none" strike="noStrike" baseline="0" dirty="0">
                <a:latin typeface="*Arial-15224-Identity-H"/>
              </a:rPr>
              <a:t>8 Akkus Ladungsmenge (Q) pro Akku: 200 Ah Spannung (U): 12 V</a:t>
            </a:r>
            <a:endParaRPr lang="de-DE" b="1" dirty="0"/>
          </a:p>
        </p:txBody>
      </p:sp>
      <p:sp>
        <p:nvSpPr>
          <p:cNvPr id="7" name="Textfeld 6">
            <a:extLst>
              <a:ext uri="{FF2B5EF4-FFF2-40B4-BE49-F238E27FC236}">
                <a16:creationId xmlns:a16="http://schemas.microsoft.com/office/drawing/2014/main" id="{FF1B3B44-518D-7C23-D5E4-7D602D9B347A}"/>
              </a:ext>
            </a:extLst>
          </p:cNvPr>
          <p:cNvSpPr txBox="1"/>
          <p:nvPr/>
        </p:nvSpPr>
        <p:spPr>
          <a:xfrm>
            <a:off x="191344" y="843702"/>
            <a:ext cx="6096000" cy="2585323"/>
          </a:xfrm>
          <a:prstGeom prst="rect">
            <a:avLst/>
          </a:prstGeom>
          <a:noFill/>
        </p:spPr>
        <p:txBody>
          <a:bodyPr wrap="square">
            <a:spAutoFit/>
          </a:bodyPr>
          <a:lstStyle/>
          <a:p>
            <a:pPr algn="l"/>
            <a:r>
              <a:rPr lang="de-DE" sz="1800" b="0" i="0" u="none" strike="noStrike" baseline="0" dirty="0">
                <a:solidFill>
                  <a:srgbClr val="656565"/>
                </a:solidFill>
                <a:latin typeface="*Arial-15224-Identity-H"/>
              </a:rPr>
              <a:t>Hinweise</a:t>
            </a:r>
          </a:p>
          <a:p>
            <a:pPr algn="l"/>
            <a:r>
              <a:rPr lang="de-DE" sz="1800" b="0" i="0" u="none" strike="noStrike" baseline="0" dirty="0">
                <a:solidFill>
                  <a:srgbClr val="717171"/>
                </a:solidFill>
                <a:latin typeface="*Arial-15224-Identity-H"/>
              </a:rPr>
              <a:t>- Bei Netzausfall sind die acht Akkus der USV zu 100 % geladen.</a:t>
            </a:r>
          </a:p>
          <a:p>
            <a:pPr algn="l"/>
            <a:r>
              <a:rPr lang="de-DE" sz="1800" b="0" i="0" u="none" strike="noStrike" baseline="0" dirty="0">
                <a:solidFill>
                  <a:srgbClr val="707071"/>
                </a:solidFill>
                <a:latin typeface="*Arial-15224-Identity-H"/>
              </a:rPr>
              <a:t>- Die Akkus werden vollständig entladen.</a:t>
            </a:r>
          </a:p>
          <a:p>
            <a:pPr algn="l"/>
            <a:r>
              <a:rPr lang="de-DE" sz="1800" b="0" i="0" u="none" strike="noStrike" baseline="0" dirty="0">
                <a:solidFill>
                  <a:srgbClr val="3C3C3C"/>
                </a:solidFill>
                <a:latin typeface="*Arial-15224-Identity-H"/>
              </a:rPr>
              <a:t>- </a:t>
            </a:r>
            <a:r>
              <a:rPr lang="de-DE" sz="1800" b="0" i="0" u="none" strike="noStrike" baseline="0" dirty="0">
                <a:solidFill>
                  <a:srgbClr val="6C6C6C"/>
                </a:solidFill>
                <a:latin typeface="*Arial-15224-Identity-H"/>
              </a:rPr>
              <a:t>Ve</a:t>
            </a:r>
            <a:r>
              <a:rPr lang="de-DE" sz="1800" b="0" i="0" u="none" strike="noStrike" baseline="0" dirty="0">
                <a:solidFill>
                  <a:srgbClr val="5C5C5C"/>
                </a:solidFill>
                <a:latin typeface="*Arial-15224-Identity-H"/>
              </a:rPr>
              <a:t>r</a:t>
            </a:r>
            <a:r>
              <a:rPr lang="de-DE" sz="1800" b="0" i="0" u="none" strike="noStrike" baseline="0" dirty="0">
                <a:solidFill>
                  <a:srgbClr val="8A8A8A"/>
                </a:solidFill>
                <a:latin typeface="*Arial-15224-Identity-H"/>
              </a:rPr>
              <a:t>l</a:t>
            </a:r>
            <a:r>
              <a:rPr lang="de-DE" sz="1800" b="0" i="0" u="none" strike="noStrike" baseline="0" dirty="0">
                <a:solidFill>
                  <a:srgbClr val="6C6C6C"/>
                </a:solidFill>
                <a:latin typeface="*Arial-15224-Identity-H"/>
              </a:rPr>
              <a:t>us</a:t>
            </a:r>
            <a:r>
              <a:rPr lang="de-DE" sz="1800" b="0" i="0" u="none" strike="noStrike" baseline="0" dirty="0">
                <a:solidFill>
                  <a:srgbClr val="5C5C5C"/>
                </a:solidFill>
                <a:latin typeface="*Arial-15224-Identity-H"/>
              </a:rPr>
              <a:t>te </a:t>
            </a:r>
            <a:r>
              <a:rPr lang="de-DE" sz="1800" b="0" i="0" u="none" strike="noStrike" baseline="0" dirty="0">
                <a:solidFill>
                  <a:srgbClr val="6C6C6C"/>
                </a:solidFill>
                <a:latin typeface="*Arial-15224-Identity-H"/>
              </a:rPr>
              <a:t>s</a:t>
            </a:r>
            <a:r>
              <a:rPr lang="de-DE" sz="1800" b="0" i="0" u="none" strike="noStrike" baseline="0" dirty="0">
                <a:solidFill>
                  <a:srgbClr val="8A8A8A"/>
                </a:solidFill>
                <a:latin typeface="*Arial-15224-Identity-H"/>
              </a:rPr>
              <a:t>i</a:t>
            </a:r>
            <a:r>
              <a:rPr lang="de-DE" sz="1800" b="0" i="0" u="none" strike="noStrike" baseline="0" dirty="0">
                <a:solidFill>
                  <a:srgbClr val="6C6C6C"/>
                </a:solidFill>
                <a:latin typeface="*Arial-15224-Identity-H"/>
              </a:rPr>
              <a:t>n</a:t>
            </a:r>
            <a:r>
              <a:rPr lang="de-DE" sz="1800" b="0" i="0" u="none" strike="noStrike" baseline="0" dirty="0">
                <a:solidFill>
                  <a:srgbClr val="5C5C5C"/>
                </a:solidFill>
                <a:latin typeface="*Arial-15224-Identity-H"/>
              </a:rPr>
              <a:t>d </a:t>
            </a:r>
            <a:r>
              <a:rPr lang="de-DE" sz="1800" b="0" i="0" u="none" strike="noStrike" baseline="0" dirty="0">
                <a:solidFill>
                  <a:srgbClr val="6C6C6C"/>
                </a:solidFill>
                <a:latin typeface="*Arial-15224-Identity-H"/>
              </a:rPr>
              <a:t>nicht zu </a:t>
            </a:r>
            <a:r>
              <a:rPr lang="de-DE" sz="1800" b="0" i="0" u="none" strike="noStrike" baseline="0" dirty="0">
                <a:solidFill>
                  <a:srgbClr val="7A7A7A"/>
                </a:solidFill>
                <a:latin typeface="*Arial-15224-Identity-H"/>
              </a:rPr>
              <a:t>b</a:t>
            </a:r>
            <a:r>
              <a:rPr lang="de-DE" sz="1800" b="0" i="0" u="none" strike="noStrike" baseline="0" dirty="0">
                <a:solidFill>
                  <a:srgbClr val="5C5C5C"/>
                </a:solidFill>
                <a:latin typeface="*Arial-15224-Identity-H"/>
              </a:rPr>
              <a:t>e</a:t>
            </a:r>
            <a:r>
              <a:rPr lang="de-DE" sz="1800" b="0" i="0" u="none" strike="noStrike" baseline="0" dirty="0">
                <a:solidFill>
                  <a:srgbClr val="6C6C6C"/>
                </a:solidFill>
                <a:latin typeface="*Arial-15224-Identity-H"/>
              </a:rPr>
              <a:t>r</a:t>
            </a:r>
            <a:r>
              <a:rPr lang="de-DE" sz="1800" b="0" i="0" u="none" strike="noStrike" baseline="0" dirty="0">
                <a:solidFill>
                  <a:srgbClr val="7A7A7A"/>
                </a:solidFill>
                <a:latin typeface="*Arial-15224-Identity-H"/>
              </a:rPr>
              <a:t>ü</a:t>
            </a:r>
            <a:r>
              <a:rPr lang="de-DE" sz="1800" b="0" i="0" u="none" strike="noStrike" baseline="0" dirty="0">
                <a:solidFill>
                  <a:srgbClr val="5C5C5C"/>
                </a:solidFill>
                <a:latin typeface="*Arial-15224-Identity-H"/>
              </a:rPr>
              <a:t>c</a:t>
            </a:r>
            <a:r>
              <a:rPr lang="de-DE" sz="1800" b="0" i="0" u="none" strike="noStrike" baseline="0" dirty="0">
                <a:solidFill>
                  <a:srgbClr val="6C6C6C"/>
                </a:solidFill>
                <a:latin typeface="*Arial-15224-Identity-H"/>
              </a:rPr>
              <a:t>ksi</a:t>
            </a:r>
            <a:r>
              <a:rPr lang="de-DE" sz="1800" b="0" i="0" u="none" strike="noStrike" baseline="0" dirty="0">
                <a:solidFill>
                  <a:srgbClr val="5C5C5C"/>
                </a:solidFill>
                <a:latin typeface="*Arial-15224-Identity-H"/>
              </a:rPr>
              <a:t>c</a:t>
            </a:r>
            <a:r>
              <a:rPr lang="de-DE" sz="1800" b="0" i="0" u="none" strike="noStrike" baseline="0" dirty="0">
                <a:solidFill>
                  <a:srgbClr val="6C6C6C"/>
                </a:solidFill>
                <a:latin typeface="*Arial-15224-Identity-H"/>
              </a:rPr>
              <a:t>htige</a:t>
            </a:r>
            <a:r>
              <a:rPr lang="de-DE" sz="1800" b="0" i="0" u="none" strike="noStrike" baseline="0" dirty="0">
                <a:solidFill>
                  <a:srgbClr val="7A7A7A"/>
                </a:solidFill>
                <a:latin typeface="*Arial-15224-Identity-H"/>
              </a:rPr>
              <a:t>n</a:t>
            </a:r>
            <a:r>
              <a:rPr lang="de-DE" sz="1800" b="0" i="0" u="none" strike="noStrike" baseline="0" dirty="0">
                <a:solidFill>
                  <a:srgbClr val="3C3C3C"/>
                </a:solidFill>
                <a:latin typeface="*Arial-15224-Identity-H"/>
              </a:rPr>
              <a:t>.</a:t>
            </a:r>
          </a:p>
          <a:p>
            <a:pPr algn="l"/>
            <a:r>
              <a:rPr lang="de-DE" sz="1800" b="0" i="0" u="none" strike="noStrike" baseline="0" dirty="0">
                <a:solidFill>
                  <a:srgbClr val="69696A"/>
                </a:solidFill>
                <a:latin typeface="*Arial-15224-Identity-H"/>
              </a:rPr>
              <a:t>- Die Berechnung basiert auf </a:t>
            </a:r>
            <a:r>
              <a:rPr lang="de-DE" sz="1800" b="0" i="0" u="none" strike="noStrike" baseline="0" dirty="0" err="1">
                <a:solidFill>
                  <a:srgbClr val="69696A"/>
                </a:solidFill>
                <a:latin typeface="*Arial-15224-Identity-H"/>
              </a:rPr>
              <a:t>Volllastberieb</a:t>
            </a:r>
            <a:r>
              <a:rPr lang="de-DE" sz="1800" b="0" i="0" u="none" strike="noStrike" baseline="0" dirty="0">
                <a:solidFill>
                  <a:srgbClr val="69696A"/>
                </a:solidFill>
                <a:latin typeface="*Arial-15224-Identity-H"/>
              </a:rPr>
              <a:t>.</a:t>
            </a:r>
          </a:p>
          <a:p>
            <a:pPr algn="l"/>
            <a:endParaRPr lang="de-DE" sz="1800" b="0" i="0" u="none" strike="noStrike" baseline="0" dirty="0">
              <a:solidFill>
                <a:srgbClr val="6C6C6C"/>
              </a:solidFill>
              <a:latin typeface="*Arial-15224-Identity-H"/>
            </a:endParaRPr>
          </a:p>
          <a:p>
            <a:pPr algn="l"/>
            <a:r>
              <a:rPr lang="de-DE" sz="1800" b="0" i="0" u="none" strike="noStrike" baseline="0" dirty="0">
                <a:solidFill>
                  <a:srgbClr val="6C6C6C"/>
                </a:solidFill>
                <a:latin typeface="*Arial-15224-Identity-H"/>
              </a:rPr>
              <a:t>Es soll e</a:t>
            </a:r>
            <a:r>
              <a:rPr lang="de-DE" sz="1800" b="0" i="0" u="none" strike="noStrike" baseline="0" dirty="0">
                <a:solidFill>
                  <a:srgbClr val="7E7E7E"/>
                </a:solidFill>
                <a:latin typeface="*Arial-15224-Identity-H"/>
              </a:rPr>
              <a:t>r</a:t>
            </a:r>
            <a:r>
              <a:rPr lang="de-DE" sz="1800" b="0" i="0" u="none" strike="noStrike" baseline="0" dirty="0">
                <a:solidFill>
                  <a:srgbClr val="6C6C6C"/>
                </a:solidFill>
                <a:latin typeface="*Arial-15224-Identity-H"/>
              </a:rPr>
              <a:t>m</a:t>
            </a:r>
            <a:r>
              <a:rPr lang="de-DE" sz="1800" b="0" i="0" u="none" strike="noStrike" baseline="0" dirty="0">
                <a:solidFill>
                  <a:srgbClr val="949494"/>
                </a:solidFill>
                <a:latin typeface="*Arial-15224-Identity-H"/>
              </a:rPr>
              <a:t>i</a:t>
            </a:r>
            <a:r>
              <a:rPr lang="de-DE" sz="1800" b="0" i="0" u="none" strike="noStrike" baseline="0" dirty="0">
                <a:solidFill>
                  <a:srgbClr val="6C6C6C"/>
                </a:solidFill>
                <a:latin typeface="*Arial-15224-Identity-H"/>
              </a:rPr>
              <a:t>tt</a:t>
            </a:r>
            <a:r>
              <a:rPr lang="de-DE" sz="1800" b="0" i="0" u="none" strike="noStrike" baseline="0" dirty="0">
                <a:solidFill>
                  <a:srgbClr val="7E7E7E"/>
                </a:solidFill>
                <a:latin typeface="*Arial-15224-Identity-H"/>
              </a:rPr>
              <a:t>e</a:t>
            </a:r>
            <a:r>
              <a:rPr lang="de-DE" sz="1800" b="0" i="0" u="none" strike="noStrike" baseline="0" dirty="0">
                <a:solidFill>
                  <a:srgbClr val="949494"/>
                </a:solidFill>
                <a:latin typeface="*Arial-15224-Identity-H"/>
              </a:rPr>
              <a:t>l</a:t>
            </a:r>
            <a:r>
              <a:rPr lang="de-DE" sz="1800" b="0" i="0" u="none" strike="noStrike" baseline="0" dirty="0">
                <a:solidFill>
                  <a:srgbClr val="6C6C6C"/>
                </a:solidFill>
                <a:latin typeface="*Arial-15224-Identity-H"/>
              </a:rPr>
              <a:t>t </a:t>
            </a:r>
            <a:r>
              <a:rPr lang="de-DE" sz="1800" b="0" i="0" u="none" strike="noStrike" baseline="0" dirty="0">
                <a:solidFill>
                  <a:srgbClr val="7E7E7E"/>
                </a:solidFill>
                <a:latin typeface="*Arial-15224-Identity-H"/>
              </a:rPr>
              <a:t>w</a:t>
            </a:r>
            <a:r>
              <a:rPr lang="de-DE" sz="1800" b="0" i="0" u="none" strike="noStrike" baseline="0" dirty="0">
                <a:solidFill>
                  <a:srgbClr val="6C6C6C"/>
                </a:solidFill>
                <a:latin typeface="*Arial-15224-Identity-H"/>
              </a:rPr>
              <a:t>e</a:t>
            </a:r>
            <a:r>
              <a:rPr lang="de-DE" sz="1800" b="0" i="0" u="none" strike="noStrike" baseline="0" dirty="0">
                <a:solidFill>
                  <a:srgbClr val="606060"/>
                </a:solidFill>
                <a:latin typeface="*Arial-15224-Identity-H"/>
              </a:rPr>
              <a:t>r</a:t>
            </a:r>
            <a:r>
              <a:rPr lang="de-DE" sz="1800" b="0" i="0" u="none" strike="noStrike" baseline="0" dirty="0">
                <a:solidFill>
                  <a:srgbClr val="6C6C6C"/>
                </a:solidFill>
                <a:latin typeface="*Arial-15224-Identity-H"/>
              </a:rPr>
              <a:t>den</a:t>
            </a:r>
            <a:r>
              <a:rPr lang="de-DE" sz="1800" b="0" i="0" u="none" strike="noStrike" baseline="0" dirty="0">
                <a:solidFill>
                  <a:srgbClr val="949494"/>
                </a:solidFill>
                <a:latin typeface="*Arial-15224-Identity-H"/>
              </a:rPr>
              <a:t>, </a:t>
            </a:r>
            <a:r>
              <a:rPr lang="de-DE" sz="1800" b="0" i="0" u="none" strike="noStrike" baseline="0" dirty="0">
                <a:solidFill>
                  <a:srgbClr val="6C6C6C"/>
                </a:solidFill>
                <a:latin typeface="*Arial-15224-Identity-H"/>
              </a:rPr>
              <a:t>wie lange die USV die Energieversorgung für die </a:t>
            </a:r>
            <a:r>
              <a:rPr lang="de-DE" sz="1800" b="0" i="0" u="none" strike="noStrike" baseline="0" dirty="0">
                <a:solidFill>
                  <a:srgbClr val="6C6C6C"/>
                </a:solidFill>
                <a:highlight>
                  <a:srgbClr val="FFFF00"/>
                </a:highlight>
                <a:latin typeface="*Arial-15224-Identity-H"/>
              </a:rPr>
              <a:t>zehn Server </a:t>
            </a:r>
            <a:r>
              <a:rPr lang="de-DE" sz="1800" b="0" i="0" u="none" strike="noStrike" baseline="0" dirty="0">
                <a:solidFill>
                  <a:srgbClr val="6C6C6C"/>
                </a:solidFill>
                <a:latin typeface="*Arial-15224-Identity-H"/>
              </a:rPr>
              <a:t>bei Netzausfall theoretisch überbrücken kann.</a:t>
            </a:r>
            <a:endParaRPr lang="de-DE" dirty="0"/>
          </a:p>
        </p:txBody>
      </p:sp>
      <p:sp>
        <p:nvSpPr>
          <p:cNvPr id="9" name="Textfeld 8">
            <a:extLst>
              <a:ext uri="{FF2B5EF4-FFF2-40B4-BE49-F238E27FC236}">
                <a16:creationId xmlns:a16="http://schemas.microsoft.com/office/drawing/2014/main" id="{27D2F671-6006-B342-3290-9CFB23F570A5}"/>
              </a:ext>
            </a:extLst>
          </p:cNvPr>
          <p:cNvSpPr txBox="1"/>
          <p:nvPr/>
        </p:nvSpPr>
        <p:spPr>
          <a:xfrm>
            <a:off x="7032104" y="217040"/>
            <a:ext cx="6096000" cy="369332"/>
          </a:xfrm>
          <a:prstGeom prst="rect">
            <a:avLst/>
          </a:prstGeom>
          <a:noFill/>
        </p:spPr>
        <p:txBody>
          <a:bodyPr wrap="square">
            <a:spAutoFit/>
          </a:bodyPr>
          <a:lstStyle/>
          <a:p>
            <a:r>
              <a:rPr lang="de-DE" sz="1800" b="0" i="0" u="none" strike="noStrike" baseline="0" dirty="0">
                <a:solidFill>
                  <a:srgbClr val="5C5C5C"/>
                </a:solidFill>
                <a:latin typeface="*Arial-15224-Identity-H"/>
              </a:rPr>
              <a:t>Erm</a:t>
            </a:r>
            <a:r>
              <a:rPr lang="de-DE" sz="1800" b="0" i="0" u="none" strike="noStrike" baseline="0" dirty="0">
                <a:solidFill>
                  <a:srgbClr val="949494"/>
                </a:solidFill>
                <a:latin typeface="*Arial-15224-Identity-H"/>
              </a:rPr>
              <a:t>i</a:t>
            </a:r>
            <a:r>
              <a:rPr lang="de-DE" sz="1800" b="0" i="0" u="none" strike="noStrike" baseline="0" dirty="0">
                <a:solidFill>
                  <a:srgbClr val="6C6C6C"/>
                </a:solidFill>
                <a:latin typeface="*Arial-15224-Identity-H"/>
              </a:rPr>
              <a:t>tte</a:t>
            </a:r>
            <a:r>
              <a:rPr lang="de-DE" sz="1800" b="0" i="0" u="none" strike="noStrike" baseline="0" dirty="0">
                <a:solidFill>
                  <a:srgbClr val="949494"/>
                </a:solidFill>
                <a:latin typeface="*Arial-15224-Identity-H"/>
              </a:rPr>
              <a:t>l</a:t>
            </a:r>
            <a:r>
              <a:rPr lang="de-DE" sz="1800" b="0" i="0" u="none" strike="noStrike" baseline="0" dirty="0">
                <a:solidFill>
                  <a:srgbClr val="6C6C6C"/>
                </a:solidFill>
                <a:latin typeface="*Arial-15224-Identity-H"/>
              </a:rPr>
              <a:t>n Sie unter Angaben der Rechenwege ...</a:t>
            </a:r>
            <a:endParaRPr lang="de-DE" dirty="0"/>
          </a:p>
        </p:txBody>
      </p:sp>
      <p:sp>
        <p:nvSpPr>
          <p:cNvPr id="11" name="Textfeld 10">
            <a:extLst>
              <a:ext uri="{FF2B5EF4-FFF2-40B4-BE49-F238E27FC236}">
                <a16:creationId xmlns:a16="http://schemas.microsoft.com/office/drawing/2014/main" id="{B1E4FE35-92FE-7BF7-601B-E0A0D55AE4C8}"/>
              </a:ext>
            </a:extLst>
          </p:cNvPr>
          <p:cNvSpPr txBox="1"/>
          <p:nvPr/>
        </p:nvSpPr>
        <p:spPr>
          <a:xfrm>
            <a:off x="7011516" y="878751"/>
            <a:ext cx="6562724" cy="369332"/>
          </a:xfrm>
          <a:prstGeom prst="rect">
            <a:avLst/>
          </a:prstGeom>
          <a:noFill/>
        </p:spPr>
        <p:txBody>
          <a:bodyPr wrap="square">
            <a:spAutoFit/>
          </a:bodyPr>
          <a:lstStyle/>
          <a:p>
            <a:r>
              <a:rPr lang="de-DE" sz="1800" b="0" i="0" u="none" strike="noStrike" baseline="0" dirty="0">
                <a:solidFill>
                  <a:srgbClr val="383838"/>
                </a:solidFill>
                <a:latin typeface="*Arial-15224-Identity-H"/>
              </a:rPr>
              <a:t>- </a:t>
            </a:r>
            <a:r>
              <a:rPr lang="de-DE" sz="1800" b="0" i="0" u="none" strike="noStrike" baseline="0" dirty="0">
                <a:solidFill>
                  <a:srgbClr val="69696A"/>
                </a:solidFill>
                <a:latin typeface="*Arial-15224-Identity-H"/>
              </a:rPr>
              <a:t>die an die USV angeschlossene Le</a:t>
            </a:r>
            <a:r>
              <a:rPr lang="de-DE" sz="1800" b="0" i="0" u="none" strike="noStrike" baseline="0" dirty="0">
                <a:solidFill>
                  <a:srgbClr val="9E9E9E"/>
                </a:solidFill>
                <a:latin typeface="*Arial-15224-Identity-H"/>
              </a:rPr>
              <a:t>i</a:t>
            </a:r>
            <a:r>
              <a:rPr lang="de-DE" sz="1800" b="0" i="0" u="none" strike="noStrike" baseline="0" dirty="0">
                <a:solidFill>
                  <a:srgbClr val="69696A"/>
                </a:solidFill>
                <a:latin typeface="*Arial-15224-Identity-H"/>
              </a:rPr>
              <a:t>stung (P):</a:t>
            </a:r>
            <a:endParaRPr lang="de-DE" dirty="0"/>
          </a:p>
        </p:txBody>
      </p:sp>
      <p:sp>
        <p:nvSpPr>
          <p:cNvPr id="13" name="Textfeld 12">
            <a:extLst>
              <a:ext uri="{FF2B5EF4-FFF2-40B4-BE49-F238E27FC236}">
                <a16:creationId xmlns:a16="http://schemas.microsoft.com/office/drawing/2014/main" id="{0322989F-6B6E-B593-1332-AB660E4033B1}"/>
              </a:ext>
            </a:extLst>
          </p:cNvPr>
          <p:cNvSpPr txBox="1"/>
          <p:nvPr/>
        </p:nvSpPr>
        <p:spPr>
          <a:xfrm>
            <a:off x="7176120" y="1254557"/>
            <a:ext cx="2054647" cy="369332"/>
          </a:xfrm>
          <a:prstGeom prst="rect">
            <a:avLst/>
          </a:prstGeom>
          <a:noFill/>
        </p:spPr>
        <p:txBody>
          <a:bodyPr wrap="square">
            <a:spAutoFit/>
          </a:bodyPr>
          <a:lstStyle/>
          <a:p>
            <a:r>
              <a:rPr lang="de-DE" sz="1800" b="0" i="0" u="none" strike="noStrike" baseline="0" dirty="0">
                <a:solidFill>
                  <a:srgbClr val="616162"/>
                </a:solidFill>
                <a:latin typeface="*Arial-15224-Identity-H"/>
              </a:rPr>
              <a:t>____ W(VA)</a:t>
            </a:r>
            <a:endParaRPr lang="de-DE" dirty="0"/>
          </a:p>
        </p:txBody>
      </p:sp>
      <p:sp>
        <p:nvSpPr>
          <p:cNvPr id="15" name="Textfeld 14">
            <a:extLst>
              <a:ext uri="{FF2B5EF4-FFF2-40B4-BE49-F238E27FC236}">
                <a16:creationId xmlns:a16="http://schemas.microsoft.com/office/drawing/2014/main" id="{4A28A1D1-4725-C594-6F14-3AC031F1B329}"/>
              </a:ext>
            </a:extLst>
          </p:cNvPr>
          <p:cNvSpPr txBox="1"/>
          <p:nvPr/>
        </p:nvSpPr>
        <p:spPr>
          <a:xfrm>
            <a:off x="6248921" y="2136363"/>
            <a:ext cx="5943079" cy="369332"/>
          </a:xfrm>
          <a:prstGeom prst="rect">
            <a:avLst/>
          </a:prstGeom>
          <a:noFill/>
        </p:spPr>
        <p:txBody>
          <a:bodyPr wrap="square">
            <a:spAutoFit/>
          </a:bodyPr>
          <a:lstStyle/>
          <a:p>
            <a:r>
              <a:rPr lang="de-DE" sz="1800" b="0" i="0" u="none" strike="noStrike" baseline="0" dirty="0">
                <a:solidFill>
                  <a:srgbClr val="6A6A6A"/>
                </a:solidFill>
                <a:latin typeface="*Arial-15224-Identity-H"/>
              </a:rPr>
              <a:t>- die gesamte Kapazität (Ladungsmenge) der acht Akkus (Q):</a:t>
            </a:r>
            <a:endParaRPr lang="de-DE" dirty="0"/>
          </a:p>
        </p:txBody>
      </p:sp>
      <p:sp>
        <p:nvSpPr>
          <p:cNvPr id="17" name="Textfeld 16">
            <a:extLst>
              <a:ext uri="{FF2B5EF4-FFF2-40B4-BE49-F238E27FC236}">
                <a16:creationId xmlns:a16="http://schemas.microsoft.com/office/drawing/2014/main" id="{EC308C2B-895B-9109-613C-F3965250A796}"/>
              </a:ext>
            </a:extLst>
          </p:cNvPr>
          <p:cNvSpPr txBox="1"/>
          <p:nvPr/>
        </p:nvSpPr>
        <p:spPr>
          <a:xfrm>
            <a:off x="6287344" y="2598028"/>
            <a:ext cx="1190551" cy="369332"/>
          </a:xfrm>
          <a:prstGeom prst="rect">
            <a:avLst/>
          </a:prstGeom>
          <a:noFill/>
        </p:spPr>
        <p:txBody>
          <a:bodyPr wrap="square">
            <a:spAutoFit/>
          </a:bodyPr>
          <a:lstStyle/>
          <a:p>
            <a:r>
              <a:rPr lang="de-DE" sz="1800" b="0" i="0" u="none" strike="noStrike" baseline="0" dirty="0">
                <a:solidFill>
                  <a:srgbClr val="868686"/>
                </a:solidFill>
                <a:latin typeface="*Arial-15224-Identity-H"/>
              </a:rPr>
              <a:t>_____ Ah</a:t>
            </a:r>
            <a:endParaRPr lang="de-DE" dirty="0"/>
          </a:p>
        </p:txBody>
      </p:sp>
      <p:sp>
        <p:nvSpPr>
          <p:cNvPr id="19" name="Textfeld 18">
            <a:extLst>
              <a:ext uri="{FF2B5EF4-FFF2-40B4-BE49-F238E27FC236}">
                <a16:creationId xmlns:a16="http://schemas.microsoft.com/office/drawing/2014/main" id="{2B105DEF-4468-4373-89B9-9D316AD41415}"/>
              </a:ext>
            </a:extLst>
          </p:cNvPr>
          <p:cNvSpPr txBox="1"/>
          <p:nvPr/>
        </p:nvSpPr>
        <p:spPr>
          <a:xfrm>
            <a:off x="5735960" y="3419743"/>
            <a:ext cx="6786562" cy="646331"/>
          </a:xfrm>
          <a:prstGeom prst="rect">
            <a:avLst/>
          </a:prstGeom>
          <a:noFill/>
        </p:spPr>
        <p:txBody>
          <a:bodyPr wrap="square">
            <a:spAutoFit/>
          </a:bodyPr>
          <a:lstStyle/>
          <a:p>
            <a:r>
              <a:rPr lang="de-DE" sz="1800" b="0" i="0" u="none" strike="noStrike" baseline="0" dirty="0">
                <a:solidFill>
                  <a:srgbClr val="6A6A6C"/>
                </a:solidFill>
                <a:latin typeface="*Arial-15224-Identity-H"/>
              </a:rPr>
              <a:t>- die e</a:t>
            </a:r>
            <a:r>
              <a:rPr lang="de-DE" sz="1800" b="0" i="0" u="none" strike="noStrike" baseline="0" dirty="0">
                <a:solidFill>
                  <a:srgbClr val="979797"/>
                </a:solidFill>
                <a:latin typeface="*Arial-15224-Identity-H"/>
              </a:rPr>
              <a:t>l</a:t>
            </a:r>
            <a:r>
              <a:rPr lang="de-DE" sz="1800" b="0" i="0" u="none" strike="noStrike" baseline="0" dirty="0">
                <a:solidFill>
                  <a:srgbClr val="6A6A6C"/>
                </a:solidFill>
                <a:latin typeface="*Arial-15224-Identity-H"/>
              </a:rPr>
              <a:t>ekt</a:t>
            </a:r>
            <a:r>
              <a:rPr lang="de-DE" sz="1800" b="0" i="0" u="none" strike="noStrike" baseline="0" dirty="0">
                <a:solidFill>
                  <a:srgbClr val="7D7D7E"/>
                </a:solidFill>
                <a:latin typeface="*Arial-15224-Identity-H"/>
              </a:rPr>
              <a:t>r</a:t>
            </a:r>
            <a:r>
              <a:rPr lang="de-DE" sz="1800" b="0" i="0" u="none" strike="noStrike" baseline="0" dirty="0">
                <a:solidFill>
                  <a:srgbClr val="6A6A6C"/>
                </a:solidFill>
                <a:latin typeface="*Arial-15224-Identity-H"/>
              </a:rPr>
              <a:t>ische Ene</a:t>
            </a:r>
            <a:r>
              <a:rPr lang="de-DE" sz="1800" b="0" i="0" u="none" strike="noStrike" baseline="0" dirty="0">
                <a:solidFill>
                  <a:srgbClr val="979797"/>
                </a:solidFill>
                <a:latin typeface="*Arial-15224-Identity-H"/>
              </a:rPr>
              <a:t>r</a:t>
            </a:r>
            <a:r>
              <a:rPr lang="de-DE" sz="1800" b="0" i="0" u="none" strike="noStrike" baseline="0" dirty="0">
                <a:solidFill>
                  <a:srgbClr val="6A6A6C"/>
                </a:solidFill>
                <a:latin typeface="*Arial-15224-Identity-H"/>
              </a:rPr>
              <a:t>g</a:t>
            </a:r>
            <a:r>
              <a:rPr lang="de-DE" sz="1800" b="0" i="0" u="none" strike="noStrike" baseline="0" dirty="0">
                <a:solidFill>
                  <a:srgbClr val="979797"/>
                </a:solidFill>
                <a:latin typeface="*Arial-15224-Identity-H"/>
              </a:rPr>
              <a:t>i</a:t>
            </a:r>
            <a:r>
              <a:rPr lang="de-DE" sz="1800" b="0" i="0" u="none" strike="noStrike" baseline="0" dirty="0">
                <a:solidFill>
                  <a:srgbClr val="7D7D7E"/>
                </a:solidFill>
                <a:latin typeface="*Arial-15224-Identity-H"/>
              </a:rPr>
              <a:t>e, </a:t>
            </a:r>
            <a:r>
              <a:rPr lang="de-DE" sz="1800" b="0" i="0" u="none" strike="noStrike" baseline="0" dirty="0">
                <a:solidFill>
                  <a:srgbClr val="6A6A6C"/>
                </a:solidFill>
                <a:latin typeface="*Arial-15224-Identity-H"/>
              </a:rPr>
              <a:t>welche die </a:t>
            </a:r>
            <a:r>
              <a:rPr lang="de-DE" sz="1800" b="0" i="0" u="none" strike="noStrike" baseline="0" dirty="0">
                <a:solidFill>
                  <a:srgbClr val="7D7D7E"/>
                </a:solidFill>
                <a:latin typeface="*Arial-15224-Identity-H"/>
              </a:rPr>
              <a:t>a</a:t>
            </a:r>
            <a:r>
              <a:rPr lang="de-DE" sz="1800" b="0" i="0" u="none" strike="noStrike" baseline="0" dirty="0">
                <a:solidFill>
                  <a:srgbClr val="6A6A6C"/>
                </a:solidFill>
                <a:latin typeface="*Arial-15224-Identity-H"/>
              </a:rPr>
              <a:t>c</a:t>
            </a:r>
            <a:r>
              <a:rPr lang="de-DE" sz="1800" b="0" i="0" u="none" strike="noStrike" baseline="0" dirty="0">
                <a:solidFill>
                  <a:srgbClr val="8D8D8D"/>
                </a:solidFill>
                <a:latin typeface="*Arial-15224-Identity-H"/>
              </a:rPr>
              <a:t>h</a:t>
            </a:r>
            <a:r>
              <a:rPr lang="de-DE" sz="1800" b="0" i="0" u="none" strike="noStrike" baseline="0" dirty="0">
                <a:solidFill>
                  <a:srgbClr val="5C5C5C"/>
                </a:solidFill>
                <a:latin typeface="*Arial-15224-Identity-H"/>
              </a:rPr>
              <a:t>t </a:t>
            </a:r>
            <a:r>
              <a:rPr lang="de-DE" sz="1800" b="0" i="0" u="none" strike="noStrike" baseline="0" dirty="0">
                <a:solidFill>
                  <a:srgbClr val="6A6A6C"/>
                </a:solidFill>
                <a:latin typeface="*Arial-15224-Identity-H"/>
              </a:rPr>
              <a:t>Akkus be</a:t>
            </a:r>
            <a:r>
              <a:rPr lang="de-DE" sz="1800" b="0" i="0" u="none" strike="noStrike" baseline="0" dirty="0">
                <a:solidFill>
                  <a:srgbClr val="979797"/>
                </a:solidFill>
                <a:latin typeface="*Arial-15224-Identity-H"/>
              </a:rPr>
              <a:t>i </a:t>
            </a:r>
            <a:r>
              <a:rPr lang="de-DE" sz="1800" b="0" i="0" u="none" strike="noStrike" baseline="0" dirty="0">
                <a:solidFill>
                  <a:srgbClr val="6A6A6C"/>
                </a:solidFill>
                <a:latin typeface="*Arial-15224-Identity-H"/>
              </a:rPr>
              <a:t>einer Spannung von 12 V insgesamt abgeben können (Wh).</a:t>
            </a:r>
            <a:endParaRPr lang="de-DE" dirty="0"/>
          </a:p>
        </p:txBody>
      </p:sp>
      <p:sp>
        <p:nvSpPr>
          <p:cNvPr id="21" name="Textfeld 20">
            <a:extLst>
              <a:ext uri="{FF2B5EF4-FFF2-40B4-BE49-F238E27FC236}">
                <a16:creationId xmlns:a16="http://schemas.microsoft.com/office/drawing/2014/main" id="{DC93CCE4-E4BE-E4F9-87B6-EB1AA712E000}"/>
              </a:ext>
            </a:extLst>
          </p:cNvPr>
          <p:cNvSpPr txBox="1"/>
          <p:nvPr/>
        </p:nvSpPr>
        <p:spPr>
          <a:xfrm>
            <a:off x="5756176" y="4131216"/>
            <a:ext cx="1334567" cy="369332"/>
          </a:xfrm>
          <a:prstGeom prst="rect">
            <a:avLst/>
          </a:prstGeom>
          <a:noFill/>
        </p:spPr>
        <p:txBody>
          <a:bodyPr wrap="square">
            <a:spAutoFit/>
          </a:bodyPr>
          <a:lstStyle/>
          <a:p>
            <a:r>
              <a:rPr lang="de-DE" sz="1800" b="0" i="0" u="none" strike="noStrike" baseline="0" dirty="0">
                <a:solidFill>
                  <a:srgbClr val="6A6A6C"/>
                </a:solidFill>
                <a:latin typeface="*Arial-15224-Identity-H"/>
              </a:rPr>
              <a:t>_____ Wh</a:t>
            </a:r>
            <a:endParaRPr lang="de-DE" dirty="0"/>
          </a:p>
        </p:txBody>
      </p:sp>
      <p:sp>
        <p:nvSpPr>
          <p:cNvPr id="23" name="Textfeld 22">
            <a:extLst>
              <a:ext uri="{FF2B5EF4-FFF2-40B4-BE49-F238E27FC236}">
                <a16:creationId xmlns:a16="http://schemas.microsoft.com/office/drawing/2014/main" id="{2AC7D5A7-3421-F165-E316-B21A65CBFFB4}"/>
              </a:ext>
            </a:extLst>
          </p:cNvPr>
          <p:cNvSpPr txBox="1"/>
          <p:nvPr/>
        </p:nvSpPr>
        <p:spPr>
          <a:xfrm>
            <a:off x="5087888" y="4712405"/>
            <a:ext cx="7146007" cy="923330"/>
          </a:xfrm>
          <a:prstGeom prst="rect">
            <a:avLst/>
          </a:prstGeom>
          <a:noFill/>
        </p:spPr>
        <p:txBody>
          <a:bodyPr wrap="square">
            <a:spAutoFit/>
          </a:bodyPr>
          <a:lstStyle/>
          <a:p>
            <a:pPr algn="l"/>
            <a:r>
              <a:rPr lang="de-DE" sz="1800" b="0" i="0" u="none" strike="noStrike" baseline="0" dirty="0">
                <a:solidFill>
                  <a:srgbClr val="666666"/>
                </a:solidFill>
                <a:latin typeface="*Arial-15224-Identity-H"/>
              </a:rPr>
              <a:t>- d</a:t>
            </a:r>
            <a:r>
              <a:rPr lang="de-DE" sz="1800" b="0" i="0" u="none" strike="noStrike" baseline="0" dirty="0">
                <a:solidFill>
                  <a:srgbClr val="888888"/>
                </a:solidFill>
                <a:latin typeface="*Arial-15224-Identity-H"/>
              </a:rPr>
              <a:t>i</a:t>
            </a:r>
            <a:r>
              <a:rPr lang="de-DE" sz="1800" b="0" i="0" u="none" strike="noStrike" baseline="0" dirty="0">
                <a:solidFill>
                  <a:srgbClr val="666666"/>
                </a:solidFill>
                <a:latin typeface="*Arial-15224-Identity-H"/>
              </a:rPr>
              <a:t>e theoretische Überbrückungszeit der USV </a:t>
            </a:r>
            <a:r>
              <a:rPr lang="de-DE" sz="1800" b="0" i="0" u="none" strike="noStrike" baseline="0" dirty="0">
                <a:solidFill>
                  <a:srgbClr val="969696"/>
                </a:solidFill>
                <a:latin typeface="*Arial-15224-Identity-H"/>
              </a:rPr>
              <a:t>i</a:t>
            </a:r>
            <a:r>
              <a:rPr lang="de-DE" sz="1800" b="0" i="0" u="none" strike="noStrike" baseline="0" dirty="0">
                <a:solidFill>
                  <a:srgbClr val="666666"/>
                </a:solidFill>
                <a:latin typeface="*Arial-15224-Identity-H"/>
              </a:rPr>
              <a:t>n Stunden und M</a:t>
            </a:r>
            <a:r>
              <a:rPr lang="de-DE" sz="1800" b="0" i="0" u="none" strike="noStrike" baseline="0" dirty="0">
                <a:solidFill>
                  <a:srgbClr val="969696"/>
                </a:solidFill>
                <a:latin typeface="*Arial-15224-Identity-H"/>
              </a:rPr>
              <a:t>i</a:t>
            </a:r>
            <a:r>
              <a:rPr lang="de-DE" sz="1800" b="0" i="0" u="none" strike="noStrike" baseline="0" dirty="0">
                <a:solidFill>
                  <a:srgbClr val="666666"/>
                </a:solidFill>
                <a:latin typeface="*Arial-15224-Identity-H"/>
              </a:rPr>
              <a:t>n</a:t>
            </a:r>
            <a:r>
              <a:rPr lang="de-DE" sz="1800" b="0" i="0" u="none" strike="noStrike" baseline="0" dirty="0">
                <a:solidFill>
                  <a:srgbClr val="585858"/>
                </a:solidFill>
                <a:latin typeface="*Arial-15224-Identity-H"/>
              </a:rPr>
              <a:t>u</a:t>
            </a:r>
            <a:r>
              <a:rPr lang="de-DE" sz="1800" b="0" i="0" u="none" strike="noStrike" baseline="0" dirty="0">
                <a:solidFill>
                  <a:srgbClr val="7C7C7C"/>
                </a:solidFill>
                <a:latin typeface="*Arial-15224-Identity-H"/>
              </a:rPr>
              <a:t>t</a:t>
            </a:r>
            <a:r>
              <a:rPr lang="de-DE" sz="1800" b="0" i="0" u="none" strike="noStrike" baseline="0" dirty="0">
                <a:solidFill>
                  <a:srgbClr val="666666"/>
                </a:solidFill>
                <a:latin typeface="*Arial-15224-Identity-H"/>
              </a:rPr>
              <a:t>en (t).</a:t>
            </a:r>
          </a:p>
          <a:p>
            <a:pPr algn="l"/>
            <a:r>
              <a:rPr lang="de-DE" sz="1800" b="0" i="0" u="none" strike="noStrike" baseline="0" dirty="0">
                <a:solidFill>
                  <a:srgbClr val="666666"/>
                </a:solidFill>
                <a:latin typeface="*Arial-15224-Identity-H"/>
              </a:rPr>
              <a:t>Runden Sie das Ergebnis auf volle Minuten ab:</a:t>
            </a:r>
          </a:p>
          <a:p>
            <a:pPr algn="l"/>
            <a:r>
              <a:rPr lang="de-DE" sz="1800" b="0" i="0" u="none" strike="noStrike" baseline="0" dirty="0">
                <a:solidFill>
                  <a:srgbClr val="767676"/>
                </a:solidFill>
                <a:latin typeface="*Arial-15224-Identity-H"/>
              </a:rPr>
              <a:t>__ Std. __ Min</a:t>
            </a:r>
            <a:endParaRPr lang="de-DE" dirty="0"/>
          </a:p>
        </p:txBody>
      </p:sp>
      <p:sp>
        <p:nvSpPr>
          <p:cNvPr id="28" name="Textfeld 27">
            <a:extLst>
              <a:ext uri="{FF2B5EF4-FFF2-40B4-BE49-F238E27FC236}">
                <a16:creationId xmlns:a16="http://schemas.microsoft.com/office/drawing/2014/main" id="{EAB3307F-8EAF-0869-0840-48B2E5A9AB10}"/>
              </a:ext>
            </a:extLst>
          </p:cNvPr>
          <p:cNvSpPr txBox="1"/>
          <p:nvPr/>
        </p:nvSpPr>
        <p:spPr>
          <a:xfrm>
            <a:off x="8660891" y="1248083"/>
            <a:ext cx="1560940" cy="369332"/>
          </a:xfrm>
          <a:prstGeom prst="rect">
            <a:avLst/>
          </a:prstGeom>
          <a:noFill/>
        </p:spPr>
        <p:txBody>
          <a:bodyPr wrap="none" rtlCol="0">
            <a:spAutoFit/>
          </a:bodyPr>
          <a:lstStyle/>
          <a:p>
            <a:r>
              <a:rPr lang="de-DE" dirty="0"/>
              <a:t>10 x 750 Watt</a:t>
            </a:r>
          </a:p>
        </p:txBody>
      </p:sp>
      <p:sp>
        <p:nvSpPr>
          <p:cNvPr id="29" name="Textfeld 28">
            <a:extLst>
              <a:ext uri="{FF2B5EF4-FFF2-40B4-BE49-F238E27FC236}">
                <a16:creationId xmlns:a16="http://schemas.microsoft.com/office/drawing/2014/main" id="{3576332E-DF0D-78E2-E61F-6D1A98E2BC25}"/>
              </a:ext>
            </a:extLst>
          </p:cNvPr>
          <p:cNvSpPr txBox="1"/>
          <p:nvPr/>
        </p:nvSpPr>
        <p:spPr>
          <a:xfrm>
            <a:off x="7087370" y="1232703"/>
            <a:ext cx="752129" cy="369332"/>
          </a:xfrm>
          <a:prstGeom prst="rect">
            <a:avLst/>
          </a:prstGeom>
          <a:noFill/>
        </p:spPr>
        <p:txBody>
          <a:bodyPr wrap="none" rtlCol="0">
            <a:spAutoFit/>
          </a:bodyPr>
          <a:lstStyle/>
          <a:p>
            <a:r>
              <a:rPr lang="de-DE" dirty="0"/>
              <a:t>7.500</a:t>
            </a:r>
          </a:p>
        </p:txBody>
      </p:sp>
      <p:sp>
        <p:nvSpPr>
          <p:cNvPr id="30" name="Textfeld 29">
            <a:extLst>
              <a:ext uri="{FF2B5EF4-FFF2-40B4-BE49-F238E27FC236}">
                <a16:creationId xmlns:a16="http://schemas.microsoft.com/office/drawing/2014/main" id="{60CD953D-B131-CC0F-27CA-7757CF1B47B5}"/>
              </a:ext>
            </a:extLst>
          </p:cNvPr>
          <p:cNvSpPr txBox="1"/>
          <p:nvPr/>
        </p:nvSpPr>
        <p:spPr>
          <a:xfrm>
            <a:off x="7752184" y="2603356"/>
            <a:ext cx="1221809" cy="369332"/>
          </a:xfrm>
          <a:prstGeom prst="rect">
            <a:avLst/>
          </a:prstGeom>
          <a:noFill/>
        </p:spPr>
        <p:txBody>
          <a:bodyPr wrap="none" rtlCol="0">
            <a:spAutoFit/>
          </a:bodyPr>
          <a:lstStyle/>
          <a:p>
            <a:r>
              <a:rPr lang="de-DE" dirty="0"/>
              <a:t>8 x 200Ah</a:t>
            </a:r>
          </a:p>
        </p:txBody>
      </p:sp>
      <p:sp>
        <p:nvSpPr>
          <p:cNvPr id="31" name="Textfeld 30">
            <a:extLst>
              <a:ext uri="{FF2B5EF4-FFF2-40B4-BE49-F238E27FC236}">
                <a16:creationId xmlns:a16="http://schemas.microsoft.com/office/drawing/2014/main" id="{63A0D706-EF50-D546-8A44-127CD8F2522E}"/>
              </a:ext>
            </a:extLst>
          </p:cNvPr>
          <p:cNvSpPr txBox="1"/>
          <p:nvPr/>
        </p:nvSpPr>
        <p:spPr>
          <a:xfrm>
            <a:off x="6311292" y="2588746"/>
            <a:ext cx="752129" cy="369332"/>
          </a:xfrm>
          <a:prstGeom prst="rect">
            <a:avLst/>
          </a:prstGeom>
          <a:noFill/>
        </p:spPr>
        <p:txBody>
          <a:bodyPr wrap="none" rtlCol="0">
            <a:spAutoFit/>
          </a:bodyPr>
          <a:lstStyle/>
          <a:p>
            <a:r>
              <a:rPr lang="de-DE" dirty="0"/>
              <a:t>1.600</a:t>
            </a:r>
          </a:p>
        </p:txBody>
      </p:sp>
      <p:sp>
        <p:nvSpPr>
          <p:cNvPr id="32" name="Textfeld 31">
            <a:extLst>
              <a:ext uri="{FF2B5EF4-FFF2-40B4-BE49-F238E27FC236}">
                <a16:creationId xmlns:a16="http://schemas.microsoft.com/office/drawing/2014/main" id="{0770FBA6-876F-A378-0721-E63A63926048}"/>
              </a:ext>
            </a:extLst>
          </p:cNvPr>
          <p:cNvSpPr txBox="1"/>
          <p:nvPr/>
        </p:nvSpPr>
        <p:spPr>
          <a:xfrm>
            <a:off x="7509019" y="4132273"/>
            <a:ext cx="1702710" cy="369332"/>
          </a:xfrm>
          <a:prstGeom prst="rect">
            <a:avLst/>
          </a:prstGeom>
          <a:noFill/>
        </p:spPr>
        <p:txBody>
          <a:bodyPr wrap="none" rtlCol="0">
            <a:spAutoFit/>
          </a:bodyPr>
          <a:lstStyle/>
          <a:p>
            <a:r>
              <a:rPr lang="de-DE" dirty="0"/>
              <a:t>1.600Ah x 12V</a:t>
            </a:r>
          </a:p>
        </p:txBody>
      </p:sp>
      <p:sp>
        <p:nvSpPr>
          <p:cNvPr id="33" name="Textfeld 32">
            <a:extLst>
              <a:ext uri="{FF2B5EF4-FFF2-40B4-BE49-F238E27FC236}">
                <a16:creationId xmlns:a16="http://schemas.microsoft.com/office/drawing/2014/main" id="{802D79C5-59A7-33A4-ED19-FFC489153439}"/>
              </a:ext>
            </a:extLst>
          </p:cNvPr>
          <p:cNvSpPr txBox="1"/>
          <p:nvPr/>
        </p:nvSpPr>
        <p:spPr>
          <a:xfrm>
            <a:off x="5657418" y="4131216"/>
            <a:ext cx="877163" cy="369332"/>
          </a:xfrm>
          <a:prstGeom prst="rect">
            <a:avLst/>
          </a:prstGeom>
          <a:noFill/>
        </p:spPr>
        <p:txBody>
          <a:bodyPr wrap="none" rtlCol="0">
            <a:spAutoFit/>
          </a:bodyPr>
          <a:lstStyle/>
          <a:p>
            <a:r>
              <a:rPr lang="de-DE" dirty="0"/>
              <a:t>19.200</a:t>
            </a:r>
          </a:p>
        </p:txBody>
      </p:sp>
      <p:sp>
        <p:nvSpPr>
          <p:cNvPr id="34" name="Textfeld 33">
            <a:extLst>
              <a:ext uri="{FF2B5EF4-FFF2-40B4-BE49-F238E27FC236}">
                <a16:creationId xmlns:a16="http://schemas.microsoft.com/office/drawing/2014/main" id="{93908276-4E88-EB30-4F50-DA7E454072C6}"/>
              </a:ext>
            </a:extLst>
          </p:cNvPr>
          <p:cNvSpPr txBox="1"/>
          <p:nvPr/>
        </p:nvSpPr>
        <p:spPr>
          <a:xfrm>
            <a:off x="6873441" y="5384870"/>
            <a:ext cx="5132495" cy="923330"/>
          </a:xfrm>
          <a:prstGeom prst="rect">
            <a:avLst/>
          </a:prstGeom>
          <a:noFill/>
        </p:spPr>
        <p:txBody>
          <a:bodyPr wrap="none" rtlCol="0">
            <a:spAutoFit/>
          </a:bodyPr>
          <a:lstStyle/>
          <a:p>
            <a:r>
              <a:rPr lang="de-DE" dirty="0"/>
              <a:t>19.200 Wh</a:t>
            </a:r>
          </a:p>
          <a:p>
            <a:r>
              <a:rPr lang="de-DE" dirty="0"/>
              <a:t>-------------- = 2,56 h / 0,56 x 60 = 33,5 Minuten  </a:t>
            </a:r>
          </a:p>
          <a:p>
            <a:r>
              <a:rPr lang="de-DE" dirty="0"/>
              <a:t>7.500 W</a:t>
            </a:r>
          </a:p>
        </p:txBody>
      </p:sp>
      <p:sp>
        <p:nvSpPr>
          <p:cNvPr id="35" name="Textfeld 34">
            <a:extLst>
              <a:ext uri="{FF2B5EF4-FFF2-40B4-BE49-F238E27FC236}">
                <a16:creationId xmlns:a16="http://schemas.microsoft.com/office/drawing/2014/main" id="{A5104160-39A1-46B9-3AA4-F1772880336B}"/>
              </a:ext>
            </a:extLst>
          </p:cNvPr>
          <p:cNvSpPr txBox="1"/>
          <p:nvPr/>
        </p:nvSpPr>
        <p:spPr>
          <a:xfrm>
            <a:off x="5163710" y="5250003"/>
            <a:ext cx="309700" cy="369332"/>
          </a:xfrm>
          <a:prstGeom prst="rect">
            <a:avLst/>
          </a:prstGeom>
          <a:noFill/>
        </p:spPr>
        <p:txBody>
          <a:bodyPr wrap="none" rtlCol="0">
            <a:spAutoFit/>
          </a:bodyPr>
          <a:lstStyle/>
          <a:p>
            <a:r>
              <a:rPr lang="de-DE" dirty="0"/>
              <a:t>2</a:t>
            </a:r>
          </a:p>
        </p:txBody>
      </p:sp>
      <p:sp>
        <p:nvSpPr>
          <p:cNvPr id="36" name="Textfeld 35">
            <a:extLst>
              <a:ext uri="{FF2B5EF4-FFF2-40B4-BE49-F238E27FC236}">
                <a16:creationId xmlns:a16="http://schemas.microsoft.com/office/drawing/2014/main" id="{D4B0B013-B03C-72E4-991C-DC78614BAC3D}"/>
              </a:ext>
            </a:extLst>
          </p:cNvPr>
          <p:cNvSpPr txBox="1"/>
          <p:nvPr/>
        </p:nvSpPr>
        <p:spPr>
          <a:xfrm>
            <a:off x="5768098" y="5231353"/>
            <a:ext cx="434734" cy="369332"/>
          </a:xfrm>
          <a:prstGeom prst="rect">
            <a:avLst/>
          </a:prstGeom>
          <a:noFill/>
        </p:spPr>
        <p:txBody>
          <a:bodyPr wrap="none" rtlCol="0">
            <a:spAutoFit/>
          </a:bodyPr>
          <a:lstStyle/>
          <a:p>
            <a:r>
              <a:rPr lang="de-DE" dirty="0"/>
              <a:t>33</a:t>
            </a:r>
          </a:p>
        </p:txBody>
      </p:sp>
    </p:spTree>
    <p:extLst>
      <p:ext uri="{BB962C8B-B14F-4D97-AF65-F5344CB8AC3E}">
        <p14:creationId xmlns:p14="http://schemas.microsoft.com/office/powerpoint/2010/main" val="3663957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P spid="32" grpId="0"/>
      <p:bldP spid="33" grpId="0"/>
      <p:bldP spid="34" grpId="0"/>
      <p:bldP spid="35" grpId="0"/>
      <p:bldP spid="3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a:xfrm>
            <a:off x="260837" y="157212"/>
            <a:ext cx="11775831" cy="1176219"/>
          </a:xfrm>
          <a:prstGeom prst="rect">
            <a:avLst/>
          </a:prstGeom>
        </p:spPr>
        <p:txBody>
          <a:bodyPr wrap="square">
            <a:spAutoFit/>
          </a:bodyPr>
          <a:lstStyle/>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Der Server wird durch eine neue USV abgesichert. Sie enthält zwei Akkus vom Typ 12V/25Ah. Der Server hat eine Leistungsaufnahme von 600VA.</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Wie viele Minuten kann die USV den Server mit Strom versorgen?</a:t>
            </a:r>
            <a:endParaRPr lang="de-DE"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hteck 2"/>
          <p:cNvSpPr/>
          <p:nvPr/>
        </p:nvSpPr>
        <p:spPr>
          <a:xfrm>
            <a:off x="357553" y="2275609"/>
            <a:ext cx="9513278" cy="3512757"/>
          </a:xfrm>
          <a:prstGeom prst="rect">
            <a:avLst/>
          </a:prstGeom>
        </p:spPr>
        <p:txBody>
          <a:bodyPr wrap="square">
            <a:spAutoFit/>
          </a:bodyPr>
          <a:lstStyle/>
          <a:p>
            <a:pPr>
              <a:lnSpc>
                <a:spcPct val="115000"/>
              </a:lnSpc>
              <a:spcAft>
                <a:spcPts val="1000"/>
              </a:spcAft>
            </a:pPr>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Lösung:</a:t>
            </a:r>
            <a:endParaRPr lang="de-DE" sz="28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2 Stück x 12 Volt x 25 Ampere Stunden = 600 </a:t>
            </a:r>
            <a:r>
              <a:rPr lang="de-DE" sz="2800" b="1" dirty="0" err="1">
                <a:solidFill>
                  <a:srgbClr val="FF0000"/>
                </a:solidFill>
                <a:latin typeface="Calibri" panose="020F0502020204030204" pitchFamily="34" charset="0"/>
                <a:ea typeface="Calibri" panose="020F0502020204030204" pitchFamily="34" charset="0"/>
                <a:cs typeface="Times New Roman" panose="02020603050405020304" pitchFamily="18" charset="0"/>
              </a:rPr>
              <a:t>VAh</a:t>
            </a:r>
            <a:endPar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endParaRPr lang="de-DE" sz="28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600 </a:t>
            </a:r>
            <a:r>
              <a:rPr lang="de-DE" sz="2800" b="1" dirty="0" err="1">
                <a:solidFill>
                  <a:srgbClr val="FF0000"/>
                </a:solidFill>
                <a:latin typeface="Calibri" panose="020F0502020204030204" pitchFamily="34" charset="0"/>
                <a:ea typeface="Calibri" panose="020F0502020204030204" pitchFamily="34" charset="0"/>
                <a:cs typeface="Times New Roman" panose="02020603050405020304" pitchFamily="18" charset="0"/>
              </a:rPr>
              <a:t>VAh</a:t>
            </a:r>
            <a:endPar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 = 1 h -&gt; </a:t>
            </a:r>
            <a:r>
              <a:rPr lang="de-DE" sz="2800" b="1" dirty="0">
                <a:solidFill>
                  <a:srgbClr val="FF0000"/>
                </a:solidFill>
                <a:highlight>
                  <a:srgbClr val="FFFF00"/>
                </a:highlight>
                <a:latin typeface="Calibri" panose="020F0502020204030204" pitchFamily="34" charset="0"/>
                <a:ea typeface="Calibri" panose="020F0502020204030204" pitchFamily="34" charset="0"/>
                <a:cs typeface="Times New Roman" panose="02020603050405020304" pitchFamily="18" charset="0"/>
              </a:rPr>
              <a:t>60 Minuten</a:t>
            </a:r>
            <a:endPar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600 VA</a:t>
            </a:r>
            <a:endParaRPr lang="de-DE" sz="2800" dirty="0">
              <a:solidFill>
                <a:srgbClr val="FF0000"/>
              </a:solidFill>
              <a:highlight>
                <a:srgbClr val="FFFF00"/>
              </a:highligh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47331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96B5FDA1-D547-41E2-8D0E-CE1314A16572}"/>
              </a:ext>
            </a:extLst>
          </p:cNvPr>
          <p:cNvSpPr txBox="1"/>
          <p:nvPr/>
        </p:nvSpPr>
        <p:spPr>
          <a:xfrm>
            <a:off x="263352" y="332656"/>
            <a:ext cx="11089232" cy="2585323"/>
          </a:xfrm>
          <a:prstGeom prst="rect">
            <a:avLst/>
          </a:prstGeom>
          <a:noFill/>
        </p:spPr>
        <p:txBody>
          <a:bodyPr wrap="square">
            <a:spAutoFit/>
          </a:bodyPr>
          <a:lstStyle/>
          <a:p>
            <a:r>
              <a:rPr lang="de-DE" dirty="0"/>
              <a:t>Die vorhandene USV kann den Ladestand der Akkus in Prozent an ein zentrales Monitoring melden. Die verbauten Akkus können bei einer Last von 15.000 Watt (VA) eine Stunde überbrücken. </a:t>
            </a:r>
          </a:p>
          <a:p>
            <a:endParaRPr lang="de-DE" dirty="0"/>
          </a:p>
          <a:p>
            <a:r>
              <a:rPr lang="de-DE" dirty="0"/>
              <a:t>Zur Schonung der eingebauten Akkus sollen diese auf eine maximale Restkapazität von 40 % entladen werden. Die angeschlossenen Server haben eine durchschnittliche Leistungsaufnahme von 45.000 Watt (VA). </a:t>
            </a:r>
          </a:p>
          <a:p>
            <a:r>
              <a:rPr lang="de-DE" dirty="0"/>
              <a:t>Vom Start des Generators bis zur stabilen Stromversorgung ist eine Zeit von 2 Minuten einzurechnen. </a:t>
            </a:r>
          </a:p>
          <a:p>
            <a:endParaRPr lang="de-DE" dirty="0"/>
          </a:p>
          <a:p>
            <a:r>
              <a:rPr lang="de-DE" dirty="0"/>
              <a:t>Bestimmen Sie den Ladestand der Akkus in Prozent, bei dem der Start des Notstrom-Generators erfolgen muss. </a:t>
            </a:r>
          </a:p>
          <a:p>
            <a:r>
              <a:rPr lang="de-DE" dirty="0"/>
              <a:t>Der Rechenweg ist anzugeben.</a:t>
            </a:r>
          </a:p>
        </p:txBody>
      </p:sp>
    </p:spTree>
    <p:extLst>
      <p:ext uri="{BB962C8B-B14F-4D97-AF65-F5344CB8AC3E}">
        <p14:creationId xmlns:p14="http://schemas.microsoft.com/office/powerpoint/2010/main" val="33705704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00575-9D7C-D23A-DFDE-80BD19EDEBE2}"/>
            </a:ext>
          </a:extLst>
        </p:cNvPr>
        <p:cNvGrpSpPr/>
        <p:nvPr/>
      </p:nvGrpSpPr>
      <p:grpSpPr>
        <a:xfrm>
          <a:off x="0" y="0"/>
          <a:ext cx="0" cy="0"/>
          <a:chOff x="0" y="0"/>
          <a:chExt cx="0" cy="0"/>
        </a:xfrm>
      </p:grpSpPr>
      <p:sp>
        <p:nvSpPr>
          <p:cNvPr id="3" name="Textfeld 2">
            <a:extLst>
              <a:ext uri="{FF2B5EF4-FFF2-40B4-BE49-F238E27FC236}">
                <a16:creationId xmlns:a16="http://schemas.microsoft.com/office/drawing/2014/main" id="{9A584947-7AA7-FBDB-56C0-9F49C4A73898}"/>
              </a:ext>
            </a:extLst>
          </p:cNvPr>
          <p:cNvSpPr txBox="1"/>
          <p:nvPr/>
        </p:nvSpPr>
        <p:spPr>
          <a:xfrm>
            <a:off x="263352" y="332656"/>
            <a:ext cx="11089232" cy="2585323"/>
          </a:xfrm>
          <a:prstGeom prst="rect">
            <a:avLst/>
          </a:prstGeom>
          <a:noFill/>
        </p:spPr>
        <p:txBody>
          <a:bodyPr wrap="square">
            <a:spAutoFit/>
          </a:bodyPr>
          <a:lstStyle/>
          <a:p>
            <a:r>
              <a:rPr lang="de-DE" dirty="0"/>
              <a:t>Die vorhandene USV kann den Ladestand der Akkus in Prozent an ein zentrales Monitoring melden. Die verbauten Akkus können bei einer Last von 15.000 Watt (VA) eine Stunde überbrücken. </a:t>
            </a:r>
          </a:p>
          <a:p>
            <a:endParaRPr lang="de-DE" dirty="0"/>
          </a:p>
          <a:p>
            <a:r>
              <a:rPr lang="de-DE" dirty="0"/>
              <a:t>Zur Schonung der eingebauten Akkus sollen diese auf eine maximale Restkapazität von 40 % entladen werden. Die angeschlossenen Server haben eine durchschnittliche Leistungsaufnahme von 45.000 Watt (VA). </a:t>
            </a:r>
          </a:p>
          <a:p>
            <a:r>
              <a:rPr lang="de-DE" dirty="0"/>
              <a:t>Vom Start des Generators bis zur stabilen Stromversorgung ist eine Zeit von 2 Minuten einzurechnen. </a:t>
            </a:r>
          </a:p>
          <a:p>
            <a:endParaRPr lang="de-DE" dirty="0"/>
          </a:p>
          <a:p>
            <a:r>
              <a:rPr lang="de-DE" dirty="0"/>
              <a:t>Bestimmen Sie den Ladestand der Akkus in Prozent, bei dem der Start des Notstrom-Generators erfolgen muss. </a:t>
            </a:r>
          </a:p>
          <a:p>
            <a:r>
              <a:rPr lang="de-DE" dirty="0"/>
              <a:t>Der Rechenweg ist anzugeben.</a:t>
            </a:r>
          </a:p>
        </p:txBody>
      </p:sp>
      <p:sp>
        <p:nvSpPr>
          <p:cNvPr id="5" name="Textfeld 4">
            <a:extLst>
              <a:ext uri="{FF2B5EF4-FFF2-40B4-BE49-F238E27FC236}">
                <a16:creationId xmlns:a16="http://schemas.microsoft.com/office/drawing/2014/main" id="{74745071-9150-F814-0AB0-7698AA2AD89D}"/>
              </a:ext>
            </a:extLst>
          </p:cNvPr>
          <p:cNvSpPr txBox="1"/>
          <p:nvPr/>
        </p:nvSpPr>
        <p:spPr>
          <a:xfrm>
            <a:off x="479376" y="3212976"/>
            <a:ext cx="11233248" cy="2585323"/>
          </a:xfrm>
          <a:prstGeom prst="rect">
            <a:avLst/>
          </a:prstGeom>
          <a:noFill/>
        </p:spPr>
        <p:txBody>
          <a:bodyPr wrap="square">
            <a:spAutoFit/>
          </a:bodyPr>
          <a:lstStyle/>
          <a:p>
            <a:r>
              <a:rPr lang="de-DE" b="1" dirty="0">
                <a:solidFill>
                  <a:srgbClr val="FF0000"/>
                </a:solidFill>
              </a:rPr>
              <a:t>15.000 Watt x 60 Minuten / 45.000 Watt = 20 Minuten Gesamtlaufzeit bei 100 % Entladung (2 Punkte) </a:t>
            </a:r>
          </a:p>
          <a:p>
            <a:endParaRPr lang="de-DE" b="1" dirty="0">
              <a:solidFill>
                <a:srgbClr val="FF0000"/>
              </a:solidFill>
            </a:endParaRPr>
          </a:p>
          <a:p>
            <a:r>
              <a:rPr lang="de-DE" b="1" dirty="0">
                <a:solidFill>
                  <a:srgbClr val="FF0000"/>
                </a:solidFill>
              </a:rPr>
              <a:t>20 Minuten x 60 % = 12 Minuten bis zum Ende des Startvorgangs (40 % Restkapazität) (1 Punkt)</a:t>
            </a:r>
          </a:p>
          <a:p>
            <a:endParaRPr lang="de-DE" b="1" dirty="0">
              <a:solidFill>
                <a:srgbClr val="FF0000"/>
              </a:solidFill>
            </a:endParaRPr>
          </a:p>
          <a:p>
            <a:r>
              <a:rPr lang="de-DE" b="1" dirty="0">
                <a:solidFill>
                  <a:srgbClr val="FF0000"/>
                </a:solidFill>
              </a:rPr>
              <a:t>12 Minuten – 2 Minuten = 10 min Laufzeit bis Einleiten des Starts des Notstromgenerators (2 Punkte) </a:t>
            </a:r>
          </a:p>
          <a:p>
            <a:endParaRPr lang="de-DE" b="1" dirty="0">
              <a:solidFill>
                <a:srgbClr val="FF0000"/>
              </a:solidFill>
            </a:endParaRPr>
          </a:p>
          <a:p>
            <a:r>
              <a:rPr lang="de-DE" b="1" dirty="0">
                <a:solidFill>
                  <a:srgbClr val="FF0000"/>
                </a:solidFill>
              </a:rPr>
              <a:t>100 % x (20 Minuten - 10 Minuten) / 20 Minuten = 50 % (1 Punkt)</a:t>
            </a:r>
          </a:p>
          <a:p>
            <a:endParaRPr lang="de-DE" b="1" dirty="0">
              <a:solidFill>
                <a:srgbClr val="FF0000"/>
              </a:solidFill>
            </a:endParaRPr>
          </a:p>
          <a:p>
            <a:r>
              <a:rPr lang="de-DE" b="1" dirty="0">
                <a:solidFill>
                  <a:srgbClr val="FF0000"/>
                </a:solidFill>
              </a:rPr>
              <a:t>Der Start des Notstromgenerators muss bei einer Restkapazität des Akkus von 50 % eingeleitet werden.</a:t>
            </a:r>
          </a:p>
        </p:txBody>
      </p:sp>
      <p:sp>
        <p:nvSpPr>
          <p:cNvPr id="2" name="Rechteck 1">
            <a:extLst>
              <a:ext uri="{FF2B5EF4-FFF2-40B4-BE49-F238E27FC236}">
                <a16:creationId xmlns:a16="http://schemas.microsoft.com/office/drawing/2014/main" id="{415EACE5-9D68-399C-4B7D-FBE40F9D6B27}"/>
              </a:ext>
            </a:extLst>
          </p:cNvPr>
          <p:cNvSpPr/>
          <p:nvPr/>
        </p:nvSpPr>
        <p:spPr>
          <a:xfrm>
            <a:off x="498000" y="5798299"/>
            <a:ext cx="11215319" cy="1152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3395703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640" y="217291"/>
            <a:ext cx="11573559" cy="2842432"/>
          </a:xfrm>
          <a:prstGeom prst="rect">
            <a:avLst/>
          </a:prstGeom>
          <a:noFill/>
          <a:ln>
            <a:noFill/>
          </a:ln>
        </p:spPr>
      </p:pic>
      <p:sp>
        <p:nvSpPr>
          <p:cNvPr id="3" name="Textfeld 2"/>
          <p:cNvSpPr txBox="1"/>
          <p:nvPr/>
        </p:nvSpPr>
        <p:spPr>
          <a:xfrm>
            <a:off x="7945893" y="4801144"/>
            <a:ext cx="3640016" cy="923330"/>
          </a:xfrm>
          <a:prstGeom prst="rect">
            <a:avLst/>
          </a:prstGeom>
          <a:noFill/>
        </p:spPr>
        <p:txBody>
          <a:bodyPr wrap="square" rtlCol="0">
            <a:spAutoFit/>
          </a:bodyPr>
          <a:lstStyle/>
          <a:p>
            <a:r>
              <a:rPr lang="de-DE" dirty="0"/>
              <a:t>3,333  * 12 * 14</a:t>
            </a:r>
          </a:p>
          <a:p>
            <a:r>
              <a:rPr lang="de-DE" dirty="0"/>
              <a:t>----------------------- = 60 Min (1h)</a:t>
            </a:r>
          </a:p>
          <a:p>
            <a:r>
              <a:rPr lang="de-DE" dirty="0"/>
              <a:t>560</a:t>
            </a:r>
          </a:p>
        </p:txBody>
      </p:sp>
      <p:sp>
        <p:nvSpPr>
          <p:cNvPr id="4" name="Textfeld 3">
            <a:extLst>
              <a:ext uri="{FF2B5EF4-FFF2-40B4-BE49-F238E27FC236}">
                <a16:creationId xmlns:a16="http://schemas.microsoft.com/office/drawing/2014/main" id="{8092BB7A-122F-4800-83E2-3AD24FEDBB9A}"/>
              </a:ext>
            </a:extLst>
          </p:cNvPr>
          <p:cNvSpPr txBox="1"/>
          <p:nvPr/>
        </p:nvSpPr>
        <p:spPr>
          <a:xfrm>
            <a:off x="572154" y="4199905"/>
            <a:ext cx="4312495" cy="1641475"/>
          </a:xfrm>
          <a:prstGeom prst="rect">
            <a:avLst/>
          </a:prstGeom>
          <a:noFill/>
        </p:spPr>
        <p:txBody>
          <a:bodyPr wrap="square" rtlCol="0">
            <a:spAutoFit/>
          </a:bodyPr>
          <a:lstStyle/>
          <a:p>
            <a:pPr>
              <a:spcAft>
                <a:spcPts val="1000"/>
              </a:spcAft>
            </a:pPr>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560 Watt</a:t>
            </a:r>
          </a:p>
          <a:p>
            <a:pPr>
              <a:spcAft>
                <a:spcPts val="1000"/>
              </a:spcAft>
            </a:pPr>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 = 3,3333 Akkus</a:t>
            </a:r>
          </a:p>
          <a:p>
            <a:pPr>
              <a:spcAft>
                <a:spcPts val="1000"/>
              </a:spcAft>
            </a:pPr>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12V * 14Ah</a:t>
            </a:r>
          </a:p>
        </p:txBody>
      </p:sp>
      <p:sp>
        <p:nvSpPr>
          <p:cNvPr id="5" name="Textfeld 4">
            <a:extLst>
              <a:ext uri="{FF2B5EF4-FFF2-40B4-BE49-F238E27FC236}">
                <a16:creationId xmlns:a16="http://schemas.microsoft.com/office/drawing/2014/main" id="{A90CFA82-16CE-463D-995D-251953A21850}"/>
              </a:ext>
            </a:extLst>
          </p:cNvPr>
          <p:cNvSpPr txBox="1"/>
          <p:nvPr/>
        </p:nvSpPr>
        <p:spPr>
          <a:xfrm>
            <a:off x="7945893" y="5782158"/>
            <a:ext cx="4312495" cy="923330"/>
          </a:xfrm>
          <a:prstGeom prst="rect">
            <a:avLst/>
          </a:prstGeom>
          <a:noFill/>
        </p:spPr>
        <p:txBody>
          <a:bodyPr wrap="square" rtlCol="0">
            <a:spAutoFit/>
          </a:bodyPr>
          <a:lstStyle/>
          <a:p>
            <a:r>
              <a:rPr lang="de-DE" dirty="0"/>
              <a:t>3,333 Akkus * 3</a:t>
            </a:r>
          </a:p>
          <a:p>
            <a:r>
              <a:rPr lang="de-DE" dirty="0"/>
              <a:t>------------------------- = 2,5 Akkus -&gt; </a:t>
            </a:r>
            <a:r>
              <a:rPr lang="de-DE" dirty="0">
                <a:highlight>
                  <a:srgbClr val="FFFF00"/>
                </a:highlight>
              </a:rPr>
              <a:t>3 Akkus</a:t>
            </a:r>
          </a:p>
          <a:p>
            <a:r>
              <a:rPr lang="de-DE" dirty="0"/>
              <a:t>4</a:t>
            </a:r>
          </a:p>
        </p:txBody>
      </p:sp>
      <p:sp>
        <p:nvSpPr>
          <p:cNvPr id="6" name="Textfeld 5">
            <a:extLst>
              <a:ext uri="{FF2B5EF4-FFF2-40B4-BE49-F238E27FC236}">
                <a16:creationId xmlns:a16="http://schemas.microsoft.com/office/drawing/2014/main" id="{22670ABA-973A-4302-ADF1-5DD02CE8CC26}"/>
              </a:ext>
            </a:extLst>
          </p:cNvPr>
          <p:cNvSpPr txBox="1"/>
          <p:nvPr/>
        </p:nvSpPr>
        <p:spPr>
          <a:xfrm>
            <a:off x="572154" y="5936853"/>
            <a:ext cx="7090274" cy="461665"/>
          </a:xfrm>
          <a:prstGeom prst="rect">
            <a:avLst/>
          </a:prstGeom>
          <a:noFill/>
        </p:spPr>
        <p:txBody>
          <a:bodyPr wrap="none" rtlCol="0">
            <a:spAutoFit/>
          </a:bodyPr>
          <a:lstStyle/>
          <a:p>
            <a:r>
              <a:rPr lang="de-DE" sz="2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3,3333</a:t>
            </a:r>
            <a:r>
              <a:rPr lang="de-DE" sz="1600" dirty="0"/>
              <a:t> </a:t>
            </a:r>
            <a:r>
              <a:rPr lang="de-DE" sz="2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Akkus / 60 Min * 45 Min = 2,5 Akkus -&gt; </a:t>
            </a:r>
            <a:r>
              <a:rPr lang="de-DE" sz="2400" b="1" dirty="0">
                <a:solidFill>
                  <a:srgbClr val="FF0000"/>
                </a:solidFill>
                <a:highlight>
                  <a:srgbClr val="FFFF00"/>
                </a:highlight>
                <a:latin typeface="Calibri" panose="020F0502020204030204" pitchFamily="34" charset="0"/>
                <a:ea typeface="Calibri" panose="020F0502020204030204" pitchFamily="34" charset="0"/>
                <a:cs typeface="Times New Roman" panose="02020603050405020304" pitchFamily="18" charset="0"/>
              </a:rPr>
              <a:t>3 Akkus</a:t>
            </a:r>
          </a:p>
        </p:txBody>
      </p:sp>
      <p:sp>
        <p:nvSpPr>
          <p:cNvPr id="7" name="Textfeld 6">
            <a:extLst>
              <a:ext uri="{FF2B5EF4-FFF2-40B4-BE49-F238E27FC236}">
                <a16:creationId xmlns:a16="http://schemas.microsoft.com/office/drawing/2014/main" id="{586CFAD5-6EE5-44FD-801C-18DEA23C6031}"/>
              </a:ext>
            </a:extLst>
          </p:cNvPr>
          <p:cNvSpPr txBox="1"/>
          <p:nvPr/>
        </p:nvSpPr>
        <p:spPr>
          <a:xfrm>
            <a:off x="572154" y="3541966"/>
            <a:ext cx="4436536" cy="523220"/>
          </a:xfrm>
          <a:prstGeom prst="rect">
            <a:avLst/>
          </a:prstGeom>
          <a:noFill/>
        </p:spPr>
        <p:txBody>
          <a:bodyPr wrap="none" rtlCol="0">
            <a:spAutoFit/>
          </a:bodyPr>
          <a:lstStyle/>
          <a:p>
            <a:pPr>
              <a:spcAft>
                <a:spcPts val="1000"/>
              </a:spcAft>
            </a:pPr>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Lösungsweg 1 (ohne Formel)</a:t>
            </a:r>
          </a:p>
        </p:txBody>
      </p:sp>
      <p:sp>
        <p:nvSpPr>
          <p:cNvPr id="8" name="Textfeld 7">
            <a:extLst>
              <a:ext uri="{FF2B5EF4-FFF2-40B4-BE49-F238E27FC236}">
                <a16:creationId xmlns:a16="http://schemas.microsoft.com/office/drawing/2014/main" id="{A41BCD21-CBB5-43B5-AD80-E23352579D13}"/>
              </a:ext>
            </a:extLst>
          </p:cNvPr>
          <p:cNvSpPr txBox="1"/>
          <p:nvPr/>
        </p:nvSpPr>
        <p:spPr>
          <a:xfrm>
            <a:off x="7945893" y="3484282"/>
            <a:ext cx="2711063" cy="369332"/>
          </a:xfrm>
          <a:prstGeom prst="rect">
            <a:avLst/>
          </a:prstGeom>
          <a:noFill/>
        </p:spPr>
        <p:txBody>
          <a:bodyPr wrap="none" rtlCol="0">
            <a:spAutoFit/>
          </a:bodyPr>
          <a:lstStyle/>
          <a:p>
            <a:r>
              <a:rPr lang="de-DE" dirty="0"/>
              <a:t>Lösungsweg 2 (mit Formel)</a:t>
            </a:r>
          </a:p>
        </p:txBody>
      </p:sp>
      <p:sp>
        <p:nvSpPr>
          <p:cNvPr id="9" name="Textfeld 8">
            <a:extLst>
              <a:ext uri="{FF2B5EF4-FFF2-40B4-BE49-F238E27FC236}">
                <a16:creationId xmlns:a16="http://schemas.microsoft.com/office/drawing/2014/main" id="{3D368788-A026-41DC-818F-6F7269972DD8}"/>
              </a:ext>
            </a:extLst>
          </p:cNvPr>
          <p:cNvSpPr txBox="1"/>
          <p:nvPr/>
        </p:nvSpPr>
        <p:spPr>
          <a:xfrm>
            <a:off x="7945893" y="3911298"/>
            <a:ext cx="4312495" cy="923330"/>
          </a:xfrm>
          <a:prstGeom prst="rect">
            <a:avLst/>
          </a:prstGeom>
          <a:noFill/>
        </p:spPr>
        <p:txBody>
          <a:bodyPr wrap="square" rtlCol="0">
            <a:spAutoFit/>
          </a:bodyPr>
          <a:lstStyle/>
          <a:p>
            <a:r>
              <a:rPr lang="de-DE" dirty="0"/>
              <a:t>560 Watt</a:t>
            </a:r>
          </a:p>
          <a:p>
            <a:r>
              <a:rPr lang="de-DE" dirty="0"/>
              <a:t>---------------- = 3,3333 Akkus</a:t>
            </a:r>
          </a:p>
          <a:p>
            <a:r>
              <a:rPr lang="de-DE" dirty="0"/>
              <a:t>12V * 14AH</a:t>
            </a:r>
          </a:p>
        </p:txBody>
      </p:sp>
    </p:spTree>
    <p:extLst>
      <p:ext uri="{BB962C8B-B14F-4D97-AF65-F5344CB8AC3E}">
        <p14:creationId xmlns:p14="http://schemas.microsoft.com/office/powerpoint/2010/main" val="2891150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D94EB0AA-9067-453A-86FD-DC5EFC163A73}"/>
              </a:ext>
            </a:extLst>
          </p:cNvPr>
          <p:cNvPicPr>
            <a:picLocks noChangeAspect="1"/>
          </p:cNvPicPr>
          <p:nvPr/>
        </p:nvPicPr>
        <p:blipFill>
          <a:blip r:embed="rId2"/>
          <a:stretch>
            <a:fillRect/>
          </a:stretch>
        </p:blipFill>
        <p:spPr>
          <a:xfrm>
            <a:off x="239350" y="164637"/>
            <a:ext cx="11316613" cy="2304256"/>
          </a:xfrm>
          <a:prstGeom prst="rect">
            <a:avLst/>
          </a:prstGeom>
        </p:spPr>
      </p:pic>
      <p:sp>
        <p:nvSpPr>
          <p:cNvPr id="4" name="Textfeld 3">
            <a:extLst>
              <a:ext uri="{FF2B5EF4-FFF2-40B4-BE49-F238E27FC236}">
                <a16:creationId xmlns:a16="http://schemas.microsoft.com/office/drawing/2014/main" id="{83871B49-FCFB-44BF-86FA-D7BADD5A200B}"/>
              </a:ext>
            </a:extLst>
          </p:cNvPr>
          <p:cNvSpPr txBox="1"/>
          <p:nvPr/>
        </p:nvSpPr>
        <p:spPr>
          <a:xfrm>
            <a:off x="658457" y="2785850"/>
            <a:ext cx="9956444" cy="3108543"/>
          </a:xfrm>
          <a:prstGeom prst="rect">
            <a:avLst/>
          </a:prstGeom>
          <a:noFill/>
        </p:spPr>
        <p:txBody>
          <a:bodyPr wrap="none" rtlCol="0">
            <a:spAutoFit/>
          </a:bodyPr>
          <a:lstStyle/>
          <a:p>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2 Akkus * 12 V * 10 Ah = 240 </a:t>
            </a:r>
            <a:r>
              <a:rPr lang="de-DE" sz="2800" b="1" dirty="0" err="1">
                <a:solidFill>
                  <a:srgbClr val="FF0000"/>
                </a:solidFill>
                <a:latin typeface="Calibri" panose="020F0502020204030204" pitchFamily="34" charset="0"/>
                <a:ea typeface="Calibri" panose="020F0502020204030204" pitchFamily="34" charset="0"/>
                <a:cs typeface="Times New Roman" panose="02020603050405020304" pitchFamily="18" charset="0"/>
              </a:rPr>
              <a:t>VAh</a:t>
            </a:r>
            <a:endPar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endPar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240 </a:t>
            </a:r>
            <a:r>
              <a:rPr lang="de-DE" sz="2800" b="1" dirty="0" err="1">
                <a:solidFill>
                  <a:srgbClr val="FF0000"/>
                </a:solidFill>
                <a:latin typeface="Calibri" panose="020F0502020204030204" pitchFamily="34" charset="0"/>
                <a:ea typeface="Calibri" panose="020F0502020204030204" pitchFamily="34" charset="0"/>
                <a:cs typeface="Times New Roman" panose="02020603050405020304" pitchFamily="18" charset="0"/>
              </a:rPr>
              <a:t>VAh</a:t>
            </a:r>
            <a:endPar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 = 0,369 h </a:t>
            </a:r>
          </a:p>
          <a:p>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650 VA</a:t>
            </a:r>
          </a:p>
          <a:p>
            <a:endPar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r>
              <a:rPr lang="de-DE" sz="2800" b="1">
                <a:solidFill>
                  <a:srgbClr val="FF0000"/>
                </a:solidFill>
                <a:latin typeface="Calibri" panose="020F0502020204030204" pitchFamily="34" charset="0"/>
                <a:ea typeface="Calibri" panose="020F0502020204030204" pitchFamily="34" charset="0"/>
                <a:cs typeface="Times New Roman" panose="02020603050405020304" pitchFamily="18" charset="0"/>
              </a:rPr>
              <a:t>0,369 </a:t>
            </a:r>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h * 60 Minuten = 22,14 Minuten -&gt; </a:t>
            </a:r>
            <a:r>
              <a:rPr lang="de-DE" sz="2800" b="1" dirty="0">
                <a:solidFill>
                  <a:srgbClr val="FF0000"/>
                </a:solidFill>
                <a:highlight>
                  <a:srgbClr val="FFFF00"/>
                </a:highlight>
                <a:latin typeface="Calibri" panose="020F0502020204030204" pitchFamily="34" charset="0"/>
                <a:ea typeface="Calibri" panose="020F0502020204030204" pitchFamily="34" charset="0"/>
                <a:cs typeface="Times New Roman" panose="02020603050405020304" pitchFamily="18" charset="0"/>
              </a:rPr>
              <a:t>abgerundet 22 Minuten </a:t>
            </a:r>
          </a:p>
        </p:txBody>
      </p:sp>
    </p:spTree>
    <p:extLst>
      <p:ext uri="{BB962C8B-B14F-4D97-AF65-F5344CB8AC3E}">
        <p14:creationId xmlns:p14="http://schemas.microsoft.com/office/powerpoint/2010/main" val="3395538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826DF838-B6BA-4A9C-91E5-D4360CB7BA5E}"/>
              </a:ext>
            </a:extLst>
          </p:cNvPr>
          <p:cNvPicPr>
            <a:picLocks noChangeAspect="1"/>
          </p:cNvPicPr>
          <p:nvPr/>
        </p:nvPicPr>
        <p:blipFill>
          <a:blip r:embed="rId2"/>
          <a:stretch>
            <a:fillRect/>
          </a:stretch>
        </p:blipFill>
        <p:spPr>
          <a:xfrm>
            <a:off x="231756" y="245256"/>
            <a:ext cx="11381905" cy="3115732"/>
          </a:xfrm>
          <a:prstGeom prst="rect">
            <a:avLst/>
          </a:prstGeom>
        </p:spPr>
      </p:pic>
      <p:sp>
        <p:nvSpPr>
          <p:cNvPr id="4" name="Textfeld 3">
            <a:extLst>
              <a:ext uri="{FF2B5EF4-FFF2-40B4-BE49-F238E27FC236}">
                <a16:creationId xmlns:a16="http://schemas.microsoft.com/office/drawing/2014/main" id="{FCDB5FA2-64FB-4784-AEDD-12B1AB82C838}"/>
              </a:ext>
            </a:extLst>
          </p:cNvPr>
          <p:cNvSpPr txBox="1"/>
          <p:nvPr/>
        </p:nvSpPr>
        <p:spPr>
          <a:xfrm>
            <a:off x="329273" y="3548720"/>
            <a:ext cx="11385746" cy="3108543"/>
          </a:xfrm>
          <a:prstGeom prst="rect">
            <a:avLst/>
          </a:prstGeom>
          <a:noFill/>
        </p:spPr>
        <p:txBody>
          <a:bodyPr wrap="none" rtlCol="0">
            <a:spAutoFit/>
          </a:bodyPr>
          <a:lstStyle/>
          <a:p>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3 Server * 750 VA = 2250 VA</a:t>
            </a:r>
          </a:p>
          <a:p>
            <a:endPar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24 Akkus * 12 V * 3,6 Ah = 1.036,8 </a:t>
            </a:r>
            <a:r>
              <a:rPr lang="de-DE" sz="2800" b="1" dirty="0" err="1">
                <a:solidFill>
                  <a:srgbClr val="FF0000"/>
                </a:solidFill>
                <a:latin typeface="Calibri" panose="020F0502020204030204" pitchFamily="34" charset="0"/>
                <a:ea typeface="Calibri" panose="020F0502020204030204" pitchFamily="34" charset="0"/>
                <a:cs typeface="Times New Roman" panose="02020603050405020304" pitchFamily="18" charset="0"/>
              </a:rPr>
              <a:t>VAh</a:t>
            </a:r>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 * 0,65 h = 673,92 </a:t>
            </a:r>
            <a:r>
              <a:rPr lang="de-DE" sz="2800" b="1" dirty="0" err="1">
                <a:solidFill>
                  <a:srgbClr val="FF0000"/>
                </a:solidFill>
                <a:latin typeface="Calibri" panose="020F0502020204030204" pitchFamily="34" charset="0"/>
                <a:ea typeface="Calibri" panose="020F0502020204030204" pitchFamily="34" charset="0"/>
                <a:cs typeface="Times New Roman" panose="02020603050405020304" pitchFamily="18" charset="0"/>
              </a:rPr>
              <a:t>VAh</a:t>
            </a:r>
            <a:endPar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endPar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673,92 </a:t>
            </a:r>
            <a:r>
              <a:rPr lang="de-DE" sz="2800" b="1" dirty="0" err="1">
                <a:solidFill>
                  <a:srgbClr val="FF0000"/>
                </a:solidFill>
                <a:latin typeface="Calibri" panose="020F0502020204030204" pitchFamily="34" charset="0"/>
                <a:ea typeface="Calibri" panose="020F0502020204030204" pitchFamily="34" charset="0"/>
                <a:cs typeface="Times New Roman" panose="02020603050405020304" pitchFamily="18" charset="0"/>
              </a:rPr>
              <a:t>VAh</a:t>
            </a:r>
            <a:endPar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 = 0,29952 Stunden * 60 Minuten = 17,97 Min </a:t>
            </a:r>
            <a:r>
              <a:rPr lang="de-DE" sz="2800" b="1" dirty="0">
                <a:solidFill>
                  <a:srgbClr val="FF0000"/>
                </a:solidFill>
                <a:highlight>
                  <a:srgbClr val="FFFF00"/>
                </a:highlight>
                <a:latin typeface="Calibri" panose="020F0502020204030204" pitchFamily="34" charset="0"/>
                <a:ea typeface="Calibri" panose="020F0502020204030204" pitchFamily="34" charset="0"/>
                <a:cs typeface="Times New Roman" panose="02020603050405020304" pitchFamily="18" charset="0"/>
              </a:rPr>
              <a:t>-&gt; 17 Minuten</a:t>
            </a:r>
          </a:p>
          <a:p>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2250 VA</a:t>
            </a:r>
          </a:p>
        </p:txBody>
      </p:sp>
    </p:spTree>
    <p:extLst>
      <p:ext uri="{BB962C8B-B14F-4D97-AF65-F5344CB8AC3E}">
        <p14:creationId xmlns:p14="http://schemas.microsoft.com/office/powerpoint/2010/main" val="4063939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8C2F9C44-A018-4E0E-91F0-8C2C84CC2CFB}"/>
              </a:ext>
            </a:extLst>
          </p:cNvPr>
          <p:cNvSpPr/>
          <p:nvPr/>
        </p:nvSpPr>
        <p:spPr>
          <a:xfrm>
            <a:off x="578338" y="353536"/>
            <a:ext cx="11285416" cy="923330"/>
          </a:xfrm>
          <a:prstGeom prst="rect">
            <a:avLst/>
          </a:prstGeom>
        </p:spPr>
        <p:txBody>
          <a:bodyPr wrap="square">
            <a:spAutoFit/>
          </a:bodyPr>
          <a:lstStyle/>
          <a:p>
            <a:r>
              <a:rPr lang="de-DE" dirty="0"/>
              <a:t>Im Rahmen einer Prognose für die Betriebskosten der Notarkanzlei sollen Sie die jährlichen Kosten für den Energieverbrauch einer USV anhand folgender Daten berechnen: </a:t>
            </a:r>
          </a:p>
          <a:p>
            <a:r>
              <a:rPr lang="de-DE" dirty="0"/>
              <a:t>Leistungsaufnahme: 15 Watt </a:t>
            </a:r>
          </a:p>
        </p:txBody>
      </p:sp>
      <p:sp>
        <p:nvSpPr>
          <p:cNvPr id="4" name="Rechteck 3">
            <a:extLst>
              <a:ext uri="{FF2B5EF4-FFF2-40B4-BE49-F238E27FC236}">
                <a16:creationId xmlns:a16="http://schemas.microsoft.com/office/drawing/2014/main" id="{01530B2D-9928-4A0B-9F91-09D80DC01AE0}"/>
              </a:ext>
            </a:extLst>
          </p:cNvPr>
          <p:cNvSpPr/>
          <p:nvPr/>
        </p:nvSpPr>
        <p:spPr>
          <a:xfrm>
            <a:off x="578338" y="1332525"/>
            <a:ext cx="3856505" cy="646331"/>
          </a:xfrm>
          <a:prstGeom prst="rect">
            <a:avLst/>
          </a:prstGeom>
        </p:spPr>
        <p:txBody>
          <a:bodyPr wrap="none">
            <a:spAutoFit/>
          </a:bodyPr>
          <a:lstStyle/>
          <a:p>
            <a:r>
              <a:rPr lang="de-DE" dirty="0"/>
              <a:t>Betrieb: 365 Tage/Jahr, 24 Stunden/Tag</a:t>
            </a:r>
          </a:p>
          <a:p>
            <a:r>
              <a:rPr lang="de-DE" dirty="0"/>
              <a:t>Preis/kWh: 0,23 EUR </a:t>
            </a:r>
          </a:p>
        </p:txBody>
      </p:sp>
      <p:sp>
        <p:nvSpPr>
          <p:cNvPr id="5" name="Rechteck 4">
            <a:extLst>
              <a:ext uri="{FF2B5EF4-FFF2-40B4-BE49-F238E27FC236}">
                <a16:creationId xmlns:a16="http://schemas.microsoft.com/office/drawing/2014/main" id="{2B93384E-08DC-49B0-A50E-04C8C18E9B0E}"/>
              </a:ext>
            </a:extLst>
          </p:cNvPr>
          <p:cNvSpPr/>
          <p:nvPr/>
        </p:nvSpPr>
        <p:spPr>
          <a:xfrm>
            <a:off x="578337" y="2089835"/>
            <a:ext cx="10636739" cy="369332"/>
          </a:xfrm>
          <a:prstGeom prst="rect">
            <a:avLst/>
          </a:prstGeom>
        </p:spPr>
        <p:txBody>
          <a:bodyPr wrap="square">
            <a:spAutoFit/>
          </a:bodyPr>
          <a:lstStyle/>
          <a:p>
            <a:r>
              <a:rPr lang="de-DE" dirty="0"/>
              <a:t>Berechnen Sie die jährlichen Energiekosten für die USV in EUR. Runden Sie das Ergebnis ggf. auf volle Cent. </a:t>
            </a:r>
          </a:p>
        </p:txBody>
      </p:sp>
      <p:sp>
        <p:nvSpPr>
          <p:cNvPr id="2" name="Textfeld 1">
            <a:extLst>
              <a:ext uri="{FF2B5EF4-FFF2-40B4-BE49-F238E27FC236}">
                <a16:creationId xmlns:a16="http://schemas.microsoft.com/office/drawing/2014/main" id="{1A66EA52-7185-4D58-8DD0-7825810ABFB3}"/>
              </a:ext>
            </a:extLst>
          </p:cNvPr>
          <p:cNvSpPr txBox="1"/>
          <p:nvPr/>
        </p:nvSpPr>
        <p:spPr>
          <a:xfrm>
            <a:off x="883138" y="3360615"/>
            <a:ext cx="8008796" cy="1384995"/>
          </a:xfrm>
          <a:prstGeom prst="rect">
            <a:avLst/>
          </a:prstGeom>
          <a:noFill/>
        </p:spPr>
        <p:txBody>
          <a:bodyPr wrap="none" rtlCol="0">
            <a:spAutoFit/>
          </a:bodyPr>
          <a:lstStyle/>
          <a:p>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15 Watt * (365 Tage *24 H ) = 131.400 Watt pro Jahr</a:t>
            </a:r>
          </a:p>
          <a:p>
            <a:endPar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131.400 Watt / 1000 = 131,4 </a:t>
            </a:r>
            <a:r>
              <a:rPr lang="de-DE" sz="2800" b="1" dirty="0" err="1">
                <a:solidFill>
                  <a:srgbClr val="FF0000"/>
                </a:solidFill>
                <a:latin typeface="Calibri" panose="020F0502020204030204" pitchFamily="34" charset="0"/>
                <a:ea typeface="Calibri" panose="020F0502020204030204" pitchFamily="34" charset="0"/>
                <a:cs typeface="Times New Roman" panose="02020603050405020304" pitchFamily="18" charset="0"/>
              </a:rPr>
              <a:t>KwH</a:t>
            </a:r>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  * 0,23€ = </a:t>
            </a:r>
            <a:r>
              <a:rPr lang="de-DE" sz="2800" b="1" dirty="0">
                <a:solidFill>
                  <a:srgbClr val="FF0000"/>
                </a:solidFill>
                <a:highlight>
                  <a:srgbClr val="FFFF00"/>
                </a:highlight>
                <a:latin typeface="Calibri" panose="020F0502020204030204" pitchFamily="34" charset="0"/>
                <a:ea typeface="Calibri" panose="020F0502020204030204" pitchFamily="34" charset="0"/>
                <a:cs typeface="Times New Roman" panose="02020603050405020304" pitchFamily="18" charset="0"/>
              </a:rPr>
              <a:t>30,22 €</a:t>
            </a:r>
            <a:r>
              <a:rPr lang="de-DE"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1259923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BDF22-3D6F-4752-FE32-3F8C8BE04071}"/>
            </a:ext>
          </a:extLst>
        </p:cNvPr>
        <p:cNvGrpSpPr/>
        <p:nvPr/>
      </p:nvGrpSpPr>
      <p:grpSpPr>
        <a:xfrm>
          <a:off x="0" y="0"/>
          <a:ext cx="0" cy="0"/>
          <a:chOff x="0" y="0"/>
          <a:chExt cx="0" cy="0"/>
        </a:xfrm>
      </p:grpSpPr>
      <p:sp>
        <p:nvSpPr>
          <p:cNvPr id="2" name="Textfeld 1">
            <a:extLst>
              <a:ext uri="{FF2B5EF4-FFF2-40B4-BE49-F238E27FC236}">
                <a16:creationId xmlns:a16="http://schemas.microsoft.com/office/drawing/2014/main" id="{C66C8B7A-963E-9F66-E7DA-506404A0718D}"/>
              </a:ext>
            </a:extLst>
          </p:cNvPr>
          <p:cNvSpPr txBox="1"/>
          <p:nvPr/>
        </p:nvSpPr>
        <p:spPr>
          <a:xfrm>
            <a:off x="1792065" y="2401196"/>
            <a:ext cx="8607869" cy="1569660"/>
          </a:xfrm>
          <a:prstGeom prst="rect">
            <a:avLst/>
          </a:prstGeom>
          <a:noFill/>
        </p:spPr>
        <p:txBody>
          <a:bodyPr wrap="none" rtlCol="0">
            <a:spAutoFit/>
          </a:bodyPr>
          <a:lstStyle/>
          <a:p>
            <a:r>
              <a:rPr lang="de-DE" sz="9600" dirty="0"/>
              <a:t>USV-Berechnung</a:t>
            </a:r>
          </a:p>
        </p:txBody>
      </p:sp>
    </p:spTree>
    <p:extLst>
      <p:ext uri="{BB962C8B-B14F-4D97-AF65-F5344CB8AC3E}">
        <p14:creationId xmlns:p14="http://schemas.microsoft.com/office/powerpoint/2010/main" val="6260861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EB2DD273-0703-4588-A06A-F5EC33D37077}"/>
              </a:ext>
            </a:extLst>
          </p:cNvPr>
          <p:cNvPicPr>
            <a:picLocks noChangeAspect="1"/>
          </p:cNvPicPr>
          <p:nvPr/>
        </p:nvPicPr>
        <p:blipFill>
          <a:blip r:embed="rId2"/>
          <a:stretch>
            <a:fillRect/>
          </a:stretch>
        </p:blipFill>
        <p:spPr>
          <a:xfrm>
            <a:off x="0" y="85700"/>
            <a:ext cx="5799221" cy="6723735"/>
          </a:xfrm>
          <a:prstGeom prst="rect">
            <a:avLst/>
          </a:prstGeom>
        </p:spPr>
      </p:pic>
    </p:spTree>
    <p:extLst>
      <p:ext uri="{BB962C8B-B14F-4D97-AF65-F5344CB8AC3E}">
        <p14:creationId xmlns:p14="http://schemas.microsoft.com/office/powerpoint/2010/main" val="20847414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71E76-46DF-4550-9A44-E976FB1FB36A}"/>
            </a:ext>
          </a:extLst>
        </p:cNvPr>
        <p:cNvGrpSpPr/>
        <p:nvPr/>
      </p:nvGrpSpPr>
      <p:grpSpPr>
        <a:xfrm>
          <a:off x="0" y="0"/>
          <a:ext cx="0" cy="0"/>
          <a:chOff x="0" y="0"/>
          <a:chExt cx="0" cy="0"/>
        </a:xfrm>
      </p:grpSpPr>
      <p:pic>
        <p:nvPicPr>
          <p:cNvPr id="3" name="Grafik 2">
            <a:extLst>
              <a:ext uri="{FF2B5EF4-FFF2-40B4-BE49-F238E27FC236}">
                <a16:creationId xmlns:a16="http://schemas.microsoft.com/office/drawing/2014/main" id="{A297389D-64F1-DDE8-9AAE-1D2905F6A4E7}"/>
              </a:ext>
            </a:extLst>
          </p:cNvPr>
          <p:cNvPicPr>
            <a:picLocks noChangeAspect="1"/>
          </p:cNvPicPr>
          <p:nvPr/>
        </p:nvPicPr>
        <p:blipFill>
          <a:blip r:embed="rId2"/>
          <a:stretch>
            <a:fillRect/>
          </a:stretch>
        </p:blipFill>
        <p:spPr>
          <a:xfrm>
            <a:off x="0" y="85700"/>
            <a:ext cx="5799221" cy="6723735"/>
          </a:xfrm>
          <a:prstGeom prst="rect">
            <a:avLst/>
          </a:prstGeom>
        </p:spPr>
      </p:pic>
      <p:pic>
        <p:nvPicPr>
          <p:cNvPr id="5" name="Grafik 4">
            <a:extLst>
              <a:ext uri="{FF2B5EF4-FFF2-40B4-BE49-F238E27FC236}">
                <a16:creationId xmlns:a16="http://schemas.microsoft.com/office/drawing/2014/main" id="{BF905833-F91E-BA92-5AD4-D75E4A0D675F}"/>
              </a:ext>
            </a:extLst>
          </p:cNvPr>
          <p:cNvPicPr>
            <a:picLocks noChangeAspect="1"/>
          </p:cNvPicPr>
          <p:nvPr/>
        </p:nvPicPr>
        <p:blipFill>
          <a:blip r:embed="rId3"/>
          <a:stretch>
            <a:fillRect/>
          </a:stretch>
        </p:blipFill>
        <p:spPr>
          <a:xfrm>
            <a:off x="6341910" y="5286583"/>
            <a:ext cx="5561208" cy="1297097"/>
          </a:xfrm>
          <a:prstGeom prst="rect">
            <a:avLst/>
          </a:prstGeom>
        </p:spPr>
      </p:pic>
    </p:spTree>
    <p:extLst>
      <p:ext uri="{BB962C8B-B14F-4D97-AF65-F5344CB8AC3E}">
        <p14:creationId xmlns:p14="http://schemas.microsoft.com/office/powerpoint/2010/main" val="746193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2098752" y="2276017"/>
            <a:ext cx="7994496" cy="1569660"/>
          </a:xfrm>
          <a:prstGeom prst="rect">
            <a:avLst/>
          </a:prstGeom>
          <a:noFill/>
        </p:spPr>
        <p:txBody>
          <a:bodyPr wrap="none" rtlCol="0">
            <a:spAutoFit/>
          </a:bodyPr>
          <a:lstStyle/>
          <a:p>
            <a:r>
              <a:rPr lang="de-DE" sz="9600" dirty="0"/>
              <a:t>Arbeitsspeicher</a:t>
            </a:r>
          </a:p>
        </p:txBody>
      </p:sp>
    </p:spTree>
    <p:extLst>
      <p:ext uri="{BB962C8B-B14F-4D97-AF65-F5344CB8AC3E}">
        <p14:creationId xmlns:p14="http://schemas.microsoft.com/office/powerpoint/2010/main" val="32465045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hteck 1"/>
          <p:cNvSpPr/>
          <p:nvPr/>
        </p:nvSpPr>
        <p:spPr>
          <a:xfrm>
            <a:off x="260837" y="278742"/>
            <a:ext cx="11599985" cy="1304460"/>
          </a:xfrm>
          <a:prstGeom prst="rect">
            <a:avLst/>
          </a:prstGeom>
        </p:spPr>
        <p:txBody>
          <a:bodyPr wrap="square">
            <a:spAutoFit/>
          </a:bodyPr>
          <a:lstStyle/>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Bei der Suche nach Speichermodulen lesen Sie:</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Die Speichermodule bestehen aus 16 Stück 256 M x 4-bit Speicherzellen</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Ermitteln Sie die Gesamtkapazität in </a:t>
            </a:r>
            <a:r>
              <a:rPr lang="de-DE" b="1" dirty="0" err="1">
                <a:latin typeface="Calibri" panose="020F0502020204030204" pitchFamily="34" charset="0"/>
                <a:ea typeface="Calibri" panose="020F0502020204030204" pitchFamily="34" charset="0"/>
                <a:cs typeface="Times New Roman" panose="02020603050405020304" pitchFamily="18" charset="0"/>
              </a:rPr>
              <a:t>GiByte</a:t>
            </a:r>
            <a:r>
              <a:rPr lang="de-DE" b="1" dirty="0">
                <a:latin typeface="Calibri" panose="020F0502020204030204" pitchFamily="34" charset="0"/>
                <a:ea typeface="Calibri" panose="020F0502020204030204" pitchFamily="34" charset="0"/>
                <a:cs typeface="Times New Roman" panose="02020603050405020304" pitchFamily="18" charset="0"/>
              </a:rPr>
              <a:t>.</a:t>
            </a:r>
            <a:endParaRPr lang="de-DE"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hteck 2"/>
          <p:cNvSpPr/>
          <p:nvPr/>
        </p:nvSpPr>
        <p:spPr>
          <a:xfrm>
            <a:off x="8982806" y="4510473"/>
            <a:ext cx="3467101" cy="2198038"/>
          </a:xfrm>
          <a:prstGeom prst="rect">
            <a:avLst/>
          </a:prstGeom>
        </p:spPr>
        <p:txBody>
          <a:bodyPr wrap="square">
            <a:spAutoFit/>
          </a:bodyPr>
          <a:lstStyle/>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Lösung:</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16 x 256M x 4 Bit = 16384 </a:t>
            </a:r>
            <a:r>
              <a:rPr lang="de-DE" b="1" dirty="0" err="1">
                <a:latin typeface="Calibri" panose="020F0502020204030204" pitchFamily="34" charset="0"/>
                <a:ea typeface="Calibri" panose="020F0502020204030204" pitchFamily="34" charset="0"/>
                <a:cs typeface="Times New Roman" panose="02020603050405020304" pitchFamily="18" charset="0"/>
              </a:rPr>
              <a:t>MiBit</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16384 </a:t>
            </a:r>
            <a:r>
              <a:rPr lang="de-DE" b="1" dirty="0" err="1">
                <a:latin typeface="Calibri" panose="020F0502020204030204" pitchFamily="34" charset="0"/>
                <a:ea typeface="Calibri" panose="020F0502020204030204" pitchFamily="34" charset="0"/>
                <a:cs typeface="Times New Roman" panose="02020603050405020304" pitchFamily="18" charset="0"/>
              </a:rPr>
              <a:t>MiBit</a:t>
            </a:r>
            <a:r>
              <a:rPr lang="de-DE" b="1" dirty="0">
                <a:latin typeface="Calibri" panose="020F0502020204030204" pitchFamily="34" charset="0"/>
                <a:ea typeface="Calibri" panose="020F0502020204030204" pitchFamily="34" charset="0"/>
                <a:cs typeface="Times New Roman" panose="02020603050405020304" pitchFamily="18" charset="0"/>
              </a:rPr>
              <a:t> / 8 = 2048 </a:t>
            </a:r>
            <a:r>
              <a:rPr lang="de-DE" b="1" dirty="0" err="1">
                <a:latin typeface="Calibri" panose="020F0502020204030204" pitchFamily="34" charset="0"/>
                <a:ea typeface="Calibri" panose="020F0502020204030204" pitchFamily="34" charset="0"/>
                <a:cs typeface="Times New Roman" panose="02020603050405020304" pitchFamily="18" charset="0"/>
              </a:rPr>
              <a:t>MiByte</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2048 </a:t>
            </a:r>
            <a:r>
              <a:rPr lang="de-DE" b="1" dirty="0" err="1">
                <a:latin typeface="Calibri" panose="020F0502020204030204" pitchFamily="34" charset="0"/>
                <a:ea typeface="Calibri" panose="020F0502020204030204" pitchFamily="34" charset="0"/>
                <a:cs typeface="Times New Roman" panose="02020603050405020304" pitchFamily="18" charset="0"/>
              </a:rPr>
              <a:t>MiByte</a:t>
            </a:r>
            <a:r>
              <a:rPr lang="de-DE" b="1" dirty="0">
                <a:latin typeface="Calibri" panose="020F0502020204030204" pitchFamily="34" charset="0"/>
                <a:ea typeface="Calibri" panose="020F0502020204030204" pitchFamily="34" charset="0"/>
                <a:cs typeface="Times New Roman" panose="02020603050405020304" pitchFamily="18" charset="0"/>
              </a:rPr>
              <a:t> / 1024</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2 </a:t>
            </a:r>
            <a:r>
              <a:rPr lang="de-DE" b="1" dirty="0" err="1">
                <a:latin typeface="Calibri" panose="020F0502020204030204" pitchFamily="34" charset="0"/>
                <a:ea typeface="Calibri" panose="020F0502020204030204" pitchFamily="34" charset="0"/>
                <a:cs typeface="Times New Roman" panose="02020603050405020304" pitchFamily="18" charset="0"/>
              </a:rPr>
              <a:t>GiByte</a:t>
            </a:r>
            <a:endParaRPr lang="de-DE"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Grafik 4"/>
          <p:cNvPicPr>
            <a:picLocks noChangeAspect="1"/>
          </p:cNvPicPr>
          <p:nvPr/>
        </p:nvPicPr>
        <p:blipFill rotWithShape="1">
          <a:blip r:embed="rId2" cstate="print">
            <a:extLst>
              <a:ext uri="{28A0092B-C50C-407E-A947-70E740481C1C}">
                <a14:useLocalDpi xmlns:a14="http://schemas.microsoft.com/office/drawing/2010/main" val="0"/>
              </a:ext>
            </a:extLst>
          </a:blip>
          <a:srcRect t="18808" b="20558"/>
          <a:stretch/>
        </p:blipFill>
        <p:spPr>
          <a:xfrm>
            <a:off x="1110273" y="2329962"/>
            <a:ext cx="9461500" cy="2048608"/>
          </a:xfrm>
          <a:prstGeom prst="rect">
            <a:avLst/>
          </a:prstGeom>
        </p:spPr>
      </p:pic>
    </p:spTree>
    <p:extLst>
      <p:ext uri="{BB962C8B-B14F-4D97-AF65-F5344CB8AC3E}">
        <p14:creationId xmlns:p14="http://schemas.microsoft.com/office/powerpoint/2010/main" val="1119720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4.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extfeld 1"/>
          <p:cNvSpPr txBox="1"/>
          <p:nvPr/>
        </p:nvSpPr>
        <p:spPr>
          <a:xfrm>
            <a:off x="4384039" y="365125"/>
            <a:ext cx="7164493" cy="1325563"/>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7200" b="1" kern="1200" dirty="0">
                <a:solidFill>
                  <a:schemeClr val="bg1"/>
                </a:solidFill>
                <a:latin typeface="+mj-lt"/>
                <a:ea typeface="+mj-ea"/>
                <a:cs typeface="+mj-cs"/>
              </a:rPr>
              <a:t>IT-</a:t>
            </a:r>
            <a:r>
              <a:rPr lang="en-US" sz="7200" b="1" kern="1200" dirty="0" err="1">
                <a:solidFill>
                  <a:schemeClr val="bg1"/>
                </a:solidFill>
                <a:latin typeface="+mj-lt"/>
                <a:ea typeface="+mj-ea"/>
                <a:cs typeface="+mj-cs"/>
              </a:rPr>
              <a:t>Mathe</a:t>
            </a:r>
            <a:r>
              <a:rPr lang="en-US" sz="7200" b="1" kern="1200" dirty="0">
                <a:solidFill>
                  <a:schemeClr val="bg1"/>
                </a:solidFill>
                <a:latin typeface="+mj-lt"/>
                <a:ea typeface="+mj-ea"/>
                <a:cs typeface="+mj-cs"/>
              </a:rPr>
              <a:t> Part 2</a:t>
            </a:r>
          </a:p>
          <a:p>
            <a:pPr defTabSz="914400">
              <a:lnSpc>
                <a:spcPct val="90000"/>
              </a:lnSpc>
              <a:spcBef>
                <a:spcPct val="0"/>
              </a:spcBef>
              <a:spcAft>
                <a:spcPts val="600"/>
              </a:spcAft>
            </a:pPr>
            <a:endParaRPr lang="en-US" sz="4400" kern="1200" dirty="0">
              <a:solidFill>
                <a:schemeClr val="bg1"/>
              </a:solidFill>
              <a:latin typeface="+mj-lt"/>
              <a:ea typeface="+mj-ea"/>
              <a:cs typeface="+mj-cs"/>
            </a:endParaRPr>
          </a:p>
        </p:txBody>
      </p:sp>
      <p:pic>
        <p:nvPicPr>
          <p:cNvPr id="4" name="Grafik 3" descr="Ein Bild, das Elektronik, schwarz, Rechner, sitzend enthält.&#10;&#10;Automatisch generierte Beschreibung">
            <a:extLst>
              <a:ext uri="{FF2B5EF4-FFF2-40B4-BE49-F238E27FC236}">
                <a16:creationId xmlns:a16="http://schemas.microsoft.com/office/drawing/2014/main" id="{4A63F95A-0ADE-4435-A5C3-298196C99A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939" y="642988"/>
            <a:ext cx="2702198" cy="5571543"/>
          </a:xfrm>
          <a:prstGeom prst="rect">
            <a:avLst/>
          </a:prstGeom>
        </p:spPr>
      </p:pic>
      <p:sp>
        <p:nvSpPr>
          <p:cNvPr id="3" name="Textfeld 2">
            <a:extLst>
              <a:ext uri="{FF2B5EF4-FFF2-40B4-BE49-F238E27FC236}">
                <a16:creationId xmlns:a16="http://schemas.microsoft.com/office/drawing/2014/main" id="{CDAAE577-93B5-41FF-B88C-F1956F147C06}"/>
              </a:ext>
            </a:extLst>
          </p:cNvPr>
          <p:cNvSpPr txBox="1"/>
          <p:nvPr/>
        </p:nvSpPr>
        <p:spPr>
          <a:xfrm>
            <a:off x="4387515" y="2022601"/>
            <a:ext cx="7161017" cy="4154361"/>
          </a:xfrm>
          <a:prstGeom prst="rect">
            <a:avLst/>
          </a:prstGeom>
        </p:spPr>
        <p:txBody>
          <a:bodyPr vert="horz" lIns="91440" tIns="45720" rIns="91440" bIns="45720" rtlCol="0">
            <a:normAutofit/>
          </a:bodyPr>
          <a:lstStyle/>
          <a:p>
            <a:pPr marL="285750" indent="-228600" defTabSz="914400">
              <a:lnSpc>
                <a:spcPct val="90000"/>
              </a:lnSpc>
              <a:spcAft>
                <a:spcPts val="600"/>
              </a:spcAft>
              <a:buFont typeface="Arial" panose="020B0604020202020204" pitchFamily="34" charset="0"/>
              <a:buChar char="•"/>
            </a:pPr>
            <a:r>
              <a:rPr lang="en-US" sz="3600" dirty="0">
                <a:solidFill>
                  <a:srgbClr val="FF0000"/>
                </a:solidFill>
              </a:rPr>
              <a:t>Datenübertragungs-Formel</a:t>
            </a:r>
          </a:p>
          <a:p>
            <a:pPr marL="285750" indent="-228600" defTabSz="914400">
              <a:lnSpc>
                <a:spcPct val="90000"/>
              </a:lnSpc>
              <a:spcAft>
                <a:spcPts val="600"/>
              </a:spcAft>
              <a:buFont typeface="Arial" panose="020B0604020202020204" pitchFamily="34" charset="0"/>
              <a:buChar char="•"/>
            </a:pPr>
            <a:r>
              <a:rPr lang="en-US" sz="3600" dirty="0">
                <a:solidFill>
                  <a:srgbClr val="00B050"/>
                </a:solidFill>
              </a:rPr>
              <a:t>Prefetch-Formel</a:t>
            </a:r>
          </a:p>
          <a:p>
            <a:pPr marL="285750" indent="-228600" defTabSz="914400">
              <a:lnSpc>
                <a:spcPct val="90000"/>
              </a:lnSpc>
              <a:spcAft>
                <a:spcPts val="600"/>
              </a:spcAft>
              <a:buFont typeface="Arial" panose="020B0604020202020204" pitchFamily="34" charset="0"/>
              <a:buChar char="•"/>
            </a:pPr>
            <a:r>
              <a:rPr lang="en-US" sz="3600" dirty="0">
                <a:solidFill>
                  <a:srgbClr val="00B050"/>
                </a:solidFill>
              </a:rPr>
              <a:t>RAID-Formel</a:t>
            </a:r>
          </a:p>
          <a:p>
            <a:pPr marL="285750" indent="-228600" defTabSz="914400">
              <a:lnSpc>
                <a:spcPct val="90000"/>
              </a:lnSpc>
              <a:spcAft>
                <a:spcPts val="600"/>
              </a:spcAft>
              <a:buFont typeface="Arial" panose="020B0604020202020204" pitchFamily="34" charset="0"/>
              <a:buChar char="•"/>
            </a:pPr>
            <a:endParaRPr lang="en-US" sz="2000" dirty="0"/>
          </a:p>
        </p:txBody>
      </p:sp>
      <p:pic>
        <p:nvPicPr>
          <p:cNvPr id="6" name="Grafik 5" descr="Englischer Geschäftsmann">
            <a:extLst>
              <a:ext uri="{FF2B5EF4-FFF2-40B4-BE49-F238E27FC236}">
                <a16:creationId xmlns:a16="http://schemas.microsoft.com/office/drawing/2014/main" id="{AB3E4046-2359-4ECF-9C59-5CF4B2E364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3206" y="2135926"/>
            <a:ext cx="1329761" cy="3018916"/>
          </a:xfrm>
          <a:prstGeom prst="rect">
            <a:avLst/>
          </a:prstGeom>
        </p:spPr>
      </p:pic>
      <p:pic>
        <p:nvPicPr>
          <p:cNvPr id="8" name="Grafik 7" descr="Ein Bild, das Objekt, Uhr, Schild, lesend enthält.&#10;&#10;Automatisch generierte Beschreibung">
            <a:extLst>
              <a:ext uri="{FF2B5EF4-FFF2-40B4-BE49-F238E27FC236}">
                <a16:creationId xmlns:a16="http://schemas.microsoft.com/office/drawing/2014/main" id="{0AD324B1-6B70-443E-94C8-7DDF1FCDBF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34408" y="1524280"/>
            <a:ext cx="1779001" cy="689363"/>
          </a:xfrm>
          <a:prstGeom prst="rect">
            <a:avLst/>
          </a:prstGeom>
        </p:spPr>
      </p:pic>
    </p:spTree>
    <p:extLst>
      <p:ext uri="{BB962C8B-B14F-4D97-AF65-F5344CB8AC3E}">
        <p14:creationId xmlns:p14="http://schemas.microsoft.com/office/powerpoint/2010/main" val="37037327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feld 1">
            <a:extLst>
              <a:ext uri="{FF2B5EF4-FFF2-40B4-BE49-F238E27FC236}">
                <a16:creationId xmlns:a16="http://schemas.microsoft.com/office/drawing/2014/main" id="{3CF52C6F-E474-4993-BF04-A1EEC3CA2BD1}"/>
              </a:ext>
            </a:extLst>
          </p:cNvPr>
          <p:cNvSpPr txBox="1"/>
          <p:nvPr/>
        </p:nvSpPr>
        <p:spPr>
          <a:xfrm>
            <a:off x="546351" y="433545"/>
            <a:ext cx="11139854" cy="930447"/>
          </a:xfrm>
          <a:prstGeom prst="rect">
            <a:avLst/>
          </a:prstGeom>
        </p:spPr>
        <p:txBody>
          <a:bodyPr vert="horz" lIns="91440" tIns="45720" rIns="91440" bIns="45720" rtlCol="0" anchor="b">
            <a:normAutofit/>
          </a:bodyPr>
          <a:lstStyle/>
          <a:p>
            <a:pPr algn="ctr" defTabSz="914400">
              <a:lnSpc>
                <a:spcPct val="90000"/>
              </a:lnSpc>
              <a:spcBef>
                <a:spcPct val="0"/>
              </a:spcBef>
              <a:spcAft>
                <a:spcPts val="600"/>
              </a:spcAft>
            </a:pPr>
            <a:r>
              <a:rPr lang="en-US" sz="5400" b="1">
                <a:solidFill>
                  <a:srgbClr val="FFFFFF"/>
                </a:solidFill>
                <a:latin typeface="+mj-lt"/>
                <a:ea typeface="+mj-ea"/>
                <a:cs typeface="+mj-cs"/>
              </a:rPr>
              <a:t>WTF is „Prefetch“ ?</a:t>
            </a:r>
          </a:p>
        </p:txBody>
      </p:sp>
      <p:cxnSp>
        <p:nvCxnSpPr>
          <p:cNvPr id="17" name="Straight Connector 1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6" name="Grafik 5" descr="Ein Bild, das Screenshot enthält.&#10;&#10;Automatisch generierte Beschreibung">
            <a:extLst>
              <a:ext uri="{FF2B5EF4-FFF2-40B4-BE49-F238E27FC236}">
                <a16:creationId xmlns:a16="http://schemas.microsoft.com/office/drawing/2014/main" id="{31A39BCA-EEB1-4916-A1FC-F79F270B176A}"/>
              </a:ext>
            </a:extLst>
          </p:cNvPr>
          <p:cNvPicPr>
            <a:picLocks noChangeAspect="1"/>
          </p:cNvPicPr>
          <p:nvPr/>
        </p:nvPicPr>
        <p:blipFill rotWithShape="1">
          <a:blip r:embed="rId2">
            <a:extLst>
              <a:ext uri="{28A0092B-C50C-407E-A947-70E740481C1C}">
                <a14:useLocalDpi xmlns:a14="http://schemas.microsoft.com/office/drawing/2010/main" val="0"/>
              </a:ext>
            </a:extLst>
          </a:blip>
          <a:srcRect b="5098"/>
          <a:stretch/>
        </p:blipFill>
        <p:spPr>
          <a:xfrm>
            <a:off x="1137625" y="2426818"/>
            <a:ext cx="3843800" cy="3997637"/>
          </a:xfrm>
          <a:prstGeom prst="rect">
            <a:avLst/>
          </a:prstGeom>
        </p:spPr>
      </p:pic>
      <p:cxnSp>
        <p:nvCxnSpPr>
          <p:cNvPr id="15" name="Straight Connector 14">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5" name="Grafik 4" descr="Ein Bild, das Zeichnung enthält.&#10;&#10;Automatisch generierte Beschreibung">
            <a:extLst>
              <a:ext uri="{FF2B5EF4-FFF2-40B4-BE49-F238E27FC236}">
                <a16:creationId xmlns:a16="http://schemas.microsoft.com/office/drawing/2014/main" id="{718D0B8A-3BFC-4854-9215-9E3D9D62F7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5073" y="3061657"/>
            <a:ext cx="5455917" cy="2727958"/>
          </a:xfrm>
          <a:prstGeom prst="rect">
            <a:avLst/>
          </a:prstGeom>
        </p:spPr>
      </p:pic>
      <p:sp>
        <p:nvSpPr>
          <p:cNvPr id="7" name="Rechteck 6">
            <a:extLst>
              <a:ext uri="{FF2B5EF4-FFF2-40B4-BE49-F238E27FC236}">
                <a16:creationId xmlns:a16="http://schemas.microsoft.com/office/drawing/2014/main" id="{E7363CA1-ABA8-4C69-B741-A5B94331323F}"/>
              </a:ext>
            </a:extLst>
          </p:cNvPr>
          <p:cNvSpPr/>
          <p:nvPr/>
        </p:nvSpPr>
        <p:spPr>
          <a:xfrm>
            <a:off x="8877300" y="5149850"/>
            <a:ext cx="2711446" cy="546100"/>
          </a:xfrm>
          <a:prstGeom prst="rect">
            <a:avLst/>
          </a:prstGeom>
          <a:solidFill>
            <a:srgbClr val="302D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8589798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745232" y="-3027435"/>
            <a:ext cx="9418320" cy="4041648"/>
          </a:xfrm>
        </p:spPr>
        <p:txBody>
          <a:bodyPr/>
          <a:lstStyle/>
          <a:p>
            <a:r>
              <a:rPr lang="de-DE" dirty="0"/>
              <a:t>Speicherberechnung</a:t>
            </a:r>
          </a:p>
        </p:txBody>
      </p:sp>
      <p:pic>
        <p:nvPicPr>
          <p:cNvPr id="6" name="Grafik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9575" y="2616726"/>
            <a:ext cx="4286250" cy="3486150"/>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pic>
        <p:nvPicPr>
          <p:cNvPr id="7" name="Grafik 6">
            <a:extLst>
              <a:ext uri="{FF2B5EF4-FFF2-40B4-BE49-F238E27FC236}">
                <a16:creationId xmlns:a16="http://schemas.microsoft.com/office/drawing/2014/main" id="{016E7E32-0605-4B28-AF5B-D96A18CCED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5635" y="3009936"/>
            <a:ext cx="6836994" cy="2194306"/>
          </a:xfrm>
          <a:prstGeom prst="rect">
            <a:avLst/>
          </a:prstGeom>
        </p:spPr>
      </p:pic>
      <p:sp>
        <p:nvSpPr>
          <p:cNvPr id="8" name="Textfeld 7">
            <a:extLst>
              <a:ext uri="{FF2B5EF4-FFF2-40B4-BE49-F238E27FC236}">
                <a16:creationId xmlns:a16="http://schemas.microsoft.com/office/drawing/2014/main" id="{048FB21B-93DB-4981-88C6-19020419A664}"/>
              </a:ext>
            </a:extLst>
          </p:cNvPr>
          <p:cNvSpPr txBox="1"/>
          <p:nvPr/>
        </p:nvSpPr>
        <p:spPr>
          <a:xfrm>
            <a:off x="5367315" y="1425329"/>
            <a:ext cx="6147196" cy="923330"/>
          </a:xfrm>
          <a:prstGeom prst="rect">
            <a:avLst/>
          </a:prstGeom>
        </p:spPr>
        <p:style>
          <a:lnRef idx="0">
            <a:schemeClr val="accent5"/>
          </a:lnRef>
          <a:fillRef idx="3">
            <a:schemeClr val="accent5"/>
          </a:fillRef>
          <a:effectRef idx="3">
            <a:schemeClr val="accent5"/>
          </a:effectRef>
          <a:fontRef idx="minor">
            <a:schemeClr val="lt1"/>
          </a:fontRef>
        </p:style>
        <p:txBody>
          <a:bodyPr wrap="none" rtlCol="0">
            <a:spAutoFit/>
          </a:bodyPr>
          <a:lstStyle/>
          <a:p>
            <a:r>
              <a:rPr lang="de-DE" dirty="0" err="1"/>
              <a:t>Prefetch</a:t>
            </a:r>
            <a:r>
              <a:rPr lang="de-DE" dirty="0"/>
              <a:t> x interner Speichertakt x Bitbreite</a:t>
            </a:r>
          </a:p>
          <a:p>
            <a:r>
              <a:rPr lang="de-DE" dirty="0"/>
              <a:t>---------------------------------------------------------- = MBytes / Sekunde</a:t>
            </a:r>
          </a:p>
          <a:p>
            <a:r>
              <a:rPr lang="de-DE" dirty="0"/>
              <a:t>				8</a:t>
            </a:r>
          </a:p>
        </p:txBody>
      </p:sp>
      <p:sp>
        <p:nvSpPr>
          <p:cNvPr id="15" name="Textfeld 14">
            <a:extLst>
              <a:ext uri="{FF2B5EF4-FFF2-40B4-BE49-F238E27FC236}">
                <a16:creationId xmlns:a16="http://schemas.microsoft.com/office/drawing/2014/main" id="{A0E045FB-AFF5-4135-9022-2E0923B7076E}"/>
              </a:ext>
            </a:extLst>
          </p:cNvPr>
          <p:cNvSpPr txBox="1"/>
          <p:nvPr/>
        </p:nvSpPr>
        <p:spPr>
          <a:xfrm>
            <a:off x="5367315" y="5432671"/>
            <a:ext cx="2215222" cy="923330"/>
          </a:xfrm>
          <a:prstGeom prst="rect">
            <a:avLst/>
          </a:prstGeom>
        </p:spPr>
        <p:style>
          <a:lnRef idx="0">
            <a:schemeClr val="accent5"/>
          </a:lnRef>
          <a:fillRef idx="3">
            <a:schemeClr val="accent5"/>
          </a:fillRef>
          <a:effectRef idx="3">
            <a:schemeClr val="accent5"/>
          </a:effectRef>
          <a:fontRef idx="minor">
            <a:schemeClr val="lt1"/>
          </a:fontRef>
        </p:style>
        <p:txBody>
          <a:bodyPr wrap="none" rtlCol="0">
            <a:spAutoFit/>
          </a:bodyPr>
          <a:lstStyle/>
          <a:p>
            <a:r>
              <a:rPr lang="de-DE" dirty="0" err="1"/>
              <a:t>Prefetch</a:t>
            </a:r>
            <a:r>
              <a:rPr lang="de-DE" dirty="0"/>
              <a:t> DDR3/4 -&gt; 8 </a:t>
            </a:r>
          </a:p>
          <a:p>
            <a:r>
              <a:rPr lang="de-DE" dirty="0"/>
              <a:t>DDR5 -&gt; 16</a:t>
            </a:r>
          </a:p>
          <a:p>
            <a:r>
              <a:rPr lang="de-DE" dirty="0"/>
              <a:t>Bitbreite -&gt; 64 Bit</a:t>
            </a:r>
          </a:p>
        </p:txBody>
      </p:sp>
    </p:spTree>
    <p:extLst>
      <p:ext uri="{BB962C8B-B14F-4D97-AF65-F5344CB8AC3E}">
        <p14:creationId xmlns:p14="http://schemas.microsoft.com/office/powerpoint/2010/main" val="20840447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5FC90CE9-C5E9-9097-737E-5D1CB7ABEFE9}"/>
              </a:ext>
            </a:extLst>
          </p:cNvPr>
          <p:cNvPicPr>
            <a:picLocks noChangeAspect="1"/>
          </p:cNvPicPr>
          <p:nvPr/>
        </p:nvPicPr>
        <p:blipFill>
          <a:blip r:embed="rId2"/>
          <a:stretch>
            <a:fillRect/>
          </a:stretch>
        </p:blipFill>
        <p:spPr>
          <a:xfrm>
            <a:off x="545828" y="335674"/>
            <a:ext cx="10376369" cy="3848137"/>
          </a:xfrm>
          <a:prstGeom prst="rect">
            <a:avLst/>
          </a:prstGeom>
        </p:spPr>
      </p:pic>
      <p:pic>
        <p:nvPicPr>
          <p:cNvPr id="4" name="Grafik 3">
            <a:extLst>
              <a:ext uri="{FF2B5EF4-FFF2-40B4-BE49-F238E27FC236}">
                <a16:creationId xmlns:a16="http://schemas.microsoft.com/office/drawing/2014/main" id="{98245ECB-EFC1-9FD1-005A-AAC18E5EF8FA}"/>
              </a:ext>
            </a:extLst>
          </p:cNvPr>
          <p:cNvPicPr>
            <a:picLocks noChangeAspect="1"/>
          </p:cNvPicPr>
          <p:nvPr/>
        </p:nvPicPr>
        <p:blipFill>
          <a:blip r:embed="rId3"/>
          <a:srcRect t="39173" r="35118" b="3518"/>
          <a:stretch/>
        </p:blipFill>
        <p:spPr>
          <a:xfrm>
            <a:off x="0" y="4477109"/>
            <a:ext cx="7910423" cy="2260121"/>
          </a:xfrm>
          <a:prstGeom prst="rect">
            <a:avLst/>
          </a:prstGeom>
        </p:spPr>
      </p:pic>
    </p:spTree>
    <p:extLst>
      <p:ext uri="{BB962C8B-B14F-4D97-AF65-F5344CB8AC3E}">
        <p14:creationId xmlns:p14="http://schemas.microsoft.com/office/powerpoint/2010/main" val="2994087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9CB831AE-63CE-4534-ACD1-F229DF37B769}"/>
              </a:ext>
            </a:extLst>
          </p:cNvPr>
          <p:cNvPicPr>
            <a:picLocks noChangeAspect="1"/>
          </p:cNvPicPr>
          <p:nvPr/>
        </p:nvPicPr>
        <p:blipFill>
          <a:blip r:embed="rId2"/>
          <a:stretch>
            <a:fillRect/>
          </a:stretch>
        </p:blipFill>
        <p:spPr>
          <a:xfrm>
            <a:off x="526961" y="324626"/>
            <a:ext cx="10835777" cy="2505659"/>
          </a:xfrm>
          <a:prstGeom prst="rect">
            <a:avLst/>
          </a:prstGeom>
        </p:spPr>
      </p:pic>
      <p:pic>
        <p:nvPicPr>
          <p:cNvPr id="3" name="Grafik 2">
            <a:extLst>
              <a:ext uri="{FF2B5EF4-FFF2-40B4-BE49-F238E27FC236}">
                <a16:creationId xmlns:a16="http://schemas.microsoft.com/office/drawing/2014/main" id="{A09891E6-4774-4588-A987-003D3B6CE0DF}"/>
              </a:ext>
            </a:extLst>
          </p:cNvPr>
          <p:cNvPicPr>
            <a:picLocks noChangeAspect="1"/>
          </p:cNvPicPr>
          <p:nvPr/>
        </p:nvPicPr>
        <p:blipFill rotWithShape="1">
          <a:blip r:embed="rId3"/>
          <a:srcRect b="60363"/>
          <a:stretch/>
        </p:blipFill>
        <p:spPr>
          <a:xfrm>
            <a:off x="596011" y="3066237"/>
            <a:ext cx="10613764" cy="1075777"/>
          </a:xfrm>
          <a:prstGeom prst="rect">
            <a:avLst/>
          </a:prstGeom>
        </p:spPr>
      </p:pic>
      <p:sp>
        <p:nvSpPr>
          <p:cNvPr id="5" name="Textfeld 4">
            <a:extLst>
              <a:ext uri="{FF2B5EF4-FFF2-40B4-BE49-F238E27FC236}">
                <a16:creationId xmlns:a16="http://schemas.microsoft.com/office/drawing/2014/main" id="{0EBB5C80-DFB1-CD19-9CE1-C4A06CCBA11F}"/>
              </a:ext>
            </a:extLst>
          </p:cNvPr>
          <p:cNvSpPr txBox="1"/>
          <p:nvPr/>
        </p:nvSpPr>
        <p:spPr>
          <a:xfrm>
            <a:off x="4510429" y="3772682"/>
            <a:ext cx="6094562" cy="369332"/>
          </a:xfrm>
          <a:prstGeom prst="rect">
            <a:avLst/>
          </a:prstGeom>
          <a:noFill/>
        </p:spPr>
        <p:txBody>
          <a:bodyPr wrap="square">
            <a:spAutoFit/>
          </a:bodyPr>
          <a:lstStyle/>
          <a:p>
            <a:r>
              <a:rPr lang="de-DE" b="1" i="0" dirty="0">
                <a:solidFill>
                  <a:srgbClr val="65656A"/>
                </a:solidFill>
                <a:effectLst/>
                <a:latin typeface="Ubuntu" panose="020B0504030602030204" pitchFamily="34" charset="0"/>
              </a:rPr>
              <a:t>ECC Funktion</a:t>
            </a:r>
            <a:r>
              <a:rPr lang="de-DE" b="0" i="0" dirty="0">
                <a:solidFill>
                  <a:srgbClr val="65656A"/>
                </a:solidFill>
                <a:effectLst/>
                <a:latin typeface="Ubuntu" panose="020B0504030602030204" pitchFamily="34" charset="0"/>
              </a:rPr>
              <a:t> (=Error </a:t>
            </a:r>
            <a:r>
              <a:rPr lang="de-DE" b="0" i="0" dirty="0" err="1">
                <a:solidFill>
                  <a:srgbClr val="65656A"/>
                </a:solidFill>
                <a:effectLst/>
                <a:latin typeface="Ubuntu" panose="020B0504030602030204" pitchFamily="34" charset="0"/>
              </a:rPr>
              <a:t>Correction</a:t>
            </a:r>
            <a:r>
              <a:rPr lang="de-DE" b="0" i="0" dirty="0">
                <a:solidFill>
                  <a:srgbClr val="65656A"/>
                </a:solidFill>
                <a:effectLst/>
                <a:latin typeface="Ubuntu" panose="020B0504030602030204" pitchFamily="34" charset="0"/>
              </a:rPr>
              <a:t> Code</a:t>
            </a:r>
            <a:endParaRPr lang="de-DE" dirty="0"/>
          </a:p>
        </p:txBody>
      </p:sp>
    </p:spTree>
    <p:extLst>
      <p:ext uri="{BB962C8B-B14F-4D97-AF65-F5344CB8AC3E}">
        <p14:creationId xmlns:p14="http://schemas.microsoft.com/office/powerpoint/2010/main" val="13715111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9CB831AE-63CE-4534-ACD1-F229DF37B769}"/>
              </a:ext>
            </a:extLst>
          </p:cNvPr>
          <p:cNvPicPr>
            <a:picLocks noChangeAspect="1"/>
          </p:cNvPicPr>
          <p:nvPr/>
        </p:nvPicPr>
        <p:blipFill>
          <a:blip r:embed="rId2"/>
          <a:stretch>
            <a:fillRect/>
          </a:stretch>
        </p:blipFill>
        <p:spPr>
          <a:xfrm>
            <a:off x="526961" y="324626"/>
            <a:ext cx="10835777" cy="2505659"/>
          </a:xfrm>
          <a:prstGeom prst="rect">
            <a:avLst/>
          </a:prstGeom>
        </p:spPr>
      </p:pic>
      <p:pic>
        <p:nvPicPr>
          <p:cNvPr id="3" name="Grafik 2">
            <a:extLst>
              <a:ext uri="{FF2B5EF4-FFF2-40B4-BE49-F238E27FC236}">
                <a16:creationId xmlns:a16="http://schemas.microsoft.com/office/drawing/2014/main" id="{A09891E6-4774-4588-A987-003D3B6CE0DF}"/>
              </a:ext>
            </a:extLst>
          </p:cNvPr>
          <p:cNvPicPr>
            <a:picLocks noChangeAspect="1"/>
          </p:cNvPicPr>
          <p:nvPr/>
        </p:nvPicPr>
        <p:blipFill rotWithShape="1">
          <a:blip r:embed="rId3"/>
          <a:srcRect b="60363"/>
          <a:stretch/>
        </p:blipFill>
        <p:spPr>
          <a:xfrm>
            <a:off x="596011" y="3066237"/>
            <a:ext cx="10613764" cy="1075777"/>
          </a:xfrm>
          <a:prstGeom prst="rect">
            <a:avLst/>
          </a:prstGeom>
        </p:spPr>
      </p:pic>
      <p:sp>
        <p:nvSpPr>
          <p:cNvPr id="4" name="Textfeld 3">
            <a:extLst>
              <a:ext uri="{FF2B5EF4-FFF2-40B4-BE49-F238E27FC236}">
                <a16:creationId xmlns:a16="http://schemas.microsoft.com/office/drawing/2014/main" id="{DBADA2C5-FAF6-4118-AD05-2E258B4094FA}"/>
              </a:ext>
            </a:extLst>
          </p:cNvPr>
          <p:cNvSpPr txBox="1"/>
          <p:nvPr/>
        </p:nvSpPr>
        <p:spPr>
          <a:xfrm>
            <a:off x="982225" y="4142014"/>
            <a:ext cx="10084364" cy="3416320"/>
          </a:xfrm>
          <a:prstGeom prst="rect">
            <a:avLst/>
          </a:prstGeom>
          <a:noFill/>
        </p:spPr>
        <p:txBody>
          <a:bodyPr wrap="none" rtlCol="0">
            <a:spAutoFit/>
          </a:bodyPr>
          <a:lstStyle/>
          <a:p>
            <a:r>
              <a:rPr lang="de-DE" dirty="0"/>
              <a:t>Da es sich um Triple-Channel Speicher handelt, muss die Formel angepasst werden.</a:t>
            </a:r>
          </a:p>
          <a:p>
            <a:r>
              <a:rPr lang="de-DE" dirty="0"/>
              <a:t>Da bei der Angabe DDR3-1333 bereits mit dem </a:t>
            </a:r>
            <a:r>
              <a:rPr lang="de-DE" dirty="0" err="1"/>
              <a:t>Prefetch</a:t>
            </a:r>
            <a:r>
              <a:rPr lang="de-DE" dirty="0"/>
              <a:t> 8 der Speichertakt (166 </a:t>
            </a:r>
            <a:r>
              <a:rPr lang="de-DE" dirty="0" err="1"/>
              <a:t>Mhz</a:t>
            </a:r>
            <a:r>
              <a:rPr lang="de-DE" dirty="0"/>
              <a:t>) multipliziert wurde,</a:t>
            </a:r>
          </a:p>
          <a:p>
            <a:r>
              <a:rPr lang="de-DE" dirty="0"/>
              <a:t>ergibt sich folgende Formel:</a:t>
            </a:r>
          </a:p>
          <a:p>
            <a:r>
              <a:rPr lang="de-DE" b="1" dirty="0">
                <a:highlight>
                  <a:srgbClr val="FFFF00"/>
                </a:highlight>
              </a:rPr>
              <a:t>Speichertakt x Bitbreite x 3 / 8</a:t>
            </a:r>
          </a:p>
          <a:p>
            <a:endParaRPr lang="de-DE" b="1" dirty="0"/>
          </a:p>
          <a:p>
            <a:r>
              <a:rPr lang="de-DE" b="1" dirty="0"/>
              <a:t>1333	       x 64          x 3 / 8 = 31.992 MB pro Sek. /1000 = </a:t>
            </a:r>
            <a:r>
              <a:rPr lang="de-DE" b="1" dirty="0">
                <a:highlight>
                  <a:srgbClr val="FFFF00"/>
                </a:highlight>
              </a:rPr>
              <a:t>31,992 GB pro Sekunde (32GB)</a:t>
            </a:r>
          </a:p>
          <a:p>
            <a:endParaRPr lang="de-DE" dirty="0"/>
          </a:p>
          <a:p>
            <a:r>
              <a:rPr lang="de-DE" dirty="0"/>
              <a:t>Es muss hier mit dem Dezimalpräfix (1000) dividiert werden, weil es sich hierbei um eine </a:t>
            </a:r>
          </a:p>
          <a:p>
            <a:r>
              <a:rPr lang="de-DE" dirty="0"/>
              <a:t>Datenübertragungsrate handelt.	</a:t>
            </a:r>
          </a:p>
          <a:p>
            <a:endParaRPr lang="de-DE" dirty="0"/>
          </a:p>
          <a:p>
            <a:endParaRPr lang="de-DE" dirty="0"/>
          </a:p>
          <a:p>
            <a:endParaRPr lang="de-DE" dirty="0"/>
          </a:p>
        </p:txBody>
      </p:sp>
    </p:spTree>
    <p:extLst>
      <p:ext uri="{BB962C8B-B14F-4D97-AF65-F5344CB8AC3E}">
        <p14:creationId xmlns:p14="http://schemas.microsoft.com/office/powerpoint/2010/main" val="2237714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AF9BDAD6-6E16-4825-BC80-68E754CE67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521" y="394750"/>
            <a:ext cx="11550958" cy="58476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Grafik 4">
            <a:extLst>
              <a:ext uri="{FF2B5EF4-FFF2-40B4-BE49-F238E27FC236}">
                <a16:creationId xmlns:a16="http://schemas.microsoft.com/office/drawing/2014/main" id="{53326DE9-DAE7-4E18-BD7C-4A08D3602C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9009072">
            <a:off x="726675" y="1330733"/>
            <a:ext cx="2528367" cy="1011348"/>
          </a:xfrm>
          <a:prstGeom prst="rect">
            <a:avLst/>
          </a:prstGeom>
        </p:spPr>
      </p:pic>
      <p:sp>
        <p:nvSpPr>
          <p:cNvPr id="2" name="Textfeld 1">
            <a:extLst>
              <a:ext uri="{FF2B5EF4-FFF2-40B4-BE49-F238E27FC236}">
                <a16:creationId xmlns:a16="http://schemas.microsoft.com/office/drawing/2014/main" id="{372A66DE-741F-4171-B87C-D06F93B280CA}"/>
              </a:ext>
            </a:extLst>
          </p:cNvPr>
          <p:cNvSpPr txBox="1"/>
          <p:nvPr/>
        </p:nvSpPr>
        <p:spPr>
          <a:xfrm>
            <a:off x="3915508" y="6353907"/>
            <a:ext cx="4691092" cy="369332"/>
          </a:xfrm>
          <a:prstGeom prst="rect">
            <a:avLst/>
          </a:prstGeom>
          <a:noFill/>
        </p:spPr>
        <p:txBody>
          <a:bodyPr wrap="none" rtlCol="0">
            <a:spAutoFit/>
          </a:bodyPr>
          <a:lstStyle/>
          <a:p>
            <a:r>
              <a:rPr lang="de-DE" dirty="0"/>
              <a:t>Mainboard aus der Aufgabe mit Triple-Channel</a:t>
            </a:r>
          </a:p>
        </p:txBody>
      </p:sp>
      <p:sp>
        <p:nvSpPr>
          <p:cNvPr id="3" name="Pfeil: nach unten 2">
            <a:extLst>
              <a:ext uri="{FF2B5EF4-FFF2-40B4-BE49-F238E27FC236}">
                <a16:creationId xmlns:a16="http://schemas.microsoft.com/office/drawing/2014/main" id="{B32FDCE3-DE9D-4E0B-BA7C-120D101CC661}"/>
              </a:ext>
            </a:extLst>
          </p:cNvPr>
          <p:cNvSpPr/>
          <p:nvPr/>
        </p:nvSpPr>
        <p:spPr>
          <a:xfrm rot="18447379">
            <a:off x="2446215" y="2227385"/>
            <a:ext cx="406400" cy="26572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4295489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533670FB-C296-4BFF-AFC3-BE5238C63799}"/>
              </a:ext>
            </a:extLst>
          </p:cNvPr>
          <p:cNvPicPr>
            <a:picLocks noChangeAspect="1"/>
          </p:cNvPicPr>
          <p:nvPr/>
        </p:nvPicPr>
        <p:blipFill>
          <a:blip r:embed="rId2">
            <a:lum bright="-20000" contrast="20000"/>
          </a:blip>
          <a:stretch>
            <a:fillRect/>
          </a:stretch>
        </p:blipFill>
        <p:spPr>
          <a:xfrm>
            <a:off x="144254" y="180473"/>
            <a:ext cx="7862321" cy="1454949"/>
          </a:xfrm>
          <a:prstGeom prst="rect">
            <a:avLst/>
          </a:prstGeom>
        </p:spPr>
      </p:pic>
      <p:pic>
        <p:nvPicPr>
          <p:cNvPr id="5" name="Grafik 4">
            <a:extLst>
              <a:ext uri="{FF2B5EF4-FFF2-40B4-BE49-F238E27FC236}">
                <a16:creationId xmlns:a16="http://schemas.microsoft.com/office/drawing/2014/main" id="{8129421D-AB74-44E6-8517-34342541F473}"/>
              </a:ext>
            </a:extLst>
          </p:cNvPr>
          <p:cNvPicPr>
            <a:picLocks noChangeAspect="1"/>
          </p:cNvPicPr>
          <p:nvPr/>
        </p:nvPicPr>
        <p:blipFill>
          <a:blip r:embed="rId3">
            <a:lum bright="-20000" contrast="20000"/>
          </a:blip>
          <a:stretch>
            <a:fillRect/>
          </a:stretch>
        </p:blipFill>
        <p:spPr>
          <a:xfrm>
            <a:off x="368819" y="2185467"/>
            <a:ext cx="7498366" cy="366768"/>
          </a:xfrm>
          <a:prstGeom prst="rect">
            <a:avLst/>
          </a:prstGeom>
        </p:spPr>
      </p:pic>
      <p:pic>
        <p:nvPicPr>
          <p:cNvPr id="7" name="Grafik 6">
            <a:extLst>
              <a:ext uri="{FF2B5EF4-FFF2-40B4-BE49-F238E27FC236}">
                <a16:creationId xmlns:a16="http://schemas.microsoft.com/office/drawing/2014/main" id="{B207548E-9B5B-42B2-A3B0-24F35DC3EE16}"/>
              </a:ext>
            </a:extLst>
          </p:cNvPr>
          <p:cNvPicPr>
            <a:picLocks noChangeAspect="1"/>
          </p:cNvPicPr>
          <p:nvPr/>
        </p:nvPicPr>
        <p:blipFill>
          <a:blip r:embed="rId4">
            <a:lum bright="-20000" contrast="20000"/>
          </a:blip>
          <a:stretch>
            <a:fillRect/>
          </a:stretch>
        </p:blipFill>
        <p:spPr>
          <a:xfrm>
            <a:off x="368819" y="3385510"/>
            <a:ext cx="7498366" cy="708936"/>
          </a:xfrm>
          <a:prstGeom prst="rect">
            <a:avLst/>
          </a:prstGeom>
        </p:spPr>
      </p:pic>
      <p:pic>
        <p:nvPicPr>
          <p:cNvPr id="9" name="Grafik 8">
            <a:extLst>
              <a:ext uri="{FF2B5EF4-FFF2-40B4-BE49-F238E27FC236}">
                <a16:creationId xmlns:a16="http://schemas.microsoft.com/office/drawing/2014/main" id="{834883CC-3796-4E90-8794-8CECAD5C7A38}"/>
              </a:ext>
            </a:extLst>
          </p:cNvPr>
          <p:cNvPicPr>
            <a:picLocks noChangeAspect="1"/>
          </p:cNvPicPr>
          <p:nvPr/>
        </p:nvPicPr>
        <p:blipFill>
          <a:blip r:embed="rId5">
            <a:lum bright="-20000" contrast="20000"/>
          </a:blip>
          <a:stretch>
            <a:fillRect/>
          </a:stretch>
        </p:blipFill>
        <p:spPr>
          <a:xfrm>
            <a:off x="425776" y="5006339"/>
            <a:ext cx="7296443" cy="934939"/>
          </a:xfrm>
          <a:prstGeom prst="rect">
            <a:avLst/>
          </a:prstGeom>
        </p:spPr>
      </p:pic>
    </p:spTree>
    <p:extLst>
      <p:ext uri="{BB962C8B-B14F-4D97-AF65-F5344CB8AC3E}">
        <p14:creationId xmlns:p14="http://schemas.microsoft.com/office/powerpoint/2010/main" val="29663322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533670FB-C296-4BFF-AFC3-BE5238C63799}"/>
              </a:ext>
            </a:extLst>
          </p:cNvPr>
          <p:cNvPicPr>
            <a:picLocks noChangeAspect="1"/>
          </p:cNvPicPr>
          <p:nvPr/>
        </p:nvPicPr>
        <p:blipFill>
          <a:blip r:embed="rId2"/>
          <a:stretch>
            <a:fillRect/>
          </a:stretch>
        </p:blipFill>
        <p:spPr>
          <a:xfrm>
            <a:off x="144254" y="180473"/>
            <a:ext cx="7862321" cy="1454949"/>
          </a:xfrm>
          <a:prstGeom prst="rect">
            <a:avLst/>
          </a:prstGeom>
        </p:spPr>
      </p:pic>
      <p:pic>
        <p:nvPicPr>
          <p:cNvPr id="5" name="Grafik 4">
            <a:extLst>
              <a:ext uri="{FF2B5EF4-FFF2-40B4-BE49-F238E27FC236}">
                <a16:creationId xmlns:a16="http://schemas.microsoft.com/office/drawing/2014/main" id="{8129421D-AB74-44E6-8517-34342541F473}"/>
              </a:ext>
            </a:extLst>
          </p:cNvPr>
          <p:cNvPicPr>
            <a:picLocks noChangeAspect="1"/>
          </p:cNvPicPr>
          <p:nvPr/>
        </p:nvPicPr>
        <p:blipFill>
          <a:blip r:embed="rId3"/>
          <a:stretch>
            <a:fillRect/>
          </a:stretch>
        </p:blipFill>
        <p:spPr>
          <a:xfrm>
            <a:off x="368819" y="2185467"/>
            <a:ext cx="7498366" cy="366768"/>
          </a:xfrm>
          <a:prstGeom prst="rect">
            <a:avLst/>
          </a:prstGeom>
        </p:spPr>
      </p:pic>
      <p:pic>
        <p:nvPicPr>
          <p:cNvPr id="7" name="Grafik 6">
            <a:extLst>
              <a:ext uri="{FF2B5EF4-FFF2-40B4-BE49-F238E27FC236}">
                <a16:creationId xmlns:a16="http://schemas.microsoft.com/office/drawing/2014/main" id="{B207548E-9B5B-42B2-A3B0-24F35DC3EE16}"/>
              </a:ext>
            </a:extLst>
          </p:cNvPr>
          <p:cNvPicPr>
            <a:picLocks noChangeAspect="1"/>
          </p:cNvPicPr>
          <p:nvPr/>
        </p:nvPicPr>
        <p:blipFill>
          <a:blip r:embed="rId4"/>
          <a:stretch>
            <a:fillRect/>
          </a:stretch>
        </p:blipFill>
        <p:spPr>
          <a:xfrm>
            <a:off x="368819" y="3385510"/>
            <a:ext cx="7498366" cy="708936"/>
          </a:xfrm>
          <a:prstGeom prst="rect">
            <a:avLst/>
          </a:prstGeom>
        </p:spPr>
      </p:pic>
      <p:pic>
        <p:nvPicPr>
          <p:cNvPr id="9" name="Grafik 8">
            <a:extLst>
              <a:ext uri="{FF2B5EF4-FFF2-40B4-BE49-F238E27FC236}">
                <a16:creationId xmlns:a16="http://schemas.microsoft.com/office/drawing/2014/main" id="{834883CC-3796-4E90-8794-8CECAD5C7A38}"/>
              </a:ext>
            </a:extLst>
          </p:cNvPr>
          <p:cNvPicPr>
            <a:picLocks noChangeAspect="1"/>
          </p:cNvPicPr>
          <p:nvPr/>
        </p:nvPicPr>
        <p:blipFill>
          <a:blip r:embed="rId5"/>
          <a:stretch>
            <a:fillRect/>
          </a:stretch>
        </p:blipFill>
        <p:spPr>
          <a:xfrm>
            <a:off x="425776" y="5006339"/>
            <a:ext cx="7296443" cy="934939"/>
          </a:xfrm>
          <a:prstGeom prst="rect">
            <a:avLst/>
          </a:prstGeom>
        </p:spPr>
      </p:pic>
      <p:pic>
        <p:nvPicPr>
          <p:cNvPr id="4" name="Grafik 3">
            <a:extLst>
              <a:ext uri="{FF2B5EF4-FFF2-40B4-BE49-F238E27FC236}">
                <a16:creationId xmlns:a16="http://schemas.microsoft.com/office/drawing/2014/main" id="{4D8F7C0B-ACA9-4FCF-BACE-4CD4D2530428}"/>
              </a:ext>
            </a:extLst>
          </p:cNvPr>
          <p:cNvPicPr>
            <a:picLocks noChangeAspect="1"/>
          </p:cNvPicPr>
          <p:nvPr/>
        </p:nvPicPr>
        <p:blipFill>
          <a:blip r:embed="rId6"/>
          <a:stretch>
            <a:fillRect/>
          </a:stretch>
        </p:blipFill>
        <p:spPr>
          <a:xfrm>
            <a:off x="300883" y="1683148"/>
            <a:ext cx="7371156" cy="542739"/>
          </a:xfrm>
          <a:prstGeom prst="rect">
            <a:avLst/>
          </a:prstGeom>
        </p:spPr>
      </p:pic>
      <p:pic>
        <p:nvPicPr>
          <p:cNvPr id="8" name="Grafik 7">
            <a:extLst>
              <a:ext uri="{FF2B5EF4-FFF2-40B4-BE49-F238E27FC236}">
                <a16:creationId xmlns:a16="http://schemas.microsoft.com/office/drawing/2014/main" id="{A42EB0CA-F1F1-41E8-8D6A-F428C53FDDD9}"/>
              </a:ext>
            </a:extLst>
          </p:cNvPr>
          <p:cNvPicPr>
            <a:picLocks noChangeAspect="1"/>
          </p:cNvPicPr>
          <p:nvPr/>
        </p:nvPicPr>
        <p:blipFill>
          <a:blip r:embed="rId7"/>
          <a:stretch>
            <a:fillRect/>
          </a:stretch>
        </p:blipFill>
        <p:spPr>
          <a:xfrm>
            <a:off x="368819" y="2631248"/>
            <a:ext cx="7353400" cy="414276"/>
          </a:xfrm>
          <a:prstGeom prst="rect">
            <a:avLst/>
          </a:prstGeom>
        </p:spPr>
      </p:pic>
      <p:pic>
        <p:nvPicPr>
          <p:cNvPr id="11" name="Grafik 10">
            <a:extLst>
              <a:ext uri="{FF2B5EF4-FFF2-40B4-BE49-F238E27FC236}">
                <a16:creationId xmlns:a16="http://schemas.microsoft.com/office/drawing/2014/main" id="{F4218A80-34A5-4178-BE36-9ACCB326884D}"/>
              </a:ext>
            </a:extLst>
          </p:cNvPr>
          <p:cNvPicPr>
            <a:picLocks noChangeAspect="1"/>
          </p:cNvPicPr>
          <p:nvPr/>
        </p:nvPicPr>
        <p:blipFill>
          <a:blip r:embed="rId8"/>
          <a:stretch>
            <a:fillRect/>
          </a:stretch>
        </p:blipFill>
        <p:spPr>
          <a:xfrm>
            <a:off x="2837098" y="3878799"/>
            <a:ext cx="3507471" cy="934939"/>
          </a:xfrm>
          <a:prstGeom prst="rect">
            <a:avLst/>
          </a:prstGeom>
        </p:spPr>
      </p:pic>
      <p:pic>
        <p:nvPicPr>
          <p:cNvPr id="13" name="Grafik 12">
            <a:extLst>
              <a:ext uri="{FF2B5EF4-FFF2-40B4-BE49-F238E27FC236}">
                <a16:creationId xmlns:a16="http://schemas.microsoft.com/office/drawing/2014/main" id="{0FDED49A-9D70-48F1-B420-48736462BC07}"/>
              </a:ext>
            </a:extLst>
          </p:cNvPr>
          <p:cNvPicPr>
            <a:picLocks noChangeAspect="1"/>
          </p:cNvPicPr>
          <p:nvPr/>
        </p:nvPicPr>
        <p:blipFill>
          <a:blip r:embed="rId9"/>
          <a:stretch>
            <a:fillRect/>
          </a:stretch>
        </p:blipFill>
        <p:spPr>
          <a:xfrm>
            <a:off x="852181" y="5961549"/>
            <a:ext cx="4412763" cy="715977"/>
          </a:xfrm>
          <a:prstGeom prst="rect">
            <a:avLst/>
          </a:prstGeom>
        </p:spPr>
      </p:pic>
      <p:pic>
        <p:nvPicPr>
          <p:cNvPr id="2" name="Grafik 1">
            <a:extLst>
              <a:ext uri="{FF2B5EF4-FFF2-40B4-BE49-F238E27FC236}">
                <a16:creationId xmlns:a16="http://schemas.microsoft.com/office/drawing/2014/main" id="{34C296C2-5871-BEF1-5EF4-E4FF3A3DC81A}"/>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t="18808" b="20558"/>
          <a:stretch/>
        </p:blipFill>
        <p:spPr>
          <a:xfrm>
            <a:off x="5712957" y="73123"/>
            <a:ext cx="5730591" cy="1240790"/>
          </a:xfrm>
          <a:prstGeom prst="rect">
            <a:avLst/>
          </a:prstGeom>
        </p:spPr>
      </p:pic>
    </p:spTree>
    <p:extLst>
      <p:ext uri="{BB962C8B-B14F-4D97-AF65-F5344CB8AC3E}">
        <p14:creationId xmlns:p14="http://schemas.microsoft.com/office/powerpoint/2010/main" val="3673372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4F4B6618-187B-EE91-3C48-1888675D0E43}"/>
              </a:ext>
            </a:extLst>
          </p:cNvPr>
          <p:cNvPicPr>
            <a:picLocks noChangeAspect="1"/>
          </p:cNvPicPr>
          <p:nvPr/>
        </p:nvPicPr>
        <p:blipFill>
          <a:blip r:embed="rId2"/>
          <a:stretch>
            <a:fillRect/>
          </a:stretch>
        </p:blipFill>
        <p:spPr>
          <a:xfrm>
            <a:off x="0" y="1457157"/>
            <a:ext cx="12192000" cy="3943685"/>
          </a:xfrm>
          <a:prstGeom prst="rect">
            <a:avLst/>
          </a:prstGeom>
        </p:spPr>
      </p:pic>
    </p:spTree>
    <p:extLst>
      <p:ext uri="{BB962C8B-B14F-4D97-AF65-F5344CB8AC3E}">
        <p14:creationId xmlns:p14="http://schemas.microsoft.com/office/powerpoint/2010/main" val="30103599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4F4B6618-187B-EE91-3C48-1888675D0E43}"/>
              </a:ext>
            </a:extLst>
          </p:cNvPr>
          <p:cNvPicPr>
            <a:picLocks noChangeAspect="1"/>
          </p:cNvPicPr>
          <p:nvPr/>
        </p:nvPicPr>
        <p:blipFill>
          <a:blip r:embed="rId2"/>
          <a:stretch>
            <a:fillRect/>
          </a:stretch>
        </p:blipFill>
        <p:spPr>
          <a:xfrm>
            <a:off x="0" y="1457157"/>
            <a:ext cx="12192000" cy="3943685"/>
          </a:xfrm>
          <a:prstGeom prst="rect">
            <a:avLst/>
          </a:prstGeom>
        </p:spPr>
      </p:pic>
      <p:sp>
        <p:nvSpPr>
          <p:cNvPr id="4" name="Textfeld 3">
            <a:extLst>
              <a:ext uri="{FF2B5EF4-FFF2-40B4-BE49-F238E27FC236}">
                <a16:creationId xmlns:a16="http://schemas.microsoft.com/office/drawing/2014/main" id="{4CA8F37A-2006-FDAF-BECB-7839E6B68E56}"/>
              </a:ext>
            </a:extLst>
          </p:cNvPr>
          <p:cNvSpPr txBox="1"/>
          <p:nvPr/>
        </p:nvSpPr>
        <p:spPr>
          <a:xfrm>
            <a:off x="4659549" y="3540868"/>
            <a:ext cx="710451" cy="369332"/>
          </a:xfrm>
          <a:prstGeom prst="rect">
            <a:avLst/>
          </a:prstGeom>
          <a:noFill/>
        </p:spPr>
        <p:txBody>
          <a:bodyPr wrap="none" rtlCol="0">
            <a:spAutoFit/>
          </a:bodyPr>
          <a:lstStyle/>
          <a:p>
            <a:r>
              <a:rPr lang="de-DE" dirty="0"/>
              <a:t>3.200</a:t>
            </a:r>
          </a:p>
        </p:txBody>
      </p:sp>
      <p:sp>
        <p:nvSpPr>
          <p:cNvPr id="5" name="Textfeld 4">
            <a:extLst>
              <a:ext uri="{FF2B5EF4-FFF2-40B4-BE49-F238E27FC236}">
                <a16:creationId xmlns:a16="http://schemas.microsoft.com/office/drawing/2014/main" id="{938CB231-D167-D715-7ACD-49E9EA9566A9}"/>
              </a:ext>
            </a:extLst>
          </p:cNvPr>
          <p:cNvSpPr txBox="1"/>
          <p:nvPr/>
        </p:nvSpPr>
        <p:spPr>
          <a:xfrm>
            <a:off x="4659548" y="4101523"/>
            <a:ext cx="593432" cy="369332"/>
          </a:xfrm>
          <a:prstGeom prst="rect">
            <a:avLst/>
          </a:prstGeom>
          <a:noFill/>
        </p:spPr>
        <p:txBody>
          <a:bodyPr wrap="none" rtlCol="0">
            <a:spAutoFit/>
          </a:bodyPr>
          <a:lstStyle/>
          <a:p>
            <a:r>
              <a:rPr lang="de-DE" dirty="0"/>
              <a:t>25,6</a:t>
            </a:r>
          </a:p>
        </p:txBody>
      </p:sp>
      <p:sp>
        <p:nvSpPr>
          <p:cNvPr id="6" name="Textfeld 5">
            <a:extLst>
              <a:ext uri="{FF2B5EF4-FFF2-40B4-BE49-F238E27FC236}">
                <a16:creationId xmlns:a16="http://schemas.microsoft.com/office/drawing/2014/main" id="{ED15BC50-A401-ECBA-4F00-D33FC02DDC58}"/>
              </a:ext>
            </a:extLst>
          </p:cNvPr>
          <p:cNvSpPr txBox="1"/>
          <p:nvPr/>
        </p:nvSpPr>
        <p:spPr>
          <a:xfrm>
            <a:off x="4659548" y="4662178"/>
            <a:ext cx="418704" cy="369332"/>
          </a:xfrm>
          <a:prstGeom prst="rect">
            <a:avLst/>
          </a:prstGeom>
          <a:noFill/>
        </p:spPr>
        <p:txBody>
          <a:bodyPr wrap="none" rtlCol="0">
            <a:spAutoFit/>
          </a:bodyPr>
          <a:lstStyle/>
          <a:p>
            <a:r>
              <a:rPr lang="de-DE" dirty="0"/>
              <a:t>16</a:t>
            </a:r>
          </a:p>
        </p:txBody>
      </p:sp>
    </p:spTree>
    <p:extLst>
      <p:ext uri="{BB962C8B-B14F-4D97-AF65-F5344CB8AC3E}">
        <p14:creationId xmlns:p14="http://schemas.microsoft.com/office/powerpoint/2010/main" val="4196755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3500438" y="2014536"/>
            <a:ext cx="4418197" cy="2646878"/>
          </a:xfrm>
          <a:prstGeom prst="rect">
            <a:avLst/>
          </a:prstGeom>
          <a:noFill/>
        </p:spPr>
        <p:txBody>
          <a:bodyPr wrap="none" rtlCol="0">
            <a:spAutoFit/>
          </a:bodyPr>
          <a:lstStyle/>
          <a:p>
            <a:r>
              <a:rPr lang="de-DE" sz="16600" dirty="0"/>
              <a:t>RAID</a:t>
            </a:r>
          </a:p>
        </p:txBody>
      </p:sp>
    </p:spTree>
    <p:extLst>
      <p:ext uri="{BB962C8B-B14F-4D97-AF65-F5344CB8AC3E}">
        <p14:creationId xmlns:p14="http://schemas.microsoft.com/office/powerpoint/2010/main" val="12387208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885D3292-BB03-4387-A3CB-EDF88BC51A90}"/>
              </a:ext>
            </a:extLst>
          </p:cNvPr>
          <p:cNvSpPr txBox="1"/>
          <p:nvPr/>
        </p:nvSpPr>
        <p:spPr>
          <a:xfrm>
            <a:off x="304399" y="179755"/>
            <a:ext cx="11452860" cy="2031325"/>
          </a:xfrm>
          <a:prstGeom prst="rect">
            <a:avLst/>
          </a:prstGeom>
          <a:noFill/>
        </p:spPr>
        <p:txBody>
          <a:bodyPr wrap="square">
            <a:spAutoFit/>
          </a:bodyPr>
          <a:lstStyle/>
          <a:p>
            <a:r>
              <a:rPr lang="de-DE" dirty="0"/>
              <a:t>Die Daten der </a:t>
            </a:r>
            <a:r>
              <a:rPr lang="de-DE" dirty="0" err="1"/>
              <a:t>spirlT</a:t>
            </a:r>
            <a:r>
              <a:rPr lang="de-DE" dirty="0"/>
              <a:t> GmbH werden zurzeit auf einem veralteten SAN mit einer Nettospeicherkapazität von 9 TiB gespeichert. Aufgrund des Alters und der Kapazitätsauslastung des Systems von 85 % hat man sich entschlossen, ein neues SAN-System zu beschaffen. Der jährliche Datenzuwachs beträgt 500 GiB.</a:t>
            </a:r>
          </a:p>
          <a:p>
            <a:r>
              <a:rPr lang="de-DE" dirty="0"/>
              <a:t>Berechnen Sie die benötigte Nettospeicherkapazität bei einer Übernahme des Altdatenbestands und einer geplanten Laufzeit des neuen SANs von vier Jahren unter Angabe des Rechenwegs.</a:t>
            </a:r>
          </a:p>
          <a:p>
            <a:endParaRPr lang="de-DE" dirty="0"/>
          </a:p>
          <a:p>
            <a:r>
              <a:rPr lang="de-DE" dirty="0"/>
              <a:t>Das Ergebnis ist in TiB anzugeben und auf eine Nachkommastelle zu runden.</a:t>
            </a:r>
          </a:p>
        </p:txBody>
      </p:sp>
      <p:sp>
        <p:nvSpPr>
          <p:cNvPr id="5" name="Textfeld 4">
            <a:extLst>
              <a:ext uri="{FF2B5EF4-FFF2-40B4-BE49-F238E27FC236}">
                <a16:creationId xmlns:a16="http://schemas.microsoft.com/office/drawing/2014/main" id="{C2408A89-307F-4DB3-8B83-A5CA02F7B886}"/>
              </a:ext>
            </a:extLst>
          </p:cNvPr>
          <p:cNvSpPr txBox="1"/>
          <p:nvPr/>
        </p:nvSpPr>
        <p:spPr>
          <a:xfrm>
            <a:off x="342900" y="2504256"/>
            <a:ext cx="3848902" cy="1477328"/>
          </a:xfrm>
          <a:prstGeom prst="rect">
            <a:avLst/>
          </a:prstGeom>
          <a:noFill/>
        </p:spPr>
        <p:txBody>
          <a:bodyPr wrap="square">
            <a:spAutoFit/>
          </a:bodyPr>
          <a:lstStyle/>
          <a:p>
            <a:r>
              <a:rPr lang="de-DE" b="1" dirty="0">
                <a:solidFill>
                  <a:srgbClr val="FF0000"/>
                </a:solidFill>
              </a:rPr>
              <a:t>Altdatenbestand: </a:t>
            </a:r>
          </a:p>
          <a:p>
            <a:r>
              <a:rPr lang="de-DE" b="1" dirty="0">
                <a:solidFill>
                  <a:srgbClr val="FF0000"/>
                </a:solidFill>
              </a:rPr>
              <a:t>Datenzuwachs in vier Jahren: Benötigter Speicherplatz: </a:t>
            </a:r>
          </a:p>
          <a:p>
            <a:r>
              <a:rPr lang="de-DE" b="1" dirty="0">
                <a:solidFill>
                  <a:srgbClr val="FF0000"/>
                </a:solidFill>
              </a:rPr>
              <a:t>Umrechnung in TiB: </a:t>
            </a:r>
          </a:p>
          <a:p>
            <a:r>
              <a:rPr lang="de-DE" b="1" dirty="0">
                <a:solidFill>
                  <a:srgbClr val="FF0000"/>
                </a:solidFill>
              </a:rPr>
              <a:t>Gerundet: </a:t>
            </a:r>
          </a:p>
        </p:txBody>
      </p:sp>
      <p:sp>
        <p:nvSpPr>
          <p:cNvPr id="7" name="Textfeld 6">
            <a:extLst>
              <a:ext uri="{FF2B5EF4-FFF2-40B4-BE49-F238E27FC236}">
                <a16:creationId xmlns:a16="http://schemas.microsoft.com/office/drawing/2014/main" id="{60824855-D389-4BF4-AD7F-E981C5C0D61A}"/>
              </a:ext>
            </a:extLst>
          </p:cNvPr>
          <p:cNvSpPr txBox="1"/>
          <p:nvPr/>
        </p:nvSpPr>
        <p:spPr>
          <a:xfrm>
            <a:off x="3331545" y="2505669"/>
            <a:ext cx="5581449" cy="1477328"/>
          </a:xfrm>
          <a:prstGeom prst="rect">
            <a:avLst/>
          </a:prstGeom>
          <a:noFill/>
        </p:spPr>
        <p:txBody>
          <a:bodyPr wrap="square">
            <a:spAutoFit/>
          </a:bodyPr>
          <a:lstStyle/>
          <a:p>
            <a:r>
              <a:rPr lang="de-DE" b="1" dirty="0">
                <a:solidFill>
                  <a:srgbClr val="FF0000"/>
                </a:solidFill>
              </a:rPr>
              <a:t>9 TiB * 0,85 * 1.024 = 7.833,6 GiB </a:t>
            </a:r>
          </a:p>
          <a:p>
            <a:r>
              <a:rPr lang="de-DE" b="1" dirty="0">
                <a:solidFill>
                  <a:srgbClr val="FF0000"/>
                </a:solidFill>
              </a:rPr>
              <a:t>500 GiB/Jahr x 4 Jahre = 2.000 GiB </a:t>
            </a:r>
          </a:p>
          <a:p>
            <a:r>
              <a:rPr lang="de-DE" b="1" dirty="0">
                <a:solidFill>
                  <a:srgbClr val="FF0000"/>
                </a:solidFill>
              </a:rPr>
              <a:t>7.833,6 GiB + 2.000 GiB = 9.833,6 GiB </a:t>
            </a:r>
          </a:p>
          <a:p>
            <a:r>
              <a:rPr lang="de-DE" b="1" dirty="0">
                <a:solidFill>
                  <a:srgbClr val="FF0000"/>
                </a:solidFill>
              </a:rPr>
              <a:t>9.833,6 GiB / 1.024 = 9,603125 TiB </a:t>
            </a:r>
          </a:p>
          <a:p>
            <a:r>
              <a:rPr lang="de-DE" b="1" dirty="0">
                <a:solidFill>
                  <a:srgbClr val="FF0000"/>
                </a:solidFill>
              </a:rPr>
              <a:t>9,7 TiB</a:t>
            </a:r>
          </a:p>
        </p:txBody>
      </p:sp>
    </p:spTree>
    <p:extLst>
      <p:ext uri="{BB962C8B-B14F-4D97-AF65-F5344CB8AC3E}">
        <p14:creationId xmlns:p14="http://schemas.microsoft.com/office/powerpoint/2010/main" val="1364658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p:cNvPicPr>
            <a:picLocks noChangeAspect="1"/>
          </p:cNvPicPr>
          <p:nvPr/>
        </p:nvPicPr>
        <p:blipFill>
          <a:blip r:embed="rId2" cstate="print"/>
          <a:stretch>
            <a:fillRect/>
          </a:stretch>
        </p:blipFill>
        <p:spPr>
          <a:xfrm>
            <a:off x="266787" y="986811"/>
            <a:ext cx="10171040" cy="2320616"/>
          </a:xfrm>
          <a:prstGeom prst="rect">
            <a:avLst/>
          </a:prstGeom>
        </p:spPr>
      </p:pic>
      <p:pic>
        <p:nvPicPr>
          <p:cNvPr id="4" name="Grafik 3"/>
          <p:cNvPicPr>
            <a:picLocks noChangeAspect="1"/>
          </p:cNvPicPr>
          <p:nvPr/>
        </p:nvPicPr>
        <p:blipFill>
          <a:blip r:embed="rId3" cstate="print"/>
          <a:stretch>
            <a:fillRect/>
          </a:stretch>
        </p:blipFill>
        <p:spPr>
          <a:xfrm>
            <a:off x="411517" y="4266703"/>
            <a:ext cx="9881579" cy="505843"/>
          </a:xfrm>
          <a:prstGeom prst="rect">
            <a:avLst/>
          </a:prstGeom>
        </p:spPr>
      </p:pic>
    </p:spTree>
    <p:extLst>
      <p:ext uri="{BB962C8B-B14F-4D97-AF65-F5344CB8AC3E}">
        <p14:creationId xmlns:p14="http://schemas.microsoft.com/office/powerpoint/2010/main" val="592387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p:cNvPicPr>
            <a:picLocks noChangeAspect="1"/>
          </p:cNvPicPr>
          <p:nvPr/>
        </p:nvPicPr>
        <p:blipFill>
          <a:blip r:embed="rId2" cstate="print"/>
          <a:stretch>
            <a:fillRect/>
          </a:stretch>
        </p:blipFill>
        <p:spPr>
          <a:xfrm>
            <a:off x="266787" y="986811"/>
            <a:ext cx="10171040" cy="2320616"/>
          </a:xfrm>
          <a:prstGeom prst="rect">
            <a:avLst/>
          </a:prstGeom>
        </p:spPr>
      </p:pic>
      <p:pic>
        <p:nvPicPr>
          <p:cNvPr id="4" name="Grafik 3"/>
          <p:cNvPicPr>
            <a:picLocks noChangeAspect="1"/>
          </p:cNvPicPr>
          <p:nvPr/>
        </p:nvPicPr>
        <p:blipFill>
          <a:blip r:embed="rId3" cstate="print"/>
          <a:stretch>
            <a:fillRect/>
          </a:stretch>
        </p:blipFill>
        <p:spPr>
          <a:xfrm>
            <a:off x="411517" y="4266703"/>
            <a:ext cx="9881579" cy="505843"/>
          </a:xfrm>
          <a:prstGeom prst="rect">
            <a:avLst/>
          </a:prstGeom>
        </p:spPr>
      </p:pic>
      <p:pic>
        <p:nvPicPr>
          <p:cNvPr id="5" name="Grafik 4"/>
          <p:cNvPicPr>
            <a:picLocks noChangeAspect="1"/>
          </p:cNvPicPr>
          <p:nvPr/>
        </p:nvPicPr>
        <p:blipFill>
          <a:blip r:embed="rId4" cstate="print"/>
          <a:stretch>
            <a:fillRect/>
          </a:stretch>
        </p:blipFill>
        <p:spPr>
          <a:xfrm>
            <a:off x="3442248" y="3076100"/>
            <a:ext cx="3457459" cy="1190603"/>
          </a:xfrm>
          <a:prstGeom prst="rect">
            <a:avLst/>
          </a:prstGeom>
        </p:spPr>
      </p:pic>
      <p:pic>
        <p:nvPicPr>
          <p:cNvPr id="6" name="Grafik 5"/>
          <p:cNvPicPr>
            <a:picLocks noChangeAspect="1"/>
          </p:cNvPicPr>
          <p:nvPr/>
        </p:nvPicPr>
        <p:blipFill>
          <a:blip r:embed="rId5" cstate="print"/>
          <a:stretch>
            <a:fillRect/>
          </a:stretch>
        </p:blipFill>
        <p:spPr>
          <a:xfrm>
            <a:off x="826856" y="4772545"/>
            <a:ext cx="4443413" cy="1293616"/>
          </a:xfrm>
          <a:prstGeom prst="rect">
            <a:avLst/>
          </a:prstGeom>
        </p:spPr>
      </p:pic>
    </p:spTree>
    <p:extLst>
      <p:ext uri="{BB962C8B-B14F-4D97-AF65-F5344CB8AC3E}">
        <p14:creationId xmlns:p14="http://schemas.microsoft.com/office/powerpoint/2010/main" val="2888961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55473BA3-C9D6-FC62-52C3-330AB7653316}"/>
              </a:ext>
            </a:extLst>
          </p:cNvPr>
          <p:cNvPicPr>
            <a:picLocks noChangeAspect="1"/>
          </p:cNvPicPr>
          <p:nvPr/>
        </p:nvPicPr>
        <p:blipFill>
          <a:blip r:embed="rId2"/>
          <a:stretch>
            <a:fillRect/>
          </a:stretch>
        </p:blipFill>
        <p:spPr>
          <a:xfrm>
            <a:off x="2109787" y="790575"/>
            <a:ext cx="7972425" cy="5276850"/>
          </a:xfrm>
          <a:prstGeom prst="rect">
            <a:avLst/>
          </a:prstGeom>
        </p:spPr>
      </p:pic>
    </p:spTree>
    <p:extLst>
      <p:ext uri="{BB962C8B-B14F-4D97-AF65-F5344CB8AC3E}">
        <p14:creationId xmlns:p14="http://schemas.microsoft.com/office/powerpoint/2010/main" val="31763034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ild 1"/>
          <p:cNvPicPr/>
          <p:nvPr/>
        </p:nvPicPr>
        <p:blipFill>
          <a:blip r:embed="rId2" cstate="print"/>
          <a:srcRect/>
          <a:stretch>
            <a:fillRect/>
          </a:stretch>
        </p:blipFill>
        <p:spPr bwMode="auto">
          <a:xfrm>
            <a:off x="405423" y="232263"/>
            <a:ext cx="4078654" cy="3961667"/>
          </a:xfrm>
          <a:prstGeom prst="rect">
            <a:avLst/>
          </a:prstGeom>
          <a:noFill/>
          <a:ln w="9525">
            <a:noFill/>
            <a:miter lim="800000"/>
            <a:headEnd/>
            <a:tailEnd/>
          </a:ln>
        </p:spPr>
      </p:pic>
      <p:sp>
        <p:nvSpPr>
          <p:cNvPr id="3" name="Rechteck 2"/>
          <p:cNvSpPr/>
          <p:nvPr/>
        </p:nvSpPr>
        <p:spPr>
          <a:xfrm>
            <a:off x="4484077" y="137459"/>
            <a:ext cx="3466462" cy="410882"/>
          </a:xfrm>
          <a:prstGeom prst="rect">
            <a:avLst/>
          </a:prstGeom>
        </p:spPr>
        <p:txBody>
          <a:bodyPr wrap="none">
            <a:spAutoFit/>
          </a:bodyPr>
          <a:lstStyle/>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Welches RAID wurde konfiguriert?</a:t>
            </a:r>
            <a:endParaRPr lang="de-DE"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Rechteck 3"/>
          <p:cNvSpPr/>
          <p:nvPr/>
        </p:nvSpPr>
        <p:spPr>
          <a:xfrm>
            <a:off x="6591300" y="2682498"/>
            <a:ext cx="6096000" cy="4175502"/>
          </a:xfrm>
          <a:prstGeom prst="rect">
            <a:avLst/>
          </a:prstGeom>
        </p:spPr>
        <p:txBody>
          <a:bodyPr>
            <a:spAutoFit/>
          </a:bodyPr>
          <a:lstStyle/>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223,58 </a:t>
            </a:r>
            <a:r>
              <a:rPr lang="de-DE" b="1" dirty="0" err="1">
                <a:latin typeface="Calibri" panose="020F0502020204030204" pitchFamily="34" charset="0"/>
                <a:ea typeface="Calibri" panose="020F0502020204030204" pitchFamily="34" charset="0"/>
                <a:cs typeface="Times New Roman" panose="02020603050405020304" pitchFamily="18" charset="0"/>
              </a:rPr>
              <a:t>GiB</a:t>
            </a:r>
            <a:r>
              <a:rPr lang="de-DE" b="1" dirty="0">
                <a:latin typeface="Calibri" panose="020F0502020204030204" pitchFamily="34" charset="0"/>
                <a:ea typeface="Calibri" panose="020F0502020204030204" pitchFamily="34" charset="0"/>
                <a:cs typeface="Times New Roman" panose="02020603050405020304" pitchFamily="18" charset="0"/>
              </a:rPr>
              <a:t> netto </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111.79 </a:t>
            </a:r>
            <a:r>
              <a:rPr lang="de-DE" b="1" dirty="0" err="1">
                <a:latin typeface="Calibri" panose="020F0502020204030204" pitchFamily="34" charset="0"/>
                <a:ea typeface="Calibri" panose="020F0502020204030204" pitchFamily="34" charset="0"/>
                <a:cs typeface="Times New Roman" panose="02020603050405020304" pitchFamily="18" charset="0"/>
              </a:rPr>
              <a:t>GiB</a:t>
            </a:r>
            <a:r>
              <a:rPr lang="de-DE" b="1" dirty="0">
                <a:latin typeface="Calibri" panose="020F0502020204030204" pitchFamily="34" charset="0"/>
                <a:ea typeface="Calibri" panose="020F0502020204030204" pitchFamily="34" charset="0"/>
                <a:cs typeface="Times New Roman" panose="02020603050405020304" pitchFamily="18" charset="0"/>
              </a:rPr>
              <a:t> pro Festplatte</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3 Festplatten sind aktiv</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Also brutto: 335,37 </a:t>
            </a:r>
            <a:r>
              <a:rPr lang="de-DE" b="1" dirty="0" err="1">
                <a:latin typeface="Calibri" panose="020F0502020204030204" pitchFamily="34" charset="0"/>
                <a:ea typeface="Calibri" panose="020F0502020204030204" pitchFamily="34" charset="0"/>
                <a:cs typeface="Times New Roman" panose="02020603050405020304" pitchFamily="18" charset="0"/>
              </a:rPr>
              <a:t>GiB</a:t>
            </a:r>
            <a:r>
              <a:rPr lang="de-DE" b="1" dirty="0">
                <a:latin typeface="Calibri" panose="020F0502020204030204" pitchFamily="34" charset="0"/>
                <a:ea typeface="Calibri" panose="020F0502020204030204" pitchFamily="34" charset="0"/>
                <a:cs typeface="Times New Roman" panose="02020603050405020304" pitchFamily="18" charset="0"/>
              </a:rPr>
              <a:t> – 223,58 </a:t>
            </a:r>
            <a:r>
              <a:rPr lang="de-DE" b="1" dirty="0" err="1">
                <a:latin typeface="Calibri" panose="020F0502020204030204" pitchFamily="34" charset="0"/>
                <a:ea typeface="Calibri" panose="020F0502020204030204" pitchFamily="34" charset="0"/>
                <a:cs typeface="Times New Roman" panose="02020603050405020304" pitchFamily="18" charset="0"/>
              </a:rPr>
              <a:t>GiB</a:t>
            </a:r>
            <a:r>
              <a:rPr lang="de-DE" b="1" dirty="0">
                <a:latin typeface="Calibri" panose="020F0502020204030204" pitchFamily="34" charset="0"/>
                <a:ea typeface="Calibri" panose="020F0502020204030204" pitchFamily="34" charset="0"/>
                <a:cs typeface="Times New Roman" panose="02020603050405020304" pitchFamily="18" charset="0"/>
              </a:rPr>
              <a:t> = 111,79 </a:t>
            </a:r>
            <a:r>
              <a:rPr lang="de-DE" b="1" dirty="0" err="1">
                <a:latin typeface="Calibri" panose="020F0502020204030204" pitchFamily="34" charset="0"/>
                <a:ea typeface="Calibri" panose="020F0502020204030204" pitchFamily="34" charset="0"/>
                <a:cs typeface="Times New Roman" panose="02020603050405020304" pitchFamily="18" charset="0"/>
              </a:rPr>
              <a:t>GiB</a:t>
            </a:r>
            <a:r>
              <a:rPr lang="de-DE" b="1" dirty="0">
                <a:latin typeface="Calibri" panose="020F0502020204030204" pitchFamily="34" charset="0"/>
                <a:ea typeface="Calibri" panose="020F0502020204030204" pitchFamily="34" charset="0"/>
                <a:cs typeface="Times New Roman" panose="02020603050405020304" pitchFamily="18" charset="0"/>
              </a:rPr>
              <a:t> (1 Festplatte) </a:t>
            </a:r>
            <a:r>
              <a:rPr lang="de-DE" b="1" dirty="0" err="1">
                <a:latin typeface="Calibri" panose="020F0502020204030204" pitchFamily="34" charset="0"/>
                <a:ea typeface="Calibri" panose="020F0502020204030204" pitchFamily="34" charset="0"/>
                <a:cs typeface="Times New Roman" panose="02020603050405020304" pitchFamily="18" charset="0"/>
              </a:rPr>
              <a:t>redundanz</a:t>
            </a:r>
            <a:endParaRPr lang="de-D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Wingdings" panose="05000000000000000000" pitchFamily="2" charset="2"/>
              <a:buChar char=""/>
            </a:pPr>
            <a:r>
              <a:rPr lang="de-DE" b="1" dirty="0">
                <a:latin typeface="Calibri" panose="020F0502020204030204" pitchFamily="34" charset="0"/>
                <a:ea typeface="Calibri" panose="020F0502020204030204" pitchFamily="34" charset="0"/>
                <a:cs typeface="Times New Roman" panose="02020603050405020304" pitchFamily="18" charset="0"/>
              </a:rPr>
              <a:t>Raid 5 + 1 -&gt; Raid 5 + </a:t>
            </a:r>
            <a:r>
              <a:rPr lang="de-DE" b="1" dirty="0" err="1">
                <a:latin typeface="Calibri" panose="020F0502020204030204" pitchFamily="34" charset="0"/>
                <a:ea typeface="Calibri" panose="020F0502020204030204" pitchFamily="34" charset="0"/>
                <a:cs typeface="Times New Roman" panose="02020603050405020304" pitchFamily="18" charset="0"/>
              </a:rPr>
              <a:t>Hotspare</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Ermitteln Sie die maximale Kapazität des Arrays, wenn Sie einen anderen Raid-Level verwenden.</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4 x 111,79 </a:t>
            </a:r>
            <a:r>
              <a:rPr lang="de-DE" b="1" dirty="0" err="1">
                <a:latin typeface="Calibri" panose="020F0502020204030204" pitchFamily="34" charset="0"/>
                <a:ea typeface="Calibri" panose="020F0502020204030204" pitchFamily="34" charset="0"/>
                <a:cs typeface="Times New Roman" panose="02020603050405020304" pitchFamily="18" charset="0"/>
              </a:rPr>
              <a:t>GiB</a:t>
            </a:r>
            <a:r>
              <a:rPr lang="de-DE" b="1" dirty="0">
                <a:latin typeface="Calibri" panose="020F0502020204030204" pitchFamily="34" charset="0"/>
                <a:ea typeface="Calibri" panose="020F0502020204030204" pitchFamily="34" charset="0"/>
                <a:cs typeface="Times New Roman" panose="02020603050405020304" pitchFamily="18" charset="0"/>
              </a:rPr>
              <a:t> = 447,16 </a:t>
            </a:r>
            <a:r>
              <a:rPr lang="de-DE" b="1" dirty="0" err="1">
                <a:latin typeface="Calibri" panose="020F0502020204030204" pitchFamily="34" charset="0"/>
                <a:ea typeface="Calibri" panose="020F0502020204030204" pitchFamily="34" charset="0"/>
                <a:cs typeface="Times New Roman" panose="02020603050405020304" pitchFamily="18" charset="0"/>
              </a:rPr>
              <a:t>GiB</a:t>
            </a:r>
            <a:r>
              <a:rPr lang="de-DE" b="1" dirty="0">
                <a:latin typeface="Calibri" panose="020F0502020204030204" pitchFamily="34" charset="0"/>
                <a:ea typeface="Calibri" panose="020F0502020204030204" pitchFamily="34" charset="0"/>
                <a:cs typeface="Times New Roman" panose="02020603050405020304" pitchFamily="18" charset="0"/>
              </a:rPr>
              <a:t> -&gt; als RAID 0</a:t>
            </a:r>
            <a:endParaRPr lang="de-DE"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de-DE" b="1" dirty="0">
                <a:latin typeface="Calibri" panose="020F0502020204030204" pitchFamily="34" charset="0"/>
                <a:ea typeface="Calibri" panose="020F0502020204030204" pitchFamily="34" charset="0"/>
                <a:cs typeface="Times New Roman" panose="02020603050405020304" pitchFamily="18" charset="0"/>
              </a:rPr>
              <a:t>3 x 111,79 </a:t>
            </a:r>
            <a:r>
              <a:rPr lang="de-DE" b="1" dirty="0" err="1">
                <a:latin typeface="Calibri" panose="020F0502020204030204" pitchFamily="34" charset="0"/>
                <a:ea typeface="Calibri" panose="020F0502020204030204" pitchFamily="34" charset="0"/>
                <a:cs typeface="Times New Roman" panose="02020603050405020304" pitchFamily="18" charset="0"/>
              </a:rPr>
              <a:t>GiB</a:t>
            </a:r>
            <a:r>
              <a:rPr lang="de-DE" b="1" dirty="0">
                <a:latin typeface="Calibri" panose="020F0502020204030204" pitchFamily="34" charset="0"/>
                <a:ea typeface="Calibri" panose="020F0502020204030204" pitchFamily="34" charset="0"/>
                <a:cs typeface="Times New Roman" panose="02020603050405020304" pitchFamily="18" charset="0"/>
              </a:rPr>
              <a:t> = 335,37 </a:t>
            </a:r>
            <a:r>
              <a:rPr lang="de-DE" b="1" dirty="0" err="1">
                <a:latin typeface="Calibri" panose="020F0502020204030204" pitchFamily="34" charset="0"/>
                <a:ea typeface="Calibri" panose="020F0502020204030204" pitchFamily="34" charset="0"/>
                <a:cs typeface="Times New Roman" panose="02020603050405020304" pitchFamily="18" charset="0"/>
              </a:rPr>
              <a:t>GiB</a:t>
            </a:r>
            <a:r>
              <a:rPr lang="de-DE" b="1" dirty="0">
                <a:latin typeface="Calibri" panose="020F0502020204030204" pitchFamily="34" charset="0"/>
                <a:ea typeface="Calibri" panose="020F0502020204030204" pitchFamily="34" charset="0"/>
                <a:cs typeface="Times New Roman" panose="02020603050405020304" pitchFamily="18" charset="0"/>
              </a:rPr>
              <a:t> -&gt; als RAID 5</a:t>
            </a:r>
            <a:endParaRPr lang="de-DE"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66642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cstate="print"/>
          <a:srcRect/>
          <a:stretch>
            <a:fillRect/>
          </a:stretch>
        </p:blipFill>
        <p:spPr bwMode="auto">
          <a:xfrm>
            <a:off x="431371" y="188641"/>
            <a:ext cx="11404600" cy="1647825"/>
          </a:xfrm>
          <a:prstGeom prst="rect">
            <a:avLst/>
          </a:prstGeom>
          <a:noFill/>
          <a:ln w="9525">
            <a:noFill/>
            <a:miter lim="800000"/>
            <a:headEnd/>
            <a:tailEnd/>
          </a:ln>
        </p:spPr>
      </p:pic>
      <p:pic>
        <p:nvPicPr>
          <p:cNvPr id="18435" name="Picture 3"/>
          <p:cNvPicPr>
            <a:picLocks noChangeAspect="1" noChangeArrowheads="1"/>
          </p:cNvPicPr>
          <p:nvPr/>
        </p:nvPicPr>
        <p:blipFill>
          <a:blip r:embed="rId3" cstate="print"/>
          <a:srcRect/>
          <a:stretch>
            <a:fillRect/>
          </a:stretch>
        </p:blipFill>
        <p:spPr bwMode="auto">
          <a:xfrm>
            <a:off x="815415" y="1844824"/>
            <a:ext cx="7048500" cy="1543051"/>
          </a:xfrm>
          <a:prstGeom prst="rect">
            <a:avLst/>
          </a:prstGeom>
          <a:noFill/>
          <a:ln w="9525">
            <a:noFill/>
            <a:miter lim="800000"/>
            <a:headEnd/>
            <a:tailEnd/>
          </a:ln>
        </p:spPr>
      </p:pic>
      <p:sp>
        <p:nvSpPr>
          <p:cNvPr id="4" name="Textfeld 3"/>
          <p:cNvSpPr txBox="1"/>
          <p:nvPr/>
        </p:nvSpPr>
        <p:spPr>
          <a:xfrm>
            <a:off x="0" y="764705"/>
            <a:ext cx="1632181" cy="415494"/>
          </a:xfrm>
          <a:prstGeom prst="rect">
            <a:avLst/>
          </a:prstGeom>
          <a:noFill/>
        </p:spPr>
        <p:txBody>
          <a:bodyPr wrap="square" lIns="121917" tIns="60958" rIns="121917" bIns="60958" rtlCol="0">
            <a:spAutoFit/>
          </a:bodyPr>
          <a:lstStyle/>
          <a:p>
            <a:r>
              <a:rPr lang="de-DE" sz="1900" dirty="0"/>
              <a:t>500GiB</a:t>
            </a:r>
            <a:endParaRPr lang="de-DE" dirty="0"/>
          </a:p>
        </p:txBody>
      </p:sp>
    </p:spTree>
    <p:extLst>
      <p:ext uri="{BB962C8B-B14F-4D97-AF65-F5344CB8AC3E}">
        <p14:creationId xmlns:p14="http://schemas.microsoft.com/office/powerpoint/2010/main" val="3334367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blinds(horizontal)">
                                      <p:cBhvr>
                                        <p:cTn id="7" dur="500"/>
                                        <p:tgtEl>
                                          <p:spTgt spid="18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p:cNvPicPr>
            <a:picLocks noChangeAspect="1"/>
          </p:cNvPicPr>
          <p:nvPr/>
        </p:nvPicPr>
        <p:blipFill>
          <a:blip r:embed="rId2"/>
          <a:stretch>
            <a:fillRect/>
          </a:stretch>
        </p:blipFill>
        <p:spPr>
          <a:xfrm>
            <a:off x="230362" y="191948"/>
            <a:ext cx="6720094" cy="2392989"/>
          </a:xfrm>
          <a:prstGeom prst="rect">
            <a:avLst/>
          </a:prstGeom>
        </p:spPr>
      </p:pic>
      <p:pic>
        <p:nvPicPr>
          <p:cNvPr id="3" name="Grafik 2"/>
          <p:cNvPicPr>
            <a:picLocks noChangeAspect="1"/>
          </p:cNvPicPr>
          <p:nvPr/>
        </p:nvPicPr>
        <p:blipFill>
          <a:blip r:embed="rId3"/>
          <a:stretch>
            <a:fillRect/>
          </a:stretch>
        </p:blipFill>
        <p:spPr>
          <a:xfrm>
            <a:off x="484837" y="2503020"/>
            <a:ext cx="9418209" cy="3616426"/>
          </a:xfrm>
          <a:prstGeom prst="rect">
            <a:avLst/>
          </a:prstGeom>
        </p:spPr>
      </p:pic>
      <p:pic>
        <p:nvPicPr>
          <p:cNvPr id="4" name="Grafik 3"/>
          <p:cNvPicPr>
            <a:picLocks noChangeAspect="1"/>
          </p:cNvPicPr>
          <p:nvPr/>
        </p:nvPicPr>
        <p:blipFill>
          <a:blip r:embed="rId4"/>
          <a:stretch>
            <a:fillRect/>
          </a:stretch>
        </p:blipFill>
        <p:spPr>
          <a:xfrm>
            <a:off x="978583" y="4580562"/>
            <a:ext cx="9157336" cy="1538884"/>
          </a:xfrm>
          <a:prstGeom prst="rect">
            <a:avLst/>
          </a:prstGeom>
        </p:spPr>
      </p:pic>
    </p:spTree>
    <p:extLst>
      <p:ext uri="{BB962C8B-B14F-4D97-AF65-F5344CB8AC3E}">
        <p14:creationId xmlns:p14="http://schemas.microsoft.com/office/powerpoint/2010/main" val="863484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FC26A703-AAEF-4920-8485-8CFAFB18E42E}"/>
              </a:ext>
            </a:extLst>
          </p:cNvPr>
          <p:cNvPicPr>
            <a:picLocks noChangeAspect="1"/>
          </p:cNvPicPr>
          <p:nvPr/>
        </p:nvPicPr>
        <p:blipFill>
          <a:blip r:embed="rId2"/>
          <a:stretch>
            <a:fillRect/>
          </a:stretch>
        </p:blipFill>
        <p:spPr>
          <a:xfrm>
            <a:off x="0" y="0"/>
            <a:ext cx="7746908" cy="3219934"/>
          </a:xfrm>
          <a:prstGeom prst="rect">
            <a:avLst/>
          </a:prstGeom>
        </p:spPr>
      </p:pic>
      <p:pic>
        <p:nvPicPr>
          <p:cNvPr id="3" name="Grafik 2">
            <a:extLst>
              <a:ext uri="{FF2B5EF4-FFF2-40B4-BE49-F238E27FC236}">
                <a16:creationId xmlns:a16="http://schemas.microsoft.com/office/drawing/2014/main" id="{B8B7159A-D01C-42AE-9D60-F9A906B7FB21}"/>
              </a:ext>
            </a:extLst>
          </p:cNvPr>
          <p:cNvPicPr>
            <a:picLocks noChangeAspect="1"/>
          </p:cNvPicPr>
          <p:nvPr/>
        </p:nvPicPr>
        <p:blipFill>
          <a:blip r:embed="rId3"/>
          <a:stretch>
            <a:fillRect/>
          </a:stretch>
        </p:blipFill>
        <p:spPr>
          <a:xfrm>
            <a:off x="96191" y="3292308"/>
            <a:ext cx="11456680" cy="2366029"/>
          </a:xfrm>
          <a:prstGeom prst="rect">
            <a:avLst/>
          </a:prstGeom>
        </p:spPr>
      </p:pic>
    </p:spTree>
    <p:extLst>
      <p:ext uri="{BB962C8B-B14F-4D97-AF65-F5344CB8AC3E}">
        <p14:creationId xmlns:p14="http://schemas.microsoft.com/office/powerpoint/2010/main" val="2631869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FC26A703-AAEF-4920-8485-8CFAFB18E42E}"/>
              </a:ext>
            </a:extLst>
          </p:cNvPr>
          <p:cNvPicPr>
            <a:picLocks noChangeAspect="1"/>
          </p:cNvPicPr>
          <p:nvPr/>
        </p:nvPicPr>
        <p:blipFill>
          <a:blip r:embed="rId2"/>
          <a:stretch>
            <a:fillRect/>
          </a:stretch>
        </p:blipFill>
        <p:spPr>
          <a:xfrm>
            <a:off x="0" y="0"/>
            <a:ext cx="7746908" cy="3219934"/>
          </a:xfrm>
          <a:prstGeom prst="rect">
            <a:avLst/>
          </a:prstGeom>
        </p:spPr>
      </p:pic>
      <p:pic>
        <p:nvPicPr>
          <p:cNvPr id="3" name="Grafik 2">
            <a:extLst>
              <a:ext uri="{FF2B5EF4-FFF2-40B4-BE49-F238E27FC236}">
                <a16:creationId xmlns:a16="http://schemas.microsoft.com/office/drawing/2014/main" id="{67B45ED3-9F19-4757-8736-5B8BC3EBA46E}"/>
              </a:ext>
            </a:extLst>
          </p:cNvPr>
          <p:cNvPicPr>
            <a:picLocks noChangeAspect="1"/>
          </p:cNvPicPr>
          <p:nvPr/>
        </p:nvPicPr>
        <p:blipFill>
          <a:blip r:embed="rId3"/>
          <a:stretch>
            <a:fillRect/>
          </a:stretch>
        </p:blipFill>
        <p:spPr>
          <a:xfrm>
            <a:off x="170450" y="3429000"/>
            <a:ext cx="10664865" cy="3143738"/>
          </a:xfrm>
          <a:prstGeom prst="rect">
            <a:avLst/>
          </a:prstGeom>
        </p:spPr>
      </p:pic>
    </p:spTree>
    <p:extLst>
      <p:ext uri="{BB962C8B-B14F-4D97-AF65-F5344CB8AC3E}">
        <p14:creationId xmlns:p14="http://schemas.microsoft.com/office/powerpoint/2010/main" val="28032368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3500438" y="2014536"/>
            <a:ext cx="5181227" cy="2646878"/>
          </a:xfrm>
          <a:prstGeom prst="rect">
            <a:avLst/>
          </a:prstGeom>
          <a:noFill/>
        </p:spPr>
        <p:txBody>
          <a:bodyPr wrap="none" rtlCol="0">
            <a:spAutoFit/>
          </a:bodyPr>
          <a:lstStyle/>
          <a:p>
            <a:r>
              <a:rPr lang="de-DE" sz="16600" dirty="0"/>
              <a:t>Video</a:t>
            </a:r>
          </a:p>
        </p:txBody>
      </p:sp>
    </p:spTree>
    <p:extLst>
      <p:ext uri="{BB962C8B-B14F-4D97-AF65-F5344CB8AC3E}">
        <p14:creationId xmlns:p14="http://schemas.microsoft.com/office/powerpoint/2010/main" val="245900996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7A8C732D-109B-4B6D-80E8-4099CE45FBB4}"/>
              </a:ext>
            </a:extLst>
          </p:cNvPr>
          <p:cNvPicPr>
            <a:picLocks noChangeAspect="1"/>
          </p:cNvPicPr>
          <p:nvPr/>
        </p:nvPicPr>
        <p:blipFill>
          <a:blip r:embed="rId2"/>
          <a:stretch>
            <a:fillRect/>
          </a:stretch>
        </p:blipFill>
        <p:spPr>
          <a:xfrm>
            <a:off x="444488" y="321059"/>
            <a:ext cx="10841783" cy="2369202"/>
          </a:xfrm>
          <a:prstGeom prst="rect">
            <a:avLst/>
          </a:prstGeom>
        </p:spPr>
      </p:pic>
    </p:spTree>
    <p:extLst>
      <p:ext uri="{BB962C8B-B14F-4D97-AF65-F5344CB8AC3E}">
        <p14:creationId xmlns:p14="http://schemas.microsoft.com/office/powerpoint/2010/main" val="172482188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7A8C732D-109B-4B6D-80E8-4099CE45FBB4}"/>
              </a:ext>
            </a:extLst>
          </p:cNvPr>
          <p:cNvPicPr>
            <a:picLocks noChangeAspect="1"/>
          </p:cNvPicPr>
          <p:nvPr/>
        </p:nvPicPr>
        <p:blipFill>
          <a:blip r:embed="rId2"/>
          <a:stretch>
            <a:fillRect/>
          </a:stretch>
        </p:blipFill>
        <p:spPr>
          <a:xfrm>
            <a:off x="444488" y="321059"/>
            <a:ext cx="10841783" cy="2369202"/>
          </a:xfrm>
          <a:prstGeom prst="rect">
            <a:avLst/>
          </a:prstGeom>
        </p:spPr>
      </p:pic>
      <p:pic>
        <p:nvPicPr>
          <p:cNvPr id="5" name="Grafik 4">
            <a:extLst>
              <a:ext uri="{FF2B5EF4-FFF2-40B4-BE49-F238E27FC236}">
                <a16:creationId xmlns:a16="http://schemas.microsoft.com/office/drawing/2014/main" id="{3AD0A247-4F9E-40B7-84F1-5FEB25D12DE7}"/>
              </a:ext>
            </a:extLst>
          </p:cNvPr>
          <p:cNvPicPr>
            <a:picLocks noChangeAspect="1"/>
          </p:cNvPicPr>
          <p:nvPr/>
        </p:nvPicPr>
        <p:blipFill>
          <a:blip r:embed="rId3"/>
          <a:stretch>
            <a:fillRect/>
          </a:stretch>
        </p:blipFill>
        <p:spPr>
          <a:xfrm>
            <a:off x="1279079" y="3330525"/>
            <a:ext cx="10059481" cy="477399"/>
          </a:xfrm>
          <a:prstGeom prst="rect">
            <a:avLst/>
          </a:prstGeom>
        </p:spPr>
      </p:pic>
    </p:spTree>
    <p:extLst>
      <p:ext uri="{BB962C8B-B14F-4D97-AF65-F5344CB8AC3E}">
        <p14:creationId xmlns:p14="http://schemas.microsoft.com/office/powerpoint/2010/main" val="16057100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1D9A6467-57AB-4EFA-A145-0175161D16A3}"/>
              </a:ext>
            </a:extLst>
          </p:cNvPr>
          <p:cNvPicPr>
            <a:picLocks noChangeAspect="1"/>
          </p:cNvPicPr>
          <p:nvPr/>
        </p:nvPicPr>
        <p:blipFill rotWithShape="1">
          <a:blip r:embed="rId2"/>
          <a:srcRect b="35898"/>
          <a:stretch/>
        </p:blipFill>
        <p:spPr>
          <a:xfrm>
            <a:off x="92426" y="168720"/>
            <a:ext cx="11809212" cy="3543201"/>
          </a:xfrm>
          <a:prstGeom prst="rect">
            <a:avLst/>
          </a:prstGeom>
        </p:spPr>
      </p:pic>
      <p:sp>
        <p:nvSpPr>
          <p:cNvPr id="6" name="Textfeld 5">
            <a:extLst>
              <a:ext uri="{FF2B5EF4-FFF2-40B4-BE49-F238E27FC236}">
                <a16:creationId xmlns:a16="http://schemas.microsoft.com/office/drawing/2014/main" id="{BEFB298C-91A6-48FE-8C8F-BAC2ADF4E7CE}"/>
              </a:ext>
            </a:extLst>
          </p:cNvPr>
          <p:cNvSpPr txBox="1"/>
          <p:nvPr/>
        </p:nvSpPr>
        <p:spPr>
          <a:xfrm>
            <a:off x="10286064" y="59175"/>
            <a:ext cx="1813510" cy="369332"/>
          </a:xfrm>
          <a:prstGeom prst="rect">
            <a:avLst/>
          </a:prstGeom>
          <a:noFill/>
        </p:spPr>
        <p:txBody>
          <a:bodyPr wrap="none" rtlCol="0">
            <a:spAutoFit/>
          </a:bodyPr>
          <a:lstStyle/>
          <a:p>
            <a:r>
              <a:rPr lang="de-DE" dirty="0"/>
              <a:t>Winter 2020 GH2</a:t>
            </a:r>
          </a:p>
        </p:txBody>
      </p:sp>
    </p:spTree>
    <p:extLst>
      <p:ext uri="{BB962C8B-B14F-4D97-AF65-F5344CB8AC3E}">
        <p14:creationId xmlns:p14="http://schemas.microsoft.com/office/powerpoint/2010/main" val="33150076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1D9A6467-57AB-4EFA-A145-0175161D16A3}"/>
              </a:ext>
            </a:extLst>
          </p:cNvPr>
          <p:cNvPicPr>
            <a:picLocks noChangeAspect="1"/>
          </p:cNvPicPr>
          <p:nvPr/>
        </p:nvPicPr>
        <p:blipFill>
          <a:blip r:embed="rId2"/>
          <a:stretch>
            <a:fillRect/>
          </a:stretch>
        </p:blipFill>
        <p:spPr>
          <a:xfrm>
            <a:off x="92426" y="168720"/>
            <a:ext cx="8588797" cy="4020122"/>
          </a:xfrm>
          <a:prstGeom prst="rect">
            <a:avLst/>
          </a:prstGeom>
        </p:spPr>
      </p:pic>
      <p:pic>
        <p:nvPicPr>
          <p:cNvPr id="5" name="Grafik 4">
            <a:extLst>
              <a:ext uri="{FF2B5EF4-FFF2-40B4-BE49-F238E27FC236}">
                <a16:creationId xmlns:a16="http://schemas.microsoft.com/office/drawing/2014/main" id="{82AFAEE2-BE8F-4823-A01F-3BAC03D1A55D}"/>
              </a:ext>
            </a:extLst>
          </p:cNvPr>
          <p:cNvPicPr>
            <a:picLocks noChangeAspect="1"/>
          </p:cNvPicPr>
          <p:nvPr/>
        </p:nvPicPr>
        <p:blipFill>
          <a:blip r:embed="rId3"/>
          <a:stretch>
            <a:fillRect/>
          </a:stretch>
        </p:blipFill>
        <p:spPr>
          <a:xfrm>
            <a:off x="6359213" y="3708040"/>
            <a:ext cx="5537611" cy="3128568"/>
          </a:xfrm>
          <a:prstGeom prst="rect">
            <a:avLst/>
          </a:prstGeom>
        </p:spPr>
      </p:pic>
      <p:sp>
        <p:nvSpPr>
          <p:cNvPr id="6" name="Textfeld 5">
            <a:extLst>
              <a:ext uri="{FF2B5EF4-FFF2-40B4-BE49-F238E27FC236}">
                <a16:creationId xmlns:a16="http://schemas.microsoft.com/office/drawing/2014/main" id="{BEFB298C-91A6-48FE-8C8F-BAC2ADF4E7CE}"/>
              </a:ext>
            </a:extLst>
          </p:cNvPr>
          <p:cNvSpPr txBox="1"/>
          <p:nvPr/>
        </p:nvSpPr>
        <p:spPr>
          <a:xfrm>
            <a:off x="5120474" y="622253"/>
            <a:ext cx="1813510" cy="369332"/>
          </a:xfrm>
          <a:prstGeom prst="rect">
            <a:avLst/>
          </a:prstGeom>
          <a:noFill/>
        </p:spPr>
        <p:txBody>
          <a:bodyPr wrap="none" rtlCol="0">
            <a:spAutoFit/>
          </a:bodyPr>
          <a:lstStyle/>
          <a:p>
            <a:r>
              <a:rPr lang="de-DE" dirty="0"/>
              <a:t>Winter 2020 GH2</a:t>
            </a:r>
          </a:p>
        </p:txBody>
      </p:sp>
    </p:spTree>
    <p:extLst>
      <p:ext uri="{BB962C8B-B14F-4D97-AF65-F5344CB8AC3E}">
        <p14:creationId xmlns:p14="http://schemas.microsoft.com/office/powerpoint/2010/main" val="3787753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p:cNvPicPr>
            <a:picLocks noChangeAspect="1"/>
          </p:cNvPicPr>
          <p:nvPr/>
        </p:nvPicPr>
        <p:blipFill>
          <a:blip r:embed="rId2"/>
          <a:stretch>
            <a:fillRect/>
          </a:stretch>
        </p:blipFill>
        <p:spPr>
          <a:xfrm>
            <a:off x="142181" y="137506"/>
            <a:ext cx="8310158" cy="3407951"/>
          </a:xfrm>
          <a:prstGeom prst="rect">
            <a:avLst/>
          </a:prstGeom>
        </p:spPr>
      </p:pic>
    </p:spTree>
    <p:extLst>
      <p:ext uri="{BB962C8B-B14F-4D97-AF65-F5344CB8AC3E}">
        <p14:creationId xmlns:p14="http://schemas.microsoft.com/office/powerpoint/2010/main" val="155259380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p:cNvPicPr>
            <a:picLocks noChangeAspect="1"/>
          </p:cNvPicPr>
          <p:nvPr/>
        </p:nvPicPr>
        <p:blipFill>
          <a:blip r:embed="rId2"/>
          <a:stretch>
            <a:fillRect/>
          </a:stretch>
        </p:blipFill>
        <p:spPr>
          <a:xfrm>
            <a:off x="142181" y="137506"/>
            <a:ext cx="7549833" cy="3096146"/>
          </a:xfrm>
          <a:prstGeom prst="rect">
            <a:avLst/>
          </a:prstGeom>
        </p:spPr>
      </p:pic>
      <p:pic>
        <p:nvPicPr>
          <p:cNvPr id="3" name="Grafik 2"/>
          <p:cNvPicPr>
            <a:picLocks noChangeAspect="1"/>
          </p:cNvPicPr>
          <p:nvPr/>
        </p:nvPicPr>
        <p:blipFill>
          <a:blip r:embed="rId3"/>
          <a:stretch>
            <a:fillRect/>
          </a:stretch>
        </p:blipFill>
        <p:spPr>
          <a:xfrm>
            <a:off x="7009794" y="1588323"/>
            <a:ext cx="4668437" cy="2457465"/>
          </a:xfrm>
          <a:prstGeom prst="rect">
            <a:avLst/>
          </a:prstGeom>
        </p:spPr>
      </p:pic>
      <p:sp>
        <p:nvSpPr>
          <p:cNvPr id="4" name="Textfeld 3">
            <a:extLst>
              <a:ext uri="{FF2B5EF4-FFF2-40B4-BE49-F238E27FC236}">
                <a16:creationId xmlns:a16="http://schemas.microsoft.com/office/drawing/2014/main" id="{B9BECC93-0710-48D9-A2ED-7C6827BF5F37}"/>
              </a:ext>
            </a:extLst>
          </p:cNvPr>
          <p:cNvSpPr txBox="1"/>
          <p:nvPr/>
        </p:nvSpPr>
        <p:spPr>
          <a:xfrm>
            <a:off x="1337094" y="4123426"/>
            <a:ext cx="9377888" cy="923330"/>
          </a:xfrm>
          <a:prstGeom prst="rect">
            <a:avLst/>
          </a:prstGeom>
          <a:noFill/>
        </p:spPr>
        <p:txBody>
          <a:bodyPr wrap="none" rtlCol="0">
            <a:spAutoFit/>
          </a:bodyPr>
          <a:lstStyle/>
          <a:p>
            <a:r>
              <a:rPr lang="de-DE" dirty="0"/>
              <a:t>3h x 35 Kameras x 800 x 600 x 16 Bit x 30 Bilder x 3600 Sek. X 0,025 (1:40) x 14 Tage</a:t>
            </a:r>
          </a:p>
          <a:p>
            <a:r>
              <a:rPr lang="de-DE" dirty="0"/>
              <a:t>---------------------------------------------------------------------------------------------------------------- = </a:t>
            </a:r>
            <a:r>
              <a:rPr lang="de-DE"/>
              <a:t>591,42 GiB  </a:t>
            </a:r>
            <a:endParaRPr lang="de-DE" dirty="0"/>
          </a:p>
          <a:p>
            <a:r>
              <a:rPr lang="de-DE" dirty="0"/>
              <a:t>8 x 1024 x 1024 x 1024 x 6 </a:t>
            </a:r>
          </a:p>
        </p:txBody>
      </p:sp>
    </p:spTree>
    <p:extLst>
      <p:ext uri="{BB962C8B-B14F-4D97-AF65-F5344CB8AC3E}">
        <p14:creationId xmlns:p14="http://schemas.microsoft.com/office/powerpoint/2010/main" val="236468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p:cNvPicPr>
            <a:picLocks noChangeAspect="1"/>
          </p:cNvPicPr>
          <p:nvPr/>
        </p:nvPicPr>
        <p:blipFill>
          <a:blip r:embed="rId2" cstate="print"/>
          <a:stretch>
            <a:fillRect/>
          </a:stretch>
        </p:blipFill>
        <p:spPr>
          <a:xfrm>
            <a:off x="152574" y="977850"/>
            <a:ext cx="10907551" cy="1843283"/>
          </a:xfrm>
          <a:prstGeom prst="rect">
            <a:avLst/>
          </a:prstGeom>
        </p:spPr>
      </p:pic>
      <p:pic>
        <p:nvPicPr>
          <p:cNvPr id="3" name="Grafik 2"/>
          <p:cNvPicPr>
            <a:picLocks noChangeAspect="1"/>
          </p:cNvPicPr>
          <p:nvPr/>
        </p:nvPicPr>
        <p:blipFill rotWithShape="1">
          <a:blip r:embed="rId3" cstate="print"/>
          <a:srcRect b="19299"/>
          <a:stretch/>
        </p:blipFill>
        <p:spPr>
          <a:xfrm>
            <a:off x="742084" y="2987776"/>
            <a:ext cx="7803131" cy="1485612"/>
          </a:xfrm>
          <a:prstGeom prst="rect">
            <a:avLst/>
          </a:prstGeom>
        </p:spPr>
      </p:pic>
    </p:spTree>
    <p:extLst>
      <p:ext uri="{BB962C8B-B14F-4D97-AF65-F5344CB8AC3E}">
        <p14:creationId xmlns:p14="http://schemas.microsoft.com/office/powerpoint/2010/main" val="3867497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BC350F38-E9CA-5322-7A41-CC97A31B8287}"/>
              </a:ext>
            </a:extLst>
          </p:cNvPr>
          <p:cNvPicPr>
            <a:picLocks noChangeAspect="1"/>
          </p:cNvPicPr>
          <p:nvPr/>
        </p:nvPicPr>
        <p:blipFill>
          <a:blip r:embed="rId2"/>
          <a:stretch>
            <a:fillRect/>
          </a:stretch>
        </p:blipFill>
        <p:spPr>
          <a:xfrm>
            <a:off x="123123" y="145070"/>
            <a:ext cx="9627095" cy="2844946"/>
          </a:xfrm>
          <a:prstGeom prst="rect">
            <a:avLst/>
          </a:prstGeom>
        </p:spPr>
      </p:pic>
      <p:sp>
        <p:nvSpPr>
          <p:cNvPr id="2" name="Textfeld 1">
            <a:extLst>
              <a:ext uri="{FF2B5EF4-FFF2-40B4-BE49-F238E27FC236}">
                <a16:creationId xmlns:a16="http://schemas.microsoft.com/office/drawing/2014/main" id="{125644D6-E89A-D84B-41AE-D4BC6B0E9E72}"/>
              </a:ext>
            </a:extLst>
          </p:cNvPr>
          <p:cNvSpPr txBox="1"/>
          <p:nvPr/>
        </p:nvSpPr>
        <p:spPr>
          <a:xfrm>
            <a:off x="1337094" y="4123426"/>
            <a:ext cx="9995044" cy="923330"/>
          </a:xfrm>
          <a:prstGeom prst="rect">
            <a:avLst/>
          </a:prstGeom>
          <a:noFill/>
        </p:spPr>
        <p:txBody>
          <a:bodyPr wrap="none" rtlCol="0">
            <a:spAutoFit/>
          </a:bodyPr>
          <a:lstStyle/>
          <a:p>
            <a:r>
              <a:rPr lang="de-DE" dirty="0"/>
              <a:t>1280 x 800 x 24 Bit x 2 Bilder x 60 x 60 x 12 Sek. X 0,02 (1:50) x 14 Tage</a:t>
            </a:r>
          </a:p>
          <a:p>
            <a:r>
              <a:rPr lang="de-DE" dirty="0"/>
              <a:t>---------------------------------------------------------------------------------------------------------------- = 69,21 GiB (70 GiB) </a:t>
            </a:r>
          </a:p>
          <a:p>
            <a:r>
              <a:rPr lang="de-DE" dirty="0"/>
              <a:t>8 x 1024 x 1024 x 1024</a:t>
            </a:r>
          </a:p>
        </p:txBody>
      </p:sp>
    </p:spTree>
    <p:extLst>
      <p:ext uri="{BB962C8B-B14F-4D97-AF65-F5344CB8AC3E}">
        <p14:creationId xmlns:p14="http://schemas.microsoft.com/office/powerpoint/2010/main" val="304172819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929C55AB-835C-B764-9EE7-3F3953B65060}"/>
              </a:ext>
            </a:extLst>
          </p:cNvPr>
          <p:cNvSpPr txBox="1"/>
          <p:nvPr/>
        </p:nvSpPr>
        <p:spPr>
          <a:xfrm>
            <a:off x="312706" y="164444"/>
            <a:ext cx="11539988" cy="2062103"/>
          </a:xfrm>
          <a:prstGeom prst="rect">
            <a:avLst/>
          </a:prstGeom>
          <a:noFill/>
        </p:spPr>
        <p:txBody>
          <a:bodyPr wrap="square">
            <a:spAutoFit/>
          </a:bodyPr>
          <a:lstStyle/>
          <a:p>
            <a:pPr algn="l"/>
            <a:r>
              <a:rPr lang="de-DE" sz="1600" b="0" i="0" u="none" strike="noStrike" baseline="0" dirty="0">
                <a:latin typeface="Times New Roman" panose="02020603050405020304" pitchFamily="18" charset="0"/>
              </a:rPr>
              <a:t>Einige Webcams sollen jede Nacht das Außengelände der </a:t>
            </a:r>
            <a:r>
              <a:rPr lang="de-DE" sz="1600" b="0" i="0" u="none" strike="noStrike" baseline="0" dirty="0" err="1">
                <a:latin typeface="Times New Roman" panose="02020603050405020304" pitchFamily="18" charset="0"/>
              </a:rPr>
              <a:t>Rewind</a:t>
            </a:r>
            <a:r>
              <a:rPr lang="de-DE" sz="1600" b="0" i="0" u="none" strike="noStrike" baseline="0" dirty="0">
                <a:latin typeface="Times New Roman" panose="02020603050405020304" pitchFamily="18" charset="0"/>
              </a:rPr>
              <a:t> GmbH überwachen.</a:t>
            </a:r>
          </a:p>
          <a:p>
            <a:pPr algn="l"/>
            <a:r>
              <a:rPr lang="de-DE" sz="1600" b="0" i="0" u="none" strike="noStrike" baseline="0" dirty="0">
                <a:latin typeface="Times New Roman" panose="02020603050405020304" pitchFamily="18" charset="0"/>
              </a:rPr>
              <a:t>Ermitteln Sie anhand der folgenden Angaben die anfallende Datenmenge der zu speichernden Bilder pro Webcam pro</a:t>
            </a:r>
          </a:p>
          <a:p>
            <a:pPr algn="l"/>
            <a:r>
              <a:rPr lang="de-DE" sz="1600" b="0" i="0" u="none" strike="noStrike" baseline="0" dirty="0">
                <a:latin typeface="Times New Roman" panose="02020603050405020304" pitchFamily="18" charset="0"/>
              </a:rPr>
              <a:t>Minute in MiB. Der Rechenweg ist anzugeben. Das Ergebnis ist auf eine ganze Zahl aufzurunden.</a:t>
            </a:r>
          </a:p>
          <a:p>
            <a:pPr algn="l"/>
            <a:r>
              <a:rPr lang="de-DE" sz="1600" b="0" i="0" u="none" strike="noStrike" baseline="0" dirty="0">
                <a:latin typeface="Times New Roman" panose="02020603050405020304" pitchFamily="18" charset="0"/>
              </a:rPr>
              <a:t>Überwachungszeit pro Tag: 00:00 bis 05:00 Uhr und l9:00 bis 24:00 Uhr</a:t>
            </a:r>
          </a:p>
          <a:p>
            <a:pPr algn="l"/>
            <a:r>
              <a:rPr lang="de-DE" sz="1600" b="0" i="0" u="none" strike="noStrike" baseline="0" dirty="0">
                <a:latin typeface="Times New Roman" panose="02020603050405020304" pitchFamily="18" charset="0"/>
              </a:rPr>
              <a:t>Anzahl der </a:t>
            </a:r>
            <a:r>
              <a:rPr lang="de-DE" sz="1600" dirty="0">
                <a:latin typeface="Times New Roman" panose="02020603050405020304" pitchFamily="18" charset="0"/>
              </a:rPr>
              <a:t>W</a:t>
            </a:r>
            <a:r>
              <a:rPr lang="de-DE" sz="1600" b="0" i="0" u="none" strike="noStrike" baseline="0" dirty="0">
                <a:latin typeface="Times New Roman" panose="02020603050405020304" pitchFamily="18" charset="0"/>
              </a:rPr>
              <a:t>ebcams: 10</a:t>
            </a:r>
          </a:p>
          <a:p>
            <a:pPr algn="l"/>
            <a:r>
              <a:rPr lang="de-DE" sz="1600" b="0" i="0" u="none" strike="noStrike" baseline="0" dirty="0">
                <a:latin typeface="Times New Roman" panose="02020603050405020304" pitchFamily="18" charset="0"/>
              </a:rPr>
              <a:t>Bildauflösung pro Bild: 1.920 x l.080 Pixel</a:t>
            </a:r>
          </a:p>
          <a:p>
            <a:pPr algn="l"/>
            <a:r>
              <a:rPr lang="de-DE" sz="1600" b="0" i="0" u="none" strike="noStrike" baseline="0" dirty="0">
                <a:latin typeface="Times New Roman" panose="02020603050405020304" pitchFamily="18" charset="0"/>
              </a:rPr>
              <a:t>Farbtiefe: 16 Bit</a:t>
            </a:r>
          </a:p>
          <a:p>
            <a:pPr algn="l"/>
            <a:r>
              <a:rPr lang="de-DE" sz="1600" b="0" i="0" u="none" strike="noStrike" baseline="0" dirty="0">
                <a:latin typeface="Times New Roman" panose="02020603050405020304" pitchFamily="18" charset="0"/>
              </a:rPr>
              <a:t>Videoübertragung: 10 Bilder/Sekunde</a:t>
            </a:r>
            <a:endParaRPr lang="de-DE" sz="1600" dirty="0"/>
          </a:p>
        </p:txBody>
      </p:sp>
      <p:sp>
        <p:nvSpPr>
          <p:cNvPr id="5" name="Textfeld 4">
            <a:extLst>
              <a:ext uri="{FF2B5EF4-FFF2-40B4-BE49-F238E27FC236}">
                <a16:creationId xmlns:a16="http://schemas.microsoft.com/office/drawing/2014/main" id="{A1EFE53B-2107-774A-5C37-3DE36F5DD1CE}"/>
              </a:ext>
            </a:extLst>
          </p:cNvPr>
          <p:cNvSpPr txBox="1"/>
          <p:nvPr/>
        </p:nvSpPr>
        <p:spPr>
          <a:xfrm>
            <a:off x="442102" y="2551837"/>
            <a:ext cx="9952727" cy="2031325"/>
          </a:xfrm>
          <a:prstGeom prst="rect">
            <a:avLst/>
          </a:prstGeom>
          <a:noFill/>
        </p:spPr>
        <p:txBody>
          <a:bodyPr wrap="square">
            <a:spAutoFit/>
          </a:bodyPr>
          <a:lstStyle/>
          <a:p>
            <a:pPr algn="l"/>
            <a:r>
              <a:rPr lang="de-DE" sz="1800" b="0" i="0" u="none" strike="noStrike" baseline="0" dirty="0">
                <a:latin typeface="FrutigerLTStd-LightCn"/>
              </a:rPr>
              <a:t>5 Punkte insgesamt</a:t>
            </a:r>
          </a:p>
          <a:p>
            <a:pPr algn="l"/>
            <a:endParaRPr lang="de-DE" sz="1800" b="0" i="0" u="none" strike="noStrike" baseline="0" dirty="0">
              <a:latin typeface="FrutigerLTStd-LightCn"/>
            </a:endParaRPr>
          </a:p>
          <a:p>
            <a:pPr algn="l"/>
            <a:r>
              <a:rPr lang="de-DE" sz="1800" b="0" i="0" u="none" strike="noStrike" baseline="0" dirty="0">
                <a:latin typeface="FrutigerLTStd-LightCn"/>
              </a:rPr>
              <a:t>1.920 Pixel * 1.080 Pixel * 16 Bit/Pixel = 33.177.600 Bit</a:t>
            </a:r>
          </a:p>
          <a:p>
            <a:pPr algn="l"/>
            <a:endParaRPr lang="de-DE" sz="1800" b="0" i="0" u="none" strike="noStrike" baseline="0" dirty="0">
              <a:latin typeface="FrutigerLTStd-LightCn"/>
            </a:endParaRPr>
          </a:p>
          <a:p>
            <a:pPr algn="l"/>
            <a:r>
              <a:rPr lang="en-US" sz="1800" b="0" i="0" u="none" strike="noStrike" baseline="0" dirty="0">
                <a:latin typeface="FrutigerLTStd-LightCn"/>
              </a:rPr>
              <a:t>33.177.600 Bit * 10 </a:t>
            </a:r>
            <a:r>
              <a:rPr lang="en-US" sz="1800" b="0" i="0" u="none" strike="noStrike" baseline="0" dirty="0" err="1">
                <a:latin typeface="FrutigerLTStd-LightCn"/>
              </a:rPr>
              <a:t>Bilder</a:t>
            </a:r>
            <a:r>
              <a:rPr lang="en-US" sz="1800" b="0" i="0" u="none" strike="noStrike" baseline="0" dirty="0">
                <a:latin typeface="FrutigerLTStd-LightCn"/>
              </a:rPr>
              <a:t>/s / 8 = 41.472.000 Byte/s * 60s = 2.488.320.000 Byte</a:t>
            </a:r>
          </a:p>
          <a:p>
            <a:pPr algn="l"/>
            <a:endParaRPr lang="en-US" sz="1800" b="0" i="0" u="none" strike="noStrike" baseline="0" dirty="0">
              <a:latin typeface="FrutigerLTStd-LightCn"/>
            </a:endParaRPr>
          </a:p>
          <a:p>
            <a:pPr algn="l"/>
            <a:r>
              <a:rPr lang="pl-PL" sz="1800" b="0" i="0" u="none" strike="noStrike" baseline="0" dirty="0">
                <a:latin typeface="FrutigerLTStd-LightCn"/>
              </a:rPr>
              <a:t>2.488.320.000 Byte / 1.024 = 2.430.000 KiB / 1.024 = 2.373,046875 MiB = 2.374 MiB</a:t>
            </a:r>
            <a:endParaRPr lang="de-DE" dirty="0"/>
          </a:p>
        </p:txBody>
      </p:sp>
    </p:spTree>
    <p:extLst>
      <p:ext uri="{BB962C8B-B14F-4D97-AF65-F5344CB8AC3E}">
        <p14:creationId xmlns:p14="http://schemas.microsoft.com/office/powerpoint/2010/main" val="1615506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3500438" y="2014536"/>
            <a:ext cx="4184094" cy="2646878"/>
          </a:xfrm>
          <a:prstGeom prst="rect">
            <a:avLst/>
          </a:prstGeom>
          <a:noFill/>
        </p:spPr>
        <p:txBody>
          <a:bodyPr wrap="none" rtlCol="0">
            <a:spAutoFit/>
          </a:bodyPr>
          <a:lstStyle/>
          <a:p>
            <a:r>
              <a:rPr lang="de-DE" sz="16600" dirty="0"/>
              <a:t>Scan</a:t>
            </a:r>
          </a:p>
        </p:txBody>
      </p:sp>
    </p:spTree>
    <p:extLst>
      <p:ext uri="{BB962C8B-B14F-4D97-AF65-F5344CB8AC3E}">
        <p14:creationId xmlns:p14="http://schemas.microsoft.com/office/powerpoint/2010/main" val="316248719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m 5">
            <a:extLst>
              <a:ext uri="{FF2B5EF4-FFF2-40B4-BE49-F238E27FC236}">
                <a16:creationId xmlns:a16="http://schemas.microsoft.com/office/drawing/2014/main" id="{AB205873-FEE1-E7B6-D99C-6A82D6E1E969}"/>
              </a:ext>
            </a:extLst>
          </p:cNvPr>
          <p:cNvGraphicFramePr/>
          <p:nvPr>
            <p:extLst>
              <p:ext uri="{D42A27DB-BD31-4B8C-83A1-F6EECF244321}">
                <p14:modId xmlns:p14="http://schemas.microsoft.com/office/powerpoint/2010/main" val="3039191088"/>
              </p:ext>
            </p:extLst>
          </p:nvPr>
        </p:nvGraphicFramePr>
        <p:xfrm>
          <a:off x="390086" y="237242"/>
          <a:ext cx="6859966" cy="3693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m 6">
            <a:extLst>
              <a:ext uri="{FF2B5EF4-FFF2-40B4-BE49-F238E27FC236}">
                <a16:creationId xmlns:a16="http://schemas.microsoft.com/office/drawing/2014/main" id="{F221ED5E-D6C8-8448-9DEB-8E8827C058EC}"/>
              </a:ext>
            </a:extLst>
          </p:cNvPr>
          <p:cNvGraphicFramePr/>
          <p:nvPr>
            <p:extLst>
              <p:ext uri="{D42A27DB-BD31-4B8C-83A1-F6EECF244321}">
                <p14:modId xmlns:p14="http://schemas.microsoft.com/office/powerpoint/2010/main" val="2476439791"/>
              </p:ext>
            </p:extLst>
          </p:nvPr>
        </p:nvGraphicFramePr>
        <p:xfrm>
          <a:off x="390087" y="975568"/>
          <a:ext cx="6859966" cy="36933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5" name="Textfeld 4">
            <a:extLst>
              <a:ext uri="{FF2B5EF4-FFF2-40B4-BE49-F238E27FC236}">
                <a16:creationId xmlns:a16="http://schemas.microsoft.com/office/drawing/2014/main" id="{4AEDFBB3-26D8-4D94-A385-62C9543BF5C1}"/>
              </a:ext>
            </a:extLst>
          </p:cNvPr>
          <p:cNvSpPr txBox="1"/>
          <p:nvPr/>
        </p:nvSpPr>
        <p:spPr>
          <a:xfrm>
            <a:off x="323918" y="1990217"/>
            <a:ext cx="6261009" cy="1107996"/>
          </a:xfrm>
          <a:prstGeom prst="rect">
            <a:avLst/>
          </a:prstGeom>
          <a:noFill/>
        </p:spPr>
        <p:txBody>
          <a:bodyPr wrap="none" rtlCol="0">
            <a:spAutoFit/>
          </a:bodyPr>
          <a:lstStyle/>
          <a:p>
            <a:endParaRPr lang="de-DE" dirty="0"/>
          </a:p>
          <a:p>
            <a:r>
              <a:rPr lang="de-DE" sz="1200" dirty="0"/>
              <a:t>Horizontale Pixel x vertikale Pixel x Farbtiefe (Bit) x Anzahl der Scans x eventueller Komprimierung</a:t>
            </a:r>
          </a:p>
          <a:p>
            <a:r>
              <a:rPr lang="de-DE" dirty="0"/>
              <a:t>---------------------------------------------------------------------------------------</a:t>
            </a:r>
          </a:p>
          <a:p>
            <a:r>
              <a:rPr lang="de-DE" dirty="0"/>
              <a:t>8 x 1024</a:t>
            </a:r>
            <a:r>
              <a:rPr lang="de-DE" baseline="30000" dirty="0"/>
              <a:t>x (je nachdem ob das Ergebnis in GiB oder TiB vorliegen soll)</a:t>
            </a:r>
            <a:endParaRPr lang="de-DE" dirty="0"/>
          </a:p>
        </p:txBody>
      </p:sp>
      <p:graphicFrame>
        <p:nvGraphicFramePr>
          <p:cNvPr id="11" name="Diagramm 10">
            <a:extLst>
              <a:ext uri="{FF2B5EF4-FFF2-40B4-BE49-F238E27FC236}">
                <a16:creationId xmlns:a16="http://schemas.microsoft.com/office/drawing/2014/main" id="{C03178E1-361E-C2EB-42BC-8A22FA67265A}"/>
              </a:ext>
            </a:extLst>
          </p:cNvPr>
          <p:cNvGraphicFramePr/>
          <p:nvPr>
            <p:extLst>
              <p:ext uri="{D42A27DB-BD31-4B8C-83A1-F6EECF244321}">
                <p14:modId xmlns:p14="http://schemas.microsoft.com/office/powerpoint/2010/main" val="4095237605"/>
              </p:ext>
            </p:extLst>
          </p:nvPr>
        </p:nvGraphicFramePr>
        <p:xfrm>
          <a:off x="390086" y="1713894"/>
          <a:ext cx="6859966" cy="36933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1026" name="Picture 2">
            <a:extLst>
              <a:ext uri="{FF2B5EF4-FFF2-40B4-BE49-F238E27FC236}">
                <a16:creationId xmlns:a16="http://schemas.microsoft.com/office/drawing/2014/main" id="{4D5B26DE-AFD1-DF10-C290-D953E68329D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817332" y="2263613"/>
            <a:ext cx="5374668" cy="5402179"/>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a:extLst>
              <a:ext uri="{FF2B5EF4-FFF2-40B4-BE49-F238E27FC236}">
                <a16:creationId xmlns:a16="http://schemas.microsoft.com/office/drawing/2014/main" id="{448815F2-5471-FA23-5A22-C0D8947BB2C3}"/>
              </a:ext>
            </a:extLst>
          </p:cNvPr>
          <p:cNvSpPr txBox="1"/>
          <p:nvPr/>
        </p:nvSpPr>
        <p:spPr>
          <a:xfrm>
            <a:off x="323917" y="3429000"/>
            <a:ext cx="6603090" cy="1384995"/>
          </a:xfrm>
          <a:prstGeom prst="rect">
            <a:avLst/>
          </a:prstGeom>
          <a:noFill/>
        </p:spPr>
        <p:txBody>
          <a:bodyPr wrap="none" rtlCol="0">
            <a:spAutoFit/>
          </a:bodyPr>
          <a:lstStyle/>
          <a:p>
            <a:r>
              <a:rPr lang="de-DE" dirty="0"/>
              <a:t>ALL in ONE-Formel</a:t>
            </a:r>
          </a:p>
          <a:p>
            <a:endParaRPr lang="de-DE" dirty="0"/>
          </a:p>
          <a:p>
            <a:r>
              <a:rPr lang="de-DE" sz="1200" dirty="0"/>
              <a:t>Horizontale cm x vertikale cm x dpi</a:t>
            </a:r>
            <a:r>
              <a:rPr lang="de-DE" sz="1200" baseline="30000" dirty="0"/>
              <a:t>2</a:t>
            </a:r>
            <a:r>
              <a:rPr lang="de-DE" sz="1200" dirty="0"/>
              <a:t> x Farbtiefe (Bit) x Anzahl der Scans x eventueller Komprimierung</a:t>
            </a:r>
          </a:p>
          <a:p>
            <a:r>
              <a:rPr lang="de-DE" dirty="0"/>
              <a:t>------------------------------------------------------------------------------------------</a:t>
            </a:r>
          </a:p>
          <a:p>
            <a:r>
              <a:rPr lang="de-DE" dirty="0"/>
              <a:t>2,54</a:t>
            </a:r>
            <a:r>
              <a:rPr lang="de-DE" baseline="30000" dirty="0"/>
              <a:t>2</a:t>
            </a:r>
            <a:r>
              <a:rPr lang="de-DE" dirty="0"/>
              <a:t> x 8 x 1024</a:t>
            </a:r>
            <a:r>
              <a:rPr lang="de-DE" baseline="30000" dirty="0"/>
              <a:t>x (je nachdem ob das Ergebnis in GiB oder TiB vorliegen soll)</a:t>
            </a:r>
            <a:endParaRPr lang="de-DE" dirty="0"/>
          </a:p>
        </p:txBody>
      </p:sp>
    </p:spTree>
    <p:extLst>
      <p:ext uri="{BB962C8B-B14F-4D97-AF65-F5344CB8AC3E}">
        <p14:creationId xmlns:p14="http://schemas.microsoft.com/office/powerpoint/2010/main" val="37333417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7C8C393-E928-4504-926D-5A202EA438B2}"/>
              </a:ext>
            </a:extLst>
          </p:cNvPr>
          <p:cNvPicPr>
            <a:picLocks noChangeAspect="1"/>
          </p:cNvPicPr>
          <p:nvPr/>
        </p:nvPicPr>
        <p:blipFill>
          <a:blip r:embed="rId2"/>
          <a:stretch>
            <a:fillRect/>
          </a:stretch>
        </p:blipFill>
        <p:spPr>
          <a:xfrm>
            <a:off x="115018" y="0"/>
            <a:ext cx="11961963" cy="6858000"/>
          </a:xfrm>
          <a:prstGeom prst="rect">
            <a:avLst/>
          </a:prstGeom>
        </p:spPr>
      </p:pic>
      <p:pic>
        <p:nvPicPr>
          <p:cNvPr id="4" name="Grafik 3">
            <a:extLst>
              <a:ext uri="{FF2B5EF4-FFF2-40B4-BE49-F238E27FC236}">
                <a16:creationId xmlns:a16="http://schemas.microsoft.com/office/drawing/2014/main" id="{1929AC09-9B6F-4651-7311-B2EBD6BC6F5A}"/>
              </a:ext>
            </a:extLst>
          </p:cNvPr>
          <p:cNvPicPr>
            <a:picLocks noChangeAspect="1"/>
          </p:cNvPicPr>
          <p:nvPr/>
        </p:nvPicPr>
        <p:blipFill>
          <a:blip r:embed="rId3"/>
          <a:stretch>
            <a:fillRect/>
          </a:stretch>
        </p:blipFill>
        <p:spPr>
          <a:xfrm>
            <a:off x="6411350" y="343665"/>
            <a:ext cx="5184473" cy="1129194"/>
          </a:xfrm>
          <a:prstGeom prst="rect">
            <a:avLst/>
          </a:prstGeom>
        </p:spPr>
      </p:pic>
    </p:spTree>
    <p:extLst>
      <p:ext uri="{BB962C8B-B14F-4D97-AF65-F5344CB8AC3E}">
        <p14:creationId xmlns:p14="http://schemas.microsoft.com/office/powerpoint/2010/main" val="362875630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26044-865C-2F6A-8E9B-2C518B02737A}"/>
            </a:ext>
          </a:extLst>
        </p:cNvPr>
        <p:cNvGrpSpPr/>
        <p:nvPr/>
      </p:nvGrpSpPr>
      <p:grpSpPr>
        <a:xfrm>
          <a:off x="0" y="0"/>
          <a:ext cx="0" cy="0"/>
          <a:chOff x="0" y="0"/>
          <a:chExt cx="0" cy="0"/>
        </a:xfrm>
      </p:grpSpPr>
      <p:pic>
        <p:nvPicPr>
          <p:cNvPr id="3" name="Grafik 2">
            <a:extLst>
              <a:ext uri="{FF2B5EF4-FFF2-40B4-BE49-F238E27FC236}">
                <a16:creationId xmlns:a16="http://schemas.microsoft.com/office/drawing/2014/main" id="{3FB4EC93-BE43-56C9-2B02-1911212B1E4C}"/>
              </a:ext>
            </a:extLst>
          </p:cNvPr>
          <p:cNvPicPr>
            <a:picLocks noChangeAspect="1"/>
          </p:cNvPicPr>
          <p:nvPr/>
        </p:nvPicPr>
        <p:blipFill>
          <a:blip r:embed="rId2"/>
          <a:stretch>
            <a:fillRect/>
          </a:stretch>
        </p:blipFill>
        <p:spPr>
          <a:xfrm>
            <a:off x="115018" y="0"/>
            <a:ext cx="8045571" cy="4612665"/>
          </a:xfrm>
          <a:prstGeom prst="rect">
            <a:avLst/>
          </a:prstGeom>
        </p:spPr>
      </p:pic>
      <p:pic>
        <p:nvPicPr>
          <p:cNvPr id="2" name="Grafik 1">
            <a:extLst>
              <a:ext uri="{FF2B5EF4-FFF2-40B4-BE49-F238E27FC236}">
                <a16:creationId xmlns:a16="http://schemas.microsoft.com/office/drawing/2014/main" id="{EAD71567-81C6-DD5C-6FA7-5BAB6CFF7B0A}"/>
              </a:ext>
            </a:extLst>
          </p:cNvPr>
          <p:cNvPicPr>
            <a:picLocks noChangeAspect="1"/>
          </p:cNvPicPr>
          <p:nvPr/>
        </p:nvPicPr>
        <p:blipFill rotWithShape="1">
          <a:blip r:embed="rId3"/>
          <a:srcRect t="1870" b="80044"/>
          <a:stretch/>
        </p:blipFill>
        <p:spPr>
          <a:xfrm>
            <a:off x="219344" y="2678190"/>
            <a:ext cx="4533811" cy="1106354"/>
          </a:xfrm>
          <a:prstGeom prst="rect">
            <a:avLst/>
          </a:prstGeom>
        </p:spPr>
      </p:pic>
      <p:sp>
        <p:nvSpPr>
          <p:cNvPr id="4" name="Textfeld 3">
            <a:extLst>
              <a:ext uri="{FF2B5EF4-FFF2-40B4-BE49-F238E27FC236}">
                <a16:creationId xmlns:a16="http://schemas.microsoft.com/office/drawing/2014/main" id="{EF30026E-FB01-2142-090D-D3A2BC6B9549}"/>
              </a:ext>
            </a:extLst>
          </p:cNvPr>
          <p:cNvSpPr txBox="1"/>
          <p:nvPr/>
        </p:nvSpPr>
        <p:spPr>
          <a:xfrm>
            <a:off x="522326" y="4783348"/>
            <a:ext cx="5501827" cy="1477328"/>
          </a:xfrm>
          <a:prstGeom prst="rect">
            <a:avLst/>
          </a:prstGeom>
          <a:noFill/>
        </p:spPr>
        <p:txBody>
          <a:bodyPr wrap="none" rtlCol="0">
            <a:spAutoFit/>
          </a:bodyPr>
          <a:lstStyle/>
          <a:p>
            <a:r>
              <a:rPr lang="de-DE" dirty="0"/>
              <a:t>ALL in ONE-Formel</a:t>
            </a:r>
          </a:p>
          <a:p>
            <a:endParaRPr lang="de-DE" dirty="0"/>
          </a:p>
          <a:p>
            <a:r>
              <a:rPr lang="de-DE" dirty="0"/>
              <a:t>50 cm x 30 cm x 400</a:t>
            </a:r>
            <a:r>
              <a:rPr lang="de-DE" baseline="30000" dirty="0"/>
              <a:t>2</a:t>
            </a:r>
            <a:r>
              <a:rPr lang="de-DE" dirty="0"/>
              <a:t> x 24 (Bit) x 800</a:t>
            </a:r>
          </a:p>
          <a:p>
            <a:r>
              <a:rPr lang="de-DE" dirty="0"/>
              <a:t>---------------------------------------------------- = 83,15 -&gt; 84 GiB</a:t>
            </a:r>
          </a:p>
          <a:p>
            <a:r>
              <a:rPr lang="de-DE" dirty="0"/>
              <a:t>2,54</a:t>
            </a:r>
            <a:r>
              <a:rPr lang="de-DE" baseline="30000" dirty="0"/>
              <a:t>2</a:t>
            </a:r>
            <a:r>
              <a:rPr lang="de-DE" dirty="0"/>
              <a:t> x 8 x 1024</a:t>
            </a:r>
            <a:r>
              <a:rPr lang="de-DE" baseline="30000" dirty="0"/>
              <a:t>3</a:t>
            </a:r>
            <a:endParaRPr lang="de-DE" dirty="0"/>
          </a:p>
        </p:txBody>
      </p:sp>
    </p:spTree>
    <p:extLst>
      <p:ext uri="{BB962C8B-B14F-4D97-AF65-F5344CB8AC3E}">
        <p14:creationId xmlns:p14="http://schemas.microsoft.com/office/powerpoint/2010/main" val="2623365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7C8C393-E928-4504-926D-5A202EA438B2}"/>
              </a:ext>
            </a:extLst>
          </p:cNvPr>
          <p:cNvPicPr>
            <a:picLocks noChangeAspect="1"/>
          </p:cNvPicPr>
          <p:nvPr/>
        </p:nvPicPr>
        <p:blipFill>
          <a:blip r:embed="rId2"/>
          <a:stretch>
            <a:fillRect/>
          </a:stretch>
        </p:blipFill>
        <p:spPr>
          <a:xfrm>
            <a:off x="115018" y="0"/>
            <a:ext cx="11961963" cy="6858000"/>
          </a:xfrm>
          <a:prstGeom prst="rect">
            <a:avLst/>
          </a:prstGeom>
        </p:spPr>
      </p:pic>
      <p:pic>
        <p:nvPicPr>
          <p:cNvPr id="2" name="Grafik 1">
            <a:extLst>
              <a:ext uri="{FF2B5EF4-FFF2-40B4-BE49-F238E27FC236}">
                <a16:creationId xmlns:a16="http://schemas.microsoft.com/office/drawing/2014/main" id="{55421B9F-850B-53AF-1997-7EECD8C0E1BF}"/>
              </a:ext>
            </a:extLst>
          </p:cNvPr>
          <p:cNvPicPr>
            <a:picLocks noChangeAspect="1"/>
          </p:cNvPicPr>
          <p:nvPr/>
        </p:nvPicPr>
        <p:blipFill rotWithShape="1">
          <a:blip r:embed="rId3"/>
          <a:srcRect t="1870" b="80044"/>
          <a:stretch/>
        </p:blipFill>
        <p:spPr>
          <a:xfrm>
            <a:off x="719676" y="3983523"/>
            <a:ext cx="6860616" cy="1674148"/>
          </a:xfrm>
          <a:prstGeom prst="rect">
            <a:avLst/>
          </a:prstGeom>
        </p:spPr>
      </p:pic>
      <p:pic>
        <p:nvPicPr>
          <p:cNvPr id="5" name="Grafik 4">
            <a:extLst>
              <a:ext uri="{FF2B5EF4-FFF2-40B4-BE49-F238E27FC236}">
                <a16:creationId xmlns:a16="http://schemas.microsoft.com/office/drawing/2014/main" id="{7427A436-FE19-B652-6A9D-00C0C4BEB8CE}"/>
              </a:ext>
            </a:extLst>
          </p:cNvPr>
          <p:cNvPicPr>
            <a:picLocks noChangeAspect="1"/>
          </p:cNvPicPr>
          <p:nvPr/>
        </p:nvPicPr>
        <p:blipFill rotWithShape="1">
          <a:blip r:embed="rId3"/>
          <a:srcRect t="23102" b="63829"/>
          <a:stretch/>
        </p:blipFill>
        <p:spPr>
          <a:xfrm>
            <a:off x="4156986" y="2122290"/>
            <a:ext cx="7495874" cy="1321807"/>
          </a:xfrm>
          <a:prstGeom prst="rect">
            <a:avLst/>
          </a:prstGeom>
        </p:spPr>
      </p:pic>
      <p:pic>
        <p:nvPicPr>
          <p:cNvPr id="6" name="Grafik 5">
            <a:extLst>
              <a:ext uri="{FF2B5EF4-FFF2-40B4-BE49-F238E27FC236}">
                <a16:creationId xmlns:a16="http://schemas.microsoft.com/office/drawing/2014/main" id="{A9AA042A-0A2F-FC6C-1851-67A794979A89}"/>
              </a:ext>
            </a:extLst>
          </p:cNvPr>
          <p:cNvPicPr>
            <a:picLocks noChangeAspect="1"/>
          </p:cNvPicPr>
          <p:nvPr/>
        </p:nvPicPr>
        <p:blipFill rotWithShape="1">
          <a:blip r:embed="rId3"/>
          <a:srcRect t="36469" r="42377" b="57393"/>
          <a:stretch/>
        </p:blipFill>
        <p:spPr>
          <a:xfrm>
            <a:off x="5952579" y="475305"/>
            <a:ext cx="5700281" cy="819341"/>
          </a:xfrm>
          <a:prstGeom prst="rect">
            <a:avLst/>
          </a:prstGeom>
        </p:spPr>
      </p:pic>
    </p:spTree>
    <p:extLst>
      <p:ext uri="{BB962C8B-B14F-4D97-AF65-F5344CB8AC3E}">
        <p14:creationId xmlns:p14="http://schemas.microsoft.com/office/powerpoint/2010/main" val="257464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82595750-59EC-4FD8-B790-20711077D408}"/>
              </a:ext>
            </a:extLst>
          </p:cNvPr>
          <p:cNvPicPr>
            <a:picLocks noChangeAspect="1"/>
          </p:cNvPicPr>
          <p:nvPr/>
        </p:nvPicPr>
        <p:blipFill>
          <a:blip r:embed="rId2"/>
          <a:stretch>
            <a:fillRect/>
          </a:stretch>
        </p:blipFill>
        <p:spPr>
          <a:xfrm>
            <a:off x="87442" y="-63375"/>
            <a:ext cx="5082820" cy="6858000"/>
          </a:xfrm>
          <a:prstGeom prst="rect">
            <a:avLst/>
          </a:prstGeom>
        </p:spPr>
      </p:pic>
      <p:pic>
        <p:nvPicPr>
          <p:cNvPr id="5" name="Grafik 4">
            <a:extLst>
              <a:ext uri="{FF2B5EF4-FFF2-40B4-BE49-F238E27FC236}">
                <a16:creationId xmlns:a16="http://schemas.microsoft.com/office/drawing/2014/main" id="{133F5CD6-EB1F-A931-CE4C-6FE5BC5732DE}"/>
              </a:ext>
            </a:extLst>
          </p:cNvPr>
          <p:cNvPicPr>
            <a:picLocks noChangeAspect="1"/>
          </p:cNvPicPr>
          <p:nvPr/>
        </p:nvPicPr>
        <p:blipFill rotWithShape="1">
          <a:blip r:embed="rId2"/>
          <a:srcRect t="36468" b="57592"/>
          <a:stretch/>
        </p:blipFill>
        <p:spPr>
          <a:xfrm>
            <a:off x="6350931" y="2544024"/>
            <a:ext cx="5082820" cy="407406"/>
          </a:xfrm>
          <a:prstGeom prst="rect">
            <a:avLst/>
          </a:prstGeom>
        </p:spPr>
      </p:pic>
    </p:spTree>
    <p:extLst>
      <p:ext uri="{BB962C8B-B14F-4D97-AF65-F5344CB8AC3E}">
        <p14:creationId xmlns:p14="http://schemas.microsoft.com/office/powerpoint/2010/main" val="165532291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A95C51CD-F4FA-BEC2-62C8-3B28D66F458E}"/>
              </a:ext>
            </a:extLst>
          </p:cNvPr>
          <p:cNvPicPr>
            <a:picLocks noChangeAspect="1"/>
          </p:cNvPicPr>
          <p:nvPr/>
        </p:nvPicPr>
        <p:blipFill>
          <a:blip r:embed="rId2"/>
          <a:stretch>
            <a:fillRect/>
          </a:stretch>
        </p:blipFill>
        <p:spPr>
          <a:xfrm>
            <a:off x="99080" y="80016"/>
            <a:ext cx="6678369" cy="6684994"/>
          </a:xfrm>
          <a:prstGeom prst="rect">
            <a:avLst/>
          </a:prstGeom>
        </p:spPr>
      </p:pic>
      <p:pic>
        <p:nvPicPr>
          <p:cNvPr id="7" name="Grafik 6">
            <a:extLst>
              <a:ext uri="{FF2B5EF4-FFF2-40B4-BE49-F238E27FC236}">
                <a16:creationId xmlns:a16="http://schemas.microsoft.com/office/drawing/2014/main" id="{4478DE69-DDCE-81F5-1EA4-D073CAD7BBFF}"/>
              </a:ext>
            </a:extLst>
          </p:cNvPr>
          <p:cNvPicPr>
            <a:picLocks noChangeAspect="1"/>
          </p:cNvPicPr>
          <p:nvPr/>
        </p:nvPicPr>
        <p:blipFill>
          <a:blip r:embed="rId3"/>
          <a:stretch>
            <a:fillRect/>
          </a:stretch>
        </p:blipFill>
        <p:spPr>
          <a:xfrm>
            <a:off x="6908273" y="2302675"/>
            <a:ext cx="4094328" cy="950794"/>
          </a:xfrm>
          <a:prstGeom prst="rect">
            <a:avLst/>
          </a:prstGeom>
        </p:spPr>
      </p:pic>
      <p:pic>
        <p:nvPicPr>
          <p:cNvPr id="9" name="Grafik 8">
            <a:extLst>
              <a:ext uri="{FF2B5EF4-FFF2-40B4-BE49-F238E27FC236}">
                <a16:creationId xmlns:a16="http://schemas.microsoft.com/office/drawing/2014/main" id="{663664AE-179E-D34E-2B4B-1281876B349B}"/>
              </a:ext>
            </a:extLst>
          </p:cNvPr>
          <p:cNvPicPr>
            <a:picLocks noChangeAspect="1"/>
          </p:cNvPicPr>
          <p:nvPr/>
        </p:nvPicPr>
        <p:blipFill>
          <a:blip r:embed="rId4"/>
          <a:stretch>
            <a:fillRect/>
          </a:stretch>
        </p:blipFill>
        <p:spPr>
          <a:xfrm>
            <a:off x="6908273" y="3739699"/>
            <a:ext cx="2292824" cy="1191904"/>
          </a:xfrm>
          <a:prstGeom prst="rect">
            <a:avLst/>
          </a:prstGeom>
        </p:spPr>
      </p:pic>
      <p:pic>
        <p:nvPicPr>
          <p:cNvPr id="11" name="Grafik 10">
            <a:extLst>
              <a:ext uri="{FF2B5EF4-FFF2-40B4-BE49-F238E27FC236}">
                <a16:creationId xmlns:a16="http://schemas.microsoft.com/office/drawing/2014/main" id="{BB1C98AD-50A6-EE82-F421-AEF9A6473A91}"/>
              </a:ext>
            </a:extLst>
          </p:cNvPr>
          <p:cNvPicPr>
            <a:picLocks noChangeAspect="1"/>
          </p:cNvPicPr>
          <p:nvPr/>
        </p:nvPicPr>
        <p:blipFill>
          <a:blip r:embed="rId5"/>
          <a:stretch>
            <a:fillRect/>
          </a:stretch>
        </p:blipFill>
        <p:spPr>
          <a:xfrm>
            <a:off x="6944436" y="5329162"/>
            <a:ext cx="1910687" cy="709684"/>
          </a:xfrm>
          <a:prstGeom prst="rect">
            <a:avLst/>
          </a:prstGeom>
        </p:spPr>
      </p:pic>
    </p:spTree>
    <p:extLst>
      <p:ext uri="{BB962C8B-B14F-4D97-AF65-F5344CB8AC3E}">
        <p14:creationId xmlns:p14="http://schemas.microsoft.com/office/powerpoint/2010/main" val="4193383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92A28BB4-6FBF-D33B-BE29-DE1E45EAA87E}"/>
              </a:ext>
            </a:extLst>
          </p:cNvPr>
          <p:cNvPicPr>
            <a:picLocks noChangeAspect="1"/>
          </p:cNvPicPr>
          <p:nvPr/>
        </p:nvPicPr>
        <p:blipFill>
          <a:blip r:embed="rId2"/>
          <a:stretch>
            <a:fillRect/>
          </a:stretch>
        </p:blipFill>
        <p:spPr>
          <a:xfrm>
            <a:off x="336297" y="320973"/>
            <a:ext cx="6506070" cy="1825542"/>
          </a:xfrm>
          <a:prstGeom prst="rect">
            <a:avLst/>
          </a:prstGeom>
        </p:spPr>
      </p:pic>
      <p:pic>
        <p:nvPicPr>
          <p:cNvPr id="5" name="Grafik 4">
            <a:extLst>
              <a:ext uri="{FF2B5EF4-FFF2-40B4-BE49-F238E27FC236}">
                <a16:creationId xmlns:a16="http://schemas.microsoft.com/office/drawing/2014/main" id="{630AA9C9-C70A-FFD7-6248-F898914345F4}"/>
              </a:ext>
            </a:extLst>
          </p:cNvPr>
          <p:cNvPicPr>
            <a:picLocks noChangeAspect="1"/>
          </p:cNvPicPr>
          <p:nvPr/>
        </p:nvPicPr>
        <p:blipFill>
          <a:blip r:embed="rId3"/>
          <a:stretch>
            <a:fillRect/>
          </a:stretch>
        </p:blipFill>
        <p:spPr>
          <a:xfrm>
            <a:off x="7076825" y="644086"/>
            <a:ext cx="4908079" cy="4733826"/>
          </a:xfrm>
          <a:prstGeom prst="rect">
            <a:avLst/>
          </a:prstGeom>
        </p:spPr>
      </p:pic>
    </p:spTree>
    <p:extLst>
      <p:ext uri="{BB962C8B-B14F-4D97-AF65-F5344CB8AC3E}">
        <p14:creationId xmlns:p14="http://schemas.microsoft.com/office/powerpoint/2010/main" val="364427285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A01C5514-B9F2-4D95-8666-2AB502611D31}"/>
              </a:ext>
            </a:extLst>
          </p:cNvPr>
          <p:cNvPicPr>
            <a:picLocks noChangeAspect="1"/>
          </p:cNvPicPr>
          <p:nvPr/>
        </p:nvPicPr>
        <p:blipFill>
          <a:blip r:embed="rId2">
            <a:lum bright="-20000" contrast="20000"/>
          </a:blip>
          <a:stretch>
            <a:fillRect/>
          </a:stretch>
        </p:blipFill>
        <p:spPr>
          <a:xfrm>
            <a:off x="2457855" y="155642"/>
            <a:ext cx="7276289" cy="6546715"/>
          </a:xfrm>
          <a:prstGeom prst="rect">
            <a:avLst/>
          </a:prstGeom>
        </p:spPr>
      </p:pic>
    </p:spTree>
    <p:extLst>
      <p:ext uri="{BB962C8B-B14F-4D97-AF65-F5344CB8AC3E}">
        <p14:creationId xmlns:p14="http://schemas.microsoft.com/office/powerpoint/2010/main" val="173202055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2" name="Freeform: Shape 11">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fik 3">
            <a:extLst>
              <a:ext uri="{FF2B5EF4-FFF2-40B4-BE49-F238E27FC236}">
                <a16:creationId xmlns:a16="http://schemas.microsoft.com/office/drawing/2014/main" id="{1E5C96F8-2AE1-4BB3-BFE8-AD697CDF8ED8}"/>
              </a:ext>
            </a:extLst>
          </p:cNvPr>
          <p:cNvPicPr>
            <a:picLocks noChangeAspect="1"/>
          </p:cNvPicPr>
          <p:nvPr/>
        </p:nvPicPr>
        <p:blipFill>
          <a:blip r:embed="rId2"/>
          <a:stretch>
            <a:fillRect/>
          </a:stretch>
        </p:blipFill>
        <p:spPr>
          <a:xfrm>
            <a:off x="481990" y="45305"/>
            <a:ext cx="10905066" cy="3478678"/>
          </a:xfrm>
          <a:prstGeom prst="rect">
            <a:avLst/>
          </a:prstGeom>
          <a:ln>
            <a:noFill/>
          </a:ln>
        </p:spPr>
      </p:pic>
      <p:pic>
        <p:nvPicPr>
          <p:cNvPr id="3" name="Grafik 2">
            <a:extLst>
              <a:ext uri="{FF2B5EF4-FFF2-40B4-BE49-F238E27FC236}">
                <a16:creationId xmlns:a16="http://schemas.microsoft.com/office/drawing/2014/main" id="{647FFC2D-05EA-6DC6-2E7F-38A9707A502A}"/>
              </a:ext>
            </a:extLst>
          </p:cNvPr>
          <p:cNvPicPr>
            <a:picLocks noChangeAspect="1"/>
          </p:cNvPicPr>
          <p:nvPr/>
        </p:nvPicPr>
        <p:blipFill>
          <a:blip r:embed="rId3"/>
          <a:stretch>
            <a:fillRect/>
          </a:stretch>
        </p:blipFill>
        <p:spPr>
          <a:xfrm>
            <a:off x="6428635" y="1682959"/>
            <a:ext cx="5219812" cy="1136891"/>
          </a:xfrm>
          <a:prstGeom prst="rect">
            <a:avLst/>
          </a:prstGeom>
        </p:spPr>
      </p:pic>
    </p:spTree>
    <p:extLst>
      <p:ext uri="{BB962C8B-B14F-4D97-AF65-F5344CB8AC3E}">
        <p14:creationId xmlns:p14="http://schemas.microsoft.com/office/powerpoint/2010/main" val="269443061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1E5C96F8-2AE1-4BB3-BFE8-AD697CDF8ED8}"/>
              </a:ext>
            </a:extLst>
          </p:cNvPr>
          <p:cNvPicPr>
            <a:picLocks noChangeAspect="1"/>
          </p:cNvPicPr>
          <p:nvPr/>
        </p:nvPicPr>
        <p:blipFill>
          <a:blip r:embed="rId2"/>
          <a:stretch>
            <a:fillRect/>
          </a:stretch>
        </p:blipFill>
        <p:spPr>
          <a:xfrm>
            <a:off x="410710" y="476002"/>
            <a:ext cx="10420773" cy="3324190"/>
          </a:xfrm>
          <a:prstGeom prst="rect">
            <a:avLst/>
          </a:prstGeom>
          <a:ln>
            <a:noFill/>
          </a:ln>
        </p:spPr>
      </p:pic>
      <p:pic>
        <p:nvPicPr>
          <p:cNvPr id="10" name="Grafik 9">
            <a:extLst>
              <a:ext uri="{FF2B5EF4-FFF2-40B4-BE49-F238E27FC236}">
                <a16:creationId xmlns:a16="http://schemas.microsoft.com/office/drawing/2014/main" id="{6A04E268-A074-4119-9C28-355CD9019FC8}"/>
              </a:ext>
            </a:extLst>
          </p:cNvPr>
          <p:cNvPicPr>
            <a:picLocks noChangeAspect="1"/>
          </p:cNvPicPr>
          <p:nvPr/>
        </p:nvPicPr>
        <p:blipFill>
          <a:blip r:embed="rId3"/>
          <a:stretch>
            <a:fillRect/>
          </a:stretch>
        </p:blipFill>
        <p:spPr>
          <a:xfrm>
            <a:off x="568653" y="3721896"/>
            <a:ext cx="9115674" cy="3008573"/>
          </a:xfrm>
          <a:prstGeom prst="rect">
            <a:avLst/>
          </a:prstGeom>
          <a:ln>
            <a:noFill/>
          </a:ln>
        </p:spPr>
      </p:pic>
    </p:spTree>
    <p:extLst>
      <p:ext uri="{BB962C8B-B14F-4D97-AF65-F5344CB8AC3E}">
        <p14:creationId xmlns:p14="http://schemas.microsoft.com/office/powerpoint/2010/main" val="108688254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fik 2">
            <a:extLst>
              <a:ext uri="{FF2B5EF4-FFF2-40B4-BE49-F238E27FC236}">
                <a16:creationId xmlns:a16="http://schemas.microsoft.com/office/drawing/2014/main" id="{5141B2F2-9138-45E7-A67B-F0EB5F98F68B}"/>
              </a:ext>
            </a:extLst>
          </p:cNvPr>
          <p:cNvPicPr>
            <a:picLocks noChangeAspect="1"/>
          </p:cNvPicPr>
          <p:nvPr/>
        </p:nvPicPr>
        <p:blipFill>
          <a:blip r:embed="rId2"/>
          <a:stretch>
            <a:fillRect/>
          </a:stretch>
        </p:blipFill>
        <p:spPr>
          <a:xfrm>
            <a:off x="643467" y="1629424"/>
            <a:ext cx="10905066" cy="3599150"/>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74288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544929" y="1906020"/>
            <a:ext cx="11102142" cy="2646878"/>
          </a:xfrm>
          <a:prstGeom prst="rect">
            <a:avLst/>
          </a:prstGeom>
          <a:noFill/>
        </p:spPr>
        <p:txBody>
          <a:bodyPr wrap="none" rtlCol="0">
            <a:spAutoFit/>
          </a:bodyPr>
          <a:lstStyle/>
          <a:p>
            <a:r>
              <a:rPr lang="de-DE" sz="16600" dirty="0"/>
              <a:t>Stromkosten</a:t>
            </a:r>
          </a:p>
        </p:txBody>
      </p:sp>
    </p:spTree>
    <p:extLst>
      <p:ext uri="{BB962C8B-B14F-4D97-AF65-F5344CB8AC3E}">
        <p14:creationId xmlns:p14="http://schemas.microsoft.com/office/powerpoint/2010/main" val="365552506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Quellbild anzeigen">
            <a:extLst>
              <a:ext uri="{FF2B5EF4-FFF2-40B4-BE49-F238E27FC236}">
                <a16:creationId xmlns:a16="http://schemas.microsoft.com/office/drawing/2014/main" id="{267298AD-B84D-7E69-D12E-202884C16C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165" y="790575"/>
            <a:ext cx="9647835" cy="5533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440228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2F561534-DD70-4842-8146-D52E63BFEE41}"/>
              </a:ext>
            </a:extLst>
          </p:cNvPr>
          <p:cNvPicPr>
            <a:picLocks noChangeAspect="1"/>
          </p:cNvPicPr>
          <p:nvPr/>
        </p:nvPicPr>
        <p:blipFill>
          <a:blip r:embed="rId2"/>
          <a:stretch>
            <a:fillRect/>
          </a:stretch>
        </p:blipFill>
        <p:spPr>
          <a:xfrm>
            <a:off x="241029" y="320471"/>
            <a:ext cx="9741171" cy="4580669"/>
          </a:xfrm>
          <a:prstGeom prst="rect">
            <a:avLst/>
          </a:prstGeom>
        </p:spPr>
      </p:pic>
      <p:pic>
        <p:nvPicPr>
          <p:cNvPr id="5" name="Grafik 4">
            <a:extLst>
              <a:ext uri="{FF2B5EF4-FFF2-40B4-BE49-F238E27FC236}">
                <a16:creationId xmlns:a16="http://schemas.microsoft.com/office/drawing/2014/main" id="{DC48BF26-D215-4794-B4B1-6FC3833C5B47}"/>
              </a:ext>
            </a:extLst>
          </p:cNvPr>
          <p:cNvPicPr>
            <a:picLocks noChangeAspect="1"/>
          </p:cNvPicPr>
          <p:nvPr/>
        </p:nvPicPr>
        <p:blipFill>
          <a:blip r:embed="rId3"/>
          <a:stretch>
            <a:fillRect/>
          </a:stretch>
        </p:blipFill>
        <p:spPr>
          <a:xfrm>
            <a:off x="341818" y="4977340"/>
            <a:ext cx="8683777" cy="661460"/>
          </a:xfrm>
          <a:prstGeom prst="rect">
            <a:avLst/>
          </a:prstGeom>
        </p:spPr>
      </p:pic>
      <p:pic>
        <p:nvPicPr>
          <p:cNvPr id="7" name="Grafik 6">
            <a:extLst>
              <a:ext uri="{FF2B5EF4-FFF2-40B4-BE49-F238E27FC236}">
                <a16:creationId xmlns:a16="http://schemas.microsoft.com/office/drawing/2014/main" id="{8B54BD5F-0705-444C-89E8-A533A38406C2}"/>
              </a:ext>
            </a:extLst>
          </p:cNvPr>
          <p:cNvPicPr>
            <a:picLocks noChangeAspect="1"/>
          </p:cNvPicPr>
          <p:nvPr/>
        </p:nvPicPr>
        <p:blipFill>
          <a:blip r:embed="rId4"/>
          <a:stretch>
            <a:fillRect/>
          </a:stretch>
        </p:blipFill>
        <p:spPr>
          <a:xfrm>
            <a:off x="341818" y="5702300"/>
            <a:ext cx="8522782" cy="754971"/>
          </a:xfrm>
          <a:prstGeom prst="rect">
            <a:avLst/>
          </a:prstGeom>
        </p:spPr>
      </p:pic>
    </p:spTree>
    <p:extLst>
      <p:ext uri="{BB962C8B-B14F-4D97-AF65-F5344CB8AC3E}">
        <p14:creationId xmlns:p14="http://schemas.microsoft.com/office/powerpoint/2010/main" val="425832105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2F561534-DD70-4842-8146-D52E63BFEE41}"/>
              </a:ext>
            </a:extLst>
          </p:cNvPr>
          <p:cNvPicPr>
            <a:picLocks noChangeAspect="1"/>
          </p:cNvPicPr>
          <p:nvPr/>
        </p:nvPicPr>
        <p:blipFill>
          <a:blip r:embed="rId2"/>
          <a:stretch>
            <a:fillRect/>
          </a:stretch>
        </p:blipFill>
        <p:spPr>
          <a:xfrm>
            <a:off x="241029" y="320471"/>
            <a:ext cx="9741171" cy="4580669"/>
          </a:xfrm>
          <a:prstGeom prst="rect">
            <a:avLst/>
          </a:prstGeom>
        </p:spPr>
      </p:pic>
      <p:pic>
        <p:nvPicPr>
          <p:cNvPr id="5" name="Grafik 4">
            <a:extLst>
              <a:ext uri="{FF2B5EF4-FFF2-40B4-BE49-F238E27FC236}">
                <a16:creationId xmlns:a16="http://schemas.microsoft.com/office/drawing/2014/main" id="{DC48BF26-D215-4794-B4B1-6FC3833C5B47}"/>
              </a:ext>
            </a:extLst>
          </p:cNvPr>
          <p:cNvPicPr>
            <a:picLocks noChangeAspect="1"/>
          </p:cNvPicPr>
          <p:nvPr/>
        </p:nvPicPr>
        <p:blipFill>
          <a:blip r:embed="rId3"/>
          <a:stretch>
            <a:fillRect/>
          </a:stretch>
        </p:blipFill>
        <p:spPr>
          <a:xfrm>
            <a:off x="341818" y="4977340"/>
            <a:ext cx="8683777" cy="661460"/>
          </a:xfrm>
          <a:prstGeom prst="rect">
            <a:avLst/>
          </a:prstGeom>
        </p:spPr>
      </p:pic>
      <p:pic>
        <p:nvPicPr>
          <p:cNvPr id="7" name="Grafik 6">
            <a:extLst>
              <a:ext uri="{FF2B5EF4-FFF2-40B4-BE49-F238E27FC236}">
                <a16:creationId xmlns:a16="http://schemas.microsoft.com/office/drawing/2014/main" id="{8B54BD5F-0705-444C-89E8-A533A38406C2}"/>
              </a:ext>
            </a:extLst>
          </p:cNvPr>
          <p:cNvPicPr>
            <a:picLocks noChangeAspect="1"/>
          </p:cNvPicPr>
          <p:nvPr/>
        </p:nvPicPr>
        <p:blipFill>
          <a:blip r:embed="rId4"/>
          <a:stretch>
            <a:fillRect/>
          </a:stretch>
        </p:blipFill>
        <p:spPr>
          <a:xfrm>
            <a:off x="341818" y="5702300"/>
            <a:ext cx="8522782" cy="754971"/>
          </a:xfrm>
          <a:prstGeom prst="rect">
            <a:avLst/>
          </a:prstGeom>
        </p:spPr>
      </p:pic>
      <p:pic>
        <p:nvPicPr>
          <p:cNvPr id="1026" name="Picture 2" descr="Quellbild anzeigen">
            <a:extLst>
              <a:ext uri="{FF2B5EF4-FFF2-40B4-BE49-F238E27FC236}">
                <a16:creationId xmlns:a16="http://schemas.microsoft.com/office/drawing/2014/main" id="{C1A9EA80-EF7A-0558-43B7-88692BD2D1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54340" y="1067657"/>
            <a:ext cx="4600575" cy="2638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999516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96A9C7B8-32A8-4AF0-8141-A81D87274F0A}"/>
              </a:ext>
            </a:extLst>
          </p:cNvPr>
          <p:cNvPicPr>
            <a:picLocks noChangeAspect="1"/>
          </p:cNvPicPr>
          <p:nvPr/>
        </p:nvPicPr>
        <p:blipFill>
          <a:blip r:embed="rId2"/>
          <a:stretch>
            <a:fillRect/>
          </a:stretch>
        </p:blipFill>
        <p:spPr>
          <a:xfrm>
            <a:off x="241030" y="320472"/>
            <a:ext cx="6334337" cy="2978646"/>
          </a:xfrm>
          <a:prstGeom prst="rect">
            <a:avLst/>
          </a:prstGeom>
        </p:spPr>
      </p:pic>
      <p:pic>
        <p:nvPicPr>
          <p:cNvPr id="3" name="Grafik 2">
            <a:extLst>
              <a:ext uri="{FF2B5EF4-FFF2-40B4-BE49-F238E27FC236}">
                <a16:creationId xmlns:a16="http://schemas.microsoft.com/office/drawing/2014/main" id="{A09BBB1C-4C5C-4B38-BBE7-D340E16D85C3}"/>
              </a:ext>
            </a:extLst>
          </p:cNvPr>
          <p:cNvPicPr>
            <a:picLocks noChangeAspect="1"/>
          </p:cNvPicPr>
          <p:nvPr/>
        </p:nvPicPr>
        <p:blipFill>
          <a:blip r:embed="rId3"/>
          <a:stretch>
            <a:fillRect/>
          </a:stretch>
        </p:blipFill>
        <p:spPr>
          <a:xfrm>
            <a:off x="4543648" y="815683"/>
            <a:ext cx="7407322" cy="564230"/>
          </a:xfrm>
          <a:prstGeom prst="rect">
            <a:avLst/>
          </a:prstGeom>
        </p:spPr>
      </p:pic>
      <p:pic>
        <p:nvPicPr>
          <p:cNvPr id="4" name="Grafik 3">
            <a:extLst>
              <a:ext uri="{FF2B5EF4-FFF2-40B4-BE49-F238E27FC236}">
                <a16:creationId xmlns:a16="http://schemas.microsoft.com/office/drawing/2014/main" id="{D1D6DC1F-0E37-402F-9EB2-6BEB26244309}"/>
              </a:ext>
            </a:extLst>
          </p:cNvPr>
          <p:cNvPicPr>
            <a:picLocks noChangeAspect="1"/>
          </p:cNvPicPr>
          <p:nvPr/>
        </p:nvPicPr>
        <p:blipFill>
          <a:blip r:embed="rId4"/>
          <a:stretch>
            <a:fillRect/>
          </a:stretch>
        </p:blipFill>
        <p:spPr>
          <a:xfrm>
            <a:off x="125687" y="3352176"/>
            <a:ext cx="8522782" cy="754971"/>
          </a:xfrm>
          <a:prstGeom prst="rect">
            <a:avLst/>
          </a:prstGeom>
        </p:spPr>
      </p:pic>
    </p:spTree>
    <p:extLst>
      <p:ext uri="{BB962C8B-B14F-4D97-AF65-F5344CB8AC3E}">
        <p14:creationId xmlns:p14="http://schemas.microsoft.com/office/powerpoint/2010/main" val="21775993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4A3DC-F0B6-80D1-CF74-D40A2882F15A}"/>
            </a:ext>
          </a:extLst>
        </p:cNvPr>
        <p:cNvGrpSpPr/>
        <p:nvPr/>
      </p:nvGrpSpPr>
      <p:grpSpPr>
        <a:xfrm>
          <a:off x="0" y="0"/>
          <a:ext cx="0" cy="0"/>
          <a:chOff x="0" y="0"/>
          <a:chExt cx="0" cy="0"/>
        </a:xfrm>
      </p:grpSpPr>
      <p:pic>
        <p:nvPicPr>
          <p:cNvPr id="2" name="Grafik 1">
            <a:extLst>
              <a:ext uri="{FF2B5EF4-FFF2-40B4-BE49-F238E27FC236}">
                <a16:creationId xmlns:a16="http://schemas.microsoft.com/office/drawing/2014/main" id="{BF1C2A95-8F26-9D63-A34B-10E0470A0AF2}"/>
              </a:ext>
            </a:extLst>
          </p:cNvPr>
          <p:cNvPicPr>
            <a:picLocks noChangeAspect="1"/>
          </p:cNvPicPr>
          <p:nvPr/>
        </p:nvPicPr>
        <p:blipFill>
          <a:blip r:embed="rId2"/>
          <a:stretch>
            <a:fillRect/>
          </a:stretch>
        </p:blipFill>
        <p:spPr>
          <a:xfrm>
            <a:off x="241030" y="320472"/>
            <a:ext cx="6334337" cy="2978646"/>
          </a:xfrm>
          <a:prstGeom prst="rect">
            <a:avLst/>
          </a:prstGeom>
        </p:spPr>
      </p:pic>
      <p:pic>
        <p:nvPicPr>
          <p:cNvPr id="3" name="Grafik 2">
            <a:extLst>
              <a:ext uri="{FF2B5EF4-FFF2-40B4-BE49-F238E27FC236}">
                <a16:creationId xmlns:a16="http://schemas.microsoft.com/office/drawing/2014/main" id="{B0C705B0-D5AA-7A64-1945-E34F37786F5B}"/>
              </a:ext>
            </a:extLst>
          </p:cNvPr>
          <p:cNvPicPr>
            <a:picLocks noChangeAspect="1"/>
          </p:cNvPicPr>
          <p:nvPr/>
        </p:nvPicPr>
        <p:blipFill>
          <a:blip r:embed="rId3"/>
          <a:stretch>
            <a:fillRect/>
          </a:stretch>
        </p:blipFill>
        <p:spPr>
          <a:xfrm>
            <a:off x="4543648" y="815683"/>
            <a:ext cx="7407322" cy="564230"/>
          </a:xfrm>
          <a:prstGeom prst="rect">
            <a:avLst/>
          </a:prstGeom>
        </p:spPr>
      </p:pic>
      <p:pic>
        <p:nvPicPr>
          <p:cNvPr id="4" name="Grafik 3">
            <a:extLst>
              <a:ext uri="{FF2B5EF4-FFF2-40B4-BE49-F238E27FC236}">
                <a16:creationId xmlns:a16="http://schemas.microsoft.com/office/drawing/2014/main" id="{5482DE37-4FD4-6C31-9AFA-EF3C117D7066}"/>
              </a:ext>
            </a:extLst>
          </p:cNvPr>
          <p:cNvPicPr>
            <a:picLocks noChangeAspect="1"/>
          </p:cNvPicPr>
          <p:nvPr/>
        </p:nvPicPr>
        <p:blipFill>
          <a:blip r:embed="rId4"/>
          <a:stretch>
            <a:fillRect/>
          </a:stretch>
        </p:blipFill>
        <p:spPr>
          <a:xfrm>
            <a:off x="125687" y="3352176"/>
            <a:ext cx="8522782" cy="754971"/>
          </a:xfrm>
          <a:prstGeom prst="rect">
            <a:avLst/>
          </a:prstGeom>
        </p:spPr>
      </p:pic>
    </p:spTree>
    <p:extLst>
      <p:ext uri="{BB962C8B-B14F-4D97-AF65-F5344CB8AC3E}">
        <p14:creationId xmlns:p14="http://schemas.microsoft.com/office/powerpoint/2010/main" val="281581056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79A042EB-3999-4707-9327-B2D14F8C590E}"/>
              </a:ext>
            </a:extLst>
          </p:cNvPr>
          <p:cNvPicPr>
            <a:picLocks noChangeAspect="1"/>
          </p:cNvPicPr>
          <p:nvPr/>
        </p:nvPicPr>
        <p:blipFill>
          <a:blip r:embed="rId2"/>
          <a:stretch>
            <a:fillRect/>
          </a:stretch>
        </p:blipFill>
        <p:spPr>
          <a:xfrm>
            <a:off x="0" y="-1"/>
            <a:ext cx="4843531" cy="6858000"/>
          </a:xfrm>
          <a:prstGeom prst="rect">
            <a:avLst/>
          </a:prstGeom>
        </p:spPr>
      </p:pic>
      <p:sp>
        <p:nvSpPr>
          <p:cNvPr id="2" name="Rechteck 1">
            <a:extLst>
              <a:ext uri="{FF2B5EF4-FFF2-40B4-BE49-F238E27FC236}">
                <a16:creationId xmlns:a16="http://schemas.microsoft.com/office/drawing/2014/main" id="{F9CA8A84-03F6-3C10-9B9A-65A36B01AF4E}"/>
              </a:ext>
            </a:extLst>
          </p:cNvPr>
          <p:cNvSpPr/>
          <p:nvPr/>
        </p:nvSpPr>
        <p:spPr>
          <a:xfrm>
            <a:off x="239673" y="199505"/>
            <a:ext cx="5088785" cy="1886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Rechteck 3">
            <a:extLst>
              <a:ext uri="{FF2B5EF4-FFF2-40B4-BE49-F238E27FC236}">
                <a16:creationId xmlns:a16="http://schemas.microsoft.com/office/drawing/2014/main" id="{F75A3690-EA52-677D-CC74-7D532E78F58F}"/>
              </a:ext>
            </a:extLst>
          </p:cNvPr>
          <p:cNvSpPr/>
          <p:nvPr/>
        </p:nvSpPr>
        <p:spPr>
          <a:xfrm>
            <a:off x="76190" y="3943002"/>
            <a:ext cx="4364181" cy="29149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a:extLst>
              <a:ext uri="{FF2B5EF4-FFF2-40B4-BE49-F238E27FC236}">
                <a16:creationId xmlns:a16="http://schemas.microsoft.com/office/drawing/2014/main" id="{732F18B3-4530-0D24-1632-6FCE7840F476}"/>
              </a:ext>
            </a:extLst>
          </p:cNvPr>
          <p:cNvPicPr>
            <a:picLocks noChangeAspect="1"/>
          </p:cNvPicPr>
          <p:nvPr/>
        </p:nvPicPr>
        <p:blipFill>
          <a:blip r:embed="rId2"/>
          <a:stretch>
            <a:fillRect/>
          </a:stretch>
        </p:blipFill>
        <p:spPr>
          <a:xfrm>
            <a:off x="76190" y="0"/>
            <a:ext cx="4843531" cy="6858000"/>
          </a:xfrm>
          <a:prstGeom prst="rect">
            <a:avLst/>
          </a:prstGeom>
        </p:spPr>
      </p:pic>
    </p:spTree>
    <p:extLst>
      <p:ext uri="{BB962C8B-B14F-4D97-AF65-F5344CB8AC3E}">
        <p14:creationId xmlns:p14="http://schemas.microsoft.com/office/powerpoint/2010/main" val="1093518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410A9-DFD5-0871-A429-BFC93F6803E3}"/>
            </a:ext>
          </a:extLst>
        </p:cNvPr>
        <p:cNvGrpSpPr/>
        <p:nvPr/>
      </p:nvGrpSpPr>
      <p:grpSpPr>
        <a:xfrm>
          <a:off x="0" y="0"/>
          <a:ext cx="0" cy="0"/>
          <a:chOff x="0" y="0"/>
          <a:chExt cx="0" cy="0"/>
        </a:xfrm>
      </p:grpSpPr>
      <p:pic>
        <p:nvPicPr>
          <p:cNvPr id="3" name="Grafik 2">
            <a:extLst>
              <a:ext uri="{FF2B5EF4-FFF2-40B4-BE49-F238E27FC236}">
                <a16:creationId xmlns:a16="http://schemas.microsoft.com/office/drawing/2014/main" id="{E61AF908-B19A-6A74-D5EC-51B41604538B}"/>
              </a:ext>
            </a:extLst>
          </p:cNvPr>
          <p:cNvPicPr>
            <a:picLocks noChangeAspect="1"/>
          </p:cNvPicPr>
          <p:nvPr/>
        </p:nvPicPr>
        <p:blipFill>
          <a:blip r:embed="rId2"/>
          <a:stretch>
            <a:fillRect/>
          </a:stretch>
        </p:blipFill>
        <p:spPr>
          <a:xfrm>
            <a:off x="6956982" y="763570"/>
            <a:ext cx="4843531" cy="6858000"/>
          </a:xfrm>
          <a:prstGeom prst="rect">
            <a:avLst/>
          </a:prstGeom>
        </p:spPr>
      </p:pic>
      <p:sp>
        <p:nvSpPr>
          <p:cNvPr id="2" name="Rechteck 1">
            <a:extLst>
              <a:ext uri="{FF2B5EF4-FFF2-40B4-BE49-F238E27FC236}">
                <a16:creationId xmlns:a16="http://schemas.microsoft.com/office/drawing/2014/main" id="{1B31AB33-EF5B-6E42-220F-9B8CE9C27A8D}"/>
              </a:ext>
            </a:extLst>
          </p:cNvPr>
          <p:cNvSpPr/>
          <p:nvPr/>
        </p:nvSpPr>
        <p:spPr>
          <a:xfrm>
            <a:off x="239673" y="199505"/>
            <a:ext cx="5088785" cy="1886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Rechteck 3">
            <a:extLst>
              <a:ext uri="{FF2B5EF4-FFF2-40B4-BE49-F238E27FC236}">
                <a16:creationId xmlns:a16="http://schemas.microsoft.com/office/drawing/2014/main" id="{B1743E18-8823-0061-1927-ACB6F6CA8CE7}"/>
              </a:ext>
            </a:extLst>
          </p:cNvPr>
          <p:cNvSpPr/>
          <p:nvPr/>
        </p:nvSpPr>
        <p:spPr>
          <a:xfrm>
            <a:off x="76190" y="3943002"/>
            <a:ext cx="4364181" cy="29149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a:extLst>
              <a:ext uri="{FF2B5EF4-FFF2-40B4-BE49-F238E27FC236}">
                <a16:creationId xmlns:a16="http://schemas.microsoft.com/office/drawing/2014/main" id="{7DA76742-ED18-E293-6EED-76873379DB64}"/>
              </a:ext>
            </a:extLst>
          </p:cNvPr>
          <p:cNvPicPr>
            <a:picLocks noChangeAspect="1"/>
          </p:cNvPicPr>
          <p:nvPr/>
        </p:nvPicPr>
        <p:blipFill>
          <a:blip r:embed="rId2"/>
          <a:srcRect b="69576"/>
          <a:stretch/>
        </p:blipFill>
        <p:spPr>
          <a:xfrm>
            <a:off x="76190" y="0"/>
            <a:ext cx="4843531" cy="2086495"/>
          </a:xfrm>
          <a:prstGeom prst="rect">
            <a:avLst/>
          </a:prstGeom>
        </p:spPr>
      </p:pic>
    </p:spTree>
    <p:extLst>
      <p:ext uri="{BB962C8B-B14F-4D97-AF65-F5344CB8AC3E}">
        <p14:creationId xmlns:p14="http://schemas.microsoft.com/office/powerpoint/2010/main" val="2207922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51B08EC3-FF07-BE62-A6C8-7BBB39965506}"/>
              </a:ext>
            </a:extLst>
          </p:cNvPr>
          <p:cNvPicPr>
            <a:picLocks noChangeAspect="1"/>
          </p:cNvPicPr>
          <p:nvPr/>
        </p:nvPicPr>
        <p:blipFill rotWithShape="1">
          <a:blip r:embed="rId2"/>
          <a:srcRect t="30516" b="42422"/>
          <a:stretch/>
        </p:blipFill>
        <p:spPr>
          <a:xfrm>
            <a:off x="1711106" y="1489088"/>
            <a:ext cx="9155998" cy="3508425"/>
          </a:xfrm>
          <a:prstGeom prst="rect">
            <a:avLst/>
          </a:prstGeom>
        </p:spPr>
      </p:pic>
    </p:spTree>
    <p:extLst>
      <p:ext uri="{BB962C8B-B14F-4D97-AF65-F5344CB8AC3E}">
        <p14:creationId xmlns:p14="http://schemas.microsoft.com/office/powerpoint/2010/main" val="82987544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73431960-0E24-5007-2C53-8170951EF999}"/>
              </a:ext>
            </a:extLst>
          </p:cNvPr>
          <p:cNvSpPr txBox="1"/>
          <p:nvPr/>
        </p:nvSpPr>
        <p:spPr>
          <a:xfrm>
            <a:off x="3062796" y="2086252"/>
            <a:ext cx="6179897" cy="923330"/>
          </a:xfrm>
          <a:prstGeom prst="rect">
            <a:avLst/>
          </a:prstGeom>
          <a:noFill/>
        </p:spPr>
        <p:txBody>
          <a:bodyPr wrap="none" rtlCol="0">
            <a:spAutoFit/>
          </a:bodyPr>
          <a:lstStyle/>
          <a:p>
            <a:pPr algn="ctr"/>
            <a:r>
              <a:rPr lang="de-DE" dirty="0"/>
              <a:t>(Last * Wirkungsgrad (%)) * h/Tag * Arbeitstage * Strompreis (€)</a:t>
            </a:r>
          </a:p>
          <a:p>
            <a:pPr algn="ctr"/>
            <a:r>
              <a:rPr lang="de-DE" dirty="0"/>
              <a:t>-------------------------------------------------------------------------------------</a:t>
            </a:r>
          </a:p>
          <a:p>
            <a:pPr algn="ctr"/>
            <a:r>
              <a:rPr lang="de-DE" dirty="0"/>
              <a:t>1000</a:t>
            </a:r>
          </a:p>
        </p:txBody>
      </p:sp>
    </p:spTree>
    <p:extLst>
      <p:ext uri="{BB962C8B-B14F-4D97-AF65-F5344CB8AC3E}">
        <p14:creationId xmlns:p14="http://schemas.microsoft.com/office/powerpoint/2010/main" val="184067215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79A042EB-3999-4707-9327-B2D14F8C590E}"/>
              </a:ext>
            </a:extLst>
          </p:cNvPr>
          <p:cNvPicPr>
            <a:picLocks noChangeAspect="1"/>
          </p:cNvPicPr>
          <p:nvPr/>
        </p:nvPicPr>
        <p:blipFill rotWithShape="1">
          <a:blip r:embed="rId2"/>
          <a:srcRect t="56984"/>
          <a:stretch/>
        </p:blipFill>
        <p:spPr>
          <a:xfrm>
            <a:off x="475845" y="907898"/>
            <a:ext cx="8278587" cy="5042204"/>
          </a:xfrm>
          <a:prstGeom prst="rect">
            <a:avLst/>
          </a:prstGeom>
        </p:spPr>
      </p:pic>
      <p:sp>
        <p:nvSpPr>
          <p:cNvPr id="2" name="Rechteck 1">
            <a:extLst>
              <a:ext uri="{FF2B5EF4-FFF2-40B4-BE49-F238E27FC236}">
                <a16:creationId xmlns:a16="http://schemas.microsoft.com/office/drawing/2014/main" id="{5C15E833-2E6C-2737-DF3A-3B2415FB3997}"/>
              </a:ext>
            </a:extLst>
          </p:cNvPr>
          <p:cNvSpPr/>
          <p:nvPr/>
        </p:nvSpPr>
        <p:spPr>
          <a:xfrm>
            <a:off x="8347699" y="1539089"/>
            <a:ext cx="1475312" cy="142592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de-DE" dirty="0"/>
          </a:p>
        </p:txBody>
      </p:sp>
      <p:sp>
        <p:nvSpPr>
          <p:cNvPr id="4" name="Rechteck 3">
            <a:extLst>
              <a:ext uri="{FF2B5EF4-FFF2-40B4-BE49-F238E27FC236}">
                <a16:creationId xmlns:a16="http://schemas.microsoft.com/office/drawing/2014/main" id="{51E1A936-363A-828D-1B50-CD6BE8BD2644}"/>
              </a:ext>
            </a:extLst>
          </p:cNvPr>
          <p:cNvSpPr/>
          <p:nvPr/>
        </p:nvSpPr>
        <p:spPr>
          <a:xfrm>
            <a:off x="475845" y="3242821"/>
            <a:ext cx="7871854" cy="2997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95365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22392B91-21F7-4CDE-B066-5397135C1A9E}"/>
              </a:ext>
            </a:extLst>
          </p:cNvPr>
          <p:cNvPicPr>
            <a:picLocks noChangeAspect="1"/>
          </p:cNvPicPr>
          <p:nvPr/>
        </p:nvPicPr>
        <p:blipFill rotWithShape="1">
          <a:blip r:embed="rId2"/>
          <a:srcRect l="40741" t="8333" r="22222" b="13542"/>
          <a:stretch/>
        </p:blipFill>
        <p:spPr>
          <a:xfrm rot="16200000">
            <a:off x="3233686" y="-2781693"/>
            <a:ext cx="2160240" cy="8100906"/>
          </a:xfrm>
          <a:prstGeom prst="rect">
            <a:avLst/>
          </a:prstGeom>
        </p:spPr>
      </p:pic>
      <p:grpSp>
        <p:nvGrpSpPr>
          <p:cNvPr id="4" name="Gruppieren 3">
            <a:extLst>
              <a:ext uri="{FF2B5EF4-FFF2-40B4-BE49-F238E27FC236}">
                <a16:creationId xmlns:a16="http://schemas.microsoft.com/office/drawing/2014/main" id="{5DEE16E9-446D-495E-BB81-89B0CABFEBBC}"/>
              </a:ext>
            </a:extLst>
          </p:cNvPr>
          <p:cNvGrpSpPr/>
          <p:nvPr/>
        </p:nvGrpSpPr>
        <p:grpSpPr>
          <a:xfrm>
            <a:off x="335360" y="3356992"/>
            <a:ext cx="10153128" cy="3168352"/>
            <a:chOff x="1055440" y="1772816"/>
            <a:chExt cx="10153128" cy="4896544"/>
          </a:xfrm>
        </p:grpSpPr>
        <p:sp>
          <p:nvSpPr>
            <p:cNvPr id="5" name="Rechteck: abgerundete Ecken 4">
              <a:extLst>
                <a:ext uri="{FF2B5EF4-FFF2-40B4-BE49-F238E27FC236}">
                  <a16:creationId xmlns:a16="http://schemas.microsoft.com/office/drawing/2014/main" id="{B6D815AF-7B4E-4778-8DFA-EA3AA9F8D1CD}"/>
                </a:ext>
              </a:extLst>
            </p:cNvPr>
            <p:cNvSpPr/>
            <p:nvPr/>
          </p:nvSpPr>
          <p:spPr>
            <a:xfrm>
              <a:off x="1055440" y="1772816"/>
              <a:ext cx="10153128" cy="489654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de-DE"/>
            </a:p>
          </p:txBody>
        </p:sp>
        <p:sp>
          <p:nvSpPr>
            <p:cNvPr id="6" name="Rechteck 5">
              <a:extLst>
                <a:ext uri="{FF2B5EF4-FFF2-40B4-BE49-F238E27FC236}">
                  <a16:creationId xmlns:a16="http://schemas.microsoft.com/office/drawing/2014/main" id="{1BE6A764-36F7-45B0-A3C8-74A04EE0B5A8}"/>
                </a:ext>
              </a:extLst>
            </p:cNvPr>
            <p:cNvSpPr/>
            <p:nvPr/>
          </p:nvSpPr>
          <p:spPr>
            <a:xfrm>
              <a:off x="3048000" y="2348880"/>
              <a:ext cx="6096000" cy="1426965"/>
            </a:xfrm>
            <a:prstGeom prst="rect">
              <a:avLst/>
            </a:prstGeom>
          </p:spPr>
          <p:txBody>
            <a:bodyPr>
              <a:spAutoFit/>
            </a:bodyPr>
            <a:lstStyle/>
            <a:p>
              <a:pPr algn="ctr"/>
              <a:r>
                <a:rPr lang="de-DE" b="1" dirty="0">
                  <a:solidFill>
                    <a:schemeClr val="bg1"/>
                  </a:solidFill>
                </a:rPr>
                <a:t>30.000,- € + 30% = 39.000,- € </a:t>
              </a:r>
            </a:p>
            <a:p>
              <a:pPr algn="r"/>
              <a:r>
                <a:rPr lang="de-DE" b="1" dirty="0">
                  <a:solidFill>
                    <a:schemeClr val="bg1"/>
                  </a:solidFill>
                </a:rPr>
                <a:t>39.000,- € / 121.875  = 0,32 € pro Buchung</a:t>
              </a:r>
            </a:p>
            <a:p>
              <a:pPr algn="ctr"/>
              <a:r>
                <a:rPr lang="de-DE" b="1" dirty="0">
                  <a:solidFill>
                    <a:schemeClr val="bg1"/>
                  </a:solidFill>
                </a:rPr>
                <a:t>100.000 Buchungen * 0,32 € = 32.000,- €</a:t>
              </a:r>
            </a:p>
          </p:txBody>
        </p:sp>
      </p:grpSp>
    </p:spTree>
    <p:extLst>
      <p:ext uri="{BB962C8B-B14F-4D97-AF65-F5344CB8AC3E}">
        <p14:creationId xmlns:p14="http://schemas.microsoft.com/office/powerpoint/2010/main" val="168620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A96A55B6-4BB5-4420-8593-AE8E08AA4A91}"/>
              </a:ext>
            </a:extLst>
          </p:cNvPr>
          <p:cNvPicPr>
            <a:picLocks noChangeAspect="1"/>
          </p:cNvPicPr>
          <p:nvPr/>
        </p:nvPicPr>
        <p:blipFill>
          <a:blip r:embed="rId2"/>
          <a:stretch>
            <a:fillRect/>
          </a:stretch>
        </p:blipFill>
        <p:spPr>
          <a:xfrm>
            <a:off x="218287" y="313604"/>
            <a:ext cx="10954313" cy="2921150"/>
          </a:xfrm>
          <a:prstGeom prst="rect">
            <a:avLst/>
          </a:prstGeom>
        </p:spPr>
      </p:pic>
    </p:spTree>
    <p:extLst>
      <p:ext uri="{BB962C8B-B14F-4D97-AF65-F5344CB8AC3E}">
        <p14:creationId xmlns:p14="http://schemas.microsoft.com/office/powerpoint/2010/main" val="166422053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AC52B803-965C-5217-DADD-495298A2B444}"/>
              </a:ext>
            </a:extLst>
          </p:cNvPr>
          <p:cNvPicPr>
            <a:picLocks noChangeAspect="1"/>
          </p:cNvPicPr>
          <p:nvPr/>
        </p:nvPicPr>
        <p:blipFill>
          <a:blip r:embed="rId2"/>
          <a:stretch>
            <a:fillRect/>
          </a:stretch>
        </p:blipFill>
        <p:spPr>
          <a:xfrm>
            <a:off x="1850561" y="1854961"/>
            <a:ext cx="8160169" cy="1771741"/>
          </a:xfrm>
          <a:prstGeom prst="rect">
            <a:avLst/>
          </a:prstGeom>
          <a:solidFill>
            <a:schemeClr val="tx1"/>
          </a:solidFill>
          <a:ln>
            <a:solidFill>
              <a:srgbClr val="FF00FF"/>
            </a:solidFill>
          </a:ln>
          <a:effectLst>
            <a:glow rad="127000">
              <a:srgbClr val="FF00FF"/>
            </a:glow>
          </a:effectLst>
        </p:spPr>
      </p:pic>
    </p:spTree>
    <p:extLst>
      <p:ext uri="{BB962C8B-B14F-4D97-AF65-F5344CB8AC3E}">
        <p14:creationId xmlns:p14="http://schemas.microsoft.com/office/powerpoint/2010/main" val="133974438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EA517E2F-776A-51FB-AFF7-5B82B5163BA7}"/>
              </a:ext>
            </a:extLst>
          </p:cNvPr>
          <p:cNvSpPr txBox="1"/>
          <p:nvPr/>
        </p:nvSpPr>
        <p:spPr>
          <a:xfrm>
            <a:off x="3167406" y="2158738"/>
            <a:ext cx="6435095" cy="1323439"/>
          </a:xfrm>
          <a:prstGeom prst="rect">
            <a:avLst/>
          </a:prstGeom>
          <a:noFill/>
        </p:spPr>
        <p:txBody>
          <a:bodyPr wrap="none" rtlCol="0">
            <a:spAutoFit/>
          </a:bodyPr>
          <a:lstStyle/>
          <a:p>
            <a:r>
              <a:rPr lang="de-DE" sz="4000" b="1" dirty="0"/>
              <a:t>Vorlesung Tillmann/</a:t>
            </a:r>
            <a:r>
              <a:rPr lang="de-DE" sz="4000" b="1" dirty="0" err="1"/>
              <a:t>usv</a:t>
            </a:r>
            <a:endParaRPr lang="de-DE" sz="4000" b="1" dirty="0"/>
          </a:p>
          <a:p>
            <a:r>
              <a:rPr lang="de-DE" sz="4000" b="1" dirty="0"/>
              <a:t>Vorlesung Tillmann/</a:t>
            </a:r>
            <a:r>
              <a:rPr lang="de-DE" sz="4000" b="1" dirty="0" err="1"/>
              <a:t>it_mathe</a:t>
            </a:r>
            <a:endParaRPr lang="de-DE" sz="4000" b="1" dirty="0"/>
          </a:p>
        </p:txBody>
      </p:sp>
    </p:spTree>
    <p:extLst>
      <p:ext uri="{BB962C8B-B14F-4D97-AF65-F5344CB8AC3E}">
        <p14:creationId xmlns:p14="http://schemas.microsoft.com/office/powerpoint/2010/main" val="403359740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308EF4AC-D66E-45E6-9CA4-2115275BB9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47625"/>
            <a:ext cx="7162800" cy="6762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603217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Quellbild anzeigen">
            <a:extLst>
              <a:ext uri="{FF2B5EF4-FFF2-40B4-BE49-F238E27FC236}">
                <a16:creationId xmlns:a16="http://schemas.microsoft.com/office/drawing/2014/main" id="{659D3F54-A704-4AFF-9BC9-A484823720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0"/>
            <a:ext cx="109728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17329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AI_THEME_MODEL" val="{&quot;showLogo&quot;:true,&quot;logoScale&quot;:1,&quot;logoPosition&quot;:&quot;left&quot;,&quot;logoOffset&quot;:0,&quot;showMessage&quot;:true,&quot;showPageNum&quot;:true,&quot;logo&quot;:null,&quot;logo_dark&quot;:null,&quot;showFooterByDefault&quot;:null,&quot;footerMessage&quot;:&quot;©2025 Proprietary and Confidential. All Rights Reserved.&quot;,&quot;palette_name&quot;:&quot;custom&quot;,&quot;defaultSlideColor&quot;:&quot;theme&quot;,&quot;defaultBackgroundColor&quot;:&quot;background_dark&quot;,&quot;styleFonts&quot;:1,&quot;styleFontWeight&quot;:&quot;heavy&quot;,&quot;styleElementStyle&quot;:&quot;filled&quot;,&quot;styleEffect&quot;:&quot;none&quot;,&quot;styleDesign&quot;:1,&quot;styleDecoration&quot;:&quot;underline_left&quot;,&quot;styleHeaderAlignment&quot;:&quot;left&quot;,&quot;styleShape&quot;:&quot;none&quot;,&quot;styleColor&quot;:&quot;slide&quot;,&quot;styleBackground&quot;:&quot;none&quot;,&quot;styleTitleFont&quot;:&quot;sourcesanspro&quot;,&quot;styleBodyFont&quot;:&quot;sourcesanspro&quot;,&quot;styleWeight&quot;:&quot;light&quot;,&quot;styleTitleSlide&quot;:&quot;bar_left&quot;,&quot;fontScale&quot;:1,&quot;iconStyle&quot;:&quot;chunky&quot;,&quot;cjkFont&quot;:&quot;jp&quot;,&quot;isRTL&quot;:false,&quot;colors&quot;:{&quot;accent1&quot;:&quot;rgba(155,203,185,1)&quot;,&quot;accent2&quot;:&quot;#DAE0C9&quot;,&quot;background_accent&quot;:&quot;rgba(12,12,12,1)&quot;,&quot;background_dark&quot;:&quot;#000000&quot;,&quot;background_light&quot;:&quot;#ffffff&quot;,&quot;chart1&quot;:&quot;#AED5C3&quot;,&quot;chart2&quot;:&quot;#5DA6B5&quot;,&quot;chart3&quot;:&quot;#145E80&quot;,&quot;chart4&quot;:&quot;#BBC796&quot;,&quot;chart5&quot;:&quot;#ECB65A&quot;,&quot;chart6&quot;:&quot;#DD720E&quot;,&quot;primary_dark&quot;:&quot;rgba(0,0,0,0.8)&quot;,&quot;primary_light&quot;:&quot;rgba(255,255,255,0.8)&quot;,&quot;secondary_dark&quot;:&quot;rgba(0,0,0,0.8)&quot;,&quot;secondary_light&quot;:&quot;rgba(255,255,255,0.8)&quot;,&quot;theme&quot;:&quot;rgba(93,166,181,1)&quot;,&quot;hyperlink&quot;:&quot;#11a9e2&quot;},&quot;fontHeaderFontId&quot;:&quot;robotoslab&quot;,&quot;fontHeaderWeight&quot;:400,&quot;fontHeaderLetterSpacing&quot;:0.04,&quot;fontHeaderLineHeight&quot;:1.6,&quot;fontHeaderScaling&quot;:75,&quot;fontHeaderTextTransform&quot;:&quot;auto&quot;,&quot;fontTitleFontId&quot;:&quot;roboto&quot;,&quot;fontTitleWeight&quot;:700,&quot;fontTitleLetterSpacing&quot;:0.1,&quot;fontTitleLineHeight&quot;:1.9,&quot;fontTitleScaling&quot;:70,&quot;fontTitleTextTransform&quot;:&quot;uppercase&quot;,&quot;fontBodyFontId&quot;:&quot;robotoslab&quot;,&quot;fontBodyWeight&quot;:400,&quot;fontBodyLetterSpacing&quot;:0.02,&quot;fontBodyLineHeight&quot;:2,&quot;fontBodyScaling&quot;:85,&quot;fontBodyTextTransform&quot;:&quot;auto&quo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 dockstate="right" visibility="0" width="350"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9EAFC69-5D4D-4374-AA33-79350E629228}">
  <we:reference id="wa200005566" version="3.0.0.2" store="de-DE" storeType="OMEX"/>
  <we:alternateReferences>
    <we:reference id="wa200005566" version="3.0.0.2"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5563AFC2-CE68-4782-8179-BCF25C290CE8}">
  <we:reference id="0cad77d1-4b38-41f3-896c-a6193bfd765c" version="1.0.0.0" store="EXCatalog" storeType="EXCatalog"/>
  <we:alternateReferences>
    <we:reference id="WA200003964" version="1.0.0.0" store="de-D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5485</Words>
  <Application>Microsoft Office PowerPoint</Application>
  <PresentationFormat>Breitbild</PresentationFormat>
  <Paragraphs>781</Paragraphs>
  <Slides>123</Slides>
  <Notes>5</Notes>
  <HiddenSlides>9</HiddenSlides>
  <MMClips>0</MMClips>
  <ScaleCrop>false</ScaleCrop>
  <HeadingPairs>
    <vt:vector size="6" baseType="variant">
      <vt:variant>
        <vt:lpstr>Verwendete Schriftarten</vt:lpstr>
      </vt:variant>
      <vt:variant>
        <vt:i4>10</vt:i4>
      </vt:variant>
      <vt:variant>
        <vt:lpstr>Design</vt:lpstr>
      </vt:variant>
      <vt:variant>
        <vt:i4>1</vt:i4>
      </vt:variant>
      <vt:variant>
        <vt:lpstr>Folientitel</vt:lpstr>
      </vt:variant>
      <vt:variant>
        <vt:i4>123</vt:i4>
      </vt:variant>
    </vt:vector>
  </HeadingPairs>
  <TitlesOfParts>
    <vt:vector size="134" baseType="lpstr">
      <vt:lpstr>*Arial-15224-Identity-H</vt:lpstr>
      <vt:lpstr>Aptos</vt:lpstr>
      <vt:lpstr>Arial</vt:lpstr>
      <vt:lpstr>Calibri</vt:lpstr>
      <vt:lpstr>Calibri Light</vt:lpstr>
      <vt:lpstr>Cambria Math</vt:lpstr>
      <vt:lpstr>FrutigerLTStd-LightCn</vt:lpstr>
      <vt:lpstr>Times New Roman</vt:lpstr>
      <vt:lpstr>Ubuntu</vt:lpstr>
      <vt:lpstr>Wingdings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Bandbreitenkapazitätsberechnung</vt:lpstr>
      <vt:lpstr>Bandbreitenkapazitätsberechnung</vt:lpstr>
      <vt:lpstr>Bandbreitenkapazitätsberechnung</vt:lpstr>
      <vt:lpstr>Bandbreitenkapazitätsberechnung</vt:lpstr>
      <vt:lpstr>Bandbreitenkapazitätsberechnung</vt:lpstr>
      <vt:lpstr>Bandbreitenkapazitätsberechnung</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Speicherberechnung</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Martin Tillmann</dc:creator>
  <cp:lastModifiedBy>Martin Tillmann</cp:lastModifiedBy>
  <cp:revision>57</cp:revision>
  <cp:lastPrinted>2025-08-25T09:46:30Z</cp:lastPrinted>
  <dcterms:created xsi:type="dcterms:W3CDTF">2020-05-13T12:41:16Z</dcterms:created>
  <dcterms:modified xsi:type="dcterms:W3CDTF">2026-08-18T12:19:27Z</dcterms:modified>
</cp:coreProperties>
</file>